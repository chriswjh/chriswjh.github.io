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5"/>
  </p:notesMasterIdLst>
  <p:handoutMasterIdLst>
    <p:handoutMasterId r:id="rId46"/>
  </p:handoutMasterIdLst>
  <p:sldIdLst>
    <p:sldId id="331" r:id="rId2"/>
    <p:sldId id="332" r:id="rId3"/>
    <p:sldId id="333" r:id="rId4"/>
    <p:sldId id="334" r:id="rId5"/>
    <p:sldId id="418" r:id="rId6"/>
    <p:sldId id="335" r:id="rId7"/>
    <p:sldId id="337" r:id="rId8"/>
    <p:sldId id="381" r:id="rId9"/>
    <p:sldId id="340" r:id="rId10"/>
    <p:sldId id="341" r:id="rId11"/>
    <p:sldId id="342" r:id="rId12"/>
    <p:sldId id="343" r:id="rId13"/>
    <p:sldId id="344" r:id="rId14"/>
    <p:sldId id="345" r:id="rId15"/>
    <p:sldId id="383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00"/>
    <a:srgbClr val="9933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94635"/>
  </p:normalViewPr>
  <p:slideViewPr>
    <p:cSldViewPr snapToGrid="0">
      <p:cViewPr varScale="1">
        <p:scale>
          <a:sx n="70" d="100"/>
          <a:sy n="70" d="100"/>
        </p:scale>
        <p:origin x="123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7CCCA0-48FF-49B9-A81B-A3AA031DB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6684F4D-30DF-4BAD-8B6E-B450802D51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E87A7CF-DA4E-40B2-A46B-B171BEBFD7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BAD7235-1FED-4C76-86CF-CA7E8C6271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15FB2A04-1989-43F8-A1CA-48ECCECD27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50461-F8FA-4EC9-961B-07ADBB023C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E5BD76-7D57-4BB9-B88E-0E6DC0CDF8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272630-4094-4E90-A63E-0495C021B5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3F933E7-8229-4DE7-9E50-6467D805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E11052-68AA-4FFB-BCC0-9A147F9D34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CD8673-A829-446C-9245-DC4B35A5D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690704E8-AF53-4555-9777-1ADF916834F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E49DA5C-9C96-455B-BD41-985D1B07C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F77E98-83BC-45F0-9564-A2CA759AE19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EA8B14E3-EAA5-468B-8771-F49BC03D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E6443A0-E601-4FA9-AF8A-86ED17B9E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132B9CC-18EE-4478-8D12-79FCC5CB98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27E375-79F8-453D-B390-C386C8FE8BB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46E798B-69C3-4350-B87E-8BCD5B93D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C55E9DD-8D6A-4B1C-8480-D1203C92F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AD5D30B1-CAA9-4C7E-82FB-CACCC63DF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C752A8-8EC3-41CB-8B59-F3DE3C42BF38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A5E4639-96B8-4F2E-9BDC-7323C8400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256AD8A-0021-4843-A1C4-5D5EB55E5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5079486D-A568-4512-97A1-83E8EED762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55255A-768F-4DA6-9FB2-D6327BA5FA1D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1A371DD-73C6-47EE-A578-8E86506C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8E01DCC-7830-4805-92C8-F11675DBC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9DFB9DE9-23F1-4586-8476-EB7515F08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D9A07-B147-4B83-A52B-9062A420958D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990E245-8548-4FEA-8094-0CB87CE40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0ACF84F-14F0-44C1-87FE-68D25CB11C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91A421C3-D251-468B-8986-49310FCBB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2B5525-892E-4BC9-B86F-030983BEA0EC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87EA6A59-C89E-4757-AE6C-872BEFC90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A8330E-5E62-48F6-9094-D7C8ED9BC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01DA7AD-4F6A-4E73-A41B-D405F5B104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66DD38-3EB5-4134-B79D-C9C4288F343A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0E0A80F-DF39-4281-9C9A-11DBE7910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B6E452F-C003-4903-85A5-DF124EC5F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2145F13D-850B-4ECD-9C54-CC94AB539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46B475-1E8C-4550-ADF8-00CA85A1A0DB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9B6270F-5D7E-4AAA-BF78-BAA8346E9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7E5F964-17B3-45FA-9C56-980A57069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82DC06A2-6609-45C8-BDEC-A716F778D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B62495-4ED4-41CA-BD1C-15D6C682AAAD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340B1FD-4D5A-405F-BAC9-0F32DCF3A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9FBEA20-FF0E-408A-AFC5-16ED6CDFE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E7A3C8EC-B1D6-4E88-BD43-3582AB965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BAD9A3-4FA1-4968-95B7-8DD9DB52AB80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D0A48504-0C82-4A63-A6BD-6647B1074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AAF36EC-FFD6-4C4B-AA91-C9F49D483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9B880B0A-F9CB-4811-9094-7618A750CB0C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7B5C8F79-181C-4400-9D32-679CEAFB7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FA2F0A4-C9BA-432E-83F3-2EBF639B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44A7E6B-BD9D-4F33-9EFE-7C39BF131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89A2D9F-C175-44B2-A1F3-85F5B4785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06BF961-D67A-4284-A8BD-4B2D4188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44C0E95-7E00-42CF-9971-510C5CA39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29AB6F1-A51F-46BF-BDB8-E69C92C6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88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129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6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55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35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612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11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8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72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75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13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F0EE328B-BE68-481B-A918-E117CF2E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DD82269-6038-4DC7-9DB9-33CC07A96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F423CC-D04E-4FEB-90EB-369DCBB93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BC97BB-8A12-40A3-B5F2-69DC51018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EDBF570C-E8F3-4209-82B7-AC2D00088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AD91054-EF57-4D49-A1B2-120B5F4B4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98CF2C6-6AD0-42E6-B742-6900D0AE6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F52438FC-02CE-45C2-B0C5-D0E79E96C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40D0A5C9-1564-450C-8B21-348FDB204F4D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F5650-E826-4410-A822-722A1D588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F924BF04-C0A2-4C41-BCF7-E1064F227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03879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2C30FAE5-2DCB-4F75-996C-0AB71A93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285750" indent="-2857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683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8: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C20AB209-B0F9-420A-89E6-E8E9E50B2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450" y="225461"/>
            <a:ext cx="78803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1D54AC39-219B-4A2F-8A80-B3261E1F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09170"/>
            <a:ext cx="7588250" cy="4530725"/>
          </a:xfrm>
        </p:spPr>
        <p:txBody>
          <a:bodyPr/>
          <a:lstStyle/>
          <a:p>
            <a:r>
              <a:rPr lang="en-US" altLang="en-US" sz="2400" dirty="0"/>
              <a:t>System Model</a:t>
            </a:r>
          </a:p>
          <a:p>
            <a:r>
              <a:rPr lang="en-US" altLang="en-US" sz="2400" dirty="0"/>
              <a:t>Deadlock Characterization</a:t>
            </a:r>
          </a:p>
          <a:p>
            <a:r>
              <a:rPr lang="en-US" altLang="en-US" sz="2400" dirty="0"/>
              <a:t>Methods for Handling Deadlocks</a:t>
            </a:r>
          </a:p>
          <a:p>
            <a:pPr lvl="1"/>
            <a:r>
              <a:rPr lang="en-US" altLang="en-US" sz="2400" dirty="0"/>
              <a:t>Deadlock </a:t>
            </a:r>
            <a:r>
              <a:rPr lang="en-US" altLang="en-US" sz="2400" dirty="0">
                <a:solidFill>
                  <a:srgbClr val="0000FF"/>
                </a:solidFill>
              </a:rPr>
              <a:t>Prevention</a:t>
            </a:r>
          </a:p>
          <a:p>
            <a:pPr lvl="1"/>
            <a:r>
              <a:rPr lang="en-US" altLang="en-US" sz="2400" dirty="0"/>
              <a:t>Deadlock </a:t>
            </a:r>
            <a:r>
              <a:rPr lang="en-US" altLang="en-US" sz="2400" dirty="0">
                <a:solidFill>
                  <a:srgbClr val="0000FF"/>
                </a:solidFill>
              </a:rPr>
              <a:t>Avoidance</a:t>
            </a:r>
          </a:p>
          <a:p>
            <a:pPr lvl="1"/>
            <a:r>
              <a:rPr lang="en-US" altLang="en-US" sz="2400" dirty="0"/>
              <a:t>Deadlock </a:t>
            </a:r>
            <a:r>
              <a:rPr lang="en-US" altLang="en-US" sz="2400" dirty="0">
                <a:solidFill>
                  <a:srgbClr val="0000FF"/>
                </a:solidFill>
              </a:rPr>
              <a:t>Detection</a:t>
            </a:r>
            <a:r>
              <a:rPr lang="en-US" altLang="en-US" sz="2400" dirty="0"/>
              <a:t> </a:t>
            </a:r>
          </a:p>
          <a:p>
            <a:r>
              <a:rPr lang="en-US" altLang="en-US" sz="2400" dirty="0"/>
              <a:t>Recovery from Deadlock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38D12EB-E650-49F7-BF5C-969347526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6DA4E9BA-E5B9-48E9-A6E9-2CB00D152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308136"/>
            <a:ext cx="7772400" cy="4500562"/>
          </a:xfrm>
        </p:spPr>
        <p:txBody>
          <a:bodyPr/>
          <a:lstStyle/>
          <a:p>
            <a:r>
              <a:rPr lang="en-US" altLang="en-US" sz="2400" dirty="0"/>
              <a:t>Illustrate how deadlock can occur when mutex locks are used</a:t>
            </a:r>
          </a:p>
          <a:p>
            <a:r>
              <a:rPr lang="en-US" altLang="en-US" sz="2400" dirty="0"/>
              <a:t>Define the </a:t>
            </a:r>
            <a:r>
              <a:rPr lang="en-US" altLang="en-US" sz="2400" dirty="0">
                <a:solidFill>
                  <a:srgbClr val="0000FF"/>
                </a:solidFill>
              </a:rPr>
              <a:t>four necessary conditions </a:t>
            </a:r>
            <a:r>
              <a:rPr lang="en-US" altLang="en-US" sz="2400" dirty="0"/>
              <a:t>that characterize deadlocks</a:t>
            </a:r>
          </a:p>
          <a:p>
            <a:r>
              <a:rPr lang="en-US" altLang="en-US" sz="2400" dirty="0"/>
              <a:t>Identify a deadlock situation in a resource allocation graph</a:t>
            </a:r>
          </a:p>
          <a:p>
            <a:r>
              <a:rPr lang="en-US" altLang="en-US" sz="2400" dirty="0"/>
              <a:t>Evaluate the four different approaches for preventing deadlocks</a:t>
            </a:r>
          </a:p>
          <a:p>
            <a:r>
              <a:rPr lang="en-US" altLang="en-US" sz="2400" dirty="0"/>
              <a:t>Apply the </a:t>
            </a:r>
            <a:r>
              <a:rPr lang="en-US" altLang="en-US" sz="2400" dirty="0">
                <a:solidFill>
                  <a:srgbClr val="0000FF"/>
                </a:solidFill>
              </a:rPr>
              <a:t>banker’s algorithm </a:t>
            </a:r>
            <a:r>
              <a:rPr lang="en-US" altLang="en-US" sz="2400" dirty="0"/>
              <a:t>for deadlock avoidance</a:t>
            </a:r>
          </a:p>
          <a:p>
            <a:r>
              <a:rPr lang="en-US" altLang="en-US" sz="2400" dirty="0"/>
              <a:t>Apply the deadlock detection algorithm</a:t>
            </a:r>
          </a:p>
          <a:p>
            <a:r>
              <a:rPr lang="en-US" altLang="en-US" sz="2400" dirty="0"/>
              <a:t>Evaluate approaches for recovering from deadlocks</a:t>
            </a:r>
          </a:p>
          <a:p>
            <a:endParaRPr lang="en-US" altLang="en-US" dirty="0"/>
          </a:p>
          <a:p>
            <a:pPr>
              <a:buSzPct val="85000"/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661502D7-7068-4DDE-82B3-CB27E3C63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CD8E9D65-BCDC-43F0-9CD9-F44119219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834" y="1354816"/>
            <a:ext cx="7351712" cy="4483100"/>
          </a:xfrm>
        </p:spPr>
        <p:txBody>
          <a:bodyPr/>
          <a:lstStyle/>
          <a:p>
            <a:r>
              <a:rPr lang="en-US" altLang="en-US" sz="2400" dirty="0"/>
              <a:t>System consists of resources</a:t>
            </a:r>
          </a:p>
          <a:p>
            <a:pPr lvl="1"/>
            <a:r>
              <a:rPr lang="en-US" altLang="en-US" sz="2400" dirty="0"/>
              <a:t>Resource types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. . .,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m</a:t>
            </a:r>
          </a:p>
          <a:p>
            <a:pPr lvl="2"/>
            <a:r>
              <a:rPr lang="en-US" altLang="en-US" sz="2400" i="1" dirty="0"/>
              <a:t>CPU cycles, memory space, I/O devices</a:t>
            </a:r>
          </a:p>
          <a:p>
            <a:pPr lvl="1"/>
            <a:r>
              <a:rPr lang="en-US" altLang="en-US" sz="2400" dirty="0"/>
              <a:t>Each resource type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has </a:t>
            </a:r>
            <a:r>
              <a:rPr lang="en-US" altLang="en-US" sz="2400" i="1" dirty="0"/>
              <a:t>W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instances</a:t>
            </a:r>
          </a:p>
          <a:p>
            <a:r>
              <a:rPr lang="en-US" altLang="en-US" sz="2400" dirty="0"/>
              <a:t>Each process utilizes a resource as follows:</a:t>
            </a:r>
          </a:p>
          <a:p>
            <a:pPr lvl="1"/>
            <a:r>
              <a:rPr lang="en-US" altLang="en-US" sz="2400" b="1" dirty="0"/>
              <a:t>request </a:t>
            </a:r>
          </a:p>
          <a:p>
            <a:pPr lvl="1"/>
            <a:r>
              <a:rPr lang="en-US" altLang="en-US" sz="2400" b="1" dirty="0"/>
              <a:t>use </a:t>
            </a:r>
          </a:p>
          <a:p>
            <a:pPr lvl="1"/>
            <a:r>
              <a:rPr lang="en-US" altLang="en-US" sz="2400" b="1" dirty="0"/>
              <a:t>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DB5CD8E6-87F9-4726-9621-AFEDA885C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17586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with Semaphores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5ED238E1-E3E6-41E4-AE23-2237E43D6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7360" y="1331338"/>
            <a:ext cx="6959600" cy="4860925"/>
          </a:xfrm>
        </p:spPr>
        <p:txBody>
          <a:bodyPr/>
          <a:lstStyle/>
          <a:p>
            <a:r>
              <a:rPr lang="en-US" altLang="en-US" sz="2400" dirty="0"/>
              <a:t>Data:</a:t>
            </a:r>
          </a:p>
          <a:p>
            <a:pPr lvl="1"/>
            <a:r>
              <a:rPr lang="en-US" altLang="en-US" sz="2400" dirty="0"/>
              <a:t>A semaphore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 </a:t>
            </a:r>
            <a:r>
              <a:rPr lang="en-US" altLang="en-US" sz="2400" dirty="0"/>
              <a:t>initialized to 1</a:t>
            </a:r>
          </a:p>
          <a:p>
            <a:pPr lvl="1"/>
            <a:r>
              <a:rPr lang="en-US" altLang="en-US" sz="2400" dirty="0"/>
              <a:t>A semaphore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 </a:t>
            </a:r>
            <a:r>
              <a:rPr lang="en-US" altLang="en-US" sz="2400" dirty="0"/>
              <a:t>initialized to 1</a:t>
            </a:r>
          </a:p>
          <a:p>
            <a:r>
              <a:rPr lang="en-US" altLang="en-US" sz="2400" dirty="0"/>
              <a:t>Two processes P1 and P2</a:t>
            </a:r>
          </a:p>
          <a:p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P1:  </a:t>
            </a:r>
          </a:p>
          <a:p>
            <a:pPr marL="0" indent="0"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wait(s1)</a:t>
            </a:r>
          </a:p>
          <a:p>
            <a:pPr marL="0" indent="0"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wait(s2)</a:t>
            </a:r>
          </a:p>
          <a:p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P2:  </a:t>
            </a:r>
          </a:p>
          <a:p>
            <a:pPr marL="0" indent="0"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wait(s2)</a:t>
            </a:r>
          </a:p>
          <a:p>
            <a:pPr marL="0" indent="0"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wait(s1)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87ADAA0F-64F7-46C8-A7FE-1C5113F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150997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F4824E8A-1421-4BF0-9A60-6CA3F5021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3281" y="1685190"/>
            <a:ext cx="7440543" cy="4668837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Mutual exclusion</a:t>
            </a:r>
            <a:r>
              <a:rPr lang="en-US" altLang="en-US" sz="2000" b="1" dirty="0"/>
              <a:t>:</a:t>
            </a:r>
            <a:r>
              <a:rPr lang="en-US" altLang="en-US" sz="2000" dirty="0"/>
              <a:t> only one process at a time can use a resource</a:t>
            </a:r>
            <a:endParaRPr lang="en-US" altLang="en-US" sz="900" dirty="0"/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Hold and wait</a:t>
            </a:r>
            <a:r>
              <a:rPr lang="en-US" altLang="en-US" sz="2000" b="1" dirty="0"/>
              <a:t>:</a:t>
            </a:r>
            <a:r>
              <a:rPr lang="en-US" altLang="en-US" sz="2000" dirty="0"/>
              <a:t> a process holding at least one resource is waiting to acquire additional resources held by other processes</a:t>
            </a:r>
            <a:endParaRPr lang="en-US" altLang="en-US" sz="900" dirty="0"/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No preemption</a:t>
            </a:r>
            <a:r>
              <a:rPr lang="en-US" altLang="en-US" sz="2000" b="1" dirty="0"/>
              <a:t>:</a:t>
            </a:r>
            <a:r>
              <a:rPr lang="en-US" altLang="en-US" sz="2000" dirty="0"/>
              <a:t> a resource can be released </a:t>
            </a:r>
            <a:r>
              <a:rPr lang="en-US" altLang="en-US" sz="2000" dirty="0">
                <a:solidFill>
                  <a:srgbClr val="0000FF"/>
                </a:solidFill>
              </a:rPr>
              <a:t>only</a:t>
            </a:r>
            <a:r>
              <a:rPr lang="en-US" altLang="en-US" sz="2000" dirty="0"/>
              <a:t> voluntarily by the process holding it, after that process has completed its task</a:t>
            </a:r>
            <a:endParaRPr lang="en-US" altLang="en-US" sz="900" dirty="0"/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Circular wait</a:t>
            </a:r>
            <a:r>
              <a:rPr lang="en-US" altLang="en-US" sz="2000" b="1" dirty="0"/>
              <a:t>:</a:t>
            </a:r>
            <a:r>
              <a:rPr lang="en-US" altLang="en-US" sz="2000" dirty="0"/>
              <a:t> there exists a set {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,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</a:t>
            </a:r>
            <a:r>
              <a:rPr lang="en-US" altLang="en-US" sz="2000" i="1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} of waiting processes such that: </a:t>
            </a:r>
          </a:p>
          <a:p>
            <a:pPr lvl="1"/>
            <a:r>
              <a:rPr lang="en-US" altLang="en-US" sz="2000" i="1" dirty="0"/>
              <a:t>P</a:t>
            </a:r>
            <a:r>
              <a:rPr lang="en-US" altLang="en-US" sz="2000" baseline="-25000" dirty="0"/>
              <a:t>0 </a:t>
            </a:r>
            <a:r>
              <a:rPr lang="en-US" altLang="en-US" sz="2000" dirty="0"/>
              <a:t>is waiting for a resource that is held by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</a:t>
            </a:r>
            <a:br>
              <a:rPr lang="en-US" altLang="en-US" sz="2000" dirty="0"/>
            </a:br>
            <a:r>
              <a:rPr lang="en-US" altLang="en-US" sz="2000" i="1" dirty="0" err="1"/>
              <a:t>P</a:t>
            </a:r>
            <a:r>
              <a:rPr lang="en-US" altLang="en-US" sz="2000" baseline="-25000" dirty="0" err="1"/>
              <a:t>1</a:t>
            </a:r>
            <a:r>
              <a:rPr lang="en-US" altLang="en-US" sz="2000" dirty="0"/>
              <a:t> is waiting for a resource that is held by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…, </a:t>
            </a:r>
            <a:br>
              <a:rPr lang="en-US" altLang="en-US" sz="2000" dirty="0"/>
            </a:br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n</a:t>
            </a:r>
            <a:r>
              <a:rPr lang="en-US" altLang="en-US" sz="2000" baseline="-25000" dirty="0"/>
              <a:t>–1</a:t>
            </a:r>
            <a:r>
              <a:rPr lang="en-US" altLang="en-US" sz="2000" dirty="0"/>
              <a:t> is waiting for a resource that is held by </a:t>
            </a:r>
            <a:r>
              <a:rPr lang="en-US" altLang="en-US" sz="2000" i="1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, and </a:t>
            </a:r>
            <a:br>
              <a:rPr lang="en-US" altLang="en-US" sz="2000" dirty="0"/>
            </a:br>
            <a:r>
              <a:rPr lang="en-US" altLang="en-US" sz="2000" i="1" dirty="0" err="1"/>
              <a:t>P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 is waiting for a resource that is held by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</a:t>
            </a:r>
            <a:endParaRPr lang="en-US" altLang="en-US" sz="2000" dirty="0"/>
          </a:p>
          <a:p>
            <a:endParaRPr lang="en-US" altLang="en-US" dirty="0"/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DD9E7C76-64A7-4BA1-B082-DA8BDA6C2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1209921"/>
            <a:ext cx="74405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Deadlock can arise if four conditions hold simultaneously</a:t>
            </a:r>
            <a:endParaRPr kumimoji="0"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1C97935-CF39-4A80-87B3-E8FC1A79B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4009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97E50AC4-3665-4FFE-B1D6-0D72C5ECE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8253" y="1771945"/>
            <a:ext cx="6574810" cy="4019550"/>
          </a:xfrm>
        </p:spPr>
        <p:txBody>
          <a:bodyPr/>
          <a:lstStyle/>
          <a:p>
            <a:r>
              <a:rPr lang="en-US" altLang="en-US" sz="2400" dirty="0"/>
              <a:t>V is partitioned into two types:</a:t>
            </a:r>
          </a:p>
          <a:p>
            <a:pPr lvl="1"/>
            <a:r>
              <a:rPr lang="en-US" altLang="en-US" sz="2400" i="1" dirty="0"/>
              <a:t>P</a:t>
            </a:r>
            <a:r>
              <a:rPr lang="en-US" altLang="en-US" sz="2400" dirty="0"/>
              <a:t> = {</a:t>
            </a:r>
            <a:r>
              <a:rPr lang="en-US" altLang="en-US" sz="2400" i="1" dirty="0"/>
              <a:t>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i="1" dirty="0"/>
              <a:t>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P</a:t>
            </a:r>
            <a:r>
              <a:rPr lang="en-US" altLang="en-US" sz="2400" i="1" baseline="-25000" dirty="0" err="1"/>
              <a:t>n</a:t>
            </a:r>
            <a:r>
              <a:rPr lang="en-US" altLang="en-US" sz="2400" dirty="0"/>
              <a:t>}, the set consisting of all the processes in the system</a:t>
            </a:r>
            <a:br>
              <a:rPr lang="en-US" altLang="en-US" sz="2400" dirty="0"/>
            </a:br>
            <a:endParaRPr lang="en-US" altLang="en-US" sz="2400" dirty="0"/>
          </a:p>
          <a:p>
            <a:pPr lvl="1"/>
            <a:r>
              <a:rPr lang="en-US" altLang="en-US" sz="2400" i="1" dirty="0"/>
              <a:t>R</a:t>
            </a:r>
            <a:r>
              <a:rPr lang="en-US" altLang="en-US" sz="2400" dirty="0"/>
              <a:t> = {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</a:t>
            </a:r>
            <a:r>
              <a:rPr lang="en-US" altLang="en-US" sz="2400" i="1" dirty="0"/>
              <a:t>R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i="1" dirty="0"/>
              <a:t>R</a:t>
            </a:r>
            <a:r>
              <a:rPr lang="en-US" altLang="en-US" sz="2400" i="1" baseline="-25000" dirty="0"/>
              <a:t>m</a:t>
            </a:r>
            <a:r>
              <a:rPr lang="en-US" altLang="en-US" sz="2400" dirty="0"/>
              <a:t>}, the set consisting of all resource types in the system</a:t>
            </a:r>
          </a:p>
          <a:p>
            <a:pPr lvl="1"/>
            <a:endParaRPr lang="en-US" altLang="en-US" sz="1050" dirty="0"/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request edge </a:t>
            </a:r>
            <a:r>
              <a:rPr lang="en-US" altLang="en-US" sz="2400" dirty="0"/>
              <a:t>– directed edge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i </a:t>
            </a:r>
            <a:r>
              <a:rPr lang="en-US" altLang="en-US" sz="2400" dirty="0">
                <a:sym typeface="Symbol" panose="05050102010706020507" pitchFamily="18" charset="2"/>
              </a:rPr>
              <a:t> </a:t>
            </a:r>
            <a:r>
              <a:rPr lang="en-US" altLang="en-US" sz="2400" i="1" dirty="0" err="1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j</a:t>
            </a:r>
            <a:endParaRPr lang="en-US" altLang="en-US" sz="2400" i="1" baseline="-25000" dirty="0">
              <a:sym typeface="Symbol" panose="05050102010706020507" pitchFamily="18" charset="2"/>
            </a:endParaRPr>
          </a:p>
          <a:p>
            <a:endParaRPr lang="en-US" altLang="en-US" sz="1000" i="1" baseline="-25000" dirty="0">
              <a:sym typeface="Symbol" panose="05050102010706020507" pitchFamily="18" charset="2"/>
            </a:endParaRPr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assignment edge </a:t>
            </a:r>
            <a:r>
              <a:rPr lang="en-US" altLang="en-US" sz="2400" dirty="0"/>
              <a:t>– directed edge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j</a:t>
            </a:r>
            <a:r>
              <a:rPr lang="en-US" altLang="en-US" sz="2400" i="1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5FCC8E8A-16FC-4644-B90C-8C320716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09" y="1310280"/>
            <a:ext cx="56387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/>
              <a:t>A set of vertices </a:t>
            </a:r>
            <a:r>
              <a:rPr kumimoji="0" lang="en-US" altLang="en-US" sz="2400" i="1" dirty="0"/>
              <a:t>V</a:t>
            </a:r>
            <a:r>
              <a:rPr kumimoji="0" lang="en-US" altLang="en-US" sz="2400" dirty="0"/>
              <a:t> and a set of edges </a:t>
            </a:r>
            <a:r>
              <a:rPr kumimoji="0" lang="en-US" altLang="en-US" sz="2400" i="1" dirty="0"/>
              <a:t>E</a:t>
            </a:r>
            <a:endParaRPr kumimoji="0" lang="en-US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A4B64E3-DEA9-4327-B63F-42B7E332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65" y="214006"/>
            <a:ext cx="7880350" cy="537202"/>
          </a:xfrm>
        </p:spPr>
        <p:txBody>
          <a:bodyPr/>
          <a:lstStyle/>
          <a:p>
            <a:r>
              <a:rPr lang="en-US" altLang="en-US" dirty="0"/>
              <a:t>Resource Allocation Graph Example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66863360-8218-4F9C-99FE-9BE85325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4524375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Resources</a:t>
            </a:r>
          </a:p>
          <a:p>
            <a:pPr lvl="1"/>
            <a:r>
              <a:rPr lang="en-US" altLang="en-US" sz="2400" dirty="0"/>
              <a:t>One instance of R1</a:t>
            </a:r>
          </a:p>
          <a:p>
            <a:pPr lvl="1"/>
            <a:r>
              <a:rPr lang="en-US" altLang="en-US" sz="2400" dirty="0"/>
              <a:t>Two instances of R2</a:t>
            </a:r>
          </a:p>
          <a:p>
            <a:pPr lvl="1"/>
            <a:r>
              <a:rPr lang="en-US" altLang="en-US" sz="2400" dirty="0"/>
              <a:t>One instance of R3</a:t>
            </a:r>
          </a:p>
          <a:p>
            <a:pPr lvl="1"/>
            <a:r>
              <a:rPr lang="en-US" altLang="en-US" sz="2400" dirty="0"/>
              <a:t>Three instances of R4</a:t>
            </a:r>
          </a:p>
          <a:p>
            <a:r>
              <a:rPr lang="en-US" altLang="en-US" sz="2400" dirty="0"/>
              <a:t>T1 holds one instance of R2 and is waiting for an instance of R1</a:t>
            </a:r>
          </a:p>
          <a:p>
            <a:r>
              <a:rPr lang="en-US" altLang="en-US" sz="2400" dirty="0"/>
              <a:t>T2 holds one instance of R1, one instance of R2, and is waiting for an instance of R3</a:t>
            </a:r>
          </a:p>
          <a:p>
            <a:r>
              <a:rPr lang="en-US" altLang="en-US" sz="2400" dirty="0"/>
              <a:t>T3 holds one instance of R3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4B3F1686-A558-47EE-B9D9-DBE933ACC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1500188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837C291A-9445-4721-B361-26FE27F41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8074" y="221637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17410" name="Picture 1">
            <a:extLst>
              <a:ext uri="{FF2B5EF4-FFF2-40B4-BE49-F238E27FC236}">
                <a16:creationId xmlns:a16="http://schemas.microsoft.com/office/drawing/2014/main" id="{6DC2929A-0DEC-4DB0-815C-C96B1DCBC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1089025"/>
            <a:ext cx="3354388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1FE1CF9-67CC-4C8B-A23E-E3989C148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411" y="195812"/>
            <a:ext cx="791349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19458" name="Picture 1">
            <a:extLst>
              <a:ext uri="{FF2B5EF4-FFF2-40B4-BE49-F238E27FC236}">
                <a16:creationId xmlns:a16="http://schemas.microsoft.com/office/drawing/2014/main" id="{CC72185A-FCE6-4038-BA8E-B2DF5B5E4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216" y="1423143"/>
            <a:ext cx="3248633" cy="414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368CA74-5723-4606-85F5-095271A5A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7CA9EB25-8907-4C31-9562-78429BD39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5188" y="1217613"/>
            <a:ext cx="7635000" cy="4400550"/>
          </a:xfrm>
        </p:spPr>
        <p:txBody>
          <a:bodyPr/>
          <a:lstStyle/>
          <a:p>
            <a:r>
              <a:rPr lang="en-US" altLang="en-US" sz="2400" dirty="0"/>
              <a:t>If graph contains no cycles </a:t>
            </a:r>
            <a:r>
              <a:rPr lang="en-US" altLang="en-US" sz="2400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sz="2400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if several instances per resource type,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possibility</a:t>
            </a:r>
            <a:r>
              <a:rPr lang="en-US" altLang="en-US" sz="2400" dirty="0">
                <a:sym typeface="Symbol" panose="05050102010706020507" pitchFamily="18" charset="2"/>
              </a:rPr>
              <a:t> of deadlock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214313"/>
            <a:ext cx="7577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49" y="1198563"/>
            <a:ext cx="7577137" cy="3295650"/>
          </a:xfrm>
        </p:spPr>
        <p:txBody>
          <a:bodyPr/>
          <a:lstStyle/>
          <a:p>
            <a:r>
              <a:rPr lang="en-US" altLang="en-US" sz="2400" dirty="0"/>
              <a:t>Ensure that the system will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sz="2400" dirty="0"/>
              <a:t> enter a deadlock state:</a:t>
            </a:r>
          </a:p>
          <a:p>
            <a:pPr lvl="1"/>
            <a:r>
              <a:rPr lang="en-US" altLang="en-US" sz="2400" dirty="0"/>
              <a:t>Deadlock prevention</a:t>
            </a:r>
          </a:p>
          <a:p>
            <a:pPr lvl="1"/>
            <a:r>
              <a:rPr lang="en-US" altLang="en-US" sz="2400" dirty="0"/>
              <a:t>Deadlock avoidance</a:t>
            </a:r>
          </a:p>
          <a:p>
            <a:r>
              <a:rPr lang="en-US" altLang="en-US" sz="2400" dirty="0"/>
              <a:t>Allow the system to enter a deadlock state and then recover</a:t>
            </a:r>
          </a:p>
          <a:p>
            <a:r>
              <a:rPr lang="en-US" altLang="en-US" sz="2400" dirty="0"/>
              <a:t>Ignore the problem and pretend that deadlocks never occur in the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226431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3773" y="1717511"/>
            <a:ext cx="7237084" cy="3822700"/>
          </a:xfrm>
        </p:spPr>
        <p:txBody>
          <a:bodyPr/>
          <a:lstStyle/>
          <a:p>
            <a:r>
              <a:rPr lang="en-US" altLang="en-US" sz="2400" b="1" dirty="0"/>
              <a:t>Mutual Exclusion</a:t>
            </a:r>
            <a:r>
              <a:rPr lang="en-US" altLang="en-US" sz="2400" dirty="0"/>
              <a:t> – not required for sharable resources (e.g., read-only files); must hold for non-sharable resources</a:t>
            </a:r>
          </a:p>
          <a:p>
            <a:r>
              <a:rPr lang="en-US" altLang="en-US" sz="2400" b="1" dirty="0"/>
              <a:t>Hold and Wait</a:t>
            </a:r>
            <a:r>
              <a:rPr lang="en-US" altLang="en-US" sz="2400" dirty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sz="2400" dirty="0"/>
              <a:t>Require a process to request and be allocated all its resources </a:t>
            </a:r>
            <a:r>
              <a:rPr lang="en-US" altLang="en-US" sz="2400" dirty="0">
                <a:solidFill>
                  <a:srgbClr val="0000FF"/>
                </a:solidFill>
              </a:rPr>
              <a:t>before</a:t>
            </a:r>
            <a:r>
              <a:rPr lang="en-US" altLang="en-US" sz="2400" dirty="0"/>
              <a:t> execution, or only when the process has none allocated to it</a:t>
            </a:r>
          </a:p>
          <a:p>
            <a:pPr lvl="1"/>
            <a:r>
              <a:rPr lang="en-US" altLang="en-US" sz="2400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6" y="965902"/>
            <a:ext cx="7960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solidFill>
                  <a:srgbClr val="0000FF"/>
                </a:solidFill>
              </a:rPr>
              <a:t>To invalidate</a:t>
            </a:r>
            <a:r>
              <a:rPr kumimoji="0" lang="en-US" altLang="en-US" sz="2400" dirty="0"/>
              <a:t> one of the four necessary conditions for deadlock: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32005"/>
            <a:ext cx="7683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85853"/>
            <a:ext cx="7683500" cy="4446588"/>
          </a:xfrm>
        </p:spPr>
        <p:txBody>
          <a:bodyPr/>
          <a:lstStyle/>
          <a:p>
            <a:r>
              <a:rPr lang="en-US" altLang="en-US" sz="2000" b="1" dirty="0"/>
              <a:t>No Preemption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2000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sz="2000" dirty="0"/>
              <a:t>Preempted resources are added to the list of resources for which the process is waiting</a:t>
            </a:r>
          </a:p>
          <a:p>
            <a:pPr lvl="1"/>
            <a:r>
              <a:rPr lang="en-US" altLang="en-US" sz="2000" dirty="0"/>
              <a:t>Process will be restarted only when it can regain its old resources, as well as the new ones that it is requesting</a:t>
            </a:r>
          </a:p>
          <a:p>
            <a:r>
              <a:rPr lang="en-US" altLang="en-US" sz="2000" b="1" dirty="0"/>
              <a:t>Circular Wait:</a:t>
            </a:r>
          </a:p>
          <a:p>
            <a:pPr lvl="1"/>
            <a:r>
              <a:rPr lang="en-US" altLang="en-US" sz="2000" dirty="0"/>
              <a:t>Impose a </a:t>
            </a:r>
            <a:r>
              <a:rPr lang="en-US" altLang="en-US" sz="2000" dirty="0">
                <a:solidFill>
                  <a:srgbClr val="0000FF"/>
                </a:solidFill>
              </a:rPr>
              <a:t>total ordering </a:t>
            </a:r>
            <a:r>
              <a:rPr lang="en-US" altLang="en-US" sz="2000" dirty="0"/>
              <a:t>of all resource types, and require that each process requests resources in an increasing order of enumeration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C9BCC94F-DF14-4CEF-B307-FFDB8B7B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Circular Wait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58AB02F0-3B68-482D-A95F-2D1605DF3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10125"/>
          </a:xfrm>
        </p:spPr>
        <p:txBody>
          <a:bodyPr/>
          <a:lstStyle/>
          <a:p>
            <a:r>
              <a:rPr lang="en-US" altLang="en-US" sz="2000" dirty="0"/>
              <a:t>Invalidating the circular wait condition is most common</a:t>
            </a:r>
          </a:p>
          <a:p>
            <a:pPr lvl="1"/>
            <a:r>
              <a:rPr lang="en-US" altLang="en-US" sz="2000" dirty="0"/>
              <a:t>Simply assign each resource (i.e., mutex locks) a unique number</a:t>
            </a:r>
          </a:p>
          <a:p>
            <a:pPr lvl="1"/>
            <a:r>
              <a:rPr lang="en-US" altLang="en-US" sz="2000" dirty="0">
                <a:solidFill>
                  <a:srgbClr val="0000FF"/>
                </a:solidFill>
              </a:rPr>
              <a:t>Resources must be acquired in order</a:t>
            </a:r>
            <a:endParaRPr lang="en-US" altLang="en-US" sz="2000" dirty="0"/>
          </a:p>
          <a:p>
            <a:r>
              <a:rPr lang="en-US" altLang="en-US" sz="2000" dirty="0"/>
              <a:t>If: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2000" dirty="0"/>
            </a:br>
            <a:r>
              <a:rPr lang="en-US" altLang="en-US" sz="2000" dirty="0"/>
              <a:t>code for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sz="2000" dirty="0"/>
              <a:t> could not be </a:t>
            </a:r>
            <a:br>
              <a:rPr lang="en-US" altLang="en-US" sz="2000" dirty="0"/>
            </a:br>
            <a:r>
              <a:rPr lang="en-US" altLang="en-US" sz="2000" dirty="0"/>
              <a:t>written as follows:</a:t>
            </a:r>
          </a:p>
        </p:txBody>
      </p:sp>
      <p:pic>
        <p:nvPicPr>
          <p:cNvPr id="92163" name="Content Placeholder 4">
            <a:extLst>
              <a:ext uri="{FF2B5EF4-FFF2-40B4-BE49-F238E27FC236}">
                <a16:creationId xmlns:a16="http://schemas.microsoft.com/office/drawing/2014/main" id="{211EEBA5-828D-4DE4-9727-3740CF9D0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217" y="2540244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>
            <a:extLst>
              <a:ext uri="{FF2B5EF4-FFF2-40B4-BE49-F238E27FC236}">
                <a16:creationId xmlns:a16="http://schemas.microsoft.com/office/drawing/2014/main" id="{6FD34B5C-0025-47BD-A2A2-5E565E3A22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03036" y="4508707"/>
            <a:ext cx="2213181" cy="37140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22643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0971" y="1814513"/>
            <a:ext cx="7296539" cy="3783012"/>
          </a:xfrm>
        </p:spPr>
        <p:txBody>
          <a:bodyPr/>
          <a:lstStyle/>
          <a:p>
            <a:r>
              <a:rPr lang="en-US" altLang="en-US" sz="2400" dirty="0"/>
              <a:t>Simplest and most useful model requires that each process declares the </a:t>
            </a:r>
            <a:r>
              <a:rPr lang="en-US" altLang="en-US" sz="2400" b="1" i="1" dirty="0"/>
              <a:t>maximum number</a:t>
            </a:r>
            <a:r>
              <a:rPr lang="en-US" altLang="en-US" sz="2400" b="1" dirty="0"/>
              <a:t> </a:t>
            </a:r>
            <a:r>
              <a:rPr lang="en-US" altLang="en-US" sz="2400" dirty="0"/>
              <a:t>of resources of each type that it may need</a:t>
            </a:r>
          </a:p>
          <a:p>
            <a:r>
              <a:rPr lang="en-US" altLang="en-US" sz="2400" dirty="0"/>
              <a:t>The deadlock-avoidance algorithm </a:t>
            </a:r>
            <a:r>
              <a:rPr lang="en-US" altLang="en-US" sz="2400" dirty="0">
                <a:solidFill>
                  <a:srgbClr val="0000FF"/>
                </a:solidFill>
              </a:rPr>
              <a:t>dynamically</a:t>
            </a:r>
            <a:r>
              <a:rPr lang="en-US" altLang="en-US" sz="2400" dirty="0"/>
              <a:t> examines the </a:t>
            </a:r>
            <a:r>
              <a:rPr lang="en-US" altLang="en-US" sz="2400" dirty="0">
                <a:solidFill>
                  <a:srgbClr val="0000FF"/>
                </a:solidFill>
              </a:rPr>
              <a:t>resource-allocation state </a:t>
            </a:r>
            <a:r>
              <a:rPr lang="en-US" altLang="en-US" sz="2400" dirty="0"/>
              <a:t>to ensure that there can never be a circular-wait condition</a:t>
            </a:r>
          </a:p>
          <a:p>
            <a:r>
              <a:rPr lang="en-US" altLang="en-US" sz="2400" dirty="0"/>
              <a:t>Resource-allocation </a:t>
            </a:r>
            <a:r>
              <a:rPr lang="en-US" altLang="en-US" sz="2400" i="1" dirty="0"/>
              <a:t>state</a:t>
            </a:r>
            <a:r>
              <a:rPr lang="en-US" altLang="en-US" sz="2400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417" y="1003727"/>
            <a:ext cx="76790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/>
              <a:t>Requires that the system has some additional </a:t>
            </a:r>
            <a:r>
              <a:rPr kumimoji="0" lang="en-US" altLang="en-US" sz="2400" b="1" i="1" dirty="0"/>
              <a:t>a priori </a:t>
            </a:r>
            <a:r>
              <a:rPr kumimoji="0" lang="en-US" altLang="en-US" sz="2400" dirty="0"/>
              <a:t>information available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83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9162" y="1165225"/>
            <a:ext cx="7608611" cy="4914562"/>
          </a:xfrm>
        </p:spPr>
        <p:txBody>
          <a:bodyPr/>
          <a:lstStyle/>
          <a:p>
            <a:r>
              <a:rPr lang="en-US" altLang="en-US" sz="2000" dirty="0"/>
              <a:t>When a process requests an available resource, system must decide if immediate allocation leaves the system in a safe state</a:t>
            </a:r>
          </a:p>
          <a:p>
            <a:r>
              <a:rPr lang="en-US" altLang="en-US" sz="2000" dirty="0"/>
              <a:t>System is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sz="2000" dirty="0"/>
              <a:t>if there exists a sequence &lt;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i="1" dirty="0"/>
              <a:t>, P</a:t>
            </a:r>
            <a:r>
              <a:rPr lang="en-US" altLang="en-US" sz="2000" i="1" baseline="-25000" dirty="0"/>
              <a:t>2</a:t>
            </a:r>
            <a:r>
              <a:rPr lang="en-US" altLang="en-US" sz="2000" i="1" dirty="0"/>
              <a:t>, …, </a:t>
            </a:r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n</a:t>
            </a:r>
            <a:r>
              <a:rPr lang="en-US" altLang="en-US" sz="2000" dirty="0"/>
              <a:t>&gt; of </a:t>
            </a:r>
            <a:r>
              <a:rPr lang="en-US" altLang="en-US" sz="2000" dirty="0">
                <a:solidFill>
                  <a:srgbClr val="0000FF"/>
                </a:solidFill>
              </a:rPr>
              <a:t>ALL the processes </a:t>
            </a:r>
            <a:r>
              <a:rPr lang="en-US" altLang="en-US" sz="2000" dirty="0"/>
              <a:t>in the system such that for each P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, the resources that P</a:t>
            </a:r>
            <a:r>
              <a:rPr lang="en-US" altLang="en-US" sz="2000" baseline="-25000" dirty="0"/>
              <a:t>i </a:t>
            </a:r>
            <a:r>
              <a:rPr lang="en-US" altLang="en-US" sz="2000" dirty="0"/>
              <a:t>can still request can be satisfied by currently available resources + resources held by all previous </a:t>
            </a:r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, with</a:t>
            </a:r>
            <a:r>
              <a:rPr lang="en-US" altLang="en-US" sz="2000" i="1" dirty="0"/>
              <a:t> j </a:t>
            </a:r>
            <a:r>
              <a:rPr lang="en-US" altLang="en-US" sz="2000" dirty="0"/>
              <a:t>&lt; </a:t>
            </a:r>
            <a:r>
              <a:rPr lang="en-US" altLang="en-US" sz="2000" i="1" dirty="0" err="1"/>
              <a:t>i</a:t>
            </a:r>
            <a:endParaRPr lang="en-US" altLang="en-US" sz="2000" dirty="0"/>
          </a:p>
          <a:p>
            <a:r>
              <a:rPr lang="en-US" altLang="en-US" sz="2000" dirty="0"/>
              <a:t>That is:</a:t>
            </a:r>
          </a:p>
          <a:p>
            <a:pPr lvl="1"/>
            <a:r>
              <a:rPr lang="en-US" altLang="en-US" sz="2000" dirty="0"/>
              <a:t>If P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resource needs are not immediately available, then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can wait until all </a:t>
            </a:r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</a:t>
            </a:r>
            <a:r>
              <a:rPr lang="en-US" altLang="en-US" sz="2000" dirty="0"/>
              <a:t>have finished</a:t>
            </a:r>
          </a:p>
          <a:p>
            <a:pPr lvl="1"/>
            <a:r>
              <a:rPr lang="en-US" altLang="en-US" sz="2000" dirty="0"/>
              <a:t>When </a:t>
            </a:r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finishes,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can obtain needed resources, execute, return allocated resources, and terminate</a:t>
            </a:r>
          </a:p>
          <a:p>
            <a:pPr lvl="1"/>
            <a:r>
              <a:rPr lang="en-US" altLang="en-US" sz="2000" dirty="0"/>
              <a:t>When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terminates,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i </a:t>
            </a:r>
            <a:r>
              <a:rPr lang="en-US" altLang="en-US" sz="2000" baseline="-25000" dirty="0"/>
              <a:t>+1</a:t>
            </a:r>
            <a:r>
              <a:rPr lang="en-US" altLang="en-US" sz="2000" dirty="0"/>
              <a:t> can obtain its needed resources, and so on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2337" y="1190625"/>
            <a:ext cx="7652495" cy="4414838"/>
          </a:xfrm>
        </p:spPr>
        <p:txBody>
          <a:bodyPr/>
          <a:lstStyle/>
          <a:p>
            <a:r>
              <a:rPr lang="en-US" altLang="en-US" sz="2400" dirty="0"/>
              <a:t>If a system is in safe state </a:t>
            </a:r>
            <a:r>
              <a:rPr lang="en-US" altLang="en-US" sz="2400" dirty="0">
                <a:sym typeface="Symbol" panose="05050102010706020507" pitchFamily="18" charset="2"/>
              </a:rPr>
              <a:t> no deadlocks</a:t>
            </a:r>
            <a:br>
              <a:rPr lang="en-US" altLang="en-US" sz="2400" dirty="0">
                <a:sym typeface="Symbol" panose="05050102010706020507" pitchFamily="18" charset="2"/>
              </a:rPr>
            </a:b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If a system is in unsafe state 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possibility</a:t>
            </a:r>
            <a:r>
              <a:rPr lang="en-US" altLang="en-US" sz="2400" dirty="0">
                <a:sym typeface="Symbol" panose="05050102010706020507" pitchFamily="18" charset="2"/>
              </a:rPr>
              <a:t> of deadlock</a:t>
            </a:r>
            <a:br>
              <a:rPr lang="en-US" altLang="en-US" sz="2400" dirty="0">
                <a:sym typeface="Symbol" panose="05050102010706020507" pitchFamily="18" charset="2"/>
              </a:rPr>
            </a:b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Avoidance  ensure that a system will never enter an unsafe state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5461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62088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41336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463" y="1171575"/>
            <a:ext cx="6659562" cy="4483100"/>
          </a:xfrm>
        </p:spPr>
        <p:txBody>
          <a:bodyPr/>
          <a:lstStyle/>
          <a:p>
            <a:r>
              <a:rPr lang="en-US" altLang="en-US" sz="2400" dirty="0"/>
              <a:t>Single instance of a resource type</a:t>
            </a:r>
          </a:p>
          <a:p>
            <a:pPr lvl="1"/>
            <a:r>
              <a:rPr lang="en-US" altLang="en-US" sz="2400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sz="2400" dirty="0"/>
          </a:p>
          <a:p>
            <a:r>
              <a:rPr lang="en-US" altLang="en-US" sz="2400" dirty="0"/>
              <a:t>Multiple instances of a resource type</a:t>
            </a:r>
          </a:p>
          <a:p>
            <a:pPr lvl="1"/>
            <a:r>
              <a:rPr lang="en-US" altLang="en-US" sz="2400" dirty="0"/>
              <a:t> Use the Banker</a:t>
            </a:r>
            <a:r>
              <a:rPr lang="ja-JP" altLang="en-US" sz="2400" dirty="0"/>
              <a:t>’</a:t>
            </a:r>
            <a:r>
              <a:rPr lang="en-US" altLang="ja-JP" sz="2400" dirty="0"/>
              <a:t>s Algorithm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989" y="235762"/>
            <a:ext cx="7831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7" y="1155700"/>
            <a:ext cx="7697333" cy="448310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 </a:t>
            </a:r>
            <a:r>
              <a:rPr lang="en-US" altLang="en-US" sz="2400" i="1" dirty="0" err="1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ym typeface="Symbol" panose="05050102010706020507" pitchFamily="18" charset="2"/>
              </a:rPr>
              <a:t> indicates that process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may request resource </a:t>
            </a:r>
            <a:r>
              <a:rPr lang="en-US" altLang="en-US" sz="2400" i="1" dirty="0" err="1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400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sz="2400" dirty="0">
                <a:sym typeface="Symbol" panose="05050102010706020507" pitchFamily="18" charset="2"/>
              </a:rPr>
              <a:t>Claim edge converts to request edge when a process requests a resource</a:t>
            </a:r>
          </a:p>
          <a:p>
            <a:r>
              <a:rPr lang="en-US" altLang="en-US" sz="2400" dirty="0">
                <a:sym typeface="Symbol" panose="05050102010706020507" pitchFamily="18" charset="2"/>
              </a:rPr>
              <a:t>Request edge is converted to an assignment edge when the resource is allocated to the process</a:t>
            </a:r>
          </a:p>
          <a:p>
            <a:r>
              <a:rPr lang="en-US" altLang="en-US" sz="2400" dirty="0">
                <a:sym typeface="Symbol" panose="05050102010706020507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sz="2400" dirty="0">
                <a:sym typeface="Symbol" panose="05050102010706020507" pitchFamily="18" charset="2"/>
              </a:rPr>
              <a:t>Resources must be claimed </a:t>
            </a:r>
            <a:r>
              <a:rPr lang="en-US" altLang="en-US" sz="2400" i="1" dirty="0">
                <a:sym typeface="Symbol" panose="05050102010706020507" pitchFamily="18" charset="2"/>
              </a:rPr>
              <a:t>a priori</a:t>
            </a:r>
            <a:r>
              <a:rPr lang="en-US" altLang="en-US" sz="2400" dirty="0">
                <a:sym typeface="Symbol" panose="05050102010706020507" pitchFamily="18" charset="2"/>
              </a:rPr>
              <a:t> in the system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4079" y="355636"/>
            <a:ext cx="8224837" cy="457200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077" y="142369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7952" y="353656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438275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2747" y="234792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015" y="1187450"/>
            <a:ext cx="7656512" cy="4303713"/>
          </a:xfrm>
        </p:spPr>
        <p:txBody>
          <a:bodyPr/>
          <a:lstStyle/>
          <a:p>
            <a:r>
              <a:rPr lang="en-US" altLang="en-US" sz="2400" dirty="0"/>
              <a:t>Suppose that process</a:t>
            </a:r>
            <a:r>
              <a:rPr lang="en-US" altLang="en-US" sz="2400" i="1" dirty="0"/>
              <a:t> P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requests a resource </a:t>
            </a:r>
            <a:r>
              <a:rPr lang="en-US" altLang="en-US" sz="2400" i="1" dirty="0" err="1">
                <a:sym typeface="Symbol" panose="05050102010706020507" pitchFamily="18" charset="2"/>
              </a:rPr>
              <a:t>R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j</a:t>
            </a:r>
            <a:endParaRPr lang="en-US" altLang="en-US" sz="2400" i="1" baseline="-250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The request can be granted </a:t>
            </a:r>
            <a:r>
              <a:rPr lang="en-US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only if </a:t>
            </a:r>
            <a:r>
              <a:rPr lang="en-US" altLang="en-US" sz="2400" dirty="0">
                <a:sym typeface="Symbol" panose="05050102010706020507" pitchFamily="18" charset="2"/>
              </a:rPr>
              <a:t>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38549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28713"/>
            <a:ext cx="7706664" cy="4441825"/>
          </a:xfrm>
        </p:spPr>
        <p:txBody>
          <a:bodyPr/>
          <a:lstStyle/>
          <a:p>
            <a:r>
              <a:rPr lang="en-US" altLang="en-US" sz="2400" dirty="0"/>
              <a:t>Multiple instances of resources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Each process must a priori claim maximum use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When a process requests a resource, it may have to wait  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When a process gets all its resources, it must return them in a finite amount of 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4237" y="383009"/>
            <a:ext cx="7586662" cy="431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213" y="1654175"/>
            <a:ext cx="7370762" cy="4387850"/>
          </a:xfrm>
        </p:spPr>
        <p:txBody>
          <a:bodyPr/>
          <a:lstStyle/>
          <a:p>
            <a:r>
              <a:rPr lang="en-US" altLang="en-US" sz="2000" b="1" dirty="0"/>
              <a:t>Available</a:t>
            </a:r>
            <a:r>
              <a:rPr lang="en-US" altLang="en-US" sz="2000" i="1" dirty="0"/>
              <a:t>:</a:t>
            </a:r>
            <a:r>
              <a:rPr lang="en-US" altLang="en-US" sz="2000" dirty="0"/>
              <a:t>  Vector of length </a:t>
            </a:r>
            <a:r>
              <a:rPr lang="en-US" altLang="en-US" sz="2000" i="1" dirty="0"/>
              <a:t>m</a:t>
            </a:r>
            <a:r>
              <a:rPr lang="en-US" altLang="en-US" sz="2000" dirty="0"/>
              <a:t>. If available [</a:t>
            </a:r>
            <a:r>
              <a:rPr lang="en-US" altLang="en-US" sz="2000" i="1" dirty="0"/>
              <a:t>j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there are</a:t>
            </a:r>
            <a:r>
              <a:rPr lang="en-US" altLang="en-US" sz="2000" i="1" dirty="0"/>
              <a:t> k</a:t>
            </a:r>
            <a:r>
              <a:rPr lang="en-US" altLang="en-US" sz="2000" dirty="0"/>
              <a:t> instances of resource type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r>
              <a:rPr lang="en-US" altLang="en-US" sz="2000" baseline="-25000" dirty="0"/>
              <a:t>  </a:t>
            </a:r>
            <a:r>
              <a:rPr lang="en-US" altLang="en-US" sz="2000" dirty="0"/>
              <a:t>available</a:t>
            </a:r>
          </a:p>
          <a:p>
            <a:endParaRPr lang="en-US" altLang="en-US" sz="900" dirty="0"/>
          </a:p>
          <a:p>
            <a:r>
              <a:rPr lang="en-US" altLang="en-US" sz="2000" b="1" dirty="0">
                <a:solidFill>
                  <a:srgbClr val="000000"/>
                </a:solidFill>
              </a:rPr>
              <a:t>Max</a:t>
            </a:r>
            <a:r>
              <a:rPr lang="en-US" altLang="en-US" sz="2000" i="1" dirty="0"/>
              <a:t>: n x m</a:t>
            </a:r>
            <a:r>
              <a:rPr lang="en-US" altLang="en-US" sz="2000" dirty="0"/>
              <a:t> matrix.  If </a:t>
            </a:r>
            <a:r>
              <a:rPr lang="en-US" altLang="en-US" sz="2000" i="1" dirty="0"/>
              <a:t>Max 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then process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may request at most</a:t>
            </a:r>
            <a:r>
              <a:rPr lang="en-US" altLang="en-US" sz="2000" i="1" dirty="0"/>
              <a:t> k </a:t>
            </a:r>
            <a:r>
              <a:rPr lang="en-US" altLang="en-US" sz="2000" dirty="0"/>
              <a:t>instances of resource type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endParaRPr lang="en-US" altLang="en-US" sz="2000" i="1" baseline="-25000" dirty="0"/>
          </a:p>
          <a:p>
            <a:endParaRPr lang="en-US" altLang="en-US" sz="900" i="1" baseline="-25000" dirty="0"/>
          </a:p>
          <a:p>
            <a:r>
              <a:rPr lang="en-US" altLang="en-US" sz="2000" b="1" dirty="0">
                <a:solidFill>
                  <a:srgbClr val="000000"/>
                </a:solidFill>
              </a:rPr>
              <a:t>Allocation</a:t>
            </a:r>
            <a:r>
              <a:rPr lang="en-US" altLang="en-US" sz="2000" i="1" dirty="0"/>
              <a:t>:  n </a:t>
            </a:r>
            <a:r>
              <a:rPr lang="en-US" altLang="en-US" sz="2000" dirty="0"/>
              <a:t>x</a:t>
            </a:r>
            <a:r>
              <a:rPr lang="en-US" altLang="en-US" sz="2000" i="1" dirty="0"/>
              <a:t> m</a:t>
            </a:r>
            <a:r>
              <a:rPr lang="en-US" altLang="en-US" sz="2000" dirty="0"/>
              <a:t> matrix.  If Allocation[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= </a:t>
            </a:r>
            <a:r>
              <a:rPr lang="en-US" altLang="en-US" sz="2000" i="1" dirty="0"/>
              <a:t>k</a:t>
            </a:r>
            <a:r>
              <a:rPr lang="en-US" altLang="en-US" sz="2000" dirty="0"/>
              <a:t> then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</a:t>
            </a:r>
            <a:r>
              <a:rPr lang="en-US" altLang="en-US" sz="2000" dirty="0">
                <a:solidFill>
                  <a:srgbClr val="0000FF"/>
                </a:solidFill>
              </a:rPr>
              <a:t>currently allocated </a:t>
            </a:r>
            <a:r>
              <a:rPr lang="en-US" altLang="en-US" sz="2000" i="1" dirty="0"/>
              <a:t>k</a:t>
            </a:r>
            <a:r>
              <a:rPr lang="en-US" altLang="en-US" sz="2000" dirty="0"/>
              <a:t> instances of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endParaRPr lang="en-US" altLang="en-US" sz="2000" i="1" baseline="-25000" dirty="0"/>
          </a:p>
          <a:p>
            <a:endParaRPr lang="en-US" altLang="en-US" sz="900" i="1" baseline="-25000" dirty="0"/>
          </a:p>
          <a:p>
            <a:r>
              <a:rPr lang="en-US" altLang="en-US" sz="2000" b="1" dirty="0">
                <a:solidFill>
                  <a:srgbClr val="000000"/>
                </a:solidFill>
              </a:rPr>
              <a:t>Need</a:t>
            </a:r>
            <a:r>
              <a:rPr lang="en-US" altLang="en-US" sz="2000" i="1" dirty="0"/>
              <a:t>:  n </a:t>
            </a:r>
            <a:r>
              <a:rPr lang="en-US" altLang="en-US" sz="2000" dirty="0"/>
              <a:t>x</a:t>
            </a:r>
            <a:r>
              <a:rPr lang="en-US" altLang="en-US" sz="2000" i="1" dirty="0"/>
              <a:t> m</a:t>
            </a:r>
            <a:r>
              <a:rPr lang="en-US" altLang="en-US" sz="2000" dirty="0"/>
              <a:t> matrix. If </a:t>
            </a:r>
            <a:r>
              <a:rPr lang="en-US" altLang="en-US" sz="2000" i="1" dirty="0"/>
              <a:t>Need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=</a:t>
            </a:r>
            <a:r>
              <a:rPr lang="en-US" altLang="en-US" sz="2000" i="1" dirty="0"/>
              <a:t> k</a:t>
            </a:r>
            <a:r>
              <a:rPr lang="en-US" altLang="en-US" sz="2000" dirty="0"/>
              <a:t>, then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may need </a:t>
            </a:r>
            <a:r>
              <a:rPr lang="en-US" altLang="en-US" sz="2000" i="1" dirty="0"/>
              <a:t>k</a:t>
            </a:r>
            <a:r>
              <a:rPr lang="en-US" altLang="en-US" sz="2000" dirty="0"/>
              <a:t> more instances of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j</a:t>
            </a:r>
            <a:r>
              <a:rPr lang="en-US" altLang="en-US" sz="2000" baseline="-25000" dirty="0"/>
              <a:t>  </a:t>
            </a:r>
            <a:r>
              <a:rPr lang="en-US" altLang="en-US" sz="2000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sz="2000" dirty="0"/>
            </a:br>
            <a:r>
              <a:rPr lang="en-US" altLang="en-US" sz="2000" i="1" dirty="0"/>
              <a:t>Need</a:t>
            </a:r>
            <a:r>
              <a:rPr lang="en-US" altLang="en-US" sz="2000" dirty="0"/>
              <a:t> [</a:t>
            </a:r>
            <a:r>
              <a:rPr lang="en-US" altLang="en-US" sz="2000" i="1" dirty="0" err="1"/>
              <a:t>i,j</a:t>
            </a:r>
            <a:r>
              <a:rPr lang="en-US" altLang="en-US" sz="2000" i="1" dirty="0"/>
              <a:t>]</a:t>
            </a:r>
            <a:r>
              <a:rPr lang="en-US" altLang="en-US" sz="2000" dirty="0"/>
              <a:t> = </a:t>
            </a:r>
            <a:r>
              <a:rPr lang="en-US" altLang="en-US" sz="2000" i="1" dirty="0"/>
              <a:t>Max</a:t>
            </a:r>
            <a:r>
              <a:rPr lang="en-US" altLang="en-US" sz="2000" dirty="0"/>
              <a:t>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 – </a:t>
            </a:r>
            <a:r>
              <a:rPr lang="en-US" altLang="en-US" sz="2000" i="1" dirty="0"/>
              <a:t>Allocation</a:t>
            </a:r>
            <a:r>
              <a:rPr lang="en-US" altLang="en-US" sz="2000" dirty="0"/>
              <a:t> [</a:t>
            </a:r>
            <a:r>
              <a:rPr lang="en-US" altLang="en-US" sz="2000" i="1" dirty="0" err="1"/>
              <a:t>i,j</a:t>
            </a:r>
            <a:r>
              <a:rPr lang="en-US" altLang="en-US" sz="2000" dirty="0"/>
              <a:t>]</a:t>
            </a: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091377"/>
            <a:ext cx="77508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Let </a:t>
            </a:r>
            <a:r>
              <a:rPr kumimoji="0" lang="en-US" altLang="en-US" sz="2000" i="1" dirty="0"/>
              <a:t>n</a:t>
            </a:r>
            <a:r>
              <a:rPr kumimoji="0" lang="en-US" altLang="en-US" sz="2000" dirty="0"/>
              <a:t> = number of processes, and </a:t>
            </a:r>
            <a:r>
              <a:rPr kumimoji="0" lang="en-US" altLang="en-US" sz="2000" i="1" dirty="0"/>
              <a:t>m </a:t>
            </a:r>
            <a:r>
              <a:rPr kumimoji="0" lang="en-US" altLang="en-US" sz="2000" dirty="0"/>
              <a:t>= number of resources types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57288"/>
            <a:ext cx="7372350" cy="494347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Let </a:t>
            </a:r>
            <a:r>
              <a:rPr lang="en-US" altLang="en-US" sz="2000" b="1" i="1" dirty="0">
                <a:solidFill>
                  <a:srgbClr val="000000"/>
                </a:solidFill>
              </a:rPr>
              <a:t>Work</a:t>
            </a:r>
            <a:r>
              <a:rPr lang="en-US" altLang="en-US" sz="2000" i="1" dirty="0">
                <a:solidFill>
                  <a:srgbClr val="000000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>
                <a:solidFill>
                  <a:srgbClr val="000000"/>
                </a:solidFill>
              </a:rPr>
              <a:t>Finish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/>
              <a:t>be vectors of length</a:t>
            </a:r>
            <a:r>
              <a:rPr lang="en-US" altLang="en-US" sz="2000" i="1" dirty="0"/>
              <a:t> m</a:t>
            </a:r>
            <a:r>
              <a:rPr lang="en-US" altLang="en-US" sz="2000" dirty="0"/>
              <a:t> and</a:t>
            </a:r>
            <a:r>
              <a:rPr lang="en-US" altLang="en-US" sz="2000" i="1" dirty="0"/>
              <a:t> n</a:t>
            </a:r>
            <a:r>
              <a:rPr lang="en-US" altLang="en-US" sz="2000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2000" b="1" i="1" dirty="0"/>
              <a:t>Work </a:t>
            </a:r>
            <a:r>
              <a:rPr lang="en-US" altLang="en-US" sz="2000" b="1" dirty="0"/>
              <a:t>= </a:t>
            </a:r>
            <a:r>
              <a:rPr lang="en-US" altLang="en-US" sz="2000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sz="2000" b="1" i="1" dirty="0"/>
              <a:t>Finish 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</a:t>
            </a:r>
            <a:r>
              <a:rPr lang="en-US" altLang="en-US" sz="2000" b="1" i="1" dirty="0"/>
              <a:t> false, </a:t>
            </a:r>
            <a:r>
              <a:rPr lang="en-US" altLang="en-US" sz="2000" b="1" dirty="0"/>
              <a:t>for</a:t>
            </a:r>
            <a:r>
              <a:rPr lang="en-US" altLang="en-US" sz="2000" b="1" i="1" dirty="0"/>
              <a:t> i</a:t>
            </a:r>
            <a:r>
              <a:rPr lang="en-US" altLang="en-US" sz="2000" b="1" dirty="0"/>
              <a:t> = 0, 1, …, </a:t>
            </a:r>
            <a:r>
              <a:rPr lang="en-US" altLang="en-US" sz="2000" b="1" i="1" dirty="0"/>
              <a:t>n-</a:t>
            </a:r>
            <a:r>
              <a:rPr lang="en-US" altLang="en-US" sz="2000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9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Find an </a:t>
            </a:r>
            <a:r>
              <a:rPr lang="en-US" altLang="en-US" sz="2000" b="1" i="1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/>
              <a:t>  (a)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 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 </a:t>
            </a:r>
            <a:r>
              <a:rPr lang="en-US" altLang="en-US" sz="2000" b="1" i="1" dirty="0"/>
              <a:t>false</a:t>
            </a:r>
            <a:endParaRPr lang="en-US" altLang="en-US" sz="2000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/>
              <a:t>  (b) </a:t>
            </a:r>
            <a:r>
              <a:rPr lang="en-US" altLang="en-US" sz="2000" b="1" i="1" dirty="0" err="1"/>
              <a:t>Need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   If no such</a:t>
            </a:r>
            <a:r>
              <a:rPr lang="en-US" altLang="en-US" sz="2000" b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>
                <a:sym typeface="Symbol" panose="05050102010706020507" pitchFamily="18" charset="2"/>
              </a:rPr>
              <a:t>i </a:t>
            </a:r>
            <a:r>
              <a:rPr lang="en-US" altLang="en-US" sz="2000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2000" dirty="0"/>
              <a:t> </a:t>
            </a:r>
            <a:r>
              <a:rPr lang="en-US" altLang="en-US" sz="2000" b="1" i="1" dirty="0"/>
              <a:t>Work</a:t>
            </a:r>
            <a:r>
              <a:rPr lang="en-US" altLang="en-US" sz="2000" b="1" dirty="0"/>
              <a:t> = </a:t>
            </a:r>
            <a:r>
              <a:rPr lang="en-US" altLang="en-US" sz="2000" b="1" i="1" dirty="0"/>
              <a:t>Work </a:t>
            </a:r>
            <a:r>
              <a:rPr lang="en-US" altLang="en-US" sz="2000" b="1" dirty="0"/>
              <a:t>+ </a:t>
            </a:r>
            <a:r>
              <a:rPr lang="en-US" altLang="en-US" sz="2000" b="1" i="1" dirty="0" err="1"/>
              <a:t>Allocation</a:t>
            </a:r>
            <a:r>
              <a:rPr lang="en-US" altLang="en-US" sz="2000" b="1" i="1" baseline="-25000" dirty="0" err="1"/>
              <a:t>i</a:t>
            </a:r>
            <a:br>
              <a:rPr lang="en-US" altLang="en-US" sz="2000" b="1" dirty="0"/>
            </a:br>
            <a:r>
              <a:rPr lang="en-US" altLang="en-US" sz="2000" b="1" dirty="0"/>
              <a:t>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</a:t>
            </a:r>
            <a:r>
              <a:rPr lang="en-US" altLang="en-US" sz="2000" b="1" i="1" dirty="0"/>
              <a:t> true</a:t>
            </a:r>
            <a:br>
              <a:rPr lang="en-US" altLang="en-US" sz="2000" b="1" dirty="0"/>
            </a:br>
            <a:r>
              <a:rPr lang="en-US" altLang="en-US" sz="2000" b="1" dirty="0"/>
              <a:t>  </a:t>
            </a:r>
            <a:r>
              <a:rPr lang="en-US" altLang="en-US" sz="2000" dirty="0"/>
              <a:t>go to step 2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endParaRPr lang="en-US" altLang="en-US" sz="800" dirty="0"/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If </a:t>
            </a:r>
            <a:r>
              <a:rPr lang="en-US" altLang="en-US" sz="2000" b="1" i="1" dirty="0"/>
              <a:t>Finish</a:t>
            </a:r>
            <a:r>
              <a:rPr lang="en-US" altLang="en-US" sz="2000" b="1" dirty="0"/>
              <a:t> [</a:t>
            </a:r>
            <a:r>
              <a:rPr lang="en-US" altLang="en-US" sz="2000" b="1" i="1" dirty="0"/>
              <a:t>i</a:t>
            </a:r>
            <a:r>
              <a:rPr lang="en-US" altLang="en-US" sz="2000" b="1" dirty="0"/>
              <a:t>] == </a:t>
            </a:r>
            <a:r>
              <a:rPr lang="en-US" altLang="en-US" sz="2000" b="1" i="1" dirty="0"/>
              <a:t>true</a:t>
            </a:r>
            <a:r>
              <a:rPr lang="en-US" altLang="en-US" sz="2000" b="1" dirty="0"/>
              <a:t> </a:t>
            </a:r>
            <a:r>
              <a:rPr lang="en-US" altLang="en-US" sz="2000" dirty="0"/>
              <a:t>for all </a:t>
            </a:r>
            <a:r>
              <a:rPr lang="en-US" altLang="en-US" sz="2000" b="1" i="1" dirty="0"/>
              <a:t>i</a:t>
            </a:r>
            <a:r>
              <a:rPr lang="en-US" altLang="en-US" sz="2000" dirty="0"/>
              <a:t>, then the system is in a safe state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951" y="353078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114425"/>
            <a:ext cx="7642225" cy="46863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sz="2000" b="1" i="1" dirty="0"/>
              <a:t>   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dirty="0"/>
              <a:t> = request vector for process </a:t>
            </a:r>
            <a:r>
              <a:rPr lang="en-US" altLang="en-US" sz="2000" b="1" i="1" dirty="0"/>
              <a:t>P</a:t>
            </a:r>
            <a:r>
              <a:rPr lang="en-US" altLang="en-US" sz="2000" b="1" i="1" baseline="-25000" dirty="0"/>
              <a:t>i</a:t>
            </a:r>
            <a:r>
              <a:rPr lang="en-US" altLang="en-US" sz="2000" dirty="0"/>
              <a:t>.  If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baseline="-25000" dirty="0"/>
              <a:t> </a:t>
            </a:r>
            <a:r>
              <a:rPr lang="en-US" altLang="en-US" sz="2000" b="1" dirty="0"/>
              <a:t>[</a:t>
            </a:r>
            <a:r>
              <a:rPr lang="en-US" altLang="en-US" sz="2000" b="1" i="1" dirty="0"/>
              <a:t>j</a:t>
            </a:r>
            <a:r>
              <a:rPr lang="en-US" altLang="en-US" sz="2000" b="1" dirty="0"/>
              <a:t>] = </a:t>
            </a:r>
            <a:r>
              <a:rPr lang="en-US" altLang="en-US" sz="2000" b="1" i="1" dirty="0"/>
              <a:t>k</a:t>
            </a:r>
            <a:r>
              <a:rPr lang="en-US" altLang="en-US" sz="2000" b="1" dirty="0"/>
              <a:t> </a:t>
            </a:r>
            <a:r>
              <a:rPr lang="en-US" altLang="en-US" sz="2000" dirty="0"/>
              <a:t>then process </a:t>
            </a:r>
            <a:r>
              <a:rPr lang="en-US" altLang="en-US" sz="2000" b="1" i="1" dirty="0"/>
              <a:t>P</a:t>
            </a:r>
            <a:r>
              <a:rPr lang="en-US" altLang="en-US" sz="2000" b="1" i="1" baseline="-25000" dirty="0"/>
              <a:t>i</a:t>
            </a:r>
            <a:r>
              <a:rPr lang="en-US" altLang="en-US" sz="2000" dirty="0"/>
              <a:t> wants </a:t>
            </a:r>
            <a:r>
              <a:rPr lang="en-US" altLang="en-US" sz="2000" b="1" i="1" dirty="0"/>
              <a:t>k</a:t>
            </a:r>
            <a:r>
              <a:rPr lang="en-US" altLang="en-US" sz="2000" dirty="0"/>
              <a:t> instances of resource type </a:t>
            </a:r>
            <a:r>
              <a:rPr lang="en-US" altLang="en-US" sz="2000" b="1" i="1" dirty="0" err="1"/>
              <a:t>R</a:t>
            </a:r>
            <a:r>
              <a:rPr lang="en-US" altLang="en-US" sz="2000" b="1" i="1" baseline="-25000" dirty="0" err="1"/>
              <a:t>j</a:t>
            </a:r>
            <a:endParaRPr lang="en-US" altLang="en-US" sz="2000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000" dirty="0"/>
              <a:t>If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i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b="1" i="1" dirty="0" err="1"/>
              <a:t>Request</a:t>
            </a:r>
            <a:r>
              <a:rPr lang="en-US" altLang="en-US" sz="2000" b="1" i="1" baseline="-25000" dirty="0" err="1"/>
              <a:t>i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 </a:t>
            </a:r>
            <a:r>
              <a:rPr lang="en-US" altLang="en-US" sz="2000" b="1" i="1" dirty="0">
                <a:sym typeface="Symbol" panose="05050102010706020507" pitchFamily="18" charset="2"/>
              </a:rPr>
              <a:t>Available</a:t>
            </a:r>
            <a:r>
              <a:rPr lang="en-US" altLang="en-US" sz="2000" dirty="0">
                <a:sym typeface="Symbol" panose="05050102010706020507" pitchFamily="18" charset="2"/>
              </a:rPr>
              <a:t>, go to step 3.  Otherwise </a:t>
            </a:r>
            <a:r>
              <a:rPr lang="en-US" altLang="en-US" sz="2000" b="1" i="1" dirty="0">
                <a:sym typeface="Symbol" panose="05050102010706020507" pitchFamily="18" charset="2"/>
              </a:rPr>
              <a:t>P</a:t>
            </a:r>
            <a:r>
              <a:rPr lang="en-US" altLang="en-US" sz="20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Pretend</a:t>
            </a:r>
            <a:r>
              <a:rPr lang="en-US" altLang="en-US" sz="2000" dirty="0">
                <a:sym typeface="Symbol" panose="05050102010706020507" pitchFamily="18" charset="2"/>
              </a:rPr>
              <a:t> to allocate requested resources to </a:t>
            </a:r>
            <a:r>
              <a:rPr lang="en-US" altLang="en-US" sz="2000" b="1" i="1" dirty="0">
                <a:sym typeface="Symbol" panose="05050102010706020507" pitchFamily="18" charset="2"/>
              </a:rPr>
              <a:t>P</a:t>
            </a:r>
            <a:r>
              <a:rPr lang="en-US" altLang="en-US" sz="20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		</a:t>
            </a:r>
            <a:r>
              <a:rPr lang="en-US" altLang="en-US" sz="2000" b="1" i="1" dirty="0">
                <a:sym typeface="Symbol" panose="05050102010706020507" pitchFamily="18" charset="2"/>
              </a:rPr>
              <a:t>Available</a:t>
            </a:r>
            <a:r>
              <a:rPr lang="en-US" altLang="en-US" sz="2000" b="1" dirty="0">
                <a:sym typeface="Symbol" panose="05050102010706020507" pitchFamily="18" charset="2"/>
              </a:rPr>
              <a:t> = </a:t>
            </a:r>
            <a:r>
              <a:rPr lang="en-US" altLang="en-US" sz="2000" b="1" i="1" dirty="0">
                <a:sym typeface="Symbol" panose="05050102010706020507" pitchFamily="18" charset="2"/>
              </a:rPr>
              <a:t>Available  </a:t>
            </a:r>
            <a:r>
              <a:rPr lang="en-US" altLang="en-US" sz="2000" b="1" dirty="0">
                <a:sym typeface="Symbol" panose="05050102010706020507" pitchFamily="18" charset="2"/>
              </a:rPr>
              <a:t>–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sz="2000" b="1" dirty="0">
                <a:sym typeface="Symbol" panose="05050102010706020507" pitchFamily="18" charset="2"/>
              </a:rPr>
              <a:t>		</a:t>
            </a:r>
            <a:r>
              <a:rPr lang="en-US" altLang="en-US" sz="2000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baseline="-25000" dirty="0"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=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 +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sz="2000" b="1" dirty="0">
                <a:sym typeface="Symbol" panose="05050102010706020507" pitchFamily="18" charset="2"/>
              </a:rPr>
              <a:t>		</a:t>
            </a:r>
            <a:r>
              <a:rPr lang="en-US" altLang="en-US" sz="20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ym typeface="Symbol" panose="05050102010706020507" pitchFamily="18" charset="2"/>
              </a:rPr>
              <a:t>=</a:t>
            </a:r>
            <a:r>
              <a:rPr lang="en-US" altLang="en-US" sz="2000" b="1" i="1" dirty="0">
                <a:sym typeface="Symbol" panose="05050102010706020507" pitchFamily="18" charset="2"/>
              </a:rPr>
              <a:t>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dirty="0">
                <a:sym typeface="Symbol" panose="05050102010706020507" pitchFamily="18" charset="2"/>
              </a:rPr>
              <a:t> – </a:t>
            </a:r>
            <a:r>
              <a:rPr lang="en-US" altLang="en-US" sz="20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20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000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sz="2000" b="1" i="1" dirty="0">
                <a:sym typeface="Symbol" panose="05050102010706020507" pitchFamily="18" charset="2"/>
              </a:rPr>
              <a:t>P</a:t>
            </a:r>
            <a:r>
              <a:rPr lang="en-US" altLang="en-US" sz="2000" b="1" i="1" baseline="-25000" dirty="0">
                <a:sym typeface="Symbol" panose="05050102010706020507" pitchFamily="18" charset="2"/>
              </a:rPr>
              <a:t>i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Symbol" panose="05050102010706020507" pitchFamily="18" charset="2"/>
              </a:rPr>
              <a:t>If unsafe  </a:t>
            </a:r>
            <a:r>
              <a:rPr lang="en-US" altLang="en-US" sz="2000" b="1" i="1" dirty="0">
                <a:sym typeface="Symbol" panose="05050102010706020507" pitchFamily="18" charset="2"/>
              </a:rPr>
              <a:t>P</a:t>
            </a:r>
            <a:r>
              <a:rPr lang="en-US" altLang="en-US" sz="20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36379"/>
            <a:ext cx="76644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/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5 processes: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  </a:t>
            </a:r>
            <a:r>
              <a:rPr lang="en-US" altLang="en-US" sz="2000" dirty="0"/>
              <a:t>through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    3 resource types: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              </a:t>
            </a:r>
            <a:r>
              <a:rPr lang="en-US" altLang="en-US" sz="2000" i="1" dirty="0"/>
              <a:t>A</a:t>
            </a:r>
            <a:r>
              <a:rPr lang="en-US" altLang="en-US" sz="2000" dirty="0"/>
              <a:t> (10 instances),  </a:t>
            </a:r>
            <a:r>
              <a:rPr lang="en-US" altLang="en-US" sz="2000" i="1" dirty="0"/>
              <a:t>B</a:t>
            </a:r>
            <a:r>
              <a:rPr lang="en-US" altLang="en-US" sz="2000" dirty="0"/>
              <a:t> (5 instances), and </a:t>
            </a:r>
            <a:r>
              <a:rPr lang="en-US" altLang="en-US" sz="2000" i="1" dirty="0"/>
              <a:t>C</a:t>
            </a:r>
            <a:r>
              <a:rPr lang="en-US" altLang="en-US" sz="2000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Snapshot at time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: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u="sng" dirty="0"/>
              <a:t>Allocation</a:t>
            </a:r>
            <a:r>
              <a:rPr lang="en-US" altLang="en-US" sz="2000" i="1" dirty="0"/>
              <a:t>	       </a:t>
            </a:r>
            <a:r>
              <a:rPr lang="en-US" altLang="en-US" sz="2000" i="1" u="sng" dirty="0"/>
              <a:t>Max</a:t>
            </a:r>
            <a:r>
              <a:rPr lang="en-US" altLang="en-US" sz="2000" i="1" dirty="0"/>
              <a:t>	         </a:t>
            </a:r>
            <a:r>
              <a:rPr lang="en-US" altLang="en-US" sz="2000" i="1" u="sng" dirty="0"/>
              <a:t>Available</a:t>
            </a:r>
            <a:endParaRPr lang="en-US" altLang="en-US" sz="2000" i="1" dirty="0"/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i="1" dirty="0"/>
              <a:t>			A B C	        A B C 	        A B C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	</a:t>
            </a:r>
            <a:r>
              <a:rPr lang="en-US" altLang="en-US" sz="2000" dirty="0"/>
              <a:t>0 1 0	        7 5 3 	         3 3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	</a:t>
            </a:r>
            <a:r>
              <a:rPr lang="en-US" altLang="en-US" sz="2000" dirty="0"/>
              <a:t>2 0 0 	        3 2 2  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3 0 2 	        9 0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2 1 1 	        2 2 2</a:t>
            </a:r>
          </a:p>
          <a:p>
            <a:pPr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0 0 2	         4 3 3  		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1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36650"/>
            <a:ext cx="7854205" cy="4640263"/>
          </a:xfrm>
        </p:spPr>
        <p:txBody>
          <a:bodyPr/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The content of the matrix </a:t>
            </a:r>
            <a:r>
              <a:rPr lang="en-US" altLang="en-US" sz="2000" b="1" i="1" dirty="0"/>
              <a:t>Need</a:t>
            </a:r>
            <a:r>
              <a:rPr lang="en-US" altLang="en-US" sz="2000" dirty="0"/>
              <a:t> is defined to be </a:t>
            </a:r>
            <a:r>
              <a:rPr lang="en-US" altLang="en-US" sz="2000" b="1" i="1" dirty="0"/>
              <a:t>Max</a:t>
            </a:r>
            <a:r>
              <a:rPr lang="en-US" altLang="en-US" sz="2000" b="1" dirty="0"/>
              <a:t> – </a:t>
            </a:r>
            <a:r>
              <a:rPr lang="en-US" altLang="en-US" sz="2000" b="1" i="1" dirty="0"/>
              <a:t>Allocation</a:t>
            </a:r>
            <a:endParaRPr lang="en-US" altLang="en-US" sz="2000" b="1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u="sng" dirty="0"/>
              <a:t>Need</a:t>
            </a:r>
            <a:endParaRPr lang="en-US" altLang="en-US" sz="2000" u="sng" dirty="0"/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dirty="0"/>
              <a:t>A B C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	</a:t>
            </a:r>
            <a:r>
              <a:rPr lang="en-US" altLang="en-US" sz="2000" dirty="0"/>
              <a:t>7 4 3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	</a:t>
            </a:r>
            <a:r>
              <a:rPr lang="en-US" altLang="en-US" sz="2000" dirty="0"/>
              <a:t>1 2 2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6 0 0 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0 1 1</a:t>
            </a:r>
          </a:p>
          <a:p>
            <a:pPr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4 3 1 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sz="2000" dirty="0"/>
              <a:t>The system is in a safe state since the sequence &lt;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,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&gt; satisfies safety criteria</a:t>
            </a:r>
            <a:endParaRPr lang="en-US" altLang="en-US" sz="2000" baseline="-25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1431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413" y="1103313"/>
            <a:ext cx="7869237" cy="5103812"/>
          </a:xfrm>
        </p:spPr>
        <p:txBody>
          <a:bodyPr/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Check that Request </a:t>
            </a:r>
            <a:r>
              <a:rPr lang="en-US" altLang="en-US" sz="2000" dirty="0">
                <a:sym typeface="Symbol" panose="05050102010706020507" pitchFamily="18" charset="2"/>
              </a:rPr>
              <a:t> Available: (that is, (1,0,2)  (3,3,2)  true)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/>
              <a:t>			</a:t>
            </a:r>
            <a:r>
              <a:rPr lang="en-US" altLang="en-US" sz="2000" i="1" u="sng" dirty="0"/>
              <a:t>Allocation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Need</a:t>
            </a:r>
            <a:r>
              <a:rPr lang="en-US" altLang="en-US" sz="2000" i="1" dirty="0"/>
              <a:t>	   </a:t>
            </a:r>
            <a:r>
              <a:rPr lang="en-US" altLang="en-US" sz="2000" i="1" u="sng" dirty="0"/>
              <a:t>Available</a:t>
            </a:r>
            <a:endParaRPr lang="en-US" altLang="en-US" sz="2000" i="1" dirty="0"/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i="1" dirty="0"/>
              <a:t>			A B C	A B C	A B C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	0 1 0 	7 4 3 	2 3 0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	     3 0 2           0 2 0 	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3 0 2 	 6 0 0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2 1 1 	 0 1 1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		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0 0 2 	 4 3 1 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9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Executing safety algorithm shows that sequence &lt;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1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3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4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0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2</a:t>
            </a:r>
            <a:r>
              <a:rPr lang="en-US" altLang="en-US" sz="2000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9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Can request for (3,3,0) by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4</a:t>
            </a:r>
            <a:r>
              <a:rPr lang="en-US" altLang="en-US" sz="2000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9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sz="2000" dirty="0"/>
              <a:t>Can request for (0,2,0) by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 be granted?</a:t>
            </a:r>
          </a:p>
          <a:p>
            <a:pPr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235762"/>
            <a:ext cx="7421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5" y="1233488"/>
            <a:ext cx="7527990" cy="4530725"/>
          </a:xfrm>
        </p:spPr>
        <p:txBody>
          <a:bodyPr/>
          <a:lstStyle/>
          <a:p>
            <a:r>
              <a:rPr lang="en-US" altLang="en-US" sz="2400" dirty="0"/>
              <a:t>Allow system to enter deadlock state 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Detection algorithm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Recovery scheme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7686" y="-19986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73163"/>
            <a:ext cx="7585075" cy="4511675"/>
          </a:xfrm>
        </p:spPr>
        <p:txBody>
          <a:bodyPr/>
          <a:lstStyle/>
          <a:p>
            <a:r>
              <a:rPr lang="en-US" altLang="en-US" sz="2400" dirty="0"/>
              <a:t>Maintain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graph</a:t>
            </a:r>
          </a:p>
          <a:p>
            <a:pPr lvl="1"/>
            <a:r>
              <a:rPr lang="en-US" altLang="en-US" sz="2400" dirty="0"/>
              <a:t>Nodes are processes</a:t>
            </a:r>
          </a:p>
          <a:p>
            <a:pPr lvl="1"/>
            <a:r>
              <a:rPr lang="en-US" altLang="en-US" sz="2400" b="1" i="1" dirty="0"/>
              <a:t>P</a:t>
            </a:r>
            <a:r>
              <a:rPr lang="en-US" altLang="en-US" sz="2400" b="1" i="1" baseline="-25000" dirty="0"/>
              <a:t>i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 </a:t>
            </a:r>
            <a:r>
              <a:rPr lang="en-US" altLang="en-US" sz="2400" b="1" i="1" dirty="0" err="1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400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sz="2400" dirty="0">
                <a:sym typeface="Symbol" panose="05050102010706020507" pitchFamily="18" charset="2"/>
              </a:rPr>
              <a:t>if </a:t>
            </a:r>
            <a:r>
              <a:rPr lang="en-US" altLang="en-US" sz="2400" b="1" i="1" dirty="0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is waiting for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b="1" i="1" dirty="0" err="1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sz="2400" b="1" i="1" dirty="0">
                <a:sym typeface="Symbol" panose="05050102010706020507" pitchFamily="18" charset="2"/>
              </a:rPr>
            </a:br>
            <a:endParaRPr lang="en-US" altLang="en-US" sz="2400" b="1" i="1" dirty="0">
              <a:sym typeface="Symbol" panose="05050102010706020507" pitchFamily="18" charset="2"/>
            </a:endParaRPr>
          </a:p>
          <a:p>
            <a:r>
              <a:rPr lang="en-US" altLang="en-US" sz="2400" dirty="0"/>
              <a:t>Periodically invoke an algorithm that searches for a </a:t>
            </a:r>
            <a:r>
              <a:rPr lang="en-US" altLang="en-US" sz="2400" dirty="0">
                <a:solidFill>
                  <a:srgbClr val="0000FF"/>
                </a:solidFill>
              </a:rPr>
              <a:t>cycle</a:t>
            </a:r>
            <a:r>
              <a:rPr lang="en-US" altLang="en-US" sz="2400" dirty="0"/>
              <a:t> in the graph</a:t>
            </a:r>
          </a:p>
          <a:p>
            <a:pPr lvl="1"/>
            <a:r>
              <a:rPr lang="en-US" altLang="en-US" sz="2400" dirty="0"/>
              <a:t>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  <a:p>
            <a:r>
              <a:rPr lang="en-US" altLang="en-US" sz="2400" dirty="0"/>
              <a:t>An algorithm to detect a cycle in a graph requires an order of</a:t>
            </a:r>
            <a:r>
              <a:rPr lang="en-US" altLang="en-US" sz="2400" i="1" dirty="0"/>
              <a:t> O(</a:t>
            </a:r>
            <a:r>
              <a:rPr lang="en-US" altLang="en-US" sz="2400" b="1" i="1" dirty="0">
                <a:solidFill>
                  <a:srgbClr val="0000FF"/>
                </a:solidFill>
              </a:rPr>
              <a:t>n</a:t>
            </a:r>
            <a:r>
              <a:rPr lang="en-US" altLang="en-US" sz="2400" b="1" baseline="30000" dirty="0">
                <a:solidFill>
                  <a:srgbClr val="0000FF"/>
                </a:solidFill>
              </a:rPr>
              <a:t>2</a:t>
            </a:r>
            <a:r>
              <a:rPr lang="en-US" altLang="en-US" sz="2400" dirty="0"/>
              <a:t>)</a:t>
            </a:r>
            <a:r>
              <a:rPr lang="en-US" altLang="en-US" sz="2400" b="1" dirty="0"/>
              <a:t> </a:t>
            </a:r>
            <a:r>
              <a:rPr lang="en-US" altLang="en-US" sz="2400" dirty="0"/>
              <a:t>operations, where </a:t>
            </a:r>
            <a:r>
              <a:rPr lang="en-US" altLang="en-US" sz="2400" b="1" i="1" dirty="0"/>
              <a:t>n</a:t>
            </a:r>
            <a:r>
              <a:rPr lang="en-US" altLang="en-US" sz="2400" dirty="0"/>
              <a:t> is the number of vertices in the graph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164" y="270077"/>
            <a:ext cx="8288629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Wait-for Graph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553" y="5277550"/>
            <a:ext cx="32640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478" y="5277550"/>
            <a:ext cx="3504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1252538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6331" y="131947"/>
            <a:ext cx="7772400" cy="628650"/>
          </a:xfrm>
        </p:spPr>
        <p:txBody>
          <a:bodyPr/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87450"/>
            <a:ext cx="7580215" cy="3851275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0000"/>
                </a:solidFill>
              </a:rPr>
              <a:t>Available</a:t>
            </a:r>
            <a:r>
              <a:rPr lang="en-US" altLang="en-US" sz="2400" i="1" dirty="0"/>
              <a:t>:</a:t>
            </a:r>
            <a:r>
              <a:rPr lang="en-US" altLang="en-US" sz="2400" dirty="0"/>
              <a:t>  A vector of length </a:t>
            </a:r>
            <a:r>
              <a:rPr lang="en-US" altLang="en-US" sz="2400" b="1" i="1" dirty="0"/>
              <a:t>m</a:t>
            </a:r>
            <a:r>
              <a:rPr lang="en-US" altLang="en-US" sz="2400" dirty="0"/>
              <a:t> indicates the number of available resources of each type</a:t>
            </a:r>
          </a:p>
          <a:p>
            <a:r>
              <a:rPr lang="en-US" altLang="en-US" sz="2400" b="1" dirty="0">
                <a:solidFill>
                  <a:srgbClr val="000000"/>
                </a:solidFill>
              </a:rPr>
              <a:t>Allocation</a:t>
            </a:r>
            <a:r>
              <a:rPr lang="en-US" altLang="en-US" sz="2400" i="1" dirty="0"/>
              <a:t>:</a:t>
            </a:r>
            <a:r>
              <a:rPr lang="en-US" altLang="en-US" sz="2400" dirty="0"/>
              <a:t> An </a:t>
            </a:r>
            <a:r>
              <a:rPr lang="en-US" altLang="en-US" sz="2400" b="1" i="1" dirty="0"/>
              <a:t>n </a:t>
            </a:r>
            <a:r>
              <a:rPr lang="en-US" altLang="en-US" sz="2400" b="1" dirty="0"/>
              <a:t>x</a:t>
            </a:r>
            <a:r>
              <a:rPr lang="en-US" altLang="en-US" sz="2400" b="1" i="1" dirty="0"/>
              <a:t> m</a:t>
            </a:r>
            <a:r>
              <a:rPr lang="en-US" altLang="en-US" sz="2400" b="1" dirty="0"/>
              <a:t> </a:t>
            </a:r>
            <a:r>
              <a:rPr lang="en-US" altLang="en-US" sz="2400" dirty="0"/>
              <a:t>matrix defines the number of resources of each type currently allocated to each process</a:t>
            </a:r>
          </a:p>
          <a:p>
            <a:r>
              <a:rPr lang="en-US" altLang="en-US" sz="2400" b="1" dirty="0">
                <a:solidFill>
                  <a:srgbClr val="000000"/>
                </a:solidFill>
              </a:rPr>
              <a:t>Request</a:t>
            </a:r>
            <a:r>
              <a:rPr lang="en-US" altLang="en-US" sz="2400" i="1" dirty="0"/>
              <a:t>:</a:t>
            </a:r>
            <a:r>
              <a:rPr lang="en-US" altLang="en-US" sz="2400" dirty="0"/>
              <a:t>  An </a:t>
            </a:r>
            <a:r>
              <a:rPr lang="en-US" altLang="en-US" sz="2400" b="1" i="1" dirty="0"/>
              <a:t>n </a:t>
            </a:r>
            <a:r>
              <a:rPr lang="en-US" altLang="en-US" sz="2400" b="1" dirty="0"/>
              <a:t>x</a:t>
            </a:r>
            <a:r>
              <a:rPr lang="en-US" altLang="en-US" sz="2400" b="1" i="1" dirty="0"/>
              <a:t> m</a:t>
            </a:r>
            <a:r>
              <a:rPr lang="en-US" altLang="en-US" sz="2400" b="1" dirty="0"/>
              <a:t> </a:t>
            </a:r>
            <a:r>
              <a:rPr lang="en-US" altLang="en-US" sz="2400" dirty="0"/>
              <a:t>matrix indicates the current request of </a:t>
            </a:r>
            <a:r>
              <a:rPr lang="en-US" altLang="en-US" sz="2400"/>
              <a:t>each process  </a:t>
            </a:r>
            <a:endParaRPr lang="en-US" altLang="en-US" sz="2400" dirty="0"/>
          </a:p>
          <a:p>
            <a:pPr lvl="1"/>
            <a:r>
              <a:rPr lang="en-US" altLang="en-US" sz="2400" dirty="0"/>
              <a:t>If </a:t>
            </a:r>
            <a:r>
              <a:rPr lang="en-US" altLang="en-US" sz="2400" b="1" i="1" dirty="0"/>
              <a:t>Request </a:t>
            </a:r>
            <a:r>
              <a:rPr lang="en-US" altLang="en-US" sz="2400" b="1" dirty="0"/>
              <a:t>[</a:t>
            </a:r>
            <a:r>
              <a:rPr lang="en-US" altLang="en-US" sz="2400" b="1" i="1" dirty="0"/>
              <a:t>i</a:t>
            </a:r>
            <a:r>
              <a:rPr lang="en-US" altLang="en-US" sz="2400" b="1" dirty="0"/>
              <a:t>][</a:t>
            </a:r>
            <a:r>
              <a:rPr lang="en-US" altLang="en-US" sz="2400" b="1" i="1" dirty="0"/>
              <a:t>j</a:t>
            </a:r>
            <a:r>
              <a:rPr lang="en-US" altLang="en-US" sz="2400" b="1" dirty="0"/>
              <a:t>] = </a:t>
            </a:r>
            <a:r>
              <a:rPr lang="en-US" altLang="en-US" sz="2400" b="1" i="1" dirty="0"/>
              <a:t>k</a:t>
            </a:r>
            <a:r>
              <a:rPr lang="en-US" altLang="en-US" sz="2400" dirty="0"/>
              <a:t>, then process</a:t>
            </a:r>
            <a:r>
              <a:rPr lang="en-US" altLang="en-US" sz="2400" i="1" dirty="0"/>
              <a:t> </a:t>
            </a:r>
            <a:r>
              <a:rPr lang="en-US" altLang="en-US" sz="2400" b="1" i="1" dirty="0"/>
              <a:t>P</a:t>
            </a:r>
            <a:r>
              <a:rPr lang="en-US" altLang="en-US" sz="2400" b="1" i="1" baseline="-25000" dirty="0"/>
              <a:t>i</a:t>
            </a:r>
            <a:r>
              <a:rPr lang="en-US" altLang="en-US" sz="2400" dirty="0"/>
              <a:t> is requesting</a:t>
            </a:r>
            <a:r>
              <a:rPr lang="en-US" altLang="en-US" sz="2400" i="1" dirty="0"/>
              <a:t> </a:t>
            </a:r>
            <a:r>
              <a:rPr lang="en-US" altLang="en-US" sz="2400" b="1" i="1" dirty="0"/>
              <a:t>k</a:t>
            </a:r>
            <a:r>
              <a:rPr lang="en-US" altLang="en-US" sz="2400" dirty="0"/>
              <a:t> more instances of resource type </a:t>
            </a:r>
            <a:r>
              <a:rPr lang="en-US" altLang="en-US" sz="2400" b="1" i="1" dirty="0" err="1"/>
              <a:t>R</a:t>
            </a:r>
            <a:r>
              <a:rPr lang="en-US" altLang="en-US" sz="2400" b="1" i="1" baseline="-25000" dirty="0" err="1"/>
              <a:t>j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415" y="236379"/>
            <a:ext cx="78994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363" y="1233488"/>
            <a:ext cx="7753350" cy="453072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US" sz="2400" dirty="0"/>
              <a:t>Let </a:t>
            </a:r>
            <a:r>
              <a:rPr lang="en-US" altLang="en-US" sz="2400" b="1" i="1" dirty="0"/>
              <a:t>Work</a:t>
            </a:r>
            <a:r>
              <a:rPr lang="en-US" altLang="en-US" sz="2400" dirty="0"/>
              <a:t> and </a:t>
            </a:r>
            <a:r>
              <a:rPr lang="en-US" altLang="en-US" sz="2400" b="1" i="1" dirty="0"/>
              <a:t>Finish</a:t>
            </a:r>
            <a:r>
              <a:rPr lang="en-US" altLang="en-US" sz="2400" dirty="0"/>
              <a:t> be vectors of length </a:t>
            </a:r>
            <a:r>
              <a:rPr lang="en-US" altLang="en-US" sz="2400" b="1" i="1" dirty="0"/>
              <a:t>m</a:t>
            </a:r>
            <a:r>
              <a:rPr lang="en-US" altLang="en-US" sz="2400" dirty="0"/>
              <a:t> and </a:t>
            </a:r>
            <a:r>
              <a:rPr lang="en-US" altLang="en-US" sz="2400" b="1" i="1" dirty="0"/>
              <a:t>n</a:t>
            </a:r>
            <a:r>
              <a:rPr lang="en-US" altLang="en-US" sz="2400" dirty="0"/>
              <a:t>, respectively. Initialize: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400" i="1" dirty="0"/>
              <a:t> </a:t>
            </a:r>
            <a:r>
              <a:rPr lang="en-US" altLang="en-US" sz="2400" b="1" i="1" dirty="0"/>
              <a:t>Work</a:t>
            </a:r>
            <a:r>
              <a:rPr lang="en-US" altLang="en-US" sz="2400" b="1" dirty="0"/>
              <a:t> = </a:t>
            </a:r>
            <a:r>
              <a:rPr lang="en-US" altLang="en-US" sz="2400" b="1" i="1" dirty="0"/>
              <a:t>Available</a:t>
            </a:r>
            <a:endParaRPr lang="en-US" altLang="en-US" sz="2400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400" dirty="0"/>
              <a:t> For </a:t>
            </a:r>
            <a:r>
              <a:rPr lang="en-US" altLang="en-US" sz="2400" b="1" i="1" dirty="0"/>
              <a:t>i</a:t>
            </a:r>
            <a:r>
              <a:rPr lang="en-US" altLang="en-US" sz="2400" b="1" dirty="0"/>
              <a:t> = 1,2, …,</a:t>
            </a:r>
            <a:r>
              <a:rPr lang="en-US" altLang="en-US" sz="2400" b="1" i="1" dirty="0"/>
              <a:t> n</a:t>
            </a:r>
            <a:r>
              <a:rPr lang="en-US" altLang="en-US" sz="2400" dirty="0"/>
              <a:t>, if </a:t>
            </a:r>
            <a:r>
              <a:rPr lang="en-US" altLang="en-US" sz="2400" b="1" i="1" dirty="0" err="1"/>
              <a:t>Allocation</a:t>
            </a:r>
            <a:r>
              <a:rPr lang="en-US" altLang="en-US" sz="2400" b="1" i="1" baseline="-25000" dirty="0" err="1"/>
              <a:t>i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 0</a:t>
            </a:r>
            <a:r>
              <a:rPr lang="en-US" altLang="en-US" sz="2400" dirty="0">
                <a:sym typeface="Symbol" panose="05050102010706020507" pitchFamily="18" charset="2"/>
              </a:rPr>
              <a:t>, then </a:t>
            </a: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b="1" i="1" dirty="0">
                <a:sym typeface="Symbol" panose="05050102010706020507" pitchFamily="18" charset="2"/>
              </a:rPr>
              <a:t>Finish</a:t>
            </a:r>
            <a:r>
              <a:rPr lang="en-US" altLang="en-US" sz="2400" b="1" dirty="0">
                <a:sym typeface="Symbol" panose="05050102010706020507" pitchFamily="18" charset="2"/>
              </a:rPr>
              <a:t>[i] </a:t>
            </a:r>
            <a:r>
              <a:rPr lang="en-US" altLang="en-US" sz="2400" b="1" i="1" dirty="0">
                <a:sym typeface="Symbol" panose="05050102010706020507" pitchFamily="18" charset="2"/>
              </a:rPr>
              <a:t>= false</a:t>
            </a:r>
            <a:r>
              <a:rPr lang="en-US" altLang="en-US" sz="2400" dirty="0">
                <a:sym typeface="Symbol" panose="05050102010706020507" pitchFamily="18" charset="2"/>
              </a:rPr>
              <a:t>; otherwise, </a:t>
            </a:r>
            <a:r>
              <a:rPr lang="en-US" altLang="en-US" sz="2400" b="1" i="1" dirty="0">
                <a:sym typeface="Symbol" panose="05050102010706020507" pitchFamily="18" charset="2"/>
              </a:rPr>
              <a:t>Finish</a:t>
            </a:r>
            <a:r>
              <a:rPr lang="en-US" altLang="en-US" sz="2400" b="1" dirty="0">
                <a:sym typeface="Symbol" panose="05050102010706020507" pitchFamily="18" charset="2"/>
              </a:rPr>
              <a:t>[i] = </a:t>
            </a:r>
            <a:r>
              <a:rPr lang="en-US" altLang="en-US" sz="2400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2400" dirty="0"/>
              <a:t>Find an index </a:t>
            </a:r>
            <a:r>
              <a:rPr lang="en-US" altLang="en-US" sz="2400" b="1" i="1" dirty="0"/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such that both:</a:t>
            </a:r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400" i="1" dirty="0"/>
              <a:t> </a:t>
            </a:r>
            <a:r>
              <a:rPr lang="en-US" altLang="en-US" sz="2400" b="1" i="1" dirty="0"/>
              <a:t>Finish</a:t>
            </a:r>
            <a:r>
              <a:rPr lang="en-US" altLang="en-US" sz="2400" b="1" dirty="0"/>
              <a:t>[</a:t>
            </a:r>
            <a:r>
              <a:rPr lang="en-US" altLang="en-US" sz="2400" b="1" i="1" dirty="0"/>
              <a:t>i</a:t>
            </a:r>
            <a:r>
              <a:rPr lang="en-US" altLang="en-US" sz="2400" b="1" dirty="0"/>
              <a:t>] == </a:t>
            </a:r>
            <a:r>
              <a:rPr lang="en-US" altLang="en-US" sz="2400" b="1" i="1" dirty="0"/>
              <a:t>false</a:t>
            </a:r>
            <a:endParaRPr lang="en-US" altLang="en-US" sz="2400" b="1" dirty="0"/>
          </a:p>
          <a:p>
            <a:pPr marL="850900" lvl="1" indent="-393700">
              <a:buFont typeface="+mj-lt"/>
              <a:buAutoNum type="alphaLcParenR"/>
            </a:pPr>
            <a:r>
              <a:rPr lang="en-US" altLang="en-US" sz="2400" i="1" dirty="0"/>
              <a:t> </a:t>
            </a:r>
            <a:r>
              <a:rPr lang="en-US" altLang="en-US" sz="2400" b="1" i="1" dirty="0" err="1"/>
              <a:t>Request</a:t>
            </a:r>
            <a:r>
              <a:rPr lang="en-US" altLang="en-US" sz="2400" b="1" i="1" baseline="-25000" dirty="0" err="1"/>
              <a:t>i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 </a:t>
            </a:r>
            <a:r>
              <a:rPr lang="en-US" altLang="en-US" sz="2400" b="1" i="1" dirty="0">
                <a:sym typeface="Symbol" panose="05050102010706020507" pitchFamily="18" charset="2"/>
              </a:rPr>
              <a:t>Work</a:t>
            </a:r>
            <a:br>
              <a:rPr lang="en-US" altLang="en-US" sz="2400" b="1" i="1" dirty="0">
                <a:sym typeface="Symbol" panose="05050102010706020507" pitchFamily="18" charset="2"/>
              </a:rPr>
            </a:br>
            <a:endParaRPr lang="en-US" altLang="en-US" sz="2400" b="1" dirty="0">
              <a:sym typeface="Symbol" panose="05050102010706020507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If no such </a:t>
            </a:r>
            <a:r>
              <a:rPr lang="en-US" altLang="en-US" sz="2400" b="1" i="1" dirty="0"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exists, go to step 4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14313"/>
            <a:ext cx="7558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1171575"/>
            <a:ext cx="7218362" cy="2980975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sz="2400" i="1" dirty="0"/>
              <a:t> </a:t>
            </a:r>
            <a:r>
              <a:rPr lang="en-US" altLang="en-US" sz="2400" b="1" i="1" dirty="0"/>
              <a:t>Work</a:t>
            </a:r>
            <a:r>
              <a:rPr lang="en-US" altLang="en-US" sz="2400" b="1" dirty="0"/>
              <a:t> = </a:t>
            </a:r>
            <a:r>
              <a:rPr lang="en-US" altLang="en-US" sz="2400" b="1" i="1" dirty="0"/>
              <a:t>Work</a:t>
            </a:r>
            <a:r>
              <a:rPr lang="en-US" altLang="en-US" sz="2400" b="1" dirty="0"/>
              <a:t> + </a:t>
            </a:r>
            <a:r>
              <a:rPr lang="en-US" altLang="en-US" sz="2400" b="1" i="1" dirty="0" err="1"/>
              <a:t>Allocation</a:t>
            </a:r>
            <a:r>
              <a:rPr lang="en-US" altLang="en-US" sz="2400" b="1" i="1" baseline="-25000" dirty="0" err="1"/>
              <a:t>i</a:t>
            </a:r>
            <a:br>
              <a:rPr lang="en-US" altLang="en-US" sz="2400" b="1" dirty="0"/>
            </a:br>
            <a:r>
              <a:rPr lang="en-US" altLang="en-US" sz="2400" b="1" dirty="0"/>
              <a:t> </a:t>
            </a:r>
            <a:r>
              <a:rPr lang="en-US" altLang="en-US" sz="2400" b="1" i="1" dirty="0"/>
              <a:t>Finish</a:t>
            </a:r>
            <a:r>
              <a:rPr lang="en-US" altLang="en-US" sz="2400" b="1" dirty="0"/>
              <a:t>[</a:t>
            </a:r>
            <a:r>
              <a:rPr lang="en-US" altLang="en-US" sz="2400" b="1" i="1" dirty="0" err="1"/>
              <a:t>i</a:t>
            </a:r>
            <a:r>
              <a:rPr lang="en-US" altLang="en-US" sz="2400" b="1" dirty="0"/>
              <a:t>] = </a:t>
            </a:r>
            <a:r>
              <a:rPr lang="en-US" altLang="en-US" sz="2400" b="1" i="1" dirty="0"/>
              <a:t>true</a:t>
            </a:r>
            <a:br>
              <a:rPr lang="en-US" altLang="en-US" sz="2400" b="1" dirty="0"/>
            </a:br>
            <a:r>
              <a:rPr lang="en-US" altLang="en-US" sz="2400" b="1" dirty="0"/>
              <a:t> </a:t>
            </a:r>
            <a:r>
              <a:rPr lang="en-US" altLang="en-US" sz="2400" dirty="0"/>
              <a:t>go to step 2</a:t>
            </a:r>
            <a:br>
              <a:rPr lang="en-US" altLang="en-US" sz="2400" dirty="0"/>
            </a:br>
            <a:r>
              <a:rPr lang="en-US" altLang="en-US" sz="2400" dirty="0"/>
              <a:t> </a:t>
            </a:r>
          </a:p>
          <a:p>
            <a:pPr marL="342900" indent="-342900">
              <a:lnSpc>
                <a:spcPct val="90000"/>
              </a:lnSpc>
              <a:buAutoNum type="arabicPeriod" startAt="3"/>
            </a:pPr>
            <a:r>
              <a:rPr lang="en-US" altLang="en-US" sz="2400" dirty="0"/>
              <a:t>If </a:t>
            </a:r>
            <a:r>
              <a:rPr lang="en-US" altLang="en-US" sz="2400" b="1" i="1" dirty="0"/>
              <a:t>Finish[i] == false</a:t>
            </a:r>
            <a:r>
              <a:rPr lang="en-US" altLang="en-US" sz="2400" dirty="0"/>
              <a:t>, for some </a:t>
            </a:r>
            <a:r>
              <a:rPr lang="en-US" altLang="en-US" sz="2400" b="1" i="1" dirty="0"/>
              <a:t>i</a:t>
            </a:r>
            <a:r>
              <a:rPr lang="en-US" altLang="en-US" sz="2400" dirty="0"/>
              <a:t>, 1 </a:t>
            </a:r>
            <a:r>
              <a:rPr lang="en-US" altLang="en-US" sz="2400" dirty="0">
                <a:sym typeface="Symbol" panose="05050102010706020507" pitchFamily="18" charset="2"/>
              </a:rPr>
              <a:t> </a:t>
            </a:r>
            <a:r>
              <a:rPr lang="en-US" altLang="en-US" sz="2400" b="1" i="1" dirty="0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  </a:t>
            </a:r>
            <a:r>
              <a:rPr lang="en-US" altLang="en-US" sz="2400" b="1" i="1" dirty="0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, then the system is in deadlock state. Moreover, if </a:t>
            </a:r>
            <a:r>
              <a:rPr lang="en-US" altLang="en-US" sz="2400" b="1" i="1" dirty="0">
                <a:sym typeface="Symbol" panose="05050102010706020507" pitchFamily="18" charset="2"/>
              </a:rPr>
              <a:t>Finish</a:t>
            </a:r>
            <a:r>
              <a:rPr lang="en-US" altLang="en-US" sz="2400" b="1" dirty="0">
                <a:sym typeface="Symbol" panose="05050102010706020507" pitchFamily="18" charset="2"/>
              </a:rPr>
              <a:t>[</a:t>
            </a:r>
            <a:r>
              <a:rPr lang="en-US" altLang="en-US" sz="2400" b="1" i="1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b="1" dirty="0">
                <a:sym typeface="Symbol" panose="05050102010706020507" pitchFamily="18" charset="2"/>
              </a:rPr>
              <a:t>] == </a:t>
            </a:r>
            <a:r>
              <a:rPr lang="en-US" altLang="en-US" sz="2400" b="1" i="1" dirty="0">
                <a:sym typeface="Symbol" panose="05050102010706020507" pitchFamily="18" charset="2"/>
              </a:rPr>
              <a:t>false</a:t>
            </a:r>
            <a:r>
              <a:rPr lang="en-US" altLang="en-US" sz="2400" dirty="0">
                <a:sym typeface="Symbol" panose="05050102010706020507" pitchFamily="18" charset="2"/>
              </a:rPr>
              <a:t>, then </a:t>
            </a:r>
            <a:r>
              <a:rPr lang="en-US" altLang="en-US" sz="2400" b="1" i="1" dirty="0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4566153"/>
            <a:ext cx="7694612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sz="2400" b="1" i="1" dirty="0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sz="2400" b="1" dirty="0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sz="2400" b="1" i="1" dirty="0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sz="2400" b="1" baseline="30000" dirty="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sz="2400" b="1" dirty="0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 sz="2400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 dirty="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14313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08075"/>
            <a:ext cx="8037513" cy="5121275"/>
          </a:xfrm>
        </p:spPr>
        <p:txBody>
          <a:bodyPr/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Five processes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 through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4</a:t>
            </a:r>
            <a:r>
              <a:rPr lang="en-US" altLang="en-US" sz="2000" dirty="0"/>
              <a:t>;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three resource types </a:t>
            </a:r>
            <a:br>
              <a:rPr lang="en-US" altLang="en-US" sz="2000" dirty="0"/>
            </a:br>
            <a:r>
              <a:rPr lang="en-US" altLang="en-US" sz="2000" dirty="0"/>
              <a:t>A (7 instances), </a:t>
            </a:r>
            <a:r>
              <a:rPr lang="en-US" altLang="en-US" sz="2000" i="1" dirty="0"/>
              <a:t>B </a:t>
            </a:r>
            <a:r>
              <a:rPr lang="en-US" altLang="en-US" sz="2000" dirty="0"/>
              <a:t>(2 instances), and </a:t>
            </a:r>
            <a:r>
              <a:rPr lang="en-US" altLang="en-US" sz="2000" i="1" dirty="0"/>
              <a:t>C</a:t>
            </a:r>
            <a:r>
              <a:rPr lang="en-US" altLang="en-US" sz="2000" dirty="0"/>
              <a:t> (6 instances)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Snapshot at time </a:t>
            </a:r>
            <a:r>
              <a:rPr lang="en-US" altLang="en-US" sz="2000" b="1" i="1" dirty="0"/>
              <a:t>T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: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		 </a:t>
            </a:r>
            <a:r>
              <a:rPr lang="en-US" altLang="en-US" sz="2000" i="1" u="sng" dirty="0"/>
              <a:t>Allocation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Request</a:t>
            </a:r>
            <a:r>
              <a:rPr lang="en-US" altLang="en-US" sz="2000" i="1" dirty="0"/>
              <a:t>	</a:t>
            </a:r>
            <a:r>
              <a:rPr lang="en-US" altLang="en-US" sz="2000" i="1" u="sng" dirty="0"/>
              <a:t>Available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dirty="0"/>
              <a:t>A B C 	  A B C 	A B C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        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	         0 1 0           0 0 0 	0 0 0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i="1" dirty="0"/>
              <a:t>             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	         	2 0 0 	  2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i="1" dirty="0"/>
              <a:t>             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	         3 0 3           0 0 0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i="1" dirty="0"/>
              <a:t>             P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	2 1 1 	   1 0 0 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	        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	</a:t>
            </a:r>
            <a:r>
              <a:rPr lang="en-US" altLang="en-US" sz="2000" dirty="0"/>
              <a:t>	0 0 2 	   0 0 2</a:t>
            </a:r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sz="2000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sz="2000" dirty="0"/>
              <a:t>Sequence &lt;</a:t>
            </a:r>
            <a:r>
              <a:rPr lang="en-US" altLang="en-US" sz="2000" b="1" i="1" dirty="0"/>
              <a:t>P</a:t>
            </a:r>
            <a:r>
              <a:rPr lang="en-US" altLang="en-US" sz="2000" b="1" i="1" baseline="-25000" dirty="0"/>
              <a:t>0</a:t>
            </a:r>
            <a:r>
              <a:rPr lang="en-US" altLang="en-US" sz="2000" b="1" i="1" dirty="0"/>
              <a:t>, P</a:t>
            </a:r>
            <a:r>
              <a:rPr lang="en-US" altLang="en-US" sz="2000" b="1" i="1" baseline="-25000" dirty="0"/>
              <a:t>2</a:t>
            </a:r>
            <a:r>
              <a:rPr lang="en-US" altLang="en-US" sz="2000" b="1" i="1" dirty="0"/>
              <a:t>, P</a:t>
            </a:r>
            <a:r>
              <a:rPr lang="en-US" altLang="en-US" sz="2000" b="1" i="1" baseline="-25000" dirty="0"/>
              <a:t>3</a:t>
            </a:r>
            <a:r>
              <a:rPr lang="en-US" altLang="en-US" sz="2000" b="1" i="1" dirty="0"/>
              <a:t>, P</a:t>
            </a:r>
            <a:r>
              <a:rPr lang="en-US" altLang="en-US" sz="2000" b="1" i="1" baseline="-25000" dirty="0"/>
              <a:t>1</a:t>
            </a:r>
            <a:r>
              <a:rPr lang="en-US" altLang="en-US" sz="2000" b="1" i="1" dirty="0"/>
              <a:t>, P</a:t>
            </a:r>
            <a:r>
              <a:rPr lang="en-US" altLang="en-US" sz="2000" b="1" i="1" baseline="-25000" dirty="0"/>
              <a:t>4</a:t>
            </a:r>
            <a:r>
              <a:rPr lang="en-US" altLang="en-US" sz="2000" dirty="0"/>
              <a:t>&gt; will result in </a:t>
            </a:r>
            <a:r>
              <a:rPr lang="en-US" altLang="en-US" sz="2000" b="1" i="1" dirty="0"/>
              <a:t>Finish[i] = true </a:t>
            </a:r>
            <a:r>
              <a:rPr lang="en-US" altLang="en-US" sz="2000" dirty="0"/>
              <a:t>for all </a:t>
            </a:r>
            <a:r>
              <a:rPr lang="en-US" altLang="en-US" sz="2000" b="1" i="1" dirty="0"/>
              <a:t>i</a:t>
            </a:r>
            <a:endParaRPr lang="en-US" altLang="en-US" sz="2000" b="1" dirty="0"/>
          </a:p>
          <a:p>
            <a:pPr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2</a:t>
            </a:r>
            <a:r>
              <a:rPr lang="en-US" altLang="en-US" sz="2000" dirty="0"/>
              <a:t> requests an additional instance of type</a:t>
            </a:r>
            <a:r>
              <a:rPr lang="en-US" altLang="en-US" sz="2000" i="1" dirty="0"/>
              <a:t> </a:t>
            </a:r>
            <a:r>
              <a:rPr lang="en-US" altLang="en-US" sz="2000" b="1" i="1" dirty="0"/>
              <a:t>C</a:t>
            </a:r>
            <a:endParaRPr lang="en-US" altLang="en-US" sz="2000" b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	</a:t>
            </a:r>
            <a:r>
              <a:rPr lang="en-US" altLang="en-US" sz="2000" i="1" u="sng" dirty="0"/>
              <a:t>Request</a:t>
            </a:r>
            <a:endParaRPr lang="en-US" altLang="en-US" sz="2000" i="1" dirty="0"/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i="1" dirty="0"/>
              <a:t>			A B C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	0 0 0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	2 0 2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	0 0 1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	1 0 0 </a:t>
            </a:r>
          </a:p>
          <a:p>
            <a:pPr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	0 0 2</a:t>
            </a:r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Can reclaim resources held by process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0</a:t>
            </a:r>
            <a:r>
              <a:rPr lang="en-US" altLang="en-US" sz="2000" dirty="0"/>
              <a:t>, but insufficient resources to fulfill other processes’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sz="2000" dirty="0"/>
              <a:t>Deadlock exists, consisting of processes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1</a:t>
            </a:r>
            <a:r>
              <a:rPr lang="en-US" altLang="en-US" sz="2000" b="1" dirty="0"/>
              <a:t>, </a:t>
            </a:r>
            <a:r>
              <a:rPr lang="en-US" altLang="en-US" sz="2000" b="1" baseline="-25000" dirty="0"/>
              <a:t>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2</a:t>
            </a:r>
            <a:r>
              <a:rPr lang="en-US" altLang="en-US" sz="2000" b="1" dirty="0"/>
              <a:t>,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3</a:t>
            </a:r>
            <a:r>
              <a:rPr lang="en-US" altLang="en-US" sz="2000" dirty="0"/>
              <a:t>, and </a:t>
            </a:r>
            <a:r>
              <a:rPr lang="en-US" altLang="en-US" sz="2000" b="1" i="1" dirty="0"/>
              <a:t>P</a:t>
            </a:r>
            <a:r>
              <a:rPr lang="en-US" altLang="en-US" sz="2000" b="1" baseline="-25000" dirty="0"/>
              <a:t>4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0138" y="230188"/>
            <a:ext cx="7586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122363"/>
            <a:ext cx="7742205" cy="4530725"/>
          </a:xfrm>
        </p:spPr>
        <p:txBody>
          <a:bodyPr/>
          <a:lstStyle/>
          <a:p>
            <a:r>
              <a:rPr lang="en-US" altLang="en-US" sz="2400" dirty="0"/>
              <a:t>When, and how often, to invoke depends on:</a:t>
            </a:r>
          </a:p>
          <a:p>
            <a:pPr lvl="1"/>
            <a:r>
              <a:rPr lang="en-US" altLang="en-US" sz="2400" dirty="0"/>
              <a:t>How often a deadlock is likely to occur?</a:t>
            </a:r>
          </a:p>
          <a:p>
            <a:pPr lvl="1"/>
            <a:r>
              <a:rPr lang="en-US" altLang="en-US" sz="2400" dirty="0"/>
              <a:t>How many processes will need to be rolled back?</a:t>
            </a:r>
          </a:p>
          <a:p>
            <a:pPr lvl="2"/>
            <a:r>
              <a:rPr lang="en-US" altLang="en-US" sz="2400" dirty="0"/>
              <a:t>one for each disjoint cycle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 sz="2400" dirty="0"/>
              <a:t>“</a:t>
            </a:r>
            <a:r>
              <a:rPr lang="en-US" altLang="ja-JP" sz="2400" dirty="0"/>
              <a:t>caused</a:t>
            </a:r>
            <a:r>
              <a:rPr lang="ja-JP" altLang="en-US" sz="2400" dirty="0"/>
              <a:t>”</a:t>
            </a:r>
            <a:r>
              <a:rPr lang="en-US" altLang="ja-JP" sz="2400" dirty="0"/>
              <a:t> the deadlock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731" y="35923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3613" y="1108075"/>
            <a:ext cx="7694612" cy="4530725"/>
          </a:xfrm>
        </p:spPr>
        <p:txBody>
          <a:bodyPr/>
          <a:lstStyle/>
          <a:p>
            <a:r>
              <a:rPr lang="en-US" altLang="en-US" sz="2400" dirty="0"/>
              <a:t>Abort all deadlocked processes</a:t>
            </a:r>
          </a:p>
          <a:p>
            <a:r>
              <a:rPr lang="en-US" altLang="en-US" sz="2400" dirty="0"/>
              <a:t>Abort one process at a time until the deadlock cycle is eliminated</a:t>
            </a:r>
          </a:p>
          <a:p>
            <a:r>
              <a:rPr lang="en-US" altLang="en-US" sz="2400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Priority of the process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How long process has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Resources the process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Resources process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How many processes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Is process interactive or batch?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2572" y="348894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838" y="1150938"/>
            <a:ext cx="6802437" cy="4483100"/>
          </a:xfrm>
        </p:spPr>
        <p:txBody>
          <a:bodyPr/>
          <a:lstStyle/>
          <a:p>
            <a:r>
              <a:rPr lang="en-US" altLang="en-US" sz="2400" b="1" dirty="0"/>
              <a:t>Selecting a victim </a:t>
            </a:r>
            <a:r>
              <a:rPr lang="en-US" altLang="en-US" sz="2400" dirty="0"/>
              <a:t>– minimize cost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b="1" dirty="0"/>
              <a:t>Rollback</a:t>
            </a:r>
            <a:r>
              <a:rPr lang="en-US" altLang="en-US" sz="2400" dirty="0"/>
              <a:t> – return to some safe state, restart process for that state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b="1" dirty="0"/>
              <a:t>Starvation</a:t>
            </a:r>
            <a:r>
              <a:rPr lang="en-US" altLang="en-US" sz="2400" dirty="0"/>
              <a:t> –  same process may always be picked as victim, so we should include number of rollbacks in cost factor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030AF7D-20DF-4721-ADDB-52BDFA1CE7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11759</TotalTime>
  <Words>2834</Words>
  <Application>Microsoft Office PowerPoint</Application>
  <PresentationFormat>如螢幕大小 (4:3)</PresentationFormat>
  <Paragraphs>324</Paragraphs>
  <Slides>43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3" baseType="lpstr">
      <vt:lpstr>Monotype Sorts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8:  Deadlocks</vt:lpstr>
      <vt:lpstr>Outline</vt:lpstr>
      <vt:lpstr>Chapter Objectives</vt:lpstr>
      <vt:lpstr>System Model</vt:lpstr>
      <vt:lpstr>Deadlock with Semaphores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王正豪</cp:lastModifiedBy>
  <cp:revision>272</cp:revision>
  <cp:lastPrinted>2013-09-10T17:57:57Z</cp:lastPrinted>
  <dcterms:created xsi:type="dcterms:W3CDTF">2011-01-13T23:43:38Z</dcterms:created>
  <dcterms:modified xsi:type="dcterms:W3CDTF">2026-03-31T08:15:05Z</dcterms:modified>
</cp:coreProperties>
</file>