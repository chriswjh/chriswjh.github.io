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483" r:id="rId6"/>
    <p:sldId id="274" r:id="rId7"/>
    <p:sldId id="496" r:id="rId8"/>
    <p:sldId id="495" r:id="rId9"/>
    <p:sldId id="498" r:id="rId10"/>
    <p:sldId id="497" r:id="rId11"/>
    <p:sldId id="494" r:id="rId12"/>
    <p:sldId id="490" r:id="rId13"/>
    <p:sldId id="491" r:id="rId14"/>
    <p:sldId id="492" r:id="rId15"/>
    <p:sldId id="488" r:id="rId16"/>
    <p:sldId id="283" r:id="rId17"/>
  </p:sldIdLst>
  <p:sldSz cx="9144000" cy="6858000" type="screen4x3"/>
  <p:notesSz cx="6669088" cy="9928225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66CCFF"/>
    <a:srgbClr val="CCFFFF"/>
    <a:srgbClr val="FF9900"/>
    <a:srgbClr val="66FF99"/>
    <a:srgbClr val="FFFFCC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7884CF-B05B-4704-A863-9A50F7E2476B}" v="24" dt="2023-10-26T06:40:46.449"/>
    <p1510:client id="{31C75E6F-2AD5-431D-9804-2600BC54A2D3}" v="7" dt="2023-10-19T07:46:51.529"/>
    <p1510:client id="{9839181E-A5FD-4084-92AF-7486788F5F8D}" v="2" dt="2023-10-25T13:26:37.1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1380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盧永合" userId="S::111998413@cc.ntut.edu.tw::51dde39c-1691-458c-b840-9dbc3dd1ae57" providerId="AD" clId="Web-{31C75E6F-2AD5-431D-9804-2600BC54A2D3}"/>
    <pc:docChg chg="modSld">
      <pc:chgData name="盧永合" userId="S::111998413@cc.ntut.edu.tw::51dde39c-1691-458c-b840-9dbc3dd1ae57" providerId="AD" clId="Web-{31C75E6F-2AD5-431D-9804-2600BC54A2D3}" dt="2023-10-19T07:46:49.013" v="5" actId="20577"/>
      <pc:docMkLst>
        <pc:docMk/>
      </pc:docMkLst>
      <pc:sldChg chg="modSp">
        <pc:chgData name="盧永合" userId="S::111998413@cc.ntut.edu.tw::51dde39c-1691-458c-b840-9dbc3dd1ae57" providerId="AD" clId="Web-{31C75E6F-2AD5-431D-9804-2600BC54A2D3}" dt="2023-10-19T07:46:49.013" v="5" actId="20577"/>
        <pc:sldMkLst>
          <pc:docMk/>
          <pc:sldMk cId="633942577" sldId="485"/>
        </pc:sldMkLst>
        <pc:spChg chg="mod">
          <ac:chgData name="盧永合" userId="S::111998413@cc.ntut.edu.tw::51dde39c-1691-458c-b840-9dbc3dd1ae57" providerId="AD" clId="Web-{31C75E6F-2AD5-431D-9804-2600BC54A2D3}" dt="2023-10-19T07:46:49.013" v="5" actId="20577"/>
          <ac:spMkLst>
            <pc:docMk/>
            <pc:sldMk cId="633942577" sldId="485"/>
            <ac:spMk id="9219" creationId="{00000000-0000-0000-0000-000000000000}"/>
          </ac:spMkLst>
        </pc:spChg>
      </pc:sldChg>
    </pc:docChg>
  </pc:docChgLst>
  <pc:docChgLst>
    <pc:chgData name="楊淨雯" userId="S::112598017@cc.ntut.edu.tw::7f2610d6-a863-4d1e-b960-0612953df963" providerId="AD" clId="Web-{9839181E-A5FD-4084-92AF-7486788F5F8D}"/>
    <pc:docChg chg="sldOrd">
      <pc:chgData name="楊淨雯" userId="S::112598017@cc.ntut.edu.tw::7f2610d6-a863-4d1e-b960-0612953df963" providerId="AD" clId="Web-{9839181E-A5FD-4084-92AF-7486788F5F8D}" dt="2023-10-25T13:26:37.169" v="1"/>
      <pc:docMkLst>
        <pc:docMk/>
      </pc:docMkLst>
      <pc:sldChg chg="ord">
        <pc:chgData name="楊淨雯" userId="S::112598017@cc.ntut.edu.tw::7f2610d6-a863-4d1e-b960-0612953df963" providerId="AD" clId="Web-{9839181E-A5FD-4084-92AF-7486788F5F8D}" dt="2023-10-25T13:26:37.169" v="1"/>
        <pc:sldMkLst>
          <pc:docMk/>
          <pc:sldMk cId="0" sldId="274"/>
        </pc:sldMkLst>
      </pc:sldChg>
      <pc:sldChg chg="ord">
        <pc:chgData name="楊淨雯" userId="S::112598017@cc.ntut.edu.tw::7f2610d6-a863-4d1e-b960-0612953df963" providerId="AD" clId="Web-{9839181E-A5FD-4084-92AF-7486788F5F8D}" dt="2023-10-25T13:16:57.796" v="0"/>
        <pc:sldMkLst>
          <pc:docMk/>
          <pc:sldMk cId="1113098904" sldId="489"/>
        </pc:sldMkLst>
      </pc:sldChg>
    </pc:docChg>
  </pc:docChgLst>
  <pc:docChgLst>
    <pc:chgData name="盧永合" userId="S::111998413@cc.ntut.edu.tw::51dde39c-1691-458c-b840-9dbc3dd1ae57" providerId="AD" clId="Web-{2E7884CF-B05B-4704-A863-9A50F7E2476B}"/>
    <pc:docChg chg="modSld">
      <pc:chgData name="盧永合" userId="S::111998413@cc.ntut.edu.tw::51dde39c-1691-458c-b840-9dbc3dd1ae57" providerId="AD" clId="Web-{2E7884CF-B05B-4704-A863-9A50F7E2476B}" dt="2023-10-26T06:40:46.449" v="23" actId="20577"/>
      <pc:docMkLst>
        <pc:docMk/>
      </pc:docMkLst>
      <pc:sldChg chg="modSp">
        <pc:chgData name="盧永合" userId="S::111998413@cc.ntut.edu.tw::51dde39c-1691-458c-b840-9dbc3dd1ae57" providerId="AD" clId="Web-{2E7884CF-B05B-4704-A863-9A50F7E2476B}" dt="2023-10-26T06:39:57.415" v="16" actId="20577"/>
        <pc:sldMkLst>
          <pc:docMk/>
          <pc:sldMk cId="633942577" sldId="485"/>
        </pc:sldMkLst>
        <pc:spChg chg="mod">
          <ac:chgData name="盧永合" userId="S::111998413@cc.ntut.edu.tw::51dde39c-1691-458c-b840-9dbc3dd1ae57" providerId="AD" clId="Web-{2E7884CF-B05B-4704-A863-9A50F7E2476B}" dt="2023-10-26T06:39:57.415" v="16" actId="20577"/>
          <ac:spMkLst>
            <pc:docMk/>
            <pc:sldMk cId="633942577" sldId="485"/>
            <ac:spMk id="9219" creationId="{00000000-0000-0000-0000-000000000000}"/>
          </ac:spMkLst>
        </pc:spChg>
      </pc:sldChg>
      <pc:sldChg chg="modSp">
        <pc:chgData name="盧永合" userId="S::111998413@cc.ntut.edu.tw::51dde39c-1691-458c-b840-9dbc3dd1ae57" providerId="AD" clId="Web-{2E7884CF-B05B-4704-A863-9A50F7E2476B}" dt="2023-10-26T06:40:46.449" v="23" actId="20577"/>
        <pc:sldMkLst>
          <pc:docMk/>
          <pc:sldMk cId="3564677727" sldId="486"/>
        </pc:sldMkLst>
        <pc:spChg chg="mod">
          <ac:chgData name="盧永合" userId="S::111998413@cc.ntut.edu.tw::51dde39c-1691-458c-b840-9dbc3dd1ae57" providerId="AD" clId="Web-{2E7884CF-B05B-4704-A863-9A50F7E2476B}" dt="2023-10-26T06:40:46.449" v="23" actId="20577"/>
          <ac:spMkLst>
            <pc:docMk/>
            <pc:sldMk cId="3564677727" sldId="486"/>
            <ac:spMk id="9219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8250" y="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8250" y="942975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C3757D5D-D1AF-4826-8377-32FD1A2255D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8250" y="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2488" y="744538"/>
            <a:ext cx="4964112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750" y="4716463"/>
            <a:ext cx="5335588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8250" y="942975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A0504BC-C9BE-43C6-B3F3-B0FBE0E426C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693AA2B1-3269-44FF-BD7C-F603E9264FE8}" type="slidenum">
              <a:rPr lang="en-US" altLang="zh-TW" smtClean="0"/>
              <a:pPr>
                <a:spcBef>
                  <a:spcPct val="0"/>
                </a:spcBef>
              </a:pPr>
              <a:t>1</a:t>
            </a:fld>
            <a:endParaRPr lang="en-US" altLang="zh-TW"/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C8A9CC95-CBB4-4C50-9694-3C9EA672D978}" type="slidenum">
              <a:rPr lang="en-US" altLang="zh-TW" smtClean="0"/>
              <a:pPr>
                <a:spcBef>
                  <a:spcPct val="0"/>
                </a:spcBef>
              </a:pPr>
              <a:t>2</a:t>
            </a:fld>
            <a:endParaRPr lang="en-US" altLang="zh-TW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5D7C2B61-2071-4AA1-9B33-BCBE676BD67C}" type="slidenum">
              <a:rPr lang="en-US" altLang="zh-TW" smtClean="0"/>
              <a:pPr>
                <a:spcBef>
                  <a:spcPct val="0"/>
                </a:spcBef>
              </a:pPr>
              <a:t>3</a:t>
            </a:fld>
            <a:endParaRPr lang="en-US" altLang="zh-TW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5D7C2B61-2071-4AA1-9B33-BCBE676BD67C}" type="slidenum">
              <a:rPr lang="en-US" altLang="zh-TW" smtClean="0"/>
              <a:pPr>
                <a:spcBef>
                  <a:spcPct val="0"/>
                </a:spcBef>
              </a:pPr>
              <a:t>8</a:t>
            </a:fld>
            <a:endParaRPr lang="en-US" altLang="zh-TW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25009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82193802-E272-47D9-BB1A-96179C65B02A}" type="slidenum">
              <a:rPr lang="en-US" altLang="zh-TW" smtClean="0"/>
              <a:pPr>
                <a:spcBef>
                  <a:spcPct val="0"/>
                </a:spcBef>
              </a:pPr>
              <a:t>13</a:t>
            </a:fld>
            <a:endParaRPr lang="en-US" altLang="zh-TW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Big Data Mining &amp; Applications, Fall 2025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NTUT CSIE, IEECS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A8B602-FE1A-4325-AB4E-E45D20AEBD5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92426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Big Data Mining &amp; Applications, Fall 2025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NTUT CSIE, IEECS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4DE800-8213-4A07-A533-DB992F026A0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13747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Big Data Mining &amp; Applications, Fall 2025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NTUT CSIE, IEECS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3BDD5E-29CF-48C8-8CCE-AA22C2EBC8E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28038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Big Data Mining &amp; Applications, Fall 2025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NTUT CSIE, IEECS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D56E26-38B2-4E60-9C6F-AF594654B6B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52069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Big Data Mining &amp; Applications, Fall 2025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NTUT CSIE, IEECS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DF3815-1422-4414-9BB2-7CA797B5960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5348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Big Data Mining &amp; Applications, Fall 2025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NTUT CSIE, IEECS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B77F31-1B30-4841-9EFF-44DF596CEAA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46107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Big Data Mining &amp; Applications, Fall 2025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NTUT CSIE, IEECS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A8DDAE-9E19-4A6F-80BA-9447D4BE8F7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12157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Big Data Mining &amp; Applications, Fall 2025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NTUT CSIE, IEECS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9778E7-7425-48B3-BBF7-5E34954176F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51783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Big Data Mining &amp; Applications, Fall 2025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NTUT CSIE, IEECS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B01F3A-20C2-4725-8B85-7808FE0CDEB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82546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Big Data Mining &amp; Applications, Fall 2025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NTUT CSIE, IEECS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C4DC80-E25C-4DAC-A170-7C0922B58CB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23364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Big Data Mining &amp; Applications, Fall 2025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NTUT CSIE, IEECS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58B677-C5A2-4CEF-ACDD-18A132F84E3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60002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0" sz="1400" smtClean="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r>
              <a:rPr lang="en-US" altLang="zh-TW"/>
              <a:t>Big Data Mining &amp; Applications, Fall 2025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4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r>
              <a:rPr lang="en-US" altLang="zh-TW"/>
              <a:t>NTUT CSIE, IEECS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/>
            </a:lvl1pPr>
          </a:lstStyle>
          <a:p>
            <a:pPr>
              <a:defRPr/>
            </a:pPr>
            <a:fld id="{51453D9C-684C-4B70-BD56-7D2DE4F1B0C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00FF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00FF"/>
          </a:solidFill>
          <a:latin typeface="Book Antiqua" pitchFamily="18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00FF"/>
          </a:solidFill>
          <a:latin typeface="Book Antiqua" pitchFamily="18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00FF"/>
          </a:solidFill>
          <a:latin typeface="Book Antiqua" pitchFamily="18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00FF"/>
          </a:solidFill>
          <a:latin typeface="Book Antiqua" pitchFamily="18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rgbClr val="0000FF"/>
          </a:solidFill>
          <a:latin typeface="Book Antiqua" pitchFamily="18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rgbClr val="0000FF"/>
          </a:solidFill>
          <a:latin typeface="Book Antiqua" pitchFamily="18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rgbClr val="0000FF"/>
          </a:solidFill>
          <a:latin typeface="Book Antiqua" pitchFamily="18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rgbClr val="0000FF"/>
          </a:solidFill>
          <a:latin typeface="Book Antiqua" pitchFamily="18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rouplens.org/datasets/movielens/1m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rouplens.org/datasets/movielens/" TargetMode="External"/><Relationship Id="rId2" Type="http://schemas.openxmlformats.org/officeDocument/2006/relationships/hyperlink" Target="https://doi.org/10.1145/2827872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600" y="2130425"/>
            <a:ext cx="7924800" cy="1470025"/>
          </a:xfrm>
        </p:spPr>
        <p:txBody>
          <a:bodyPr/>
          <a:lstStyle/>
          <a:p>
            <a:pPr eaLnBrk="1" hangingPunct="1"/>
            <a:r>
              <a:rPr lang="en-US" altLang="zh-TW"/>
              <a:t>Big Data Mining: HW#4</a:t>
            </a:r>
            <a:br>
              <a:rPr lang="en-US" altLang="zh-TW" sz="4000"/>
            </a:br>
            <a:endParaRPr lang="en-US" altLang="zh-TW" sz="400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J. H. Wang</a:t>
            </a:r>
          </a:p>
          <a:p>
            <a:pPr eaLnBrk="1" hangingPunct="1"/>
            <a:r>
              <a:rPr lang="en-US" altLang="zh-TW" dirty="0"/>
              <a:t>Dec. 1,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Big Data Mining &amp; Applications, Fall 2025</a:t>
            </a:r>
          </a:p>
        </p:txBody>
      </p:sp>
      <p:sp>
        <p:nvSpPr>
          <p:cNvPr id="614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CSIE, IEECS</a:t>
            </a:r>
          </a:p>
        </p:txBody>
      </p:sp>
      <p:sp>
        <p:nvSpPr>
          <p:cNvPr id="614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41DF456-FC18-4E88-AD8D-D9F8360EA0BC}" type="slidenum">
              <a:rPr kumimoji="0" lang="en-US" altLang="zh-TW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524000"/>
          </a:xfrm>
        </p:spPr>
        <p:txBody>
          <a:bodyPr/>
          <a:lstStyle/>
          <a:p>
            <a:pPr algn="l" eaLnBrk="1" hangingPunct="1"/>
            <a:r>
              <a:rPr lang="en-US" altLang="zh-TW" sz="3200"/>
              <a:t>Programming Exercise: Recommender System</a:t>
            </a:r>
          </a:p>
        </p:txBody>
      </p:sp>
      <p:sp>
        <p:nvSpPr>
          <p:cNvPr id="61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05000"/>
            <a:ext cx="8229600" cy="41148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TW" sz="2400"/>
              <a:t>Goal: Movie recommendation using collaborative filtering</a:t>
            </a:r>
          </a:p>
          <a:p>
            <a:pPr eaLnBrk="1" hangingPunct="1">
              <a:lnSpc>
                <a:spcPct val="80000"/>
              </a:lnSpc>
            </a:pPr>
            <a:endParaRPr lang="en-US" altLang="zh-TW" sz="2000"/>
          </a:p>
          <a:p>
            <a:pPr lvl="1" indent="-342900"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zh-TW" sz="2000"/>
              <a:t>Either MapReduce on </a:t>
            </a:r>
            <a:r>
              <a:rPr lang="en-US" altLang="zh-TW" sz="2000">
                <a:solidFill>
                  <a:srgbClr val="0000FF"/>
                </a:solidFill>
              </a:rPr>
              <a:t>multi-node</a:t>
            </a:r>
            <a:r>
              <a:rPr lang="en-US" altLang="zh-TW" sz="2000"/>
              <a:t> Spark (for CS students)</a:t>
            </a:r>
          </a:p>
          <a:p>
            <a:pPr lvl="1" indent="-342900"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zh-TW" sz="2000"/>
              <a:t>or Python in Jupyter Notebook (for others)</a:t>
            </a:r>
          </a:p>
          <a:p>
            <a:pPr lvl="1" indent="-342900" eaLnBrk="1" hangingPunct="1">
              <a:lnSpc>
                <a:spcPct val="80000"/>
              </a:lnSpc>
            </a:pPr>
            <a:endParaRPr lang="en-US" altLang="zh-TW" sz="2000"/>
          </a:p>
          <a:p>
            <a:pPr eaLnBrk="1" hangingPunct="1">
              <a:lnSpc>
                <a:spcPct val="80000"/>
              </a:lnSpc>
            </a:pPr>
            <a:r>
              <a:rPr lang="en-US" altLang="zh-TW" sz="2400"/>
              <a:t>Input: Movie ratings dataset (to be detailed later)</a:t>
            </a:r>
          </a:p>
          <a:p>
            <a:pPr eaLnBrk="1" hangingPunct="1">
              <a:lnSpc>
                <a:spcPct val="80000"/>
              </a:lnSpc>
            </a:pPr>
            <a:endParaRPr lang="en-US" altLang="zh-TW" sz="2400"/>
          </a:p>
          <a:p>
            <a:pPr eaLnBrk="1" hangingPunct="1">
              <a:lnSpc>
                <a:spcPct val="80000"/>
              </a:lnSpc>
            </a:pPr>
            <a:r>
              <a:rPr lang="en-US" altLang="zh-TW" sz="2400"/>
              <a:t>Output: Results of recommendation (to be detailed later)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Big Data Mining &amp; Applications, Fall 2025</a:t>
            </a:r>
          </a:p>
        </p:txBody>
      </p:sp>
      <p:sp>
        <p:nvSpPr>
          <p:cNvPr id="819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CSIE, IEECS</a:t>
            </a:r>
          </a:p>
        </p:txBody>
      </p:sp>
      <p:sp>
        <p:nvSpPr>
          <p:cNvPr id="819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C20E760-CBD5-41B8-8FD9-CD65E9906FAB}" type="slidenum">
              <a:rPr kumimoji="0" lang="en-US" altLang="zh-TW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TW" sz="3200"/>
              <a:t>Input Data</a:t>
            </a:r>
          </a:p>
        </p:txBody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17638"/>
            <a:ext cx="8229600" cy="4708525"/>
          </a:xfrm>
        </p:spPr>
        <p:txBody>
          <a:bodyPr/>
          <a:lstStyle/>
          <a:p>
            <a:r>
              <a:rPr lang="en-US" altLang="zh-TW" sz="2000"/>
              <a:t>Data: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TW" sz="2000"/>
              <a:t>[</a:t>
            </a:r>
            <a:r>
              <a:rPr lang="en-US" altLang="zh-TW" sz="2000" b="1"/>
              <a:t>MovieLens 1M Data Set</a:t>
            </a:r>
            <a:r>
              <a:rPr lang="en-US" altLang="zh-TW" sz="2000"/>
              <a:t>] from GroupLens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TW" sz="2000"/>
              <a:t>It contains 1 million ratings from 6000 users on 4000 movies (released on 02/2003, 6MB compressed in size)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TW" sz="2000"/>
              <a:t>Available at: </a:t>
            </a:r>
            <a:r>
              <a:rPr lang="en-US" altLang="zh-TW" sz="2000">
                <a:hlinkClick r:id="rId3"/>
              </a:rPr>
              <a:t>https://grouplens.org/datasets/movielens/1m/</a:t>
            </a:r>
            <a:r>
              <a:rPr lang="en-US" altLang="zh-TW" sz="2000"/>
              <a:t> </a:t>
            </a:r>
          </a:p>
          <a:p>
            <a:pPr marL="228600" lvl="1">
              <a:spcBef>
                <a:spcPts val="1000"/>
              </a:spcBef>
            </a:pPr>
            <a:r>
              <a:rPr lang="en-US" altLang="zh-TW" sz="2000"/>
              <a:t>Format:</a:t>
            </a:r>
            <a:r>
              <a:rPr lang="zh-TW" altLang="en-US" sz="2000"/>
              <a:t> </a:t>
            </a:r>
            <a:r>
              <a:rPr lang="en-US" altLang="zh-TW" sz="2000"/>
              <a:t>3 files</a:t>
            </a:r>
            <a:r>
              <a:rPr lang="zh-TW" altLang="en-US" sz="2000"/>
              <a:t> </a:t>
            </a:r>
            <a:r>
              <a:rPr lang="en-US" altLang="zh-TW" sz="2000"/>
              <a:t>for users, movies, ratings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TW" sz="2000"/>
              <a:t>Users information (</a:t>
            </a:r>
            <a:r>
              <a:rPr lang="en-US" altLang="zh-TW" sz="2000">
                <a:solidFill>
                  <a:srgbClr val="0000FF"/>
                </a:solidFill>
              </a:rPr>
              <a:t>users.dat</a:t>
            </a:r>
            <a:r>
              <a:rPr lang="en-US" altLang="zh-TW" sz="2000"/>
              <a:t>):</a:t>
            </a:r>
            <a:r>
              <a:rPr lang="zh-TW" altLang="en-US" sz="2000"/>
              <a:t> </a:t>
            </a:r>
            <a:endParaRPr lang="en-US" altLang="zh-TW" sz="2000"/>
          </a:p>
          <a:p>
            <a:pPr lvl="2"/>
            <a:r>
              <a:rPr lang="en-US" altLang="zh-TW" sz="2000"/>
              <a:t>UserID::Gender::Age::Occupation::Zip-code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TW" sz="2000"/>
              <a:t>Movie information (</a:t>
            </a:r>
            <a:r>
              <a:rPr lang="en-US" altLang="zh-TW" sz="2000">
                <a:solidFill>
                  <a:srgbClr val="0000FF"/>
                </a:solidFill>
              </a:rPr>
              <a:t>movies.dat</a:t>
            </a:r>
            <a:r>
              <a:rPr lang="en-US" altLang="zh-TW" sz="2000"/>
              <a:t>):</a:t>
            </a:r>
          </a:p>
          <a:p>
            <a:pPr lvl="2"/>
            <a:r>
              <a:rPr lang="en-US" altLang="zh-TW" sz="2000"/>
              <a:t>MovieID::Title::Genres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TW" sz="2000"/>
              <a:t>Ratings information (</a:t>
            </a:r>
            <a:r>
              <a:rPr lang="en-US" altLang="zh-TW" sz="2000">
                <a:solidFill>
                  <a:srgbClr val="0000FF"/>
                </a:solidFill>
              </a:rPr>
              <a:t>ratings.dat</a:t>
            </a:r>
            <a:r>
              <a:rPr lang="en-US" altLang="zh-TW" sz="2000"/>
              <a:t>):</a:t>
            </a:r>
          </a:p>
          <a:p>
            <a:pPr lvl="2"/>
            <a:r>
              <a:rPr lang="en-US" altLang="zh-TW" sz="2000"/>
              <a:t>UserID::MovieID::Rating::Timestamp</a:t>
            </a:r>
            <a:endParaRPr lang="en-US" altLang="zh-TW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CEC6D3-F098-4EEE-9327-3A17461EC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dirty="0"/>
              <a:t>Task Description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C9A712F-170B-47FC-AA42-B27BB05937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/>
              <a:t>5 Subtasks + 1 Optional:</a:t>
            </a:r>
          </a:p>
          <a:p>
            <a:r>
              <a:rPr lang="en-US" altLang="zh-TW" dirty="0"/>
              <a:t>Given the </a:t>
            </a:r>
            <a:r>
              <a:rPr lang="en-US" altLang="zh-TW" dirty="0" err="1"/>
              <a:t>MovieLens</a:t>
            </a:r>
            <a:r>
              <a:rPr lang="en-US" altLang="zh-TW" dirty="0"/>
              <a:t> 1M dataset,</a:t>
            </a:r>
          </a:p>
          <a:p>
            <a:pPr lvl="1"/>
            <a:r>
              <a:rPr lang="en-US" altLang="zh-TW" dirty="0"/>
              <a:t>(</a:t>
            </a:r>
            <a:r>
              <a:rPr lang="en-US" altLang="zh-TW" b="1" dirty="0"/>
              <a:t>20pt</a:t>
            </a:r>
            <a:r>
              <a:rPr lang="en-US" altLang="zh-TW" dirty="0"/>
              <a:t>) (1) please list the top-rated movies by all users. </a:t>
            </a:r>
          </a:p>
          <a:p>
            <a:pPr lvl="1"/>
            <a:r>
              <a:rPr lang="en-US" altLang="zh-TW" dirty="0"/>
              <a:t>(</a:t>
            </a:r>
            <a:r>
              <a:rPr lang="en-US" altLang="zh-TW" b="1" dirty="0"/>
              <a:t>20pt</a:t>
            </a:r>
            <a:r>
              <a:rPr lang="en-US" altLang="zh-TW" dirty="0"/>
              <a:t>) (2) Please list the top-rated movies grouped by gender, by age group, and by occupation, respectively. </a:t>
            </a:r>
          </a:p>
          <a:p>
            <a:pPr lvl="1"/>
            <a:r>
              <a:rPr lang="en-US" altLang="zh-TW" dirty="0"/>
              <a:t>(</a:t>
            </a:r>
            <a:r>
              <a:rPr lang="en-US" altLang="zh-TW" b="1" dirty="0"/>
              <a:t>20pt</a:t>
            </a:r>
            <a:r>
              <a:rPr lang="en-US" altLang="zh-TW" dirty="0"/>
              <a:t>) (3) Please list the average rating score of each user for all movies, and grouped by genre, respectively. 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Note: All the above results should be sorted in descending order of ‘average’ rating score</a:t>
            </a:r>
          </a:p>
          <a:p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B323880-3B41-445E-BC05-9A03FF611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Big Data Mining &amp; Applications, Fall 2025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AB32BF5-A249-49E4-93CD-558D72F0F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NTUT CSIE, IEECS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E24BB0A-46D5-4B3B-9E41-48065FD23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4DE800-8213-4A07-A533-DB992F026A04}" type="slidenum">
              <a:rPr lang="en-US" altLang="zh-TW" smtClean="0"/>
              <a:pPr>
                <a:defRPr/>
              </a:pPr>
              <a:t>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64745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D1D807-9D37-435E-A26C-F2F0CDFA2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0CE70AE-DF92-4B15-8D70-D36372A19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altLang="zh-TW" dirty="0"/>
              <a:t>(</a:t>
            </a:r>
            <a:r>
              <a:rPr lang="en-US" altLang="zh-TW" b="1" dirty="0"/>
              <a:t>20pt</a:t>
            </a:r>
            <a:r>
              <a:rPr lang="en-US" altLang="zh-TW" dirty="0"/>
              <a:t>) (4) Given any user, please list the top-’similar’ users based on the </a:t>
            </a:r>
            <a:r>
              <a:rPr lang="en-US" altLang="zh-TW" i="1" dirty="0">
                <a:solidFill>
                  <a:srgbClr val="0000FF"/>
                </a:solidFill>
              </a:rPr>
              <a:t>cosine similarit</a:t>
            </a:r>
            <a:r>
              <a:rPr lang="en-US" altLang="zh-TW" i="1" dirty="0"/>
              <a:t>y</a:t>
            </a:r>
            <a:r>
              <a:rPr lang="en-US" altLang="zh-TW" dirty="0"/>
              <a:t> of previous ratings each user has given. (sorted in descending order of ‘user’ similarity score)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TW" sz="2800" dirty="0"/>
              <a:t>(</a:t>
            </a:r>
            <a:r>
              <a:rPr lang="en-US" altLang="zh-TW" sz="2800" b="1" dirty="0"/>
              <a:t>20pt</a:t>
            </a:r>
            <a:r>
              <a:rPr lang="en-US" altLang="zh-TW" sz="2800" dirty="0"/>
              <a:t>) (5) Given any movie, please list the top-’similar’ movies based on the </a:t>
            </a:r>
            <a:r>
              <a:rPr lang="en-US" altLang="zh-TW" sz="2800" i="1" dirty="0">
                <a:solidFill>
                  <a:srgbClr val="0000FF"/>
                </a:solidFill>
              </a:rPr>
              <a:t>cosine similarity</a:t>
            </a:r>
            <a:r>
              <a:rPr lang="en-US" altLang="zh-TW" sz="2800" dirty="0"/>
              <a:t> of previous ratings each movie received. (sorted in descending order of ‘item’ similarity score)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altLang="zh-TW" sz="28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TW" sz="2800" dirty="0"/>
              <a:t>[</a:t>
            </a:r>
            <a:r>
              <a:rPr lang="en-US" altLang="zh-TW" sz="2800" dirty="0">
                <a:solidFill>
                  <a:srgbClr val="0000FF"/>
                </a:solidFill>
              </a:rPr>
              <a:t>optional</a:t>
            </a:r>
            <a:r>
              <a:rPr lang="en-US" altLang="zh-TW" sz="2800" dirty="0"/>
              <a:t>] (</a:t>
            </a:r>
            <a:r>
              <a:rPr lang="en-US" altLang="zh-TW" sz="2800" b="1" dirty="0"/>
              <a:t>30pt</a:t>
            </a:r>
            <a:r>
              <a:rPr lang="en-US" altLang="zh-TW" sz="2800" dirty="0"/>
              <a:t>) (6) Please implement a recommender system that recommends top-k similar movies for a given user based on </a:t>
            </a:r>
            <a:r>
              <a:rPr lang="en-US" altLang="zh-TW" sz="2800" dirty="0">
                <a:solidFill>
                  <a:srgbClr val="0000FF"/>
                </a:solidFill>
              </a:rPr>
              <a:t>collaborative filtering</a:t>
            </a:r>
            <a:r>
              <a:rPr lang="en-US" altLang="zh-TW" sz="2800" dirty="0"/>
              <a:t>: item-based, and user-based. (sorted in descending order of similarity score)</a:t>
            </a:r>
            <a:br>
              <a:rPr lang="en-US" altLang="zh-TW" sz="2800" dirty="0"/>
            </a:br>
            <a:r>
              <a:rPr lang="en-US" altLang="zh-TW" sz="2800" dirty="0"/>
              <a:t>(a) For item-based collaborative filtering: estimated by similar items</a:t>
            </a:r>
            <a:br>
              <a:rPr lang="en-US" altLang="zh-TW" sz="2800" dirty="0"/>
            </a:br>
            <a:r>
              <a:rPr lang="en-US" altLang="zh-TW" sz="2800" dirty="0"/>
              <a:t>(b) For user-based collaborative filtering: estimated by similar users</a:t>
            </a:r>
          </a:p>
          <a:p>
            <a:pPr lvl="1"/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DC7C877-FC9A-41DC-BCD6-BDA2618CC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Big Data Mining &amp; Applications, Fall 2025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E7F33DA-8E8B-448A-A7BC-96C1736A0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NTUT CSIE, IEECS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D4FA04A-E104-47B5-BB5B-678ECFAF9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4DE800-8213-4A07-A533-DB992F026A04}" type="slidenum">
              <a:rPr lang="en-US" altLang="zh-TW" smtClean="0"/>
              <a:pPr>
                <a:defRPr/>
              </a:pPr>
              <a:t>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07717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746C2F-8723-49DF-82AB-E3434EC52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dirty="0"/>
              <a:t>Output Format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1444E7-96DC-4F54-A93A-4A138D47E5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1"/>
            <a:r>
              <a:rPr lang="en-US" altLang="zh-TW" dirty="0"/>
              <a:t>(1) a list of &lt;movie, score&gt; pairs</a:t>
            </a:r>
          </a:p>
          <a:p>
            <a:pPr lvl="2"/>
            <a:r>
              <a:rPr lang="en-US" altLang="zh-TW" dirty="0"/>
              <a:t>sorted in descending order of ‘average’ rating score</a:t>
            </a:r>
          </a:p>
          <a:p>
            <a:pPr lvl="1"/>
            <a:r>
              <a:rPr lang="en-US" altLang="zh-TW" dirty="0"/>
              <a:t>(2) 3 sorted lists: &lt;movie, gender, score&gt; pairs, &lt;movie, age group, score&gt; pairs, &lt;movie, occupation, score&gt;</a:t>
            </a:r>
          </a:p>
          <a:p>
            <a:pPr lvl="2"/>
            <a:r>
              <a:rPr lang="en-US" altLang="zh-TW" dirty="0"/>
              <a:t>sorted in descending order of ‘average’ rating score grouped by gender, by age group, and by occupation </a:t>
            </a:r>
          </a:p>
          <a:p>
            <a:pPr lvl="1"/>
            <a:r>
              <a:rPr lang="en-US" altLang="zh-TW" dirty="0"/>
              <a:t>(3) two sorted lists: &lt;user, score&gt; pairs, &lt;user, genre, score&gt; pairs</a:t>
            </a:r>
          </a:p>
          <a:p>
            <a:pPr lvl="2"/>
            <a:r>
              <a:rPr lang="en-US" altLang="zh-TW" dirty="0"/>
              <a:t>sorted in descending order of ‘average’ rating score of each user for all movies, and by genre</a:t>
            </a:r>
          </a:p>
          <a:p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3A0601E-CE50-4B0A-9A40-5A54AF483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Big Data Mining &amp; Applications, Fall 2025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D058222-BA96-4ACF-BEEE-F5D515F87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NTUT CSIE, IEECS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9F078F0-5517-4531-BBD4-C4CBA64C8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4DE800-8213-4A07-A533-DB992F026A04}" type="slidenum">
              <a:rPr lang="en-US" altLang="zh-TW" smtClean="0"/>
              <a:pPr>
                <a:defRPr/>
              </a:pPr>
              <a:t>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57724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9CC43B-BD24-4415-9F66-15A0FF9F2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09E377-2C27-4BAA-AACB-7607C661D7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zh-TW" dirty="0"/>
              <a:t>(4) a list of &lt;user, score&gt; pairs</a:t>
            </a:r>
          </a:p>
          <a:p>
            <a:pPr lvl="2"/>
            <a:r>
              <a:rPr lang="en-US" altLang="zh-TW" dirty="0"/>
              <a:t>sorted in descending order of ‘user’ similarity score</a:t>
            </a:r>
          </a:p>
          <a:p>
            <a:pPr lvl="1"/>
            <a:r>
              <a:rPr lang="en-US" altLang="zh-TW" dirty="0"/>
              <a:t>(5) a list of &lt;movie, score&gt; pairs</a:t>
            </a:r>
          </a:p>
          <a:p>
            <a:pPr lvl="2"/>
            <a:r>
              <a:rPr lang="en-US" altLang="zh-TW" dirty="0"/>
              <a:t>sorted in descending order of ‘movie’ similarity score</a:t>
            </a:r>
          </a:p>
          <a:p>
            <a:pPr lvl="1"/>
            <a:r>
              <a:rPr lang="en-US" altLang="zh-TW" dirty="0"/>
              <a:t>(6) two lists of &lt;movie, score&gt; pairs: item-based, user-based</a:t>
            </a:r>
          </a:p>
          <a:p>
            <a:pPr lvl="2"/>
            <a:r>
              <a:rPr lang="en-US" altLang="zh-TW" dirty="0"/>
              <a:t>sorted in descending order of similarity score</a:t>
            </a:r>
          </a:p>
          <a:p>
            <a:pPr lvl="1"/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990A00E-BBCB-4326-88A5-CDBB228F6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Big Data Mining &amp; Applications, Fall 2025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B172079-F091-449C-A56F-23CE563BA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NTUT CSIE, IEECS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E48BF32-2AAE-4AF4-A30F-FD8A2C41A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4DE800-8213-4A07-A533-DB992F026A04}" type="slidenum">
              <a:rPr lang="en-US" altLang="zh-TW" smtClean="0"/>
              <a:pPr>
                <a:defRPr/>
              </a:pPr>
              <a:t>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35505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Big Data Mining &amp; Applications, Fall 2025</a:t>
            </a:r>
          </a:p>
        </p:txBody>
      </p:sp>
      <p:sp>
        <p:nvSpPr>
          <p:cNvPr id="819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CSIE, IEECS</a:t>
            </a:r>
          </a:p>
        </p:txBody>
      </p:sp>
      <p:sp>
        <p:nvSpPr>
          <p:cNvPr id="819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C20E760-CBD5-41B8-8FD9-CD65E9906FAB}" type="slidenum">
              <a:rPr kumimoji="0" lang="en-US" altLang="zh-TW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TW" sz="3200"/>
              <a:t>Optional Functions</a:t>
            </a:r>
          </a:p>
        </p:txBody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17638"/>
            <a:ext cx="8229600" cy="4708525"/>
          </a:xfrm>
        </p:spPr>
        <p:txBody>
          <a:bodyPr/>
          <a:lstStyle/>
          <a:p>
            <a:r>
              <a:rPr lang="en-US" altLang="zh-TW" sz="2000"/>
              <a:t>Different similarity functions</a:t>
            </a:r>
          </a:p>
          <a:p>
            <a:pPr lvl="1"/>
            <a:r>
              <a:rPr lang="en-US" altLang="zh-TW" sz="2000"/>
              <a:t>Users: by user/age group/occupation, by ratings</a:t>
            </a:r>
          </a:p>
          <a:p>
            <a:pPr lvl="1"/>
            <a:r>
              <a:rPr lang="en-US" altLang="zh-TW" sz="2000"/>
              <a:t>Movies: by genre, by ratings</a:t>
            </a:r>
          </a:p>
          <a:p>
            <a:pPr lvl="1"/>
            <a:endParaRPr lang="en-US" altLang="zh-TW" sz="2000"/>
          </a:p>
          <a:p>
            <a:r>
              <a:rPr lang="en-US" altLang="zh-TW" sz="2000"/>
              <a:t>Different datasets</a:t>
            </a:r>
          </a:p>
          <a:p>
            <a:pPr lvl="1"/>
            <a:r>
              <a:rPr lang="en-US" altLang="zh-TW" sz="2000"/>
              <a:t>MovieLens: 100K, 1M, 10M, 20M, 25M, 1B</a:t>
            </a:r>
          </a:p>
          <a:p>
            <a:pPr lvl="1"/>
            <a:r>
              <a:rPr lang="en-US" altLang="zh-TW" sz="2000"/>
              <a:t>More features: tags</a:t>
            </a:r>
          </a:p>
          <a:p>
            <a:pPr lvl="1"/>
            <a:endParaRPr lang="en-US" altLang="zh-TW" sz="2000"/>
          </a:p>
          <a:p>
            <a:r>
              <a:rPr lang="en-US" altLang="zh-TW" sz="2000"/>
              <a:t>Using external resources</a:t>
            </a:r>
          </a:p>
          <a:p>
            <a:pPr lvl="1"/>
            <a:r>
              <a:rPr lang="en-US" altLang="zh-TW" sz="2000"/>
              <a:t>IMDB information</a:t>
            </a:r>
          </a:p>
          <a:p>
            <a:pPr lvl="1"/>
            <a:endParaRPr lang="zh-TW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313570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 sz="3200"/>
              <a:t>Homework Submission</a:t>
            </a:r>
            <a:endParaRPr lang="zh-TW" altLang="en-US" sz="3200"/>
          </a:p>
        </p:txBody>
      </p:sp>
      <p:sp>
        <p:nvSpPr>
          <p:cNvPr id="9219" name="內容版面配置區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54561"/>
          </a:xfrm>
        </p:spPr>
        <p:txBody>
          <a:bodyPr>
            <a:noAutofit/>
          </a:bodyPr>
          <a:lstStyle/>
          <a:p>
            <a:r>
              <a:rPr lang="en-US" altLang="zh-TW" sz="2400" dirty="0"/>
              <a:t>For implementation projects, please submit a compressed file containing: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TW" sz="1600" dirty="0"/>
              <a:t>A document showing your environment setup</a:t>
            </a:r>
          </a:p>
          <a:p>
            <a:pPr lvl="2"/>
            <a:r>
              <a:rPr lang="en-US" altLang="zh-TW" sz="1600" dirty="0"/>
              <a:t>PCs/VMs, platform spec, CPU cores, memory size, …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TW" sz="1600" dirty="0"/>
              <a:t>Your </a:t>
            </a:r>
            <a:r>
              <a:rPr lang="en-US" altLang="zh-TW" sz="1600" dirty="0">
                <a:solidFill>
                  <a:srgbClr val="FF0000"/>
                </a:solidFill>
              </a:rPr>
              <a:t>source codes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TW" sz="1600" dirty="0">
                <a:solidFill>
                  <a:srgbClr val="FF0000"/>
                </a:solidFill>
              </a:rPr>
              <a:t>The generated output</a:t>
            </a:r>
            <a:r>
              <a:rPr lang="en-US" altLang="zh-TW" sz="1600" dirty="0"/>
              <a:t> (or snapshots)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TW" sz="1600" dirty="0">
                <a:solidFill>
                  <a:srgbClr val="FF0000"/>
                </a:solidFill>
              </a:rPr>
              <a:t>Documentation</a:t>
            </a:r>
            <a:r>
              <a:rPr lang="en-US" altLang="zh-TW" sz="1600" dirty="0"/>
              <a:t> on how to compile, install, or configure the environment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TW" sz="1600" dirty="0"/>
              <a:t>Remember to specify </a:t>
            </a:r>
            <a:r>
              <a:rPr lang="en-US" altLang="zh-TW" sz="1600" b="1" dirty="0">
                <a:solidFill>
                  <a:srgbClr val="0000FF"/>
                </a:solidFill>
              </a:rPr>
              <a:t>your name, student ID and your department </a:t>
            </a:r>
            <a:r>
              <a:rPr lang="en-US" altLang="zh-TW" sz="1600" dirty="0"/>
              <a:t>in the documentation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TW" sz="1600" dirty="0">
                <a:solidFill>
                  <a:srgbClr val="FF0000"/>
                </a:solidFill>
              </a:rPr>
              <a:t>Team members list</a:t>
            </a:r>
            <a:r>
              <a:rPr lang="en-US" altLang="zh-TW" sz="1600" dirty="0"/>
              <a:t>: The names and the responsible parts of each individual member *should* be clearly identified.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altLang="zh-TW" sz="2000" dirty="0"/>
          </a:p>
          <a:p>
            <a:r>
              <a:rPr lang="en-US" altLang="zh-TW" sz="2400" dirty="0"/>
              <a:t>Due: 2weeks (</a:t>
            </a:r>
            <a:r>
              <a:rPr lang="en-US" altLang="zh-TW" sz="2400" dirty="0">
                <a:solidFill>
                  <a:srgbClr val="FF0000"/>
                </a:solidFill>
              </a:rPr>
              <a:t>Dec. 15, 2025</a:t>
            </a:r>
            <a:r>
              <a:rPr lang="en-US" altLang="zh-TW" sz="2400" dirty="0"/>
              <a:t>)</a:t>
            </a:r>
          </a:p>
        </p:txBody>
      </p:sp>
      <p:sp>
        <p:nvSpPr>
          <p:cNvPr id="1024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Big Data Mining &amp; Applications, Fall 2025</a:t>
            </a:r>
          </a:p>
        </p:txBody>
      </p:sp>
      <p:sp>
        <p:nvSpPr>
          <p:cNvPr id="1024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CSIE, IEECS</a:t>
            </a:r>
          </a:p>
        </p:txBody>
      </p:sp>
      <p:sp>
        <p:nvSpPr>
          <p:cNvPr id="1024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FAB2E62-CEB5-4611-97B7-167E2BCF41D9}" type="slidenum">
              <a:rPr kumimoji="0" lang="en-US" altLang="zh-TW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94437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 sz="3200"/>
              <a:t>Homework Submission Site</a:t>
            </a:r>
            <a:endParaRPr lang="zh-TW" altLang="en-US" sz="3200"/>
          </a:p>
        </p:txBody>
      </p:sp>
      <p:sp>
        <p:nvSpPr>
          <p:cNvPr id="9219" name="內容版面配置區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54561"/>
          </a:xfrm>
        </p:spPr>
        <p:txBody>
          <a:bodyPr>
            <a:noAutofit/>
          </a:bodyPr>
          <a:lstStyle/>
          <a:p>
            <a:r>
              <a:rPr lang="en-US" altLang="zh-TW" sz="2400"/>
              <a:t>Programs or projects in electronic files must be submitted directly to the TA online at </a:t>
            </a:r>
            <a:r>
              <a:rPr lang="en-US" altLang="zh-TW" sz="2400">
                <a:solidFill>
                  <a:srgbClr val="0000FF"/>
                </a:solidFill>
              </a:rPr>
              <a:t>iSchool+</a:t>
            </a:r>
            <a:r>
              <a:rPr lang="en-US" altLang="zh-TW" sz="2400"/>
              <a:t>  </a:t>
            </a:r>
          </a:p>
          <a:p>
            <a:r>
              <a:rPr lang="en-US" altLang="zh-TW" sz="2400"/>
              <a:t>If you cannot successfully submit your work, please contact with the TA or the instructor</a:t>
            </a:r>
          </a:p>
          <a:p>
            <a:endParaRPr lang="en-US" altLang="zh-TW" sz="2000"/>
          </a:p>
        </p:txBody>
      </p:sp>
      <p:sp>
        <p:nvSpPr>
          <p:cNvPr id="1024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Big Data Mining &amp; Applications, Fall 2025</a:t>
            </a:r>
          </a:p>
        </p:txBody>
      </p:sp>
      <p:sp>
        <p:nvSpPr>
          <p:cNvPr id="1024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CSIE, IEECS</a:t>
            </a:r>
          </a:p>
        </p:txBody>
      </p:sp>
      <p:sp>
        <p:nvSpPr>
          <p:cNvPr id="1024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FAB2E62-CEB5-4611-97B7-167E2BCF41D9}" type="slidenum">
              <a:rPr kumimoji="0" lang="en-US" altLang="zh-TW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87699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 sz="3200"/>
              <a:t>Evaluation of Results</a:t>
            </a:r>
            <a:endParaRPr lang="zh-TW" altLang="en-US" sz="3200"/>
          </a:p>
        </p:txBody>
      </p:sp>
      <p:sp>
        <p:nvSpPr>
          <p:cNvPr id="9219" name="內容版面配置區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54561"/>
          </a:xfrm>
        </p:spPr>
        <p:txBody>
          <a:bodyPr>
            <a:noAutofit/>
          </a:bodyPr>
          <a:lstStyle/>
          <a:p>
            <a:pPr marL="400050"/>
            <a:r>
              <a:rPr lang="en-US" altLang="zh-TW" sz="2000">
                <a:solidFill>
                  <a:srgbClr val="0000FF"/>
                </a:solidFill>
              </a:rPr>
              <a:t>Correctness</a:t>
            </a:r>
            <a:r>
              <a:rPr lang="en-US" altLang="zh-TW" sz="2000"/>
              <a:t> of Output </a:t>
            </a:r>
          </a:p>
          <a:p>
            <a:pPr marL="400050"/>
            <a:endParaRPr lang="en-US" altLang="zh-TW" sz="2000"/>
          </a:p>
          <a:p>
            <a:pPr marL="400050"/>
            <a:r>
              <a:rPr lang="en-US" altLang="zh-TW" sz="2000">
                <a:solidFill>
                  <a:srgbClr val="FF0000"/>
                </a:solidFill>
              </a:rPr>
              <a:t>Efficiency </a:t>
            </a:r>
            <a:r>
              <a:rPr lang="en-US" altLang="zh-TW" sz="2000"/>
              <a:t>in processing</a:t>
            </a:r>
            <a:r>
              <a:rPr lang="en-US" altLang="zh-TW" sz="2000">
                <a:solidFill>
                  <a:srgbClr val="FF0000"/>
                </a:solidFill>
              </a:rPr>
              <a:t> </a:t>
            </a:r>
            <a:r>
              <a:rPr lang="en-US" altLang="zh-TW" sz="2000"/>
              <a:t>(Please output / screenshot your processing time)</a:t>
            </a:r>
          </a:p>
          <a:p>
            <a:pPr marL="400050"/>
            <a:endParaRPr lang="en-US" altLang="zh-TW" sz="2000"/>
          </a:p>
          <a:p>
            <a:pPr marL="400050"/>
            <a:r>
              <a:rPr lang="en-US" altLang="zh-TW" sz="2000"/>
              <a:t>In completion of each of the subtasks, you get part of the scores</a:t>
            </a:r>
          </a:p>
          <a:p>
            <a:pPr marL="400050"/>
            <a:endParaRPr lang="en-US" altLang="zh-TW" sz="2000"/>
          </a:p>
          <a:p>
            <a:pPr marL="400050"/>
            <a:r>
              <a:rPr lang="en-US" altLang="zh-TW" sz="2000"/>
              <a:t>You get extra credits for optional functions</a:t>
            </a:r>
          </a:p>
          <a:p>
            <a:endParaRPr lang="en-US" altLang="zh-TW" sz="2000"/>
          </a:p>
          <a:p>
            <a:r>
              <a:rPr lang="en-US" altLang="zh-TW" sz="2000"/>
              <a:t>You might need to demo if your program was unable to run</a:t>
            </a:r>
          </a:p>
          <a:p>
            <a:endParaRPr lang="zh-TW" altLang="en-US" sz="2000"/>
          </a:p>
        </p:txBody>
      </p:sp>
      <p:sp>
        <p:nvSpPr>
          <p:cNvPr id="1024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Big Data Mining &amp; Applications, Fall 2025</a:t>
            </a:r>
          </a:p>
        </p:txBody>
      </p:sp>
      <p:sp>
        <p:nvSpPr>
          <p:cNvPr id="1024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CSIE, IEECS</a:t>
            </a:r>
          </a:p>
        </p:txBody>
      </p:sp>
      <p:sp>
        <p:nvSpPr>
          <p:cNvPr id="1024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FAB2E62-CEB5-4611-97B7-167E2BCF41D9}" type="slidenum">
              <a:rPr kumimoji="0" lang="en-US" altLang="zh-TW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28448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 sz="3200"/>
              <a:t>References</a:t>
            </a:r>
            <a:endParaRPr lang="zh-TW" altLang="en-US" sz="3200"/>
          </a:p>
        </p:txBody>
      </p:sp>
      <p:sp>
        <p:nvSpPr>
          <p:cNvPr id="9219" name="內容版面配置區 2"/>
          <p:cNvSpPr>
            <a:spLocks noGrp="1"/>
          </p:cNvSpPr>
          <p:nvPr>
            <p:ph idx="1"/>
          </p:nvPr>
        </p:nvSpPr>
        <p:spPr>
          <a:xfrm>
            <a:off x="457200" y="1194816"/>
            <a:ext cx="8229600" cy="4977383"/>
          </a:xfrm>
        </p:spPr>
        <p:txBody>
          <a:bodyPr>
            <a:noAutofit/>
          </a:bodyPr>
          <a:lstStyle/>
          <a:p>
            <a:r>
              <a:rPr lang="en-US" altLang="zh-TW" sz="2000"/>
              <a:t>Related Paper on the dataset: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TW" sz="2000"/>
              <a:t>F. Maxwell Harper and Joseph A. Konstan. 2015. The MovieLens Datasets: History and Context. </a:t>
            </a:r>
            <a:r>
              <a:rPr lang="en-US" altLang="zh-TW" sz="2000" i="1"/>
              <a:t>ACM Trans. Interact. Intell. Syst.</a:t>
            </a:r>
            <a:r>
              <a:rPr lang="en-US" altLang="zh-TW" sz="2000"/>
              <a:t> 5, 4: 19:1–19:19. </a:t>
            </a:r>
            <a:r>
              <a:rPr lang="en-US" altLang="zh-TW" sz="2000">
                <a:hlinkClick r:id="rId2"/>
              </a:rPr>
              <a:t>https://doi.org/10.1145/2827872</a:t>
            </a:r>
            <a:endParaRPr lang="en-US" altLang="zh-TW" sz="2000"/>
          </a:p>
          <a:p>
            <a:endParaRPr lang="en-US" altLang="zh-TW" sz="2000" b="1"/>
          </a:p>
          <a:p>
            <a:r>
              <a:rPr lang="en-US" altLang="zh-TW" sz="2000" b="1"/>
              <a:t>Source:</a:t>
            </a:r>
            <a:r>
              <a:rPr lang="en-US" altLang="zh-TW" sz="2000"/>
              <a:t> </a:t>
            </a:r>
            <a:r>
              <a:rPr lang="en-US" altLang="zh-TW" sz="2000">
                <a:hlinkClick r:id="rId3"/>
              </a:rPr>
              <a:t>https://grouplens.org/datasets/movielens/</a:t>
            </a:r>
            <a:r>
              <a:rPr lang="en-US" altLang="zh-TW" sz="2000"/>
              <a:t> </a:t>
            </a:r>
            <a:endParaRPr lang="en-US" altLang="zh-TW" sz="2000" dirty="0"/>
          </a:p>
        </p:txBody>
      </p:sp>
      <p:sp>
        <p:nvSpPr>
          <p:cNvPr id="1024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Big Data Mining &amp; Applications, Fall 2025</a:t>
            </a:r>
          </a:p>
        </p:txBody>
      </p:sp>
      <p:sp>
        <p:nvSpPr>
          <p:cNvPr id="1024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CSIE, IEECS</a:t>
            </a:r>
          </a:p>
        </p:txBody>
      </p:sp>
      <p:sp>
        <p:nvSpPr>
          <p:cNvPr id="1024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FAB2E62-CEB5-4611-97B7-167E2BCF41D9}" type="slidenum">
              <a:rPr kumimoji="0" lang="en-US" altLang="zh-TW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97118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Big Data Mining &amp; Applications, Fall 2025</a:t>
            </a:r>
          </a:p>
        </p:txBody>
      </p:sp>
      <p:sp>
        <p:nvSpPr>
          <p:cNvPr id="3891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CSIE, IEECS</a:t>
            </a:r>
          </a:p>
        </p:txBody>
      </p:sp>
      <p:sp>
        <p:nvSpPr>
          <p:cNvPr id="3891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68B3B14-7943-4F32-9328-A4C4078DFDF0}" type="slidenum">
              <a:rPr kumimoji="0" lang="en-US" altLang="zh-TW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  <p:sp>
        <p:nvSpPr>
          <p:cNvPr id="389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TW" sz="3200"/>
              <a:t>Questions or Comments?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Book Antiqua"/>
        <a:ea typeface="新細明體"/>
        <a:cs typeface=""/>
      </a:majorFont>
      <a:minorFont>
        <a:latin typeface="Book Antiqua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CD7C3B1DE9EC174B8BA3B585D24F6191" ma:contentTypeVersion="9" ma:contentTypeDescription="建立新的文件。" ma:contentTypeScope="" ma:versionID="fc8995282d5575718c8545977d9a162e">
  <xsd:schema xmlns:xsd="http://www.w3.org/2001/XMLSchema" xmlns:xs="http://www.w3.org/2001/XMLSchema" xmlns:p="http://schemas.microsoft.com/office/2006/metadata/properties" xmlns:ns2="87d63e5e-dbb1-48d6-b55e-f31be5250adf" xmlns:ns3="5ec4d5cc-f3e4-4cb6-9660-c3ee0f8ba627" targetNamespace="http://schemas.microsoft.com/office/2006/metadata/properties" ma:root="true" ma:fieldsID="d106560f30a6cbf1f3ea6f6476f43159" ns2:_="" ns3:_="">
    <xsd:import namespace="87d63e5e-dbb1-48d6-b55e-f31be5250adf"/>
    <xsd:import namespace="5ec4d5cc-f3e4-4cb6-9660-c3ee0f8ba62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d63e5e-dbb1-48d6-b55e-f31be5250a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c4d5cc-f3e4-4cb6-9660-c3ee0f8ba627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56FD376-3A59-466C-9035-95669A142593}">
  <ds:schemaRefs>
    <ds:schemaRef ds:uri="5ec4d5cc-f3e4-4cb6-9660-c3ee0f8ba627"/>
    <ds:schemaRef ds:uri="87d63e5e-dbb1-48d6-b55e-f31be5250ad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6A1B13E3-E4E8-4EF1-807D-F507603EC49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D3C8F21-5442-4811-AD37-E39D2F83CAEB}">
  <ds:schemaRefs>
    <ds:schemaRef ds:uri="5ec4d5cc-f3e4-4cb6-9660-c3ee0f8ba627"/>
    <ds:schemaRef ds:uri="87d63e5e-dbb1-48d6-b55e-f31be5250ad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197</TotalTime>
  <Words>1066</Words>
  <Application>Microsoft Office PowerPoint</Application>
  <PresentationFormat>如螢幕大小 (4:3)</PresentationFormat>
  <Paragraphs>130</Paragraphs>
  <Slides>13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6" baseType="lpstr">
      <vt:lpstr>Arial</vt:lpstr>
      <vt:lpstr>Book Antiqua</vt:lpstr>
      <vt:lpstr>預設簡報設計</vt:lpstr>
      <vt:lpstr>Big Data Mining: HW#4 </vt:lpstr>
      <vt:lpstr>Programming Exercise: Recommender System</vt:lpstr>
      <vt:lpstr>Input Data</vt:lpstr>
      <vt:lpstr>Task Description</vt:lpstr>
      <vt:lpstr>PowerPoint 簡報</vt:lpstr>
      <vt:lpstr>Output Format</vt:lpstr>
      <vt:lpstr>PowerPoint 簡報</vt:lpstr>
      <vt:lpstr>Optional Functions</vt:lpstr>
      <vt:lpstr>Homework Submission</vt:lpstr>
      <vt:lpstr>Homework Submission Site</vt:lpstr>
      <vt:lpstr>Evaluation of Results</vt:lpstr>
      <vt:lpstr>References</vt:lpstr>
      <vt:lpstr>Questions or Comments?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jhwang</dc:creator>
  <cp:lastModifiedBy>Chris Wang</cp:lastModifiedBy>
  <cp:revision>36</cp:revision>
  <cp:lastPrinted>1601-01-01T00:00:00Z</cp:lastPrinted>
  <dcterms:created xsi:type="dcterms:W3CDTF">1601-01-01T00:00:00Z</dcterms:created>
  <dcterms:modified xsi:type="dcterms:W3CDTF">2025-11-28T10:59:30Z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ContentTypeId">
    <vt:lpwstr>0x010100CD7C3B1DE9EC174B8BA3B585D24F6191</vt:lpwstr>
  </property>
</Properties>
</file>