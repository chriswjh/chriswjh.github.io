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256" r:id="rId5"/>
    <p:sldId id="483" r:id="rId6"/>
    <p:sldId id="274" r:id="rId7"/>
    <p:sldId id="494" r:id="rId8"/>
    <p:sldId id="495" r:id="rId9"/>
    <p:sldId id="485" r:id="rId10"/>
    <p:sldId id="486" r:id="rId11"/>
    <p:sldId id="496" r:id="rId12"/>
    <p:sldId id="497" r:id="rId13"/>
    <p:sldId id="498" r:id="rId14"/>
    <p:sldId id="499" r:id="rId15"/>
    <p:sldId id="500" r:id="rId16"/>
    <p:sldId id="501" r:id="rId17"/>
    <p:sldId id="490" r:id="rId18"/>
    <p:sldId id="491" r:id="rId19"/>
    <p:sldId id="492" r:id="rId20"/>
    <p:sldId id="488" r:id="rId21"/>
    <p:sldId id="283" r:id="rId22"/>
  </p:sldIdLst>
  <p:sldSz cx="9144000" cy="6858000" type="screen4x3"/>
  <p:notesSz cx="6669088" cy="9928225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0000FF"/>
    <a:srgbClr val="66CCFF"/>
    <a:srgbClr val="CCFFFF"/>
    <a:srgbClr val="FF9900"/>
    <a:srgbClr val="66FF99"/>
    <a:srgbClr val="FFFFCC"/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7884CF-B05B-4704-A863-9A50F7E2476B}" v="24" dt="2023-10-26T06:40:46.449"/>
    <p1510:client id="{31C75E6F-2AD5-431D-9804-2600BC54A2D3}" v="7" dt="2023-10-19T07:46:51.529"/>
    <p1510:client id="{9839181E-A5FD-4084-92AF-7486788F5F8D}" v="2" dt="2023-10-25T13:26:37.1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140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盧永合" userId="S::111998413@cc.ntut.edu.tw::51dde39c-1691-458c-b840-9dbc3dd1ae57" providerId="AD" clId="Web-{31C75E6F-2AD5-431D-9804-2600BC54A2D3}"/>
    <pc:docChg chg="modSld">
      <pc:chgData name="盧永合" userId="S::111998413@cc.ntut.edu.tw::51dde39c-1691-458c-b840-9dbc3dd1ae57" providerId="AD" clId="Web-{31C75E6F-2AD5-431D-9804-2600BC54A2D3}" dt="2023-10-19T07:46:49.013" v="5" actId="20577"/>
      <pc:docMkLst>
        <pc:docMk/>
      </pc:docMkLst>
      <pc:sldChg chg="modSp">
        <pc:chgData name="盧永合" userId="S::111998413@cc.ntut.edu.tw::51dde39c-1691-458c-b840-9dbc3dd1ae57" providerId="AD" clId="Web-{31C75E6F-2AD5-431D-9804-2600BC54A2D3}" dt="2023-10-19T07:46:49.013" v="5" actId="20577"/>
        <pc:sldMkLst>
          <pc:docMk/>
          <pc:sldMk cId="633942577" sldId="485"/>
        </pc:sldMkLst>
        <pc:spChg chg="mod">
          <ac:chgData name="盧永合" userId="S::111998413@cc.ntut.edu.tw::51dde39c-1691-458c-b840-9dbc3dd1ae57" providerId="AD" clId="Web-{31C75E6F-2AD5-431D-9804-2600BC54A2D3}" dt="2023-10-19T07:46:49.013" v="5" actId="20577"/>
          <ac:spMkLst>
            <pc:docMk/>
            <pc:sldMk cId="633942577" sldId="485"/>
            <ac:spMk id="9219" creationId="{00000000-0000-0000-0000-000000000000}"/>
          </ac:spMkLst>
        </pc:spChg>
      </pc:sldChg>
    </pc:docChg>
  </pc:docChgLst>
  <pc:docChgLst>
    <pc:chgData name="盧永合" userId="S::111998413@cc.ntut.edu.tw::51dde39c-1691-458c-b840-9dbc3dd1ae57" providerId="AD" clId="Web-{2E7884CF-B05B-4704-A863-9A50F7E2476B}"/>
    <pc:docChg chg="modSld">
      <pc:chgData name="盧永合" userId="S::111998413@cc.ntut.edu.tw::51dde39c-1691-458c-b840-9dbc3dd1ae57" providerId="AD" clId="Web-{2E7884CF-B05B-4704-A863-9A50F7E2476B}" dt="2023-10-26T06:40:46.449" v="23" actId="20577"/>
      <pc:docMkLst>
        <pc:docMk/>
      </pc:docMkLst>
      <pc:sldChg chg="modSp">
        <pc:chgData name="盧永合" userId="S::111998413@cc.ntut.edu.tw::51dde39c-1691-458c-b840-9dbc3dd1ae57" providerId="AD" clId="Web-{2E7884CF-B05B-4704-A863-9A50F7E2476B}" dt="2023-10-26T06:39:57.415" v="16" actId="20577"/>
        <pc:sldMkLst>
          <pc:docMk/>
          <pc:sldMk cId="633942577" sldId="485"/>
        </pc:sldMkLst>
        <pc:spChg chg="mod">
          <ac:chgData name="盧永合" userId="S::111998413@cc.ntut.edu.tw::51dde39c-1691-458c-b840-9dbc3dd1ae57" providerId="AD" clId="Web-{2E7884CF-B05B-4704-A863-9A50F7E2476B}" dt="2023-10-26T06:39:57.415" v="16" actId="20577"/>
          <ac:spMkLst>
            <pc:docMk/>
            <pc:sldMk cId="633942577" sldId="485"/>
            <ac:spMk id="9219" creationId="{00000000-0000-0000-0000-000000000000}"/>
          </ac:spMkLst>
        </pc:spChg>
      </pc:sldChg>
      <pc:sldChg chg="modSp">
        <pc:chgData name="盧永合" userId="S::111998413@cc.ntut.edu.tw::51dde39c-1691-458c-b840-9dbc3dd1ae57" providerId="AD" clId="Web-{2E7884CF-B05B-4704-A863-9A50F7E2476B}" dt="2023-10-26T06:40:46.449" v="23" actId="20577"/>
        <pc:sldMkLst>
          <pc:docMk/>
          <pc:sldMk cId="3564677727" sldId="486"/>
        </pc:sldMkLst>
        <pc:spChg chg="mod">
          <ac:chgData name="盧永合" userId="S::111998413@cc.ntut.edu.tw::51dde39c-1691-458c-b840-9dbc3dd1ae57" providerId="AD" clId="Web-{2E7884CF-B05B-4704-A863-9A50F7E2476B}" dt="2023-10-26T06:40:46.449" v="23" actId="20577"/>
          <ac:spMkLst>
            <pc:docMk/>
            <pc:sldMk cId="3564677727" sldId="486"/>
            <ac:spMk id="9219" creationId="{00000000-0000-0000-0000-000000000000}"/>
          </ac:spMkLst>
        </pc:spChg>
      </pc:sldChg>
    </pc:docChg>
  </pc:docChgLst>
  <pc:docChgLst>
    <pc:chgData name="楊淨雯" userId="S::112598017@cc.ntut.edu.tw::7f2610d6-a863-4d1e-b960-0612953df963" providerId="AD" clId="Web-{9839181E-A5FD-4084-92AF-7486788F5F8D}"/>
    <pc:docChg chg="sldOrd">
      <pc:chgData name="楊淨雯" userId="S::112598017@cc.ntut.edu.tw::7f2610d6-a863-4d1e-b960-0612953df963" providerId="AD" clId="Web-{9839181E-A5FD-4084-92AF-7486788F5F8D}" dt="2023-10-25T13:26:37.169" v="1"/>
      <pc:docMkLst>
        <pc:docMk/>
      </pc:docMkLst>
      <pc:sldChg chg="ord">
        <pc:chgData name="楊淨雯" userId="S::112598017@cc.ntut.edu.tw::7f2610d6-a863-4d1e-b960-0612953df963" providerId="AD" clId="Web-{9839181E-A5FD-4084-92AF-7486788F5F8D}" dt="2023-10-25T13:26:37.169" v="1"/>
        <pc:sldMkLst>
          <pc:docMk/>
          <pc:sldMk cId="0" sldId="274"/>
        </pc:sldMkLst>
      </pc:sldChg>
      <pc:sldChg chg="ord">
        <pc:chgData name="楊淨雯" userId="S::112598017@cc.ntut.edu.tw::7f2610d6-a863-4d1e-b960-0612953df963" providerId="AD" clId="Web-{9839181E-A5FD-4084-92AF-7486788F5F8D}" dt="2023-10-25T13:16:57.796" v="0"/>
        <pc:sldMkLst>
          <pc:docMk/>
          <pc:sldMk cId="1113098904" sldId="489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78250" y="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31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31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78250" y="942975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C3757D5D-D1AF-4826-8377-32FD1A2255D1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78250" y="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52488" y="744538"/>
            <a:ext cx="4964112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66750" y="4716463"/>
            <a:ext cx="5335588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noProof="0"/>
              <a:t>按一下以編輯母片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975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78250" y="942975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1A0504BC-C9BE-43C6-B3F3-B0FBE0E426CE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693AA2B1-3269-44FF-BD7C-F603E9264FE8}" type="slidenum">
              <a:rPr lang="en-US" altLang="zh-TW" smtClean="0"/>
              <a:pPr>
                <a:spcBef>
                  <a:spcPct val="0"/>
                </a:spcBef>
              </a:pPr>
              <a:t>1</a:t>
            </a:fld>
            <a:endParaRPr lang="en-US" altLang="zh-TW"/>
          </a:p>
        </p:txBody>
      </p:sp>
      <p:sp>
        <p:nvSpPr>
          <p:cNvPr id="51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C8A9CC95-CBB4-4C50-9694-3C9EA672D978}" type="slidenum">
              <a:rPr lang="en-US" altLang="zh-TW" smtClean="0"/>
              <a:pPr>
                <a:spcBef>
                  <a:spcPct val="0"/>
                </a:spcBef>
              </a:pPr>
              <a:t>2</a:t>
            </a:fld>
            <a:endParaRPr lang="en-US" altLang="zh-TW"/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7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5D7C2B61-2071-4AA1-9B33-BCBE676BD67C}" type="slidenum">
              <a:rPr lang="en-US" altLang="zh-TW" smtClean="0"/>
              <a:pPr>
                <a:spcBef>
                  <a:spcPct val="0"/>
                </a:spcBef>
              </a:pPr>
              <a:t>3</a:t>
            </a:fld>
            <a:endParaRPr lang="en-US" altLang="zh-TW"/>
          </a:p>
        </p:txBody>
      </p:sp>
      <p:sp>
        <p:nvSpPr>
          <p:cNvPr id="92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5D7C2B61-2071-4AA1-9B33-BCBE676BD67C}" type="slidenum">
              <a:rPr lang="en-US" altLang="zh-TW" smtClean="0"/>
              <a:pPr>
                <a:spcBef>
                  <a:spcPct val="0"/>
                </a:spcBef>
              </a:pPr>
              <a:t>4</a:t>
            </a:fld>
            <a:endParaRPr lang="en-US" altLang="zh-TW"/>
          </a:p>
        </p:txBody>
      </p:sp>
      <p:sp>
        <p:nvSpPr>
          <p:cNvPr id="92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25009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5D7C2B61-2071-4AA1-9B33-BCBE676BD67C}" type="slidenum">
              <a:rPr lang="en-US" altLang="zh-TW" smtClean="0"/>
              <a:pPr>
                <a:spcBef>
                  <a:spcPct val="0"/>
                </a:spcBef>
              </a:pPr>
              <a:t>5</a:t>
            </a:fld>
            <a:endParaRPr lang="en-US" altLang="zh-TW"/>
          </a:p>
        </p:txBody>
      </p:sp>
      <p:sp>
        <p:nvSpPr>
          <p:cNvPr id="92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32059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82193802-E272-47D9-BB1A-96179C65B02A}" type="slidenum">
              <a:rPr lang="en-US" altLang="zh-TW" smtClean="0"/>
              <a:pPr>
                <a:spcBef>
                  <a:spcPct val="0"/>
                </a:spcBef>
              </a:pPr>
              <a:t>18</a:t>
            </a:fld>
            <a:endParaRPr lang="en-US" altLang="zh-TW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Mining &amp; Applications, Fall 2025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CSIE, IEECS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A8B602-FE1A-4325-AB4E-E45D20AEBD5B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92426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Mining &amp; Applications, Fall 2025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CSIE, IEECS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4DE800-8213-4A07-A533-DB992F026A04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137479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Mining &amp; Applications, Fall 2025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CSIE, IEECS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83BDD5E-29CF-48C8-8CCE-AA22C2EBC8E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728038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Mining &amp; Applications, Fall 2025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CSIE, IEECS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AD56E26-38B2-4E60-9C6F-AF594654B6BC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552069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Mining &amp; Applications, Fall 2025</a:t>
            </a: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CSIE, IEECS</a:t>
            </a:r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5DF3815-1422-4414-9BB2-7CA797B59604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53484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Mining &amp; Applications, Fall 2025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CSIE, IEECS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7B77F31-1B30-4841-9EFF-44DF596CEAAE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46107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Mining &amp; Applications, Fall 2025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CSIE, IEECS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7A8DDAE-9E19-4A6F-80BA-9447D4BE8F7C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12157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Mining &amp; Applications, Fall 2025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CSIE, IEECS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59778E7-7425-48B3-BBF7-5E34954176FE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51783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Mining &amp; Applications, Fall 2025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CSIE, IEECS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EB01F3A-20C2-4725-8B85-7808FE0CDEBE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582546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Mining &amp; Applications, Fall 2025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CSIE, IEECS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8C4DC80-E25C-4DAC-A170-7C0922B58CB0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123364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Mining &amp; Applications, Fall 2025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CSIE, IEECS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758B677-C5A2-4CEF-ACDD-18A132F84E31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960002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0" sz="1400" smtClean="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Big Data Mining &amp; Applications, Fall 2025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kumimoji="0" sz="14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NTUT CSIE, IEECS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0" sz="1400"/>
            </a:lvl1pPr>
          </a:lstStyle>
          <a:p>
            <a:pPr>
              <a:defRPr/>
            </a:pPr>
            <a:fld id="{51453D9C-684C-4B70-BD56-7D2DE4F1B0C1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5pPr>
      <a:lvl6pPr marL="457200" algn="ctr" rtl="0" fontAlgn="base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6pPr>
      <a:lvl7pPr marL="914400" algn="ctr" rtl="0" fontAlgn="base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7pPr>
      <a:lvl8pPr marL="1371600" algn="ctr" rtl="0" fontAlgn="base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8pPr>
      <a:lvl9pPr marL="1828800" algn="ctr" rtl="0" fontAlgn="base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chive.ics.uci.edu/dataset/137/reuters+21578+text+categorization+collection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dl.acm.org/doi/10.5555/188490.188497" TargetMode="External"/><Relationship Id="rId2" Type="http://schemas.openxmlformats.org/officeDocument/2006/relationships/hyperlink" Target="https://dl.acm.org/doi/10.1145/183422.183423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l.acm.org/doi/10.5555/645450.653070" TargetMode="External"/><Relationship Id="rId4" Type="http://schemas.openxmlformats.org/officeDocument/2006/relationships/hyperlink" Target="https://ieeexplore.ieee.org/document/89206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09600" y="2130425"/>
            <a:ext cx="7924800" cy="1470025"/>
          </a:xfrm>
        </p:spPr>
        <p:txBody>
          <a:bodyPr/>
          <a:lstStyle/>
          <a:p>
            <a:pPr eaLnBrk="1" hangingPunct="1"/>
            <a:r>
              <a:rPr lang="en-US" altLang="zh-TW"/>
              <a:t>Big Data Mining: HW#3</a:t>
            </a:r>
            <a:br>
              <a:rPr lang="en-US" altLang="zh-TW" sz="4000"/>
            </a:br>
            <a:endParaRPr lang="en-US" altLang="zh-TW" sz="4000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en-US" altLang="zh-TW" dirty="0"/>
              <a:t>J. H. Wang</a:t>
            </a:r>
          </a:p>
          <a:p>
            <a:pPr eaLnBrk="1" hangingPunct="1"/>
            <a:r>
              <a:rPr lang="en-US" altLang="zh-TW" dirty="0"/>
              <a:t>Nov. 10,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Mining &amp; Applications, Fall 2025</a:t>
            </a:r>
          </a:p>
        </p:txBody>
      </p:sp>
      <p:sp>
        <p:nvSpPr>
          <p:cNvPr id="6147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CSIE, IEECS</a:t>
            </a:r>
          </a:p>
        </p:txBody>
      </p:sp>
      <p:sp>
        <p:nvSpPr>
          <p:cNvPr id="6148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041DF456-FC18-4E88-AD8D-D9F8360EA0BC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6149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457200"/>
            <a:ext cx="8229600" cy="1524000"/>
          </a:xfrm>
        </p:spPr>
        <p:txBody>
          <a:bodyPr/>
          <a:lstStyle/>
          <a:p>
            <a:pPr algn="l" eaLnBrk="1" hangingPunct="1"/>
            <a:r>
              <a:rPr lang="en-US" altLang="zh-TW" sz="3200" dirty="0"/>
              <a:t>Programming Exercise #3: Finding Similar Documents using LSH</a:t>
            </a:r>
          </a:p>
        </p:txBody>
      </p:sp>
      <p:sp>
        <p:nvSpPr>
          <p:cNvPr id="615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905000"/>
            <a:ext cx="8229600" cy="4114800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zh-TW" sz="2400" dirty="0"/>
              <a:t>Goal: To find similar documents using LSH</a:t>
            </a:r>
          </a:p>
          <a:p>
            <a:pPr eaLnBrk="1" hangingPunct="1">
              <a:lnSpc>
                <a:spcPct val="80000"/>
              </a:lnSpc>
            </a:pPr>
            <a:endParaRPr lang="en-US" altLang="zh-TW" sz="2000" dirty="0"/>
          </a:p>
          <a:p>
            <a:pPr lvl="1" indent="-342900" eaLnBrk="1" hangingPunct="1">
              <a:lnSpc>
                <a:spcPct val="80000"/>
              </a:lnSpc>
              <a:buFont typeface="Arial" panose="020B0604020202020204" pitchFamily="34" charset="0"/>
              <a:buChar char="•"/>
            </a:pPr>
            <a:r>
              <a:rPr lang="en-US" altLang="zh-TW" sz="2000" dirty="0"/>
              <a:t>Either MapReduce on </a:t>
            </a:r>
            <a:r>
              <a:rPr lang="en-US" altLang="zh-TW" sz="2000" dirty="0">
                <a:solidFill>
                  <a:srgbClr val="0000FF"/>
                </a:solidFill>
              </a:rPr>
              <a:t>multi-node</a:t>
            </a:r>
            <a:r>
              <a:rPr lang="en-US" altLang="zh-TW" sz="2000" dirty="0"/>
              <a:t> Spark (for CS students)</a:t>
            </a:r>
          </a:p>
          <a:p>
            <a:pPr lvl="1" indent="-342900" eaLnBrk="1" hangingPunct="1">
              <a:lnSpc>
                <a:spcPct val="80000"/>
              </a:lnSpc>
              <a:buFont typeface="Arial" panose="020B0604020202020204" pitchFamily="34" charset="0"/>
              <a:buChar char="•"/>
            </a:pPr>
            <a:r>
              <a:rPr lang="en-US" altLang="zh-TW" sz="2000" dirty="0"/>
              <a:t>or Python in </a:t>
            </a:r>
            <a:r>
              <a:rPr lang="en-US" altLang="zh-TW" sz="2000" dirty="0" err="1"/>
              <a:t>Jupyter</a:t>
            </a:r>
            <a:r>
              <a:rPr lang="en-US" altLang="zh-TW" sz="2000" dirty="0"/>
              <a:t> Notebook (for others)</a:t>
            </a:r>
          </a:p>
          <a:p>
            <a:pPr lvl="1" indent="-342900" eaLnBrk="1" hangingPunct="1">
              <a:lnSpc>
                <a:spcPct val="80000"/>
              </a:lnSpc>
            </a:pPr>
            <a:endParaRPr lang="en-US" altLang="zh-TW" sz="2000" dirty="0"/>
          </a:p>
          <a:p>
            <a:pPr eaLnBrk="1" hangingPunct="1">
              <a:lnSpc>
                <a:spcPct val="80000"/>
              </a:lnSpc>
            </a:pPr>
            <a:r>
              <a:rPr lang="en-US" altLang="zh-TW" sz="2400" dirty="0"/>
              <a:t>Input: Text data represented as vectors (to be detailed later)</a:t>
            </a:r>
          </a:p>
          <a:p>
            <a:pPr eaLnBrk="1" hangingPunct="1">
              <a:lnSpc>
                <a:spcPct val="80000"/>
              </a:lnSpc>
            </a:pPr>
            <a:endParaRPr lang="en-US" altLang="zh-TW" sz="2400" dirty="0"/>
          </a:p>
          <a:p>
            <a:pPr eaLnBrk="1" hangingPunct="1">
              <a:lnSpc>
                <a:spcPct val="80000"/>
              </a:lnSpc>
            </a:pPr>
            <a:r>
              <a:rPr lang="en-US" altLang="zh-TW" sz="2400" dirty="0"/>
              <a:t>Output: Candidate pairs for similar documents (to be detailed later)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Mining &amp; Applications, Fall 2025</a:t>
            </a:r>
          </a:p>
        </p:txBody>
      </p:sp>
      <p:sp>
        <p:nvSpPr>
          <p:cNvPr id="819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CSIE, IEECS</a:t>
            </a:r>
          </a:p>
        </p:txBody>
      </p:sp>
      <p:sp>
        <p:nvSpPr>
          <p:cNvPr id="819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C20E760-CBD5-41B8-8FD9-CD65E9906FAB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3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81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l" eaLnBrk="1" hangingPunct="1"/>
            <a:r>
              <a:rPr lang="en-US" altLang="zh-TW" sz="3200"/>
              <a:t>Input Data</a:t>
            </a:r>
          </a:p>
        </p:txBody>
      </p:sp>
      <p:sp>
        <p:nvSpPr>
          <p:cNvPr id="819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417638"/>
            <a:ext cx="8229600" cy="4708525"/>
          </a:xfrm>
        </p:spPr>
        <p:txBody>
          <a:bodyPr/>
          <a:lstStyle/>
          <a:p>
            <a:r>
              <a:rPr lang="en-US" altLang="zh-TW" sz="2000" dirty="0"/>
              <a:t>Data: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800" dirty="0"/>
              <a:t>[</a:t>
            </a:r>
            <a:r>
              <a:rPr lang="en-US" altLang="zh-TW" sz="1800" b="1" dirty="0"/>
              <a:t>Reuters-21578 Text Categorization Collection Dataset</a:t>
            </a:r>
            <a:r>
              <a:rPr lang="en-US" altLang="zh-TW" sz="1800" dirty="0"/>
              <a:t>] from UCI Machine Learning Repository (7MB compressed in size)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800" dirty="0"/>
              <a:t>It contains 21,578 news articles from Reuters in 1987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800" dirty="0"/>
              <a:t>Available at:</a:t>
            </a:r>
            <a:r>
              <a:rPr lang="zh-TW" altLang="en-US" sz="1800" dirty="0"/>
              <a:t> </a:t>
            </a:r>
            <a:r>
              <a:rPr lang="en-SG" altLang="zh-TW" sz="1800" dirty="0">
                <a:hlinkClick r:id="rId3"/>
              </a:rPr>
              <a:t>https://archive.ics.uci.edu/dataset/137/reuters+21578+text+categorization+collection</a:t>
            </a:r>
            <a:endParaRPr lang="en-SG" altLang="zh-TW" sz="1800" dirty="0"/>
          </a:p>
          <a:p>
            <a:pPr lvl="1"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2000" dirty="0"/>
              <a:t>Format: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800" dirty="0"/>
              <a:t>News: 21 SGML files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zh-TW" sz="1400" dirty="0"/>
              <a:t>We only deal with news </a:t>
            </a:r>
            <a:r>
              <a:rPr lang="en-US" altLang="zh-TW" sz="1400" dirty="0">
                <a:solidFill>
                  <a:srgbClr val="FF0000"/>
                </a:solidFill>
              </a:rPr>
              <a:t>contents</a:t>
            </a:r>
            <a:r>
              <a:rPr lang="en-US" altLang="zh-TW" sz="1400" dirty="0"/>
              <a:t> inside &lt;body&gt; &lt;/body&gt; tags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800" dirty="0"/>
              <a:t>The other files will not be needed in this homework</a:t>
            </a:r>
            <a:endParaRPr lang="zh-TW" alt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Mining &amp; Applications, Fall 2025</a:t>
            </a:r>
          </a:p>
        </p:txBody>
      </p:sp>
      <p:sp>
        <p:nvSpPr>
          <p:cNvPr id="819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CSIE, IEECS</a:t>
            </a:r>
          </a:p>
        </p:txBody>
      </p:sp>
      <p:sp>
        <p:nvSpPr>
          <p:cNvPr id="819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C20E760-CBD5-41B8-8FD9-CD65E9906FAB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4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81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l" eaLnBrk="1" hangingPunct="1"/>
            <a:r>
              <a:rPr lang="en-US" sz="3200"/>
              <a:t>3 Essential Steps for Similar Docs</a:t>
            </a:r>
            <a:endParaRPr lang="en-US" altLang="zh-TW" sz="3200"/>
          </a:p>
        </p:txBody>
      </p:sp>
      <p:sp>
        <p:nvSpPr>
          <p:cNvPr id="819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417638"/>
            <a:ext cx="8229600" cy="4708525"/>
          </a:xfrm>
        </p:spPr>
        <p:txBody>
          <a:bodyPr/>
          <a:lstStyle/>
          <a:p>
            <a:pPr marL="514350" indent="-514350">
              <a:buClr>
                <a:srgbClr val="0000FF"/>
              </a:buClr>
              <a:buFont typeface="+mj-lt"/>
              <a:buAutoNum type="arabicPeriod"/>
            </a:pPr>
            <a:r>
              <a:rPr lang="en-US" sz="2000" b="1" i="1" dirty="0">
                <a:solidFill>
                  <a:srgbClr val="FF0066"/>
                </a:solidFill>
              </a:rPr>
              <a:t>Shingling:</a:t>
            </a:r>
            <a:r>
              <a:rPr lang="en-US" sz="2000" dirty="0"/>
              <a:t> Converts a document into a set representation (Boolean vector)</a:t>
            </a:r>
          </a:p>
          <a:p>
            <a:pPr marL="2401824" lvl="8" indent="-609600">
              <a:buClr>
                <a:srgbClr val="0000FF"/>
              </a:buClr>
              <a:buFont typeface="+mj-lt"/>
              <a:buAutoNum type="arabicPeriod"/>
            </a:pPr>
            <a:endParaRPr lang="en-US" dirty="0"/>
          </a:p>
          <a:p>
            <a:pPr marL="514350" indent="-514350">
              <a:buClr>
                <a:srgbClr val="0000FF"/>
              </a:buClr>
              <a:buFont typeface="+mj-lt"/>
              <a:buAutoNum type="arabicPeriod"/>
            </a:pPr>
            <a:r>
              <a:rPr lang="en-US" sz="2000" b="1" i="1" dirty="0">
                <a:solidFill>
                  <a:srgbClr val="FF0066"/>
                </a:solidFill>
              </a:rPr>
              <a:t>Min-Hashing:</a:t>
            </a:r>
            <a:r>
              <a:rPr lang="en-US" sz="2000" dirty="0"/>
              <a:t> Convert large sets to short signatures, while preserving similarity</a:t>
            </a:r>
          </a:p>
          <a:p>
            <a:pPr marL="2401824" lvl="8" indent="-609600">
              <a:buClr>
                <a:srgbClr val="0000FF"/>
              </a:buClr>
              <a:buFont typeface="+mj-lt"/>
              <a:buAutoNum type="arabicPeriod"/>
            </a:pPr>
            <a:endParaRPr lang="en-US" dirty="0"/>
          </a:p>
          <a:p>
            <a:pPr marL="609600" indent="-609600">
              <a:buClr>
                <a:srgbClr val="0000FF"/>
              </a:buClr>
              <a:buFont typeface="+mj-lt"/>
              <a:buAutoNum type="arabicPeriod"/>
            </a:pPr>
            <a:r>
              <a:rPr lang="en-US" sz="2000" b="1" i="1" dirty="0">
                <a:solidFill>
                  <a:srgbClr val="FF0066"/>
                </a:solidFill>
              </a:rPr>
              <a:t>Locality-Sensitive Hashing:</a:t>
            </a:r>
            <a:r>
              <a:rPr lang="en-US" sz="2000" dirty="0"/>
              <a:t> Focus on </a:t>
            </a:r>
            <a:br>
              <a:rPr lang="en-US" sz="2000" dirty="0"/>
            </a:br>
            <a:r>
              <a:rPr lang="en-US" sz="2000" dirty="0"/>
              <a:t>pairs of signatures likely to be from similar documents</a:t>
            </a:r>
            <a:br>
              <a:rPr lang="en-US" sz="2000" dirty="0"/>
            </a:br>
            <a:endParaRPr lang="en-US" sz="2000" dirty="0"/>
          </a:p>
          <a:p>
            <a:pPr marL="978408" lvl="2" indent="-285750">
              <a:buClr>
                <a:srgbClr val="0000FF"/>
              </a:buClr>
            </a:pPr>
            <a:r>
              <a:rPr lang="en-US" sz="1600" b="1" dirty="0">
                <a:solidFill>
                  <a:srgbClr val="0000FF"/>
                </a:solidFill>
              </a:rPr>
              <a:t>Candidate pairs!</a:t>
            </a:r>
          </a:p>
        </p:txBody>
      </p:sp>
    </p:spTree>
    <p:extLst>
      <p:ext uri="{BB962C8B-B14F-4D97-AF65-F5344CB8AC3E}">
        <p14:creationId xmlns:p14="http://schemas.microsoft.com/office/powerpoint/2010/main" val="2313570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Mining &amp; Applications, Fall 2025</a:t>
            </a:r>
          </a:p>
        </p:txBody>
      </p:sp>
      <p:sp>
        <p:nvSpPr>
          <p:cNvPr id="819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CSIE, IEECS</a:t>
            </a:r>
          </a:p>
        </p:txBody>
      </p:sp>
      <p:sp>
        <p:nvSpPr>
          <p:cNvPr id="819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C20E760-CBD5-41B8-8FD9-CD65E9906FAB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5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81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l" eaLnBrk="1" hangingPunct="1"/>
            <a:r>
              <a:rPr lang="en-US" sz="3200"/>
              <a:t>The Big Picture</a:t>
            </a:r>
            <a:endParaRPr lang="en-US" altLang="zh-TW" sz="3200"/>
          </a:p>
        </p:txBody>
      </p:sp>
      <p:sp>
        <p:nvSpPr>
          <p:cNvPr id="7" name="AutoShape 3">
            <a:extLst>
              <a:ext uri="{FF2B5EF4-FFF2-40B4-BE49-F238E27FC236}">
                <a16:creationId xmlns:a16="http://schemas.microsoft.com/office/drawing/2014/main" id="{89743BA0-99DC-4D0F-8DA0-AD726A1C8E5B}"/>
              </a:ext>
            </a:extLst>
          </p:cNvPr>
          <p:cNvSpPr>
            <a:spLocks noChangeArrowheads="1"/>
          </p:cNvSpPr>
          <p:nvPr/>
        </p:nvSpPr>
        <p:spPr bwMode="auto">
          <a:xfrm rot="-5394873">
            <a:off x="1576317" y="2436090"/>
            <a:ext cx="1371600" cy="990600"/>
          </a:xfrm>
          <a:custGeom>
            <a:avLst/>
            <a:gdLst>
              <a:gd name="G0" fmla="+- 5400 0 0"/>
              <a:gd name="G1" fmla="+- 21600 0 5400"/>
              <a:gd name="G2" fmla="*/ 5400 1 2"/>
              <a:gd name="G3" fmla="+- 21600 0 G2"/>
              <a:gd name="G4" fmla="+/ 5400 21600 2"/>
              <a:gd name="G5" fmla="+/ G1 0 2"/>
              <a:gd name="G6" fmla="*/ 21600 21600 5400"/>
              <a:gd name="G7" fmla="*/ G6 1 2"/>
              <a:gd name="G8" fmla="+- 21600 0 G7"/>
              <a:gd name="G9" fmla="*/ 21600 1 2"/>
              <a:gd name="G10" fmla="+- 5400 0 G9"/>
              <a:gd name="G11" fmla="?: G10 G8 0"/>
              <a:gd name="G12" fmla="?: G10 G7 21600"/>
              <a:gd name="T0" fmla="*/ 18900 w 21600"/>
              <a:gd name="T1" fmla="*/ 10800 h 21600"/>
              <a:gd name="T2" fmla="*/ 10800 w 21600"/>
              <a:gd name="T3" fmla="*/ 21600 h 21600"/>
              <a:gd name="T4" fmla="*/ 2700 w 21600"/>
              <a:gd name="T5" fmla="*/ 10800 h 21600"/>
              <a:gd name="T6" fmla="*/ 10800 w 21600"/>
              <a:gd name="T7" fmla="*/ 0 h 21600"/>
              <a:gd name="T8" fmla="*/ 4500 w 21600"/>
              <a:gd name="T9" fmla="*/ 4500 h 21600"/>
              <a:gd name="T10" fmla="*/ 17100 w 21600"/>
              <a:gd name="T11" fmla="*/ 171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close/>
              </a:path>
            </a:pathLst>
          </a:custGeom>
          <a:solidFill>
            <a:srgbClr val="FFCC99">
              <a:alpha val="5000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eaVert" wrap="none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>
                <a:latin typeface="Arial" pitchFamily="34" charset="0"/>
                <a:cs typeface="Arial" pitchFamily="34" charset="0"/>
              </a:rPr>
              <a:t>Shingling</a:t>
            </a:r>
          </a:p>
        </p:txBody>
      </p:sp>
      <p:sp>
        <p:nvSpPr>
          <p:cNvPr id="8" name="Text Box 6">
            <a:extLst>
              <a:ext uri="{FF2B5EF4-FFF2-40B4-BE49-F238E27FC236}">
                <a16:creationId xmlns:a16="http://schemas.microsoft.com/office/drawing/2014/main" id="{E3318088-FCCC-43B3-AFEF-5C40208543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9878" y="2777500"/>
            <a:ext cx="992647" cy="30777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>
                <a:latin typeface="Arial" pitchFamily="34" charset="0"/>
                <a:cs typeface="Arial" pitchFamily="34" charset="0"/>
              </a:rPr>
              <a:t>Document</a:t>
            </a:r>
            <a:endParaRPr lang="en-US" sz="14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9" name="Line 7">
            <a:extLst>
              <a:ext uri="{FF2B5EF4-FFF2-40B4-BE49-F238E27FC236}">
                <a16:creationId xmlns:a16="http://schemas.microsoft.com/office/drawing/2014/main" id="{81D68E00-9F7F-44E8-9935-C6B8EB9FF505}"/>
              </a:ext>
            </a:extLst>
          </p:cNvPr>
          <p:cNvSpPr>
            <a:spLocks noChangeShapeType="1"/>
          </p:cNvSpPr>
          <p:nvPr/>
        </p:nvSpPr>
        <p:spPr bwMode="auto">
          <a:xfrm>
            <a:off x="1309617" y="293139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>
              <a:latin typeface="Arial" pitchFamily="34" charset="0"/>
              <a:cs typeface="Arial" pitchFamily="34" charset="0"/>
            </a:endParaRPr>
          </a:p>
        </p:txBody>
      </p:sp>
      <p:sp>
        <p:nvSpPr>
          <p:cNvPr id="20" name="Line 8">
            <a:extLst>
              <a:ext uri="{FF2B5EF4-FFF2-40B4-BE49-F238E27FC236}">
                <a16:creationId xmlns:a16="http://schemas.microsoft.com/office/drawing/2014/main" id="{D9DFBE04-B2BA-48D3-B223-C2B70024259D}"/>
              </a:ext>
            </a:extLst>
          </p:cNvPr>
          <p:cNvSpPr>
            <a:spLocks noChangeShapeType="1"/>
          </p:cNvSpPr>
          <p:nvPr/>
        </p:nvSpPr>
        <p:spPr bwMode="auto">
          <a:xfrm>
            <a:off x="2768844" y="2933032"/>
            <a:ext cx="1143001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>
              <a:latin typeface="Arial" pitchFamily="34" charset="0"/>
              <a:cs typeface="Arial" pitchFamily="34" charset="0"/>
            </a:endParaRPr>
          </a:p>
        </p:txBody>
      </p:sp>
      <p:sp>
        <p:nvSpPr>
          <p:cNvPr id="21" name="Text Box 9">
            <a:extLst>
              <a:ext uri="{FF2B5EF4-FFF2-40B4-BE49-F238E27FC236}">
                <a16:creationId xmlns:a16="http://schemas.microsoft.com/office/drawing/2014/main" id="{E31FB89E-B1FD-42BF-9190-D61E44538C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76358" y="3759174"/>
            <a:ext cx="1180387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>
                <a:latin typeface="Arial" pitchFamily="34" charset="0"/>
                <a:cs typeface="Arial" pitchFamily="34" charset="0"/>
              </a:rPr>
              <a:t>The set</a:t>
            </a:r>
          </a:p>
          <a:p>
            <a:r>
              <a:rPr lang="en-US" sz="1400" dirty="0">
                <a:latin typeface="Arial" pitchFamily="34" charset="0"/>
                <a:cs typeface="Arial" pitchFamily="34" charset="0"/>
              </a:rPr>
              <a:t>of strings</a:t>
            </a:r>
          </a:p>
          <a:p>
            <a:r>
              <a:rPr lang="en-US" sz="1400" dirty="0">
                <a:latin typeface="Arial" pitchFamily="34" charset="0"/>
                <a:cs typeface="Arial" pitchFamily="34" charset="0"/>
              </a:rPr>
              <a:t>of length </a:t>
            </a:r>
            <a:r>
              <a:rPr lang="en-US" sz="1400" b="1" i="1" dirty="0">
                <a:latin typeface="Arial" pitchFamily="34" charset="0"/>
                <a:cs typeface="Arial" pitchFamily="34" charset="0"/>
              </a:rPr>
              <a:t>k</a:t>
            </a:r>
          </a:p>
          <a:p>
            <a:r>
              <a:rPr lang="en-US" sz="1400" dirty="0">
                <a:latin typeface="Arial" pitchFamily="34" charset="0"/>
                <a:cs typeface="Arial" pitchFamily="34" charset="0"/>
              </a:rPr>
              <a:t>that appear</a:t>
            </a:r>
          </a:p>
          <a:p>
            <a:r>
              <a:rPr lang="en-US" sz="1400" dirty="0">
                <a:latin typeface="Arial" pitchFamily="34" charset="0"/>
                <a:cs typeface="Arial" pitchFamily="34" charset="0"/>
              </a:rPr>
              <a:t>in </a:t>
            </a:r>
            <a:r>
              <a:rPr lang="en-US" sz="1400">
                <a:latin typeface="Arial" pitchFamily="34" charset="0"/>
                <a:cs typeface="Arial" pitchFamily="34" charset="0"/>
              </a:rPr>
              <a:t>the document</a:t>
            </a:r>
            <a:endParaRPr lang="en-US" sz="1400" dirty="0"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DEB75AB-65AB-4986-9B74-18CB09AA4CF9}"/>
              </a:ext>
            </a:extLst>
          </p:cNvPr>
          <p:cNvGrpSpPr>
            <a:grpSpLocks/>
          </p:cNvGrpSpPr>
          <p:nvPr/>
        </p:nvGrpSpPr>
        <p:grpSpPr bwMode="auto">
          <a:xfrm>
            <a:off x="3949184" y="2245590"/>
            <a:ext cx="2133600" cy="3048000"/>
            <a:chOff x="2256" y="1488"/>
            <a:chExt cx="1344" cy="1920"/>
          </a:xfrm>
        </p:grpSpPr>
        <p:sp>
          <p:nvSpPr>
            <p:cNvPr id="16" name="AutoShape 4">
              <a:extLst>
                <a:ext uri="{FF2B5EF4-FFF2-40B4-BE49-F238E27FC236}">
                  <a16:creationId xmlns:a16="http://schemas.microsoft.com/office/drawing/2014/main" id="{BBE011A7-5B37-427C-862E-911FCFA302F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394873">
              <a:off x="2136" y="1608"/>
              <a:ext cx="864" cy="624"/>
            </a:xfrm>
            <a:custGeom>
              <a:avLst/>
              <a:gdLst>
                <a:gd name="G0" fmla="+- 5400 0 0"/>
                <a:gd name="G1" fmla="+- 21600 0 5400"/>
                <a:gd name="G2" fmla="*/ 5400 1 2"/>
                <a:gd name="G3" fmla="+- 21600 0 G2"/>
                <a:gd name="G4" fmla="+/ 5400 21600 2"/>
                <a:gd name="G5" fmla="+/ G1 0 2"/>
                <a:gd name="G6" fmla="*/ 21600 21600 5400"/>
                <a:gd name="G7" fmla="*/ G6 1 2"/>
                <a:gd name="G8" fmla="+- 21600 0 G7"/>
                <a:gd name="G9" fmla="*/ 21600 1 2"/>
                <a:gd name="G10" fmla="+- 5400 0 G9"/>
                <a:gd name="G11" fmla="?: G10 G8 0"/>
                <a:gd name="G12" fmla="?: G10 G7 21600"/>
                <a:gd name="T0" fmla="*/ 18900 w 21600"/>
                <a:gd name="T1" fmla="*/ 10800 h 21600"/>
                <a:gd name="T2" fmla="*/ 10800 w 21600"/>
                <a:gd name="T3" fmla="*/ 21600 h 21600"/>
                <a:gd name="T4" fmla="*/ 2700 w 21600"/>
                <a:gd name="T5" fmla="*/ 10800 h 21600"/>
                <a:gd name="T6" fmla="*/ 10800 w 21600"/>
                <a:gd name="T7" fmla="*/ 0 h 21600"/>
                <a:gd name="T8" fmla="*/ 4500 w 21600"/>
                <a:gd name="T9" fmla="*/ 4500 h 21600"/>
                <a:gd name="T10" fmla="*/ 17100 w 21600"/>
                <a:gd name="T11" fmla="*/ 171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FF99CC">
                <a:alpha val="50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vert="eaVert" wrap="none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400" dirty="0">
                  <a:latin typeface="Arial" pitchFamily="34" charset="0"/>
                  <a:cs typeface="Arial" pitchFamily="34" charset="0"/>
                </a:rPr>
                <a:t>Min </a:t>
              </a:r>
              <a:br>
                <a:rPr lang="en-US" sz="1400" dirty="0">
                  <a:latin typeface="Arial" pitchFamily="34" charset="0"/>
                  <a:cs typeface="Arial" pitchFamily="34" charset="0"/>
                </a:rPr>
              </a:br>
              <a:r>
                <a:rPr lang="en-US" sz="1400" dirty="0">
                  <a:latin typeface="Arial" pitchFamily="34" charset="0"/>
                  <a:cs typeface="Arial" pitchFamily="34" charset="0"/>
                </a:rPr>
                <a:t>Hashing</a:t>
              </a:r>
            </a:p>
          </p:txBody>
        </p:sp>
        <p:sp>
          <p:nvSpPr>
            <p:cNvPr id="17" name="Line 12">
              <a:extLst>
                <a:ext uri="{FF2B5EF4-FFF2-40B4-BE49-F238E27FC236}">
                  <a16:creationId xmlns:a16="http://schemas.microsoft.com/office/drawing/2014/main" id="{4443593A-663F-46FD-A5D7-29F8E9C78AF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80" y="1920"/>
              <a:ext cx="56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4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8" name="Text Box 14">
              <a:extLst>
                <a:ext uri="{FF2B5EF4-FFF2-40B4-BE49-F238E27FC236}">
                  <a16:creationId xmlns:a16="http://schemas.microsoft.com/office/drawing/2014/main" id="{DE7493B5-F0BC-4281-8599-61ECB6A432F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20" y="2400"/>
              <a:ext cx="780" cy="10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400" b="1" i="1" dirty="0">
                  <a:solidFill>
                    <a:srgbClr val="FF0066"/>
                  </a:solidFill>
                  <a:latin typeface="Arial" pitchFamily="34" charset="0"/>
                  <a:cs typeface="Arial" pitchFamily="34" charset="0"/>
                </a:rPr>
                <a:t>Signatures</a:t>
              </a:r>
              <a:r>
                <a:rPr lang="en-US" sz="1400" dirty="0">
                  <a:latin typeface="Arial" pitchFamily="34" charset="0"/>
                  <a:cs typeface="Arial" pitchFamily="34" charset="0"/>
                </a:rPr>
                <a:t>:</a:t>
              </a:r>
            </a:p>
            <a:p>
              <a:r>
                <a:rPr lang="en-US" sz="1400" dirty="0">
                  <a:latin typeface="Arial" pitchFamily="34" charset="0"/>
                  <a:cs typeface="Arial" pitchFamily="34" charset="0"/>
                </a:rPr>
                <a:t>short integer</a:t>
              </a:r>
            </a:p>
            <a:p>
              <a:r>
                <a:rPr lang="en-US" sz="1400" dirty="0">
                  <a:latin typeface="Arial" pitchFamily="34" charset="0"/>
                  <a:cs typeface="Arial" pitchFamily="34" charset="0"/>
                </a:rPr>
                <a:t>vectors that</a:t>
              </a:r>
            </a:p>
            <a:p>
              <a:r>
                <a:rPr lang="en-US" sz="1400" dirty="0">
                  <a:latin typeface="Arial" pitchFamily="34" charset="0"/>
                  <a:cs typeface="Arial" pitchFamily="34" charset="0"/>
                </a:rPr>
                <a:t>represent the</a:t>
              </a:r>
            </a:p>
            <a:p>
              <a:r>
                <a:rPr lang="en-US" sz="1400" dirty="0">
                  <a:latin typeface="Arial" pitchFamily="34" charset="0"/>
                  <a:cs typeface="Arial" pitchFamily="34" charset="0"/>
                </a:rPr>
                <a:t>sets, and</a:t>
              </a:r>
            </a:p>
            <a:p>
              <a:r>
                <a:rPr lang="en-US" sz="1400" dirty="0">
                  <a:latin typeface="Arial" pitchFamily="34" charset="0"/>
                  <a:cs typeface="Arial" pitchFamily="34" charset="0"/>
                </a:rPr>
                <a:t>reflect their</a:t>
              </a:r>
            </a:p>
            <a:p>
              <a:r>
                <a:rPr lang="en-US" sz="1400" dirty="0">
                  <a:latin typeface="Arial" pitchFamily="34" charset="0"/>
                  <a:cs typeface="Arial" pitchFamily="34" charset="0"/>
                </a:rPr>
                <a:t>similarity</a:t>
              </a:r>
            </a:p>
          </p:txBody>
        </p:sp>
        <p:sp>
          <p:nvSpPr>
            <p:cNvPr id="19" name="Line 16">
              <a:extLst>
                <a:ext uri="{FF2B5EF4-FFF2-40B4-BE49-F238E27FC236}">
                  <a16:creationId xmlns:a16="http://schemas.microsoft.com/office/drawing/2014/main" id="{7A596FE7-79C6-4D93-9368-13EFC0C71CD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63" y="1920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40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A875EE8-E475-4B70-A31C-E33390B47FC8}"/>
              </a:ext>
            </a:extLst>
          </p:cNvPr>
          <p:cNvGrpSpPr>
            <a:grpSpLocks/>
          </p:cNvGrpSpPr>
          <p:nvPr/>
        </p:nvGrpSpPr>
        <p:grpSpPr bwMode="auto">
          <a:xfrm>
            <a:off x="5836723" y="2196045"/>
            <a:ext cx="2947988" cy="1600200"/>
            <a:chOff x="3600" y="1447"/>
            <a:chExt cx="1857" cy="1008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12F3E23-E040-4F04-96F0-227474D4BD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1536"/>
              <a:ext cx="816" cy="768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400" dirty="0">
                  <a:latin typeface="Arial" pitchFamily="34" charset="0"/>
                  <a:cs typeface="Arial" pitchFamily="34" charset="0"/>
                </a:rPr>
                <a:t>Locality-</a:t>
              </a:r>
            </a:p>
            <a:p>
              <a:pPr algn="ctr"/>
              <a:r>
                <a:rPr lang="en-US" sz="1400" dirty="0">
                  <a:latin typeface="Arial" pitchFamily="34" charset="0"/>
                  <a:cs typeface="Arial" pitchFamily="34" charset="0"/>
                </a:rPr>
                <a:t>Sensitive</a:t>
              </a:r>
            </a:p>
            <a:p>
              <a:pPr algn="ctr"/>
              <a:r>
                <a:rPr lang="en-US" sz="1400" dirty="0">
                  <a:latin typeface="Arial" pitchFamily="34" charset="0"/>
                  <a:cs typeface="Arial" pitchFamily="34" charset="0"/>
                </a:rPr>
                <a:t>Hashing</a:t>
              </a:r>
            </a:p>
          </p:txBody>
        </p:sp>
        <p:sp>
          <p:nvSpPr>
            <p:cNvPr id="14" name="Line 17">
              <a:extLst>
                <a:ext uri="{FF2B5EF4-FFF2-40B4-BE49-F238E27FC236}">
                  <a16:creationId xmlns:a16="http://schemas.microsoft.com/office/drawing/2014/main" id="{CCE2E72C-8BE1-4AEB-8E83-5EBC898E5E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16" y="1920"/>
              <a:ext cx="28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4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5" name="Text Box 18">
              <a:extLst>
                <a:ext uri="{FF2B5EF4-FFF2-40B4-BE49-F238E27FC236}">
                  <a16:creationId xmlns:a16="http://schemas.microsoft.com/office/drawing/2014/main" id="{D8DB82AC-6F2F-458B-A14A-2C87AECE7A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95" y="1447"/>
              <a:ext cx="762" cy="10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400" b="1" i="1" dirty="0">
                  <a:solidFill>
                    <a:srgbClr val="FF0066"/>
                  </a:solidFill>
                  <a:latin typeface="Arial" pitchFamily="34" charset="0"/>
                  <a:cs typeface="Arial" pitchFamily="34" charset="0"/>
                </a:rPr>
                <a:t>Candidate</a:t>
              </a:r>
            </a:p>
            <a:p>
              <a:r>
                <a:rPr lang="en-US" sz="1400" b="1" i="1" dirty="0">
                  <a:solidFill>
                    <a:srgbClr val="FF0066"/>
                  </a:solidFill>
                  <a:latin typeface="Arial" pitchFamily="34" charset="0"/>
                  <a:cs typeface="Arial" pitchFamily="34" charset="0"/>
                </a:rPr>
                <a:t>pairs</a:t>
              </a:r>
              <a:r>
                <a:rPr lang="en-US" sz="1400" b="1" dirty="0">
                  <a:latin typeface="Arial" pitchFamily="34" charset="0"/>
                  <a:cs typeface="Arial" pitchFamily="34" charset="0"/>
                </a:rPr>
                <a:t>:</a:t>
              </a:r>
            </a:p>
            <a:p>
              <a:r>
                <a:rPr lang="en-US" sz="1400" dirty="0">
                  <a:latin typeface="Arial" pitchFamily="34" charset="0"/>
                  <a:cs typeface="Arial" pitchFamily="34" charset="0"/>
                </a:rPr>
                <a:t>those pairs</a:t>
              </a:r>
            </a:p>
            <a:p>
              <a:r>
                <a:rPr lang="en-US" sz="1400" dirty="0">
                  <a:latin typeface="Arial" pitchFamily="34" charset="0"/>
                  <a:cs typeface="Arial" pitchFamily="34" charset="0"/>
                </a:rPr>
                <a:t>of signatures</a:t>
              </a:r>
            </a:p>
            <a:p>
              <a:r>
                <a:rPr lang="en-US" sz="1400" dirty="0">
                  <a:latin typeface="Arial" pitchFamily="34" charset="0"/>
                  <a:cs typeface="Arial" pitchFamily="34" charset="0"/>
                </a:rPr>
                <a:t>that we need</a:t>
              </a:r>
            </a:p>
            <a:p>
              <a:r>
                <a:rPr lang="en-US" sz="1400" dirty="0">
                  <a:latin typeface="Arial" pitchFamily="34" charset="0"/>
                  <a:cs typeface="Arial" pitchFamily="34" charset="0"/>
                </a:rPr>
                <a:t>to test for</a:t>
              </a:r>
            </a:p>
            <a:p>
              <a:r>
                <a:rPr lang="en-US" sz="1400" dirty="0">
                  <a:latin typeface="Arial" pitchFamily="34" charset="0"/>
                  <a:cs typeface="Arial" pitchFamily="34" charset="0"/>
                </a:rPr>
                <a:t>similarity</a:t>
              </a:r>
            </a:p>
          </p:txBody>
        </p:sp>
      </p:grpSp>
      <p:sp>
        <p:nvSpPr>
          <p:cNvPr id="39" name="Line 16">
            <a:extLst>
              <a:ext uri="{FF2B5EF4-FFF2-40B4-BE49-F238E27FC236}">
                <a16:creationId xmlns:a16="http://schemas.microsoft.com/office/drawing/2014/main" id="{0179CC73-3B4C-4A8E-8321-A3193D1240F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35952" y="2931390"/>
            <a:ext cx="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96592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zh-TW" sz="3200"/>
              <a:t>Task Description</a:t>
            </a:r>
            <a:endParaRPr lang="zh-TW" altLang="en-US" sz="3200"/>
          </a:p>
        </p:txBody>
      </p:sp>
      <p:sp>
        <p:nvSpPr>
          <p:cNvPr id="9219" name="內容版面配置區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754561"/>
          </a:xfrm>
        </p:spPr>
        <p:txBody>
          <a:bodyPr>
            <a:noAutofit/>
          </a:bodyPr>
          <a:lstStyle/>
          <a:p>
            <a:r>
              <a:rPr lang="en-US" altLang="zh-TW" sz="2400" dirty="0"/>
              <a:t>3 Subtasks + 2 Optional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600" dirty="0"/>
              <a:t>(</a:t>
            </a:r>
            <a:r>
              <a:rPr lang="en-US" altLang="zh-TW" sz="1800" b="1" dirty="0"/>
              <a:t>30pt</a:t>
            </a:r>
            <a:r>
              <a:rPr lang="en-US" altLang="zh-TW" sz="1800" dirty="0"/>
              <a:t>) (1) Given the Reuters-21578 dataset, please calculate </a:t>
            </a:r>
            <a:r>
              <a:rPr lang="en-US" altLang="zh-TW" sz="1800" dirty="0">
                <a:solidFill>
                  <a:srgbClr val="FF0000"/>
                </a:solidFill>
              </a:rPr>
              <a:t>all k-shingles</a:t>
            </a:r>
            <a:r>
              <a:rPr lang="en-US" altLang="zh-TW" sz="1800" dirty="0"/>
              <a:t> and output the set representation of the text dataset as a matrix.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800" dirty="0"/>
              <a:t>(</a:t>
            </a:r>
            <a:r>
              <a:rPr lang="en-US" altLang="zh-TW" sz="1800" b="1" dirty="0"/>
              <a:t>30pt</a:t>
            </a:r>
            <a:r>
              <a:rPr lang="en-US" altLang="zh-TW" sz="1800" dirty="0"/>
              <a:t>) (2) Given the set representation, compute the </a:t>
            </a:r>
            <a:r>
              <a:rPr lang="en-US" altLang="zh-TW" sz="1800" dirty="0" err="1">
                <a:solidFill>
                  <a:srgbClr val="FF0000"/>
                </a:solidFill>
              </a:rPr>
              <a:t>minhash</a:t>
            </a:r>
            <a:r>
              <a:rPr lang="en-US" altLang="zh-TW" sz="1800" dirty="0">
                <a:solidFill>
                  <a:srgbClr val="FF0000"/>
                </a:solidFill>
              </a:rPr>
              <a:t> signatures </a:t>
            </a:r>
            <a:r>
              <a:rPr lang="en-US" altLang="zh-TW" sz="1800" dirty="0"/>
              <a:t>of all documents.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800" dirty="0"/>
              <a:t>(</a:t>
            </a:r>
            <a:r>
              <a:rPr lang="en-US" altLang="zh-TW" sz="1800" b="1" dirty="0"/>
              <a:t>40pt</a:t>
            </a:r>
            <a:r>
              <a:rPr lang="en-US" altLang="zh-TW" sz="1800" dirty="0"/>
              <a:t>) (3) Implement the LSH algorithm and output the resulting </a:t>
            </a:r>
            <a:r>
              <a:rPr lang="en-US" altLang="zh-TW" sz="1800" dirty="0">
                <a:solidFill>
                  <a:srgbClr val="FF0000"/>
                </a:solidFill>
              </a:rPr>
              <a:t>candidate pairs</a:t>
            </a:r>
            <a:r>
              <a:rPr lang="en-US" altLang="zh-TW" sz="1800" dirty="0">
                <a:solidFill>
                  <a:srgbClr val="0000FF"/>
                </a:solidFill>
              </a:rPr>
              <a:t> </a:t>
            </a:r>
            <a:r>
              <a:rPr lang="en-US" altLang="zh-TW" sz="1800" dirty="0"/>
              <a:t>of similar documents.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0000FF"/>
                </a:solidFill>
              </a:rPr>
              <a:t>[Optional</a:t>
            </a:r>
            <a:r>
              <a:rPr lang="en-US" altLang="zh-TW" sz="1800" dirty="0"/>
              <a:t>] (</a:t>
            </a:r>
            <a:r>
              <a:rPr lang="en-US" altLang="zh-TW" sz="1800" b="1" dirty="0"/>
              <a:t>20pt</a:t>
            </a:r>
            <a:r>
              <a:rPr lang="en-US" altLang="zh-TW" sz="1800" dirty="0"/>
              <a:t>) (4) Evaluate the classification performance (effectiveness, efficiency) of LSH by calculating metrics using ground truth of class labels in the test set.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0000FF"/>
                </a:solidFill>
              </a:rPr>
              <a:t>[Optional</a:t>
            </a:r>
            <a:r>
              <a:rPr lang="en-US" altLang="zh-TW" sz="1800" dirty="0"/>
              <a:t>] (</a:t>
            </a:r>
            <a:r>
              <a:rPr lang="en-US" altLang="zh-TW" sz="1800" b="1" dirty="0"/>
              <a:t>20pt</a:t>
            </a:r>
            <a:r>
              <a:rPr lang="en-US" altLang="zh-TW" sz="1800" dirty="0"/>
              <a:t>) (5) Implement k-nearest neighbor (</a:t>
            </a:r>
            <a:r>
              <a:rPr lang="en-US" altLang="zh-TW" sz="1800" dirty="0" err="1"/>
              <a:t>kNN</a:t>
            </a:r>
            <a:r>
              <a:rPr lang="en-US" altLang="zh-TW" sz="1800" dirty="0"/>
              <a:t>) search using LSH and compare its performance with linear search.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endParaRPr lang="zh-TW" altLang="en-US" sz="1800" dirty="0"/>
          </a:p>
        </p:txBody>
      </p:sp>
      <p:sp>
        <p:nvSpPr>
          <p:cNvPr id="1024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Mining &amp; Applications, Fall 2025</a:t>
            </a:r>
          </a:p>
        </p:txBody>
      </p:sp>
      <p:sp>
        <p:nvSpPr>
          <p:cNvPr id="1024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CSIE, IEECS</a:t>
            </a:r>
          </a:p>
        </p:txBody>
      </p:sp>
      <p:sp>
        <p:nvSpPr>
          <p:cNvPr id="1024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FAB2E62-CEB5-4611-97B7-167E2BCF41D9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6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39425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zh-TW" sz="3200"/>
              <a:t>Output Format</a:t>
            </a:r>
            <a:endParaRPr lang="zh-TW" altLang="en-US" sz="3200"/>
          </a:p>
        </p:txBody>
      </p:sp>
      <p:sp>
        <p:nvSpPr>
          <p:cNvPr id="9219" name="內容版面配置區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754561"/>
          </a:xfrm>
        </p:spPr>
        <p:txBody>
          <a:bodyPr>
            <a:noAutofit/>
          </a:bodyPr>
          <a:lstStyle/>
          <a:p>
            <a:r>
              <a:rPr lang="en-US" altLang="zh-TW" sz="1800" dirty="0"/>
              <a:t>(1) set representation: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800" dirty="0"/>
              <a:t>A </a:t>
            </a:r>
            <a:r>
              <a:rPr lang="en-US" altLang="zh-TW" sz="1800" dirty="0" err="1"/>
              <a:t>MxN</a:t>
            </a:r>
            <a:r>
              <a:rPr lang="en-US" altLang="zh-TW" sz="1800" dirty="0"/>
              <a:t> matrix: with rows as shingles and columns as documents (N=21,578) </a:t>
            </a:r>
          </a:p>
          <a:p>
            <a:r>
              <a:rPr lang="en-US" altLang="zh-TW" sz="1800" dirty="0"/>
              <a:t>(2) </a:t>
            </a:r>
            <a:r>
              <a:rPr lang="en-US" altLang="zh-TW" sz="1800" dirty="0" err="1"/>
              <a:t>minhash</a:t>
            </a:r>
            <a:r>
              <a:rPr lang="en-US" altLang="zh-TW" sz="1800" dirty="0"/>
              <a:t> signatures: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800" dirty="0"/>
              <a:t>The </a:t>
            </a:r>
            <a:r>
              <a:rPr lang="en-US" altLang="zh-TW" sz="1800" dirty="0" err="1"/>
              <a:t>HxN</a:t>
            </a:r>
            <a:r>
              <a:rPr lang="en-US" altLang="zh-TW" sz="1800" dirty="0"/>
              <a:t> signature matrix: with H as the number of hash functions, and N=21,578</a:t>
            </a:r>
            <a:endParaRPr lang="en-US" altLang="zh-TW" sz="1800" dirty="0">
              <a:solidFill>
                <a:srgbClr val="FF0000"/>
              </a:solidFill>
            </a:endParaRPr>
          </a:p>
          <a:p>
            <a:r>
              <a:rPr lang="en-US" altLang="zh-TW" sz="1800" dirty="0"/>
              <a:t>(3) candidate pairs: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800" dirty="0"/>
              <a:t>Documents whose signatures as columns in signature matrix are </a:t>
            </a:r>
            <a:r>
              <a:rPr lang="en-US" altLang="zh-TW" sz="1800" dirty="0">
                <a:solidFill>
                  <a:srgbClr val="0000FF"/>
                </a:solidFill>
              </a:rPr>
              <a:t>hashed to the same bucket in more than one bands</a:t>
            </a:r>
          </a:p>
          <a:p>
            <a:r>
              <a:rPr lang="en-US" altLang="zh-TW" sz="1800" dirty="0"/>
              <a:t>(4) Evaluation of LSH for classification: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800" dirty="0"/>
              <a:t>Metrics for effectiveness: TP, FP, TN, FN, accuracy, precision, recall, F1 score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800" dirty="0"/>
              <a:t>Metrics for efficiency: time</a:t>
            </a:r>
          </a:p>
          <a:p>
            <a:r>
              <a:rPr lang="en-US" altLang="zh-TW" sz="1800" dirty="0"/>
              <a:t>(5) comparison of </a:t>
            </a:r>
            <a:r>
              <a:rPr lang="en-US" altLang="zh-TW" sz="1800" dirty="0" err="1"/>
              <a:t>kNN</a:t>
            </a:r>
            <a:r>
              <a:rPr lang="en-US" altLang="zh-TW" sz="1800" dirty="0"/>
              <a:t> search and linear search</a:t>
            </a:r>
          </a:p>
          <a:p>
            <a:pPr lvl="1"/>
            <a:endParaRPr lang="en-US" altLang="zh-TW" sz="1800" dirty="0"/>
          </a:p>
        </p:txBody>
      </p:sp>
      <p:sp>
        <p:nvSpPr>
          <p:cNvPr id="1024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Mining &amp; Applications, Fall 2025</a:t>
            </a:r>
          </a:p>
        </p:txBody>
      </p:sp>
      <p:sp>
        <p:nvSpPr>
          <p:cNvPr id="1024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CSIE, IEECS</a:t>
            </a:r>
          </a:p>
        </p:txBody>
      </p:sp>
      <p:sp>
        <p:nvSpPr>
          <p:cNvPr id="1024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FAB2E62-CEB5-4611-97B7-167E2BCF41D9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7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4677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zh-TW" sz="3200"/>
              <a:t>Implementation Notes</a:t>
            </a:r>
            <a:endParaRPr lang="zh-TW" altLang="en-US" sz="3200"/>
          </a:p>
        </p:txBody>
      </p:sp>
      <p:sp>
        <p:nvSpPr>
          <p:cNvPr id="9219" name="內容版面配置區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754561"/>
          </a:xfrm>
        </p:spPr>
        <p:txBody>
          <a:bodyPr>
            <a:noAutofit/>
          </a:bodyPr>
          <a:lstStyle/>
          <a:p>
            <a:r>
              <a:rPr lang="en-US" altLang="zh-TW" sz="1800"/>
              <a:t>Note the differences in rows and columns for the input data and the output matrices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800"/>
              <a:t>Input: </a:t>
            </a:r>
            <a:r>
              <a:rPr lang="en-US" altLang="zh-TW" sz="1800">
                <a:solidFill>
                  <a:srgbClr val="0000FF"/>
                </a:solidFill>
              </a:rPr>
              <a:t>rows</a:t>
            </a:r>
            <a:r>
              <a:rPr lang="en-US" altLang="zh-TW" sz="1800"/>
              <a:t> as documents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800"/>
              <a:t>Output: </a:t>
            </a:r>
            <a:r>
              <a:rPr lang="en-US" altLang="zh-TW" sz="1800">
                <a:solidFill>
                  <a:srgbClr val="FF0000"/>
                </a:solidFill>
              </a:rPr>
              <a:t>columns</a:t>
            </a:r>
            <a:r>
              <a:rPr lang="en-US" altLang="zh-TW" sz="1800"/>
              <a:t> as documents</a:t>
            </a:r>
          </a:p>
          <a:p>
            <a:pPr lvl="1"/>
            <a:endParaRPr lang="en-US" altLang="zh-TW" sz="1800"/>
          </a:p>
          <a:p>
            <a:r>
              <a:rPr lang="en-US" altLang="zh-TW" sz="1800"/>
              <a:t>Your program should be able to accept some parameters: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800"/>
              <a:t>k in k-shingles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800"/>
              <a:t>Number of min-hash functions H, which are divided into b bands, each with r rows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800"/>
              <a:t>number of hash functions for hashing the band</a:t>
            </a:r>
            <a:endParaRPr lang="zh-TW" altLang="en-US" sz="1800"/>
          </a:p>
          <a:p>
            <a:pPr lvl="2"/>
            <a:r>
              <a:rPr lang="en-US" altLang="zh-TW" sz="1800"/>
              <a:t>a different hash function for each band</a:t>
            </a:r>
            <a:endParaRPr lang="zh-TW" altLang="en-US" sz="1800" dirty="0"/>
          </a:p>
        </p:txBody>
      </p:sp>
      <p:sp>
        <p:nvSpPr>
          <p:cNvPr id="1024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Mining &amp; Applications, Fall 2025</a:t>
            </a:r>
          </a:p>
        </p:txBody>
      </p:sp>
      <p:sp>
        <p:nvSpPr>
          <p:cNvPr id="1024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CSIE, IEECS</a:t>
            </a:r>
          </a:p>
        </p:txBody>
      </p:sp>
      <p:sp>
        <p:nvSpPr>
          <p:cNvPr id="1024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FAB2E62-CEB5-4611-97B7-167E2BCF41D9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8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35279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zh-TW" sz="3200"/>
              <a:t>More on Performance Evaluation for LSH</a:t>
            </a:r>
            <a:endParaRPr lang="zh-TW" altLang="en-US" sz="3200"/>
          </a:p>
        </p:txBody>
      </p:sp>
      <p:sp>
        <p:nvSpPr>
          <p:cNvPr id="9219" name="內容版面配置區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754561"/>
          </a:xfrm>
        </p:spPr>
        <p:txBody>
          <a:bodyPr>
            <a:noAutofit/>
          </a:bodyPr>
          <a:lstStyle/>
          <a:p>
            <a:r>
              <a:rPr lang="en-US" altLang="zh-TW" sz="2400"/>
              <a:t>We view it as a classification problem</a:t>
            </a:r>
          </a:p>
          <a:p>
            <a:r>
              <a:rPr lang="en-US" altLang="zh-TW" sz="2400"/>
              <a:t>Reuters-21578 dataset contains pre-defined classes </a:t>
            </a:r>
          </a:p>
          <a:p>
            <a:r>
              <a:rPr lang="en-US" altLang="zh-TW" sz="2400"/>
              <a:t>Ground truth</a:t>
            </a:r>
          </a:p>
          <a:p>
            <a:pPr lvl="1"/>
            <a:r>
              <a:rPr lang="en-US" altLang="zh-TW" sz="2400"/>
              <a:t>Class labels in the test set</a:t>
            </a:r>
          </a:p>
          <a:p>
            <a:r>
              <a:rPr lang="en-US" altLang="zh-TW" sz="2400"/>
              <a:t>Check all candidate pairs in the test set and their relations </a:t>
            </a:r>
          </a:p>
          <a:p>
            <a:pPr lvl="1"/>
            <a:r>
              <a:rPr lang="en-US" altLang="zh-TW" sz="2400"/>
              <a:t>For each candidate pair (di, dj), check if they are the same class or not</a:t>
            </a:r>
          </a:p>
          <a:p>
            <a:pPr lvl="1"/>
            <a:endParaRPr lang="en-US" altLang="zh-TW" sz="2400"/>
          </a:p>
          <a:p>
            <a:pPr lvl="1"/>
            <a:endParaRPr lang="zh-TW" altLang="en-US" sz="2400" dirty="0"/>
          </a:p>
        </p:txBody>
      </p:sp>
      <p:sp>
        <p:nvSpPr>
          <p:cNvPr id="1024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Mining &amp; Applications, Fall 2025</a:t>
            </a:r>
          </a:p>
        </p:txBody>
      </p:sp>
      <p:sp>
        <p:nvSpPr>
          <p:cNvPr id="1024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CSIE, IEECS</a:t>
            </a:r>
          </a:p>
        </p:txBody>
      </p:sp>
      <p:sp>
        <p:nvSpPr>
          <p:cNvPr id="1024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FAB2E62-CEB5-4611-97B7-167E2BCF41D9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9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pic>
        <p:nvPicPr>
          <p:cNvPr id="7" name="table">
            <a:extLst>
              <a:ext uri="{FF2B5EF4-FFF2-40B4-BE49-F238E27FC236}">
                <a16:creationId xmlns:a16="http://schemas.microsoft.com/office/drawing/2014/main" id="{2EE7E555-C947-4A76-B184-062A2FB53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4884102"/>
            <a:ext cx="8127999" cy="1112520"/>
          </a:xfrm>
          <a:prstGeom prst="rect">
            <a:avLst/>
          </a:prstGeom>
          <a:ln>
            <a:solidFill>
              <a:srgbClr val="0070C0"/>
            </a:solidFill>
          </a:ln>
        </p:spPr>
      </p:pic>
    </p:spTree>
    <p:extLst>
      <p:ext uri="{BB962C8B-B14F-4D97-AF65-F5344CB8AC3E}">
        <p14:creationId xmlns:p14="http://schemas.microsoft.com/office/powerpoint/2010/main" val="29531458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zh-TW" sz="3200">
                <a:ea typeface="新細明體" panose="02020500000000000000" pitchFamily="18" charset="-120"/>
              </a:rPr>
              <a:t>Predefined Categories in Reuters-21578</a:t>
            </a:r>
            <a:endParaRPr lang="zh-TW" altLang="en-US" sz="3200"/>
          </a:p>
        </p:txBody>
      </p:sp>
      <p:sp>
        <p:nvSpPr>
          <p:cNvPr id="9219" name="內容版面配置區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754561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zh-TW" sz="2400">
                <a:ea typeface="新細明體" charset="-120"/>
              </a:rPr>
              <a:t>5 category sets</a:t>
            </a:r>
          </a:p>
          <a:p>
            <a:pPr lvl="1">
              <a:lnSpc>
                <a:spcPct val="90000"/>
              </a:lnSpc>
              <a:defRPr/>
            </a:pPr>
            <a:r>
              <a:rPr lang="en-US" altLang="zh-TW" sz="2400">
                <a:ea typeface="新細明體" charset="-120"/>
              </a:rPr>
              <a:t>Exchanges: 39 categories</a:t>
            </a:r>
          </a:p>
          <a:p>
            <a:pPr lvl="1">
              <a:lnSpc>
                <a:spcPct val="90000"/>
              </a:lnSpc>
              <a:defRPr/>
            </a:pPr>
            <a:r>
              <a:rPr lang="en-US" altLang="zh-TW" sz="2400">
                <a:ea typeface="新細明體" charset="-120"/>
              </a:rPr>
              <a:t>Orgs: 56 categories</a:t>
            </a:r>
          </a:p>
          <a:p>
            <a:pPr lvl="1">
              <a:lnSpc>
                <a:spcPct val="90000"/>
              </a:lnSpc>
              <a:defRPr/>
            </a:pPr>
            <a:r>
              <a:rPr lang="en-US" altLang="zh-TW" sz="2400">
                <a:ea typeface="新細明體" charset="-120"/>
              </a:rPr>
              <a:t>People: 267 categories</a:t>
            </a:r>
          </a:p>
          <a:p>
            <a:pPr lvl="1">
              <a:lnSpc>
                <a:spcPct val="90000"/>
              </a:lnSpc>
              <a:defRPr/>
            </a:pPr>
            <a:r>
              <a:rPr lang="en-US" altLang="zh-TW" sz="2400">
                <a:ea typeface="新細明體" charset="-120"/>
              </a:rPr>
              <a:t>Places: 175 categories</a:t>
            </a:r>
          </a:p>
          <a:p>
            <a:pPr lvl="1">
              <a:lnSpc>
                <a:spcPct val="90000"/>
              </a:lnSpc>
              <a:defRPr/>
            </a:pPr>
            <a:r>
              <a:rPr lang="en-US" altLang="zh-TW" sz="2400">
                <a:solidFill>
                  <a:srgbClr val="FF0000"/>
                </a:solidFill>
                <a:ea typeface="新細明體" charset="-120"/>
              </a:rPr>
              <a:t>Topics: 135 categories</a:t>
            </a:r>
          </a:p>
          <a:p>
            <a:pPr marL="0" indent="0">
              <a:buNone/>
              <a:defRPr/>
            </a:pPr>
            <a:r>
              <a:rPr lang="en-US" altLang="zh-TW" sz="2400">
                <a:ea typeface="新細明體" charset="-120"/>
                <a:sym typeface="Wingdings" pitchFamily="2" charset="2"/>
              </a:rPr>
              <a:t> In this homework, we </a:t>
            </a:r>
            <a:r>
              <a:rPr lang="en-US" altLang="zh-TW" sz="2400" b="1">
                <a:ea typeface="新細明體" charset="-120"/>
                <a:sym typeface="Wingdings" pitchFamily="2" charset="2"/>
              </a:rPr>
              <a:t>ONLY</a:t>
            </a:r>
            <a:r>
              <a:rPr lang="en-US" altLang="zh-TW" sz="2400">
                <a:ea typeface="新細明體" charset="-120"/>
                <a:sym typeface="Wingdings" pitchFamily="2" charset="2"/>
              </a:rPr>
              <a:t> consider classification in the </a:t>
            </a:r>
            <a:r>
              <a:rPr lang="en-US" altLang="zh-TW" sz="2400">
                <a:solidFill>
                  <a:srgbClr val="FF0000"/>
                </a:solidFill>
                <a:ea typeface="新細明體" charset="-120"/>
                <a:sym typeface="Wingdings" pitchFamily="2" charset="2"/>
              </a:rPr>
              <a:t>135 topical categories</a:t>
            </a:r>
            <a:endParaRPr lang="en-US" altLang="zh-TW" sz="2400" dirty="0">
              <a:solidFill>
                <a:srgbClr val="FF0000"/>
              </a:solidFill>
              <a:ea typeface="新細明體" charset="-120"/>
            </a:endParaRPr>
          </a:p>
        </p:txBody>
      </p:sp>
      <p:sp>
        <p:nvSpPr>
          <p:cNvPr id="1024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Mining &amp; Applications, Fall 2025</a:t>
            </a:r>
          </a:p>
        </p:txBody>
      </p:sp>
      <p:sp>
        <p:nvSpPr>
          <p:cNvPr id="1024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CSIE, IEECS</a:t>
            </a:r>
          </a:p>
        </p:txBody>
      </p:sp>
      <p:sp>
        <p:nvSpPr>
          <p:cNvPr id="1024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FAB2E62-CEB5-4611-97B7-167E2BCF41D9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10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1207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zh-TW" sz="3200">
                <a:ea typeface="新細明體" panose="02020500000000000000" pitchFamily="18" charset="-120"/>
              </a:rPr>
              <a:t>Training and Test Sets</a:t>
            </a:r>
            <a:endParaRPr lang="zh-TW" altLang="en-US" sz="3200"/>
          </a:p>
        </p:txBody>
      </p:sp>
      <p:sp>
        <p:nvSpPr>
          <p:cNvPr id="9219" name="內容版面配置區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754561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zh-TW" sz="2400">
                <a:ea typeface="新細明體" panose="02020500000000000000" pitchFamily="18" charset="-120"/>
              </a:rPr>
              <a:t>Using Reuters-21578 for text classification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>
                <a:ea typeface="新細明體" panose="02020500000000000000" pitchFamily="18" charset="-120"/>
              </a:rPr>
              <a:t>Modified Lewis (ModLewis) Split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zh-TW">
                <a:ea typeface="新細明體" panose="02020500000000000000" pitchFamily="18" charset="-120"/>
              </a:rPr>
              <a:t>Training: 13,625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zh-TW">
                <a:ea typeface="新細明體" panose="02020500000000000000" pitchFamily="18" charset="-120"/>
              </a:rPr>
              <a:t>Test: 6,188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>
                <a:solidFill>
                  <a:srgbClr val="FF0000"/>
                </a:solidFill>
                <a:ea typeface="新細明體" panose="02020500000000000000" pitchFamily="18" charset="-120"/>
              </a:rPr>
              <a:t>Modified Apte (ModApte) Split: used in this homework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zh-TW">
                <a:solidFill>
                  <a:srgbClr val="FF0000"/>
                </a:solidFill>
                <a:ea typeface="新細明體" panose="02020500000000000000" pitchFamily="18" charset="-120"/>
              </a:rPr>
              <a:t>Training: 9,603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zh-TW">
                <a:solidFill>
                  <a:srgbClr val="FF0000"/>
                </a:solidFill>
                <a:ea typeface="新細明體" panose="02020500000000000000" pitchFamily="18" charset="-120"/>
              </a:rPr>
              <a:t>Test: 3,299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>
                <a:ea typeface="新細明體" panose="02020500000000000000" pitchFamily="18" charset="-120"/>
              </a:rPr>
              <a:t>Modified Hayes (ModHayes) Split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zh-TW">
                <a:ea typeface="新細明體" panose="02020500000000000000" pitchFamily="18" charset="-120"/>
              </a:rPr>
              <a:t>Training: 20,856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zh-TW">
                <a:ea typeface="新細明體" panose="02020500000000000000" pitchFamily="18" charset="-120"/>
              </a:rPr>
              <a:t>Test: 722</a:t>
            </a:r>
          </a:p>
          <a:p>
            <a:pPr>
              <a:lnSpc>
                <a:spcPct val="90000"/>
              </a:lnSpc>
            </a:pPr>
            <a:endParaRPr lang="zh-TW" altLang="en-US" sz="2400">
              <a:ea typeface="新細明體" panose="02020500000000000000" pitchFamily="18" charset="-120"/>
            </a:endParaRPr>
          </a:p>
        </p:txBody>
      </p:sp>
      <p:sp>
        <p:nvSpPr>
          <p:cNvPr id="1024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Mining &amp; Applications, Fall 2025</a:t>
            </a:r>
          </a:p>
        </p:txBody>
      </p:sp>
      <p:sp>
        <p:nvSpPr>
          <p:cNvPr id="1024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CSIE, IEECS</a:t>
            </a:r>
          </a:p>
        </p:txBody>
      </p:sp>
      <p:sp>
        <p:nvSpPr>
          <p:cNvPr id="1024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FAB2E62-CEB5-4611-97B7-167E2BCF41D9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11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96044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zh-TW" sz="3200">
                <a:ea typeface="新細明體" panose="02020500000000000000" pitchFamily="18" charset="-120"/>
              </a:rPr>
              <a:t>An Example Reuters Article</a:t>
            </a:r>
            <a:endParaRPr lang="zh-TW" altLang="en-US" sz="3200"/>
          </a:p>
        </p:txBody>
      </p:sp>
      <p:sp>
        <p:nvSpPr>
          <p:cNvPr id="9219" name="內容版面配置區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754561"/>
          </a:xfrm>
        </p:spPr>
        <p:txBody>
          <a:bodyPr>
            <a:noAutofit/>
          </a:bodyPr>
          <a:lstStyle/>
          <a:p>
            <a:pPr marL="0" indent="0">
              <a:lnSpc>
                <a:spcPct val="80000"/>
              </a:lnSpc>
              <a:buNone/>
            </a:pPr>
            <a:endParaRPr lang="en-US" altLang="zh-TW" sz="1600">
              <a:ea typeface="新細明體" panose="02020500000000000000" pitchFamily="18" charset="-120"/>
            </a:endParaRPr>
          </a:p>
          <a:p>
            <a:pPr marL="0" indent="0">
              <a:lnSpc>
                <a:spcPct val="80000"/>
              </a:lnSpc>
              <a:buNone/>
            </a:pPr>
            <a:endParaRPr lang="en-US" altLang="zh-TW" sz="1600">
              <a:ea typeface="新細明體" panose="02020500000000000000" pitchFamily="18" charset="-120"/>
            </a:endParaRPr>
          </a:p>
          <a:p>
            <a:pPr marL="0" indent="0">
              <a:lnSpc>
                <a:spcPct val="80000"/>
              </a:lnSpc>
              <a:buNone/>
            </a:pPr>
            <a:endParaRPr lang="en-US" altLang="zh-TW" sz="1600">
              <a:ea typeface="新細明體" panose="02020500000000000000" pitchFamily="18" charset="-120"/>
            </a:endParaRPr>
          </a:p>
          <a:p>
            <a:pPr marL="0" indent="0">
              <a:lnSpc>
                <a:spcPct val="80000"/>
              </a:lnSpc>
              <a:buNone/>
            </a:pPr>
            <a:r>
              <a:rPr lang="en-US" altLang="zh-TW" sz="1600">
                <a:ea typeface="新細明體" panose="02020500000000000000" pitchFamily="18" charset="-120"/>
              </a:rPr>
              <a:t>&lt;REUTERS </a:t>
            </a:r>
            <a:r>
              <a:rPr lang="en-US" altLang="zh-TW" sz="1600">
                <a:solidFill>
                  <a:srgbClr val="FF0000"/>
                </a:solidFill>
                <a:ea typeface="新細明體" panose="02020500000000000000" pitchFamily="18" charset="-120"/>
              </a:rPr>
              <a:t>TOPICS="YES" LEWISSPLIT="TRAIN" </a:t>
            </a:r>
            <a:r>
              <a:rPr lang="en-US" altLang="zh-TW" sz="1600">
                <a:ea typeface="新細明體" panose="02020500000000000000" pitchFamily="18" charset="-120"/>
              </a:rPr>
              <a:t>CGISPLIT="TRAINING-SET" OLDID="5544" </a:t>
            </a:r>
            <a:r>
              <a:rPr lang="en-US" altLang="zh-TW" sz="1600">
                <a:solidFill>
                  <a:srgbClr val="0000FF"/>
                </a:solidFill>
                <a:ea typeface="新細明體" panose="02020500000000000000" pitchFamily="18" charset="-120"/>
              </a:rPr>
              <a:t>NEWID="1"</a:t>
            </a:r>
            <a:r>
              <a:rPr lang="en-US" altLang="zh-TW" sz="1600">
                <a:ea typeface="新細明體" panose="02020500000000000000" pitchFamily="18" charset="-120"/>
              </a:rPr>
              <a:t>&gt;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en-US" altLang="zh-TW" sz="1600">
                <a:ea typeface="新細明體" panose="02020500000000000000" pitchFamily="18" charset="-120"/>
              </a:rPr>
              <a:t>&lt;DATE&gt;26-FEB-1987 15:01:01.79&lt;/DATE&gt;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en-US" altLang="zh-TW" sz="1600">
                <a:solidFill>
                  <a:srgbClr val="FF0000"/>
                </a:solidFill>
                <a:ea typeface="新細明體" panose="02020500000000000000" pitchFamily="18" charset="-120"/>
              </a:rPr>
              <a:t>&lt;TOPICS&gt;&lt;D&gt;cocoa&lt;/D&gt;&lt;/TOPICS&gt;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en-US" altLang="zh-TW" sz="1600">
                <a:ea typeface="新細明體" panose="02020500000000000000" pitchFamily="18" charset="-120"/>
              </a:rPr>
              <a:t>&lt;PLACES&gt;&lt;D&gt;el-salvador&lt;/D&gt;&lt;D&gt;usa&lt;/D&gt;&lt;D&gt;uruguay&lt;/D&gt;&lt;/PLACES&gt;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en-US" altLang="zh-TW" sz="1600">
                <a:ea typeface="新細明體" panose="02020500000000000000" pitchFamily="18" charset="-120"/>
              </a:rPr>
              <a:t>&lt;PEOPLE&gt;&lt;/PEOPLE&gt;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en-US" altLang="zh-TW" sz="1600">
                <a:ea typeface="新細明體" panose="02020500000000000000" pitchFamily="18" charset="-120"/>
              </a:rPr>
              <a:t>…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en-US" altLang="zh-TW" sz="1600">
                <a:ea typeface="新細明體" panose="02020500000000000000" pitchFamily="18" charset="-120"/>
              </a:rPr>
              <a:t>&lt;TEXT&gt;&amp;#2;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en-US" altLang="zh-TW" sz="1600">
                <a:ea typeface="新細明體" panose="02020500000000000000" pitchFamily="18" charset="-120"/>
              </a:rPr>
              <a:t>&lt;TITLE&gt;BAHIA COCOA REVIEW&lt;/TITLE&gt;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en-US" altLang="zh-TW" sz="1600">
                <a:ea typeface="新細明體" panose="02020500000000000000" pitchFamily="18" charset="-120"/>
              </a:rPr>
              <a:t>&lt;DATELINE&gt;    SALVADOR, Feb 26 - &lt;/DATELINE&gt;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en-US" altLang="zh-TW" sz="1600">
                <a:solidFill>
                  <a:srgbClr val="FF0000"/>
                </a:solidFill>
                <a:ea typeface="新細明體" panose="02020500000000000000" pitchFamily="18" charset="-120"/>
              </a:rPr>
              <a:t>&lt;BODY&gt;Showers continued throughout the week in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en-US" altLang="zh-TW" sz="1600">
                <a:solidFill>
                  <a:srgbClr val="FF0000"/>
                </a:solidFill>
                <a:ea typeface="新細明體" panose="02020500000000000000" pitchFamily="18" charset="-120"/>
              </a:rPr>
              <a:t>…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en-US" altLang="zh-TW" sz="1600">
                <a:solidFill>
                  <a:srgbClr val="FF0000"/>
                </a:solidFill>
                <a:ea typeface="新細明體" panose="02020500000000000000" pitchFamily="18" charset="-120"/>
              </a:rPr>
              <a:t>&amp;#3;&lt;/BODY&gt;</a:t>
            </a:r>
            <a:r>
              <a:rPr lang="en-US" altLang="zh-TW" sz="1600">
                <a:ea typeface="新細明體" panose="02020500000000000000" pitchFamily="18" charset="-120"/>
              </a:rPr>
              <a:t>&lt;/TEXT&gt;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en-US" altLang="zh-TW" sz="1600">
                <a:ea typeface="新細明體" panose="02020500000000000000" pitchFamily="18" charset="-120"/>
              </a:rPr>
              <a:t>&lt;/REUTERS&gt;</a:t>
            </a:r>
          </a:p>
        </p:txBody>
      </p:sp>
      <p:sp>
        <p:nvSpPr>
          <p:cNvPr id="1024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Mining &amp; Applications, Fall 2025</a:t>
            </a:r>
          </a:p>
        </p:txBody>
      </p:sp>
      <p:sp>
        <p:nvSpPr>
          <p:cNvPr id="1024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CSIE, IEECS</a:t>
            </a:r>
          </a:p>
        </p:txBody>
      </p:sp>
      <p:sp>
        <p:nvSpPr>
          <p:cNvPr id="1024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FAB2E62-CEB5-4611-97B7-167E2BCF41D9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12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7" name="圓角矩形圖說文字 3">
            <a:extLst>
              <a:ext uri="{FF2B5EF4-FFF2-40B4-BE49-F238E27FC236}">
                <a16:creationId xmlns:a16="http://schemas.microsoft.com/office/drawing/2014/main" id="{8D0FE429-0C6E-4BBB-82F9-A75669DB7C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7632" y="1258380"/>
            <a:ext cx="1914144" cy="680400"/>
          </a:xfrm>
          <a:prstGeom prst="wedgeRoundRectCallout">
            <a:avLst>
              <a:gd name="adj1" fmla="val -89389"/>
              <a:gd name="adj2" fmla="val 72067"/>
              <a:gd name="adj3" fmla="val 16667"/>
            </a:avLst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1800">
                <a:latin typeface="Arial" panose="020B0604020202020204" pitchFamily="34" charset="0"/>
                <a:ea typeface="新細明體" panose="02020500000000000000" pitchFamily="18" charset="-120"/>
              </a:rPr>
              <a:t>Training set in ModApte split</a:t>
            </a:r>
            <a:endParaRPr lang="zh-TW" altLang="en-US" sz="1800"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9" name="圓角矩形圖說文字 4">
            <a:extLst>
              <a:ext uri="{FF2B5EF4-FFF2-40B4-BE49-F238E27FC236}">
                <a16:creationId xmlns:a16="http://schemas.microsoft.com/office/drawing/2014/main" id="{1972A298-60DE-4E18-BA0F-79FD4CC1B5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7632" y="2519742"/>
            <a:ext cx="1914144" cy="402780"/>
          </a:xfrm>
          <a:prstGeom prst="wedgeRoundRectCallout">
            <a:avLst>
              <a:gd name="adj1" fmla="val -116554"/>
              <a:gd name="adj2" fmla="val 45094"/>
              <a:gd name="adj3" fmla="val 16667"/>
            </a:avLst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1800">
                <a:latin typeface="Arial" panose="020B0604020202020204" pitchFamily="34" charset="0"/>
                <a:ea typeface="新細明體" panose="02020500000000000000" pitchFamily="18" charset="-120"/>
              </a:rPr>
              <a:t>Topical category</a:t>
            </a:r>
            <a:endParaRPr lang="zh-TW" altLang="en-US" sz="1800"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10" name="圓角矩形圖說文字 5">
            <a:extLst>
              <a:ext uri="{FF2B5EF4-FFF2-40B4-BE49-F238E27FC236}">
                <a16:creationId xmlns:a16="http://schemas.microsoft.com/office/drawing/2014/main" id="{5A87EEB4-5514-40AB-BBD3-BED1E450F9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7632" y="4646676"/>
            <a:ext cx="1914144" cy="685800"/>
          </a:xfrm>
          <a:prstGeom prst="wedgeRoundRectCallout">
            <a:avLst>
              <a:gd name="adj1" fmla="val -142642"/>
              <a:gd name="adj2" fmla="val -9245"/>
              <a:gd name="adj3" fmla="val 16667"/>
            </a:avLst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1800">
                <a:latin typeface="Arial" panose="020B0604020202020204" pitchFamily="34" charset="0"/>
                <a:ea typeface="新細明體" panose="02020500000000000000" pitchFamily="18" charset="-120"/>
              </a:rPr>
              <a:t>Text content</a:t>
            </a:r>
            <a:endParaRPr lang="zh-TW" altLang="en-US" sz="1800"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795142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zh-TW" sz="3200"/>
              <a:t>Performance Evaluation Metrics</a:t>
            </a:r>
            <a:endParaRPr lang="zh-TW" altLang="en-US" sz="3200"/>
          </a:p>
        </p:txBody>
      </p:sp>
      <p:sp>
        <p:nvSpPr>
          <p:cNvPr id="9219" name="內容版面配置區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754561"/>
          </a:xfrm>
        </p:spPr>
        <p:txBody>
          <a:bodyPr>
            <a:noAutofit/>
          </a:bodyPr>
          <a:lstStyle/>
          <a:p>
            <a:pPr marL="228600" lvl="1">
              <a:spcBef>
                <a:spcPts val="1000"/>
              </a:spcBef>
            </a:pPr>
            <a:r>
              <a:rPr lang="en-US" altLang="zh-TW" sz="2400" dirty="0">
                <a:ea typeface="新細明體" charset="-120"/>
              </a:rPr>
              <a:t>Automatically classifying </a:t>
            </a:r>
            <a:r>
              <a:rPr lang="en-US" altLang="zh-TW" sz="2400" dirty="0">
                <a:solidFill>
                  <a:srgbClr val="FF0000"/>
                </a:solidFill>
                <a:ea typeface="新細明體" charset="-120"/>
              </a:rPr>
              <a:t>all</a:t>
            </a:r>
            <a:r>
              <a:rPr lang="en-US" altLang="zh-TW" sz="2400" dirty="0">
                <a:ea typeface="新細明體" charset="-120"/>
              </a:rPr>
              <a:t> test documents in </a:t>
            </a:r>
            <a:r>
              <a:rPr lang="en-US" altLang="zh-TW" sz="2400" dirty="0" err="1">
                <a:ea typeface="新細明體" charset="-120"/>
              </a:rPr>
              <a:t>ModApte</a:t>
            </a:r>
            <a:r>
              <a:rPr lang="en-US" altLang="zh-TW" sz="2400" dirty="0">
                <a:ea typeface="新細明體" charset="-120"/>
              </a:rPr>
              <a:t> split</a:t>
            </a:r>
          </a:p>
          <a:p>
            <a:pPr marL="228600" lvl="1">
              <a:spcBef>
                <a:spcPts val="1000"/>
              </a:spcBef>
            </a:pPr>
            <a:r>
              <a:rPr lang="en-US" altLang="zh-TW" sz="2400" dirty="0">
                <a:ea typeface="新細明體" charset="-120"/>
              </a:rPr>
              <a:t>You have to show the evaluation results for classification effectiveness</a:t>
            </a:r>
          </a:p>
          <a:p>
            <a:pPr marL="685800" lvl="2">
              <a:spcBef>
                <a:spcPts val="1000"/>
              </a:spcBef>
            </a:pPr>
            <a:r>
              <a:rPr lang="en-US" altLang="zh-TW" dirty="0">
                <a:ea typeface="新細明體" charset="-120"/>
              </a:rPr>
              <a:t>TP, TN, FP, FN</a:t>
            </a:r>
          </a:p>
          <a:p>
            <a:pPr marL="685800" lvl="2">
              <a:spcBef>
                <a:spcPts val="1000"/>
              </a:spcBef>
            </a:pPr>
            <a:r>
              <a:rPr lang="en-US" altLang="zh-TW" dirty="0">
                <a:ea typeface="新細明體" charset="-120"/>
              </a:rPr>
              <a:t>precision, recall, F1-score, accuracy</a:t>
            </a:r>
          </a:p>
          <a:p>
            <a:pPr marL="228600" lvl="1">
              <a:spcBef>
                <a:spcPts val="1000"/>
              </a:spcBef>
            </a:pPr>
            <a:r>
              <a:rPr lang="en-US" altLang="zh-TW" sz="2400" dirty="0">
                <a:ea typeface="新細明體" charset="-120"/>
              </a:rPr>
              <a:t>Also show the efficiency for the system running time</a:t>
            </a:r>
          </a:p>
          <a:p>
            <a:pPr marL="0" indent="0">
              <a:buNone/>
            </a:pPr>
            <a:endParaRPr lang="zh-TW" altLang="en-US" sz="2400" dirty="0"/>
          </a:p>
          <a:p>
            <a:pPr marL="0" indent="0">
              <a:lnSpc>
                <a:spcPct val="80000"/>
              </a:lnSpc>
              <a:buNone/>
            </a:pPr>
            <a:endParaRPr lang="en-US" altLang="zh-TW" sz="2400" dirty="0">
              <a:ea typeface="新細明體" panose="02020500000000000000" pitchFamily="18" charset="-120"/>
            </a:endParaRPr>
          </a:p>
        </p:txBody>
      </p:sp>
      <p:sp>
        <p:nvSpPr>
          <p:cNvPr id="1024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Mining &amp; Applications, Fall 2025</a:t>
            </a:r>
          </a:p>
        </p:txBody>
      </p:sp>
      <p:sp>
        <p:nvSpPr>
          <p:cNvPr id="1024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CSIE, IEECS</a:t>
            </a:r>
          </a:p>
        </p:txBody>
      </p:sp>
      <p:sp>
        <p:nvSpPr>
          <p:cNvPr id="1024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FAB2E62-CEB5-4611-97B7-167E2BCF41D9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13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45704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zh-TW" sz="3200"/>
              <a:t>Homework Submission</a:t>
            </a:r>
            <a:endParaRPr lang="zh-TW" altLang="en-US" sz="3200"/>
          </a:p>
        </p:txBody>
      </p:sp>
      <p:sp>
        <p:nvSpPr>
          <p:cNvPr id="9219" name="內容版面配置區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754561"/>
          </a:xfrm>
        </p:spPr>
        <p:txBody>
          <a:bodyPr>
            <a:noAutofit/>
          </a:bodyPr>
          <a:lstStyle/>
          <a:p>
            <a:r>
              <a:rPr lang="en-US" altLang="zh-TW" sz="2400" dirty="0"/>
              <a:t>For implementation projects, please submit a compressed file containing: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600" dirty="0"/>
              <a:t>A document showing your environment setup</a:t>
            </a:r>
          </a:p>
          <a:p>
            <a:pPr lvl="2"/>
            <a:r>
              <a:rPr lang="en-US" altLang="zh-TW" sz="1600" dirty="0"/>
              <a:t>PCs/VMs, platform spec, CPU cores, memory size, …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600" dirty="0"/>
              <a:t>Your </a:t>
            </a:r>
            <a:r>
              <a:rPr lang="en-US" altLang="zh-TW" sz="1600" dirty="0">
                <a:solidFill>
                  <a:srgbClr val="FF0000"/>
                </a:solidFill>
              </a:rPr>
              <a:t>source codes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rgbClr val="FF0000"/>
                </a:solidFill>
              </a:rPr>
              <a:t>The generated output</a:t>
            </a:r>
            <a:r>
              <a:rPr lang="en-US" altLang="zh-TW" sz="1600" dirty="0"/>
              <a:t> (or snapshots)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rgbClr val="FF0000"/>
                </a:solidFill>
              </a:rPr>
              <a:t>Documentation</a:t>
            </a:r>
            <a:r>
              <a:rPr lang="en-US" altLang="zh-TW" sz="1600" dirty="0"/>
              <a:t> on how to compile, install, or configure the environment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600" dirty="0"/>
              <a:t>Remember to specify </a:t>
            </a:r>
            <a:r>
              <a:rPr lang="en-US" altLang="zh-TW" sz="1600" b="1" dirty="0">
                <a:solidFill>
                  <a:srgbClr val="0000FF"/>
                </a:solidFill>
              </a:rPr>
              <a:t>your name, student ID and your department </a:t>
            </a:r>
            <a:r>
              <a:rPr lang="en-US" altLang="zh-TW" sz="1600" dirty="0"/>
              <a:t>in the documentation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rgbClr val="FF0000"/>
                </a:solidFill>
              </a:rPr>
              <a:t>Team members list</a:t>
            </a:r>
            <a:r>
              <a:rPr lang="en-US" altLang="zh-TW" sz="1600" dirty="0"/>
              <a:t>: The names and the responsible parts of each individual member *should* be clearly identified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altLang="zh-TW" sz="2000" dirty="0"/>
          </a:p>
          <a:p>
            <a:r>
              <a:rPr lang="en-US" altLang="zh-TW" sz="2400" dirty="0"/>
              <a:t>Due: 2 weeks (</a:t>
            </a:r>
            <a:r>
              <a:rPr lang="en-US" altLang="zh-TW" sz="2400" dirty="0">
                <a:solidFill>
                  <a:srgbClr val="FF0000"/>
                </a:solidFill>
              </a:rPr>
              <a:t>Nov. 24, 2025</a:t>
            </a:r>
            <a:r>
              <a:rPr lang="en-US" altLang="zh-TW" sz="2400" dirty="0"/>
              <a:t>)</a:t>
            </a:r>
          </a:p>
        </p:txBody>
      </p:sp>
      <p:sp>
        <p:nvSpPr>
          <p:cNvPr id="1024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Mining &amp; Applications, Fall 2025</a:t>
            </a:r>
          </a:p>
        </p:txBody>
      </p:sp>
      <p:sp>
        <p:nvSpPr>
          <p:cNvPr id="1024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CSIE, IEECS</a:t>
            </a:r>
          </a:p>
        </p:txBody>
      </p:sp>
      <p:sp>
        <p:nvSpPr>
          <p:cNvPr id="1024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FAB2E62-CEB5-4611-97B7-167E2BCF41D9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14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94437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zh-TW" sz="3200"/>
              <a:t>Homework Submission Site</a:t>
            </a:r>
            <a:endParaRPr lang="zh-TW" altLang="en-US" sz="3200"/>
          </a:p>
        </p:txBody>
      </p:sp>
      <p:sp>
        <p:nvSpPr>
          <p:cNvPr id="9219" name="內容版面配置區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754561"/>
          </a:xfrm>
        </p:spPr>
        <p:txBody>
          <a:bodyPr>
            <a:noAutofit/>
          </a:bodyPr>
          <a:lstStyle/>
          <a:p>
            <a:r>
              <a:rPr lang="en-US" altLang="zh-TW" sz="2400" dirty="0"/>
              <a:t>Programs or projects in electronic files must be submitted directly to the TA online at </a:t>
            </a:r>
            <a:r>
              <a:rPr lang="en-US" altLang="zh-TW" sz="2400" dirty="0" err="1">
                <a:solidFill>
                  <a:srgbClr val="0000FF"/>
                </a:solidFill>
              </a:rPr>
              <a:t>iSchool</a:t>
            </a:r>
            <a:r>
              <a:rPr lang="en-US" altLang="zh-TW" sz="2400" dirty="0">
                <a:solidFill>
                  <a:srgbClr val="0000FF"/>
                </a:solidFill>
              </a:rPr>
              <a:t>+</a:t>
            </a:r>
            <a:r>
              <a:rPr lang="en-US" altLang="zh-TW" sz="2400" dirty="0"/>
              <a:t>  </a:t>
            </a:r>
          </a:p>
          <a:p>
            <a:r>
              <a:rPr lang="en-US" altLang="zh-TW" sz="2400" dirty="0"/>
              <a:t>If you cannot successfully submit your work, please contact with the TA or the instructor</a:t>
            </a:r>
          </a:p>
          <a:p>
            <a:endParaRPr lang="en-US" altLang="zh-TW" sz="2000" dirty="0"/>
          </a:p>
        </p:txBody>
      </p:sp>
      <p:sp>
        <p:nvSpPr>
          <p:cNvPr id="1024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Mining &amp; Applications, Fall 2025</a:t>
            </a:r>
          </a:p>
        </p:txBody>
      </p:sp>
      <p:sp>
        <p:nvSpPr>
          <p:cNvPr id="1024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CSIE, IEECS</a:t>
            </a:r>
          </a:p>
        </p:txBody>
      </p:sp>
      <p:sp>
        <p:nvSpPr>
          <p:cNvPr id="1024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FAB2E62-CEB5-4611-97B7-167E2BCF41D9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15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87699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zh-TW" sz="3200"/>
              <a:t>Evaluation of Results</a:t>
            </a:r>
            <a:endParaRPr lang="zh-TW" altLang="en-US" sz="3200"/>
          </a:p>
        </p:txBody>
      </p:sp>
      <p:sp>
        <p:nvSpPr>
          <p:cNvPr id="9219" name="內容版面配置區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754561"/>
          </a:xfrm>
        </p:spPr>
        <p:txBody>
          <a:bodyPr>
            <a:noAutofit/>
          </a:bodyPr>
          <a:lstStyle/>
          <a:p>
            <a:r>
              <a:rPr lang="en-US" altLang="zh-TW" sz="2000" dirty="0"/>
              <a:t>In completion of each of the tasks, you get part of the scores</a:t>
            </a:r>
          </a:p>
          <a:p>
            <a:endParaRPr lang="en-US" altLang="zh-TW"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2000" dirty="0">
                <a:solidFill>
                  <a:srgbClr val="0000FF"/>
                </a:solidFill>
              </a:rPr>
              <a:t>Correctness</a:t>
            </a:r>
            <a:r>
              <a:rPr lang="en-US" altLang="zh-TW" sz="2000" dirty="0"/>
              <a:t> of output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2000" dirty="0">
                <a:solidFill>
                  <a:srgbClr val="FF0000"/>
                </a:solidFill>
              </a:rPr>
              <a:t>Efficiency </a:t>
            </a:r>
            <a:r>
              <a:rPr lang="en-US" altLang="zh-TW" sz="2000" dirty="0"/>
              <a:t>in processing</a:t>
            </a:r>
            <a:r>
              <a:rPr lang="en-US" altLang="zh-TW" sz="2000" dirty="0">
                <a:solidFill>
                  <a:srgbClr val="FF0000"/>
                </a:solidFill>
              </a:rPr>
              <a:t> </a:t>
            </a:r>
            <a:r>
              <a:rPr lang="en-US" altLang="zh-TW" sz="2000" dirty="0"/>
              <a:t>(Please output / screenshot your processing time)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sz="2000" dirty="0"/>
              <a:t>In completion of each of the subtasks, you get part of the scores</a:t>
            </a:r>
          </a:p>
          <a:p>
            <a:pPr marL="0" indent="0">
              <a:buNone/>
            </a:pPr>
            <a:endParaRPr lang="en-US" altLang="zh-TW" sz="2000" dirty="0"/>
          </a:p>
          <a:p>
            <a:r>
              <a:rPr lang="en-US" altLang="zh-TW" sz="2000" dirty="0"/>
              <a:t>You might need to demo if your program was unable to run</a:t>
            </a:r>
          </a:p>
          <a:p>
            <a:endParaRPr lang="zh-TW" altLang="en-US" sz="2000" dirty="0"/>
          </a:p>
        </p:txBody>
      </p:sp>
      <p:sp>
        <p:nvSpPr>
          <p:cNvPr id="1024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Mining &amp; Applications, Fall 2025</a:t>
            </a:r>
          </a:p>
        </p:txBody>
      </p:sp>
      <p:sp>
        <p:nvSpPr>
          <p:cNvPr id="1024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CSIE, IEECS</a:t>
            </a:r>
          </a:p>
        </p:txBody>
      </p:sp>
      <p:sp>
        <p:nvSpPr>
          <p:cNvPr id="1024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FAB2E62-CEB5-4611-97B7-167E2BCF41D9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16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28448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zh-TW" sz="3200"/>
              <a:t>References</a:t>
            </a:r>
            <a:endParaRPr lang="zh-TW" altLang="en-US" sz="3200"/>
          </a:p>
        </p:txBody>
      </p:sp>
      <p:sp>
        <p:nvSpPr>
          <p:cNvPr id="9219" name="內容版面配置區 2"/>
          <p:cNvSpPr>
            <a:spLocks noGrp="1"/>
          </p:cNvSpPr>
          <p:nvPr>
            <p:ph idx="1"/>
          </p:nvPr>
        </p:nvSpPr>
        <p:spPr>
          <a:xfrm>
            <a:off x="457200" y="1194816"/>
            <a:ext cx="8229600" cy="4977383"/>
          </a:xfrm>
        </p:spPr>
        <p:txBody>
          <a:bodyPr>
            <a:noAutofit/>
          </a:bodyPr>
          <a:lstStyle/>
          <a:p>
            <a:r>
              <a:rPr lang="en-US" altLang="zh-TW" sz="1600"/>
              <a:t>Related Paper on the dataset:</a:t>
            </a:r>
          </a:p>
          <a:p>
            <a:pPr lvl="1"/>
            <a:r>
              <a:rPr lang="en-US" altLang="zh-TW" sz="1600"/>
              <a:t>Chidanand Apt, Fred Damerau, Sholom M. Weiss. "Automated Learning of Decision Rules for Text Categorization." ACM Transactions on Information Systems, 1994. </a:t>
            </a:r>
            <a:br>
              <a:rPr lang="en-US" altLang="zh-TW" sz="1600"/>
            </a:br>
            <a:r>
              <a:rPr lang="en-US" altLang="zh-TW" sz="1600">
                <a:hlinkClick r:id="rId2"/>
              </a:rPr>
              <a:t>[Web Link]</a:t>
            </a:r>
            <a:r>
              <a:rPr lang="en-US" altLang="zh-TW" sz="1600"/>
              <a:t> </a:t>
            </a:r>
          </a:p>
          <a:p>
            <a:pPr lvl="1"/>
            <a:r>
              <a:rPr lang="en-US" altLang="zh-TW" sz="1600"/>
              <a:t>Chidanand Apt, Fred Damerau, Sholom M. Weiss, "Toward Language Independent Automated Learning of Text Categorization Models." SIGIR 1994. </a:t>
            </a:r>
            <a:br>
              <a:rPr lang="en-US" altLang="zh-TW" sz="1600"/>
            </a:br>
            <a:r>
              <a:rPr lang="en-US" altLang="zh-TW" sz="1600">
                <a:hlinkClick r:id="rId3"/>
              </a:rPr>
              <a:t>[Web Link]</a:t>
            </a:r>
            <a:r>
              <a:rPr lang="en-US" altLang="zh-TW" sz="1600"/>
              <a:t> </a:t>
            </a:r>
          </a:p>
          <a:p>
            <a:pPr lvl="1"/>
            <a:r>
              <a:rPr lang="en-US" altLang="zh-TW" sz="1600"/>
              <a:t>Philip J. Hayes, Peggy M. Anderson, rene B. Nirenburg, Linda M. Schmandt. "TCS: A Shell for Content-Based Text Categorization." IEEE Conference on Artificial Intelligence Applications, 1990. </a:t>
            </a:r>
            <a:br>
              <a:rPr lang="en-US" altLang="zh-TW" sz="1600"/>
            </a:br>
            <a:r>
              <a:rPr lang="en-US" altLang="zh-TW" sz="1600">
                <a:hlinkClick r:id="rId4"/>
              </a:rPr>
              <a:t>[Web Link]</a:t>
            </a:r>
            <a:r>
              <a:rPr lang="en-US" altLang="zh-TW" sz="1600"/>
              <a:t> </a:t>
            </a:r>
          </a:p>
          <a:p>
            <a:pPr lvl="1"/>
            <a:r>
              <a:rPr lang="en-US" altLang="zh-TW" sz="1600"/>
              <a:t>Philip J. Hayes and Steven P. Weinstein. "CONSTRUE/TIS: A System for Content-Based Indexing of a Database of News Stories." Second Annual Conference on Innovative Applications of Artificial Intelligence, 1990. </a:t>
            </a:r>
            <a:br>
              <a:rPr lang="en-US" altLang="zh-TW" sz="1600"/>
            </a:br>
            <a:r>
              <a:rPr lang="en-US" altLang="zh-TW" sz="1600">
                <a:hlinkClick r:id="rId5"/>
              </a:rPr>
              <a:t>[Web Link] </a:t>
            </a:r>
            <a:endParaRPr lang="en-US" altLang="zh-TW" sz="1600"/>
          </a:p>
          <a:p>
            <a:r>
              <a:rPr lang="en-US" altLang="zh-TW" sz="1600" b="1"/>
              <a:t>Source:</a:t>
            </a:r>
            <a:r>
              <a:rPr lang="en-US" altLang="zh-TW" sz="1600"/>
              <a:t> David D. Lewis, AT&amp;T Labs – Research, </a:t>
            </a:r>
            <a:r>
              <a:rPr lang="en-US" altLang="zh-TW" sz="1600" u="sng"/>
              <a:t>lewis </a:t>
            </a:r>
            <a:r>
              <a:rPr lang="en-US" altLang="zh-TW" sz="1600" b="1" u="sng"/>
              <a:t>'@'</a:t>
            </a:r>
            <a:r>
              <a:rPr lang="en-US" altLang="zh-TW" sz="1600" u="sng"/>
              <a:t> research.att.com</a:t>
            </a:r>
            <a:r>
              <a:rPr lang="en-US" altLang="zh-TW" sz="1600"/>
              <a:t> </a:t>
            </a:r>
          </a:p>
          <a:p>
            <a:r>
              <a:rPr lang="en-US" altLang="zh-TW" sz="1600"/>
              <a:t>The dataset "Reuters-21578, Distribution 1.0” is available for research purpose only, and it must be cited for any results produced and published.</a:t>
            </a:r>
            <a:endParaRPr lang="zh-TW" altLang="en-US" sz="1600" dirty="0"/>
          </a:p>
        </p:txBody>
      </p:sp>
      <p:sp>
        <p:nvSpPr>
          <p:cNvPr id="1024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Mining &amp; Applications, Fall 2025</a:t>
            </a:r>
          </a:p>
        </p:txBody>
      </p:sp>
      <p:sp>
        <p:nvSpPr>
          <p:cNvPr id="1024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CSIE, IEECS</a:t>
            </a:r>
          </a:p>
        </p:txBody>
      </p:sp>
      <p:sp>
        <p:nvSpPr>
          <p:cNvPr id="1024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FAB2E62-CEB5-4611-97B7-167E2BCF41D9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17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97118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Mining &amp; Applications, Fall 2025</a:t>
            </a:r>
          </a:p>
        </p:txBody>
      </p:sp>
      <p:sp>
        <p:nvSpPr>
          <p:cNvPr id="3891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CSIE, IEECS</a:t>
            </a:r>
          </a:p>
        </p:txBody>
      </p:sp>
      <p:sp>
        <p:nvSpPr>
          <p:cNvPr id="3891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168B3B14-7943-4F32-9328-A4C4078DFDF0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18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3891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l" eaLnBrk="1" hangingPunct="1"/>
            <a:r>
              <a:rPr lang="en-US" altLang="zh-TW" sz="3200"/>
              <a:t>Questions or Comments?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預設簡報設計">
  <a:themeElements>
    <a:clrScheme name="預設簡報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預設簡報設計">
      <a:majorFont>
        <a:latin typeface="Book Antiqua"/>
        <a:ea typeface="新細明體"/>
        <a:cs typeface=""/>
      </a:majorFont>
      <a:minorFont>
        <a:latin typeface="Book Antiqua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文件" ma:contentTypeID="0x010100CD7C3B1DE9EC174B8BA3B585D24F6191" ma:contentTypeVersion="9" ma:contentTypeDescription="建立新的文件。" ma:contentTypeScope="" ma:versionID="fc8995282d5575718c8545977d9a162e">
  <xsd:schema xmlns:xsd="http://www.w3.org/2001/XMLSchema" xmlns:xs="http://www.w3.org/2001/XMLSchema" xmlns:p="http://schemas.microsoft.com/office/2006/metadata/properties" xmlns:ns2="87d63e5e-dbb1-48d6-b55e-f31be5250adf" xmlns:ns3="5ec4d5cc-f3e4-4cb6-9660-c3ee0f8ba627" targetNamespace="http://schemas.microsoft.com/office/2006/metadata/properties" ma:root="true" ma:fieldsID="d106560f30a6cbf1f3ea6f6476f43159" ns2:_="" ns3:_="">
    <xsd:import namespace="87d63e5e-dbb1-48d6-b55e-f31be5250adf"/>
    <xsd:import namespace="5ec4d5cc-f3e4-4cb6-9660-c3ee0f8ba62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7d63e5e-dbb1-48d6-b55e-f31be5250ad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4d5cc-f3e4-4cb6-9660-c3ee0f8ba62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共用對象: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共用詳細資料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內容類型"/>
        <xsd:element ref="dc:title" minOccurs="0" maxOccurs="1" ma:index="4" ma:displayName="標題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3C8F21-5442-4811-AD37-E39D2F83CAEB}">
  <ds:schemaRefs>
    <ds:schemaRef ds:uri="5ec4d5cc-f3e4-4cb6-9660-c3ee0f8ba627"/>
    <ds:schemaRef ds:uri="87d63e5e-dbb1-48d6-b55e-f31be5250adf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956FD376-3A59-466C-9035-95669A142593}">
  <ds:schemaRefs>
    <ds:schemaRef ds:uri="5ec4d5cc-f3e4-4cb6-9660-c3ee0f8ba627"/>
    <ds:schemaRef ds:uri="87d63e5e-dbb1-48d6-b55e-f31be5250ad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6A1B13E3-E4E8-4EF1-807D-F507603EC49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174</TotalTime>
  <Words>1544</Words>
  <Application>Microsoft Office PowerPoint</Application>
  <PresentationFormat>如螢幕大小 (4:3)</PresentationFormat>
  <Paragraphs>223</Paragraphs>
  <Slides>18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1" baseType="lpstr">
      <vt:lpstr>Arial</vt:lpstr>
      <vt:lpstr>Book Antiqua</vt:lpstr>
      <vt:lpstr>預設簡報設計</vt:lpstr>
      <vt:lpstr>Big Data Mining: HW#3 </vt:lpstr>
      <vt:lpstr>Programming Exercise #3: Finding Similar Documents using LSH</vt:lpstr>
      <vt:lpstr>Input Data</vt:lpstr>
      <vt:lpstr>3 Essential Steps for Similar Docs</vt:lpstr>
      <vt:lpstr>The Big Picture</vt:lpstr>
      <vt:lpstr>Task Description</vt:lpstr>
      <vt:lpstr>Output Format</vt:lpstr>
      <vt:lpstr>Implementation Notes</vt:lpstr>
      <vt:lpstr>More on Performance Evaluation for LSH</vt:lpstr>
      <vt:lpstr>Predefined Categories in Reuters-21578</vt:lpstr>
      <vt:lpstr>Training and Test Sets</vt:lpstr>
      <vt:lpstr>An Example Reuters Article</vt:lpstr>
      <vt:lpstr>Performance Evaluation Metrics</vt:lpstr>
      <vt:lpstr>Homework Submission</vt:lpstr>
      <vt:lpstr>Homework Submission Site</vt:lpstr>
      <vt:lpstr>Evaluation of Results</vt:lpstr>
      <vt:lpstr>References</vt:lpstr>
      <vt:lpstr>Questions or Comments?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jhwang</dc:creator>
  <cp:lastModifiedBy>Chris Wang</cp:lastModifiedBy>
  <cp:revision>33</cp:revision>
  <cp:lastPrinted>1601-01-01T00:00:00Z</cp:lastPrinted>
  <dcterms:created xsi:type="dcterms:W3CDTF">1601-01-01T00:00:00Z</dcterms:created>
  <dcterms:modified xsi:type="dcterms:W3CDTF">2025-11-07T08:45:02Z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  <property fmtid="{D5CDD505-2E9C-101B-9397-08002B2CF9AE}" pid="3" name="ContentTypeId">
    <vt:lpwstr>0x010100CD7C3B1DE9EC174B8BA3B585D24F6191</vt:lpwstr>
  </property>
</Properties>
</file>