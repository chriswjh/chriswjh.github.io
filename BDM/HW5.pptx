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483" r:id="rId6"/>
    <p:sldId id="274" r:id="rId7"/>
    <p:sldId id="485" r:id="rId8"/>
    <p:sldId id="486" r:id="rId9"/>
    <p:sldId id="490" r:id="rId10"/>
    <p:sldId id="491" r:id="rId11"/>
    <p:sldId id="492" r:id="rId12"/>
    <p:sldId id="488" r:id="rId13"/>
    <p:sldId id="283" r:id="rId14"/>
  </p:sldIdLst>
  <p:sldSz cx="9144000" cy="6858000" type="screen4x3"/>
  <p:notesSz cx="6669088" cy="9928225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66CCFF"/>
    <a:srgbClr val="CCFFFF"/>
    <a:srgbClr val="FF9900"/>
    <a:srgbClr val="66FF99"/>
    <a:srgbClr val="FFFFCC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7884CF-B05B-4704-A863-9A50F7E2476B}" v="24" dt="2023-10-26T06:40:46.449"/>
    <p1510:client id="{31C75E6F-2AD5-431D-9804-2600BC54A2D3}" v="7" dt="2023-10-19T07:46:51.529"/>
    <p1510:client id="{9839181E-A5FD-4084-92AF-7486788F5F8D}" v="2" dt="2023-10-25T13:26:37.1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40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盧永合" userId="S::111998413@cc.ntut.edu.tw::51dde39c-1691-458c-b840-9dbc3dd1ae57" providerId="AD" clId="Web-{31C75E6F-2AD5-431D-9804-2600BC54A2D3}"/>
    <pc:docChg chg="modSld">
      <pc:chgData name="盧永合" userId="S::111998413@cc.ntut.edu.tw::51dde39c-1691-458c-b840-9dbc3dd1ae57" providerId="AD" clId="Web-{31C75E6F-2AD5-431D-9804-2600BC54A2D3}" dt="2023-10-19T07:46:49.013" v="5" actId="20577"/>
      <pc:docMkLst>
        <pc:docMk/>
      </pc:docMkLst>
      <pc:sldChg chg="modSp">
        <pc:chgData name="盧永合" userId="S::111998413@cc.ntut.edu.tw::51dde39c-1691-458c-b840-9dbc3dd1ae57" providerId="AD" clId="Web-{31C75E6F-2AD5-431D-9804-2600BC54A2D3}" dt="2023-10-19T07:46:49.013" v="5" actId="20577"/>
        <pc:sldMkLst>
          <pc:docMk/>
          <pc:sldMk cId="633942577" sldId="485"/>
        </pc:sldMkLst>
        <pc:spChg chg="mod">
          <ac:chgData name="盧永合" userId="S::111998413@cc.ntut.edu.tw::51dde39c-1691-458c-b840-9dbc3dd1ae57" providerId="AD" clId="Web-{31C75E6F-2AD5-431D-9804-2600BC54A2D3}" dt="2023-10-19T07:46:49.013" v="5" actId="20577"/>
          <ac:spMkLst>
            <pc:docMk/>
            <pc:sldMk cId="633942577" sldId="485"/>
            <ac:spMk id="9219" creationId="{00000000-0000-0000-0000-000000000000}"/>
          </ac:spMkLst>
        </pc:spChg>
      </pc:sldChg>
    </pc:docChg>
  </pc:docChgLst>
  <pc:docChgLst>
    <pc:chgData name="盧永合" userId="S::111998413@cc.ntut.edu.tw::51dde39c-1691-458c-b840-9dbc3dd1ae57" providerId="AD" clId="Web-{2E7884CF-B05B-4704-A863-9A50F7E2476B}"/>
    <pc:docChg chg="modSld">
      <pc:chgData name="盧永合" userId="S::111998413@cc.ntut.edu.tw::51dde39c-1691-458c-b840-9dbc3dd1ae57" providerId="AD" clId="Web-{2E7884CF-B05B-4704-A863-9A50F7E2476B}" dt="2023-10-26T06:40:46.449" v="23" actId="20577"/>
      <pc:docMkLst>
        <pc:docMk/>
      </pc:docMkLst>
      <pc:sldChg chg="modSp">
        <pc:chgData name="盧永合" userId="S::111998413@cc.ntut.edu.tw::51dde39c-1691-458c-b840-9dbc3dd1ae57" providerId="AD" clId="Web-{2E7884CF-B05B-4704-A863-9A50F7E2476B}" dt="2023-10-26T06:39:57.415" v="16" actId="20577"/>
        <pc:sldMkLst>
          <pc:docMk/>
          <pc:sldMk cId="633942577" sldId="485"/>
        </pc:sldMkLst>
        <pc:spChg chg="mod">
          <ac:chgData name="盧永合" userId="S::111998413@cc.ntut.edu.tw::51dde39c-1691-458c-b840-9dbc3dd1ae57" providerId="AD" clId="Web-{2E7884CF-B05B-4704-A863-9A50F7E2476B}" dt="2023-10-26T06:39:57.415" v="16" actId="20577"/>
          <ac:spMkLst>
            <pc:docMk/>
            <pc:sldMk cId="633942577" sldId="485"/>
            <ac:spMk id="9219" creationId="{00000000-0000-0000-0000-000000000000}"/>
          </ac:spMkLst>
        </pc:spChg>
      </pc:sldChg>
      <pc:sldChg chg="modSp">
        <pc:chgData name="盧永合" userId="S::111998413@cc.ntut.edu.tw::51dde39c-1691-458c-b840-9dbc3dd1ae57" providerId="AD" clId="Web-{2E7884CF-B05B-4704-A863-9A50F7E2476B}" dt="2023-10-26T06:40:46.449" v="23" actId="20577"/>
        <pc:sldMkLst>
          <pc:docMk/>
          <pc:sldMk cId="3564677727" sldId="486"/>
        </pc:sldMkLst>
        <pc:spChg chg="mod">
          <ac:chgData name="盧永合" userId="S::111998413@cc.ntut.edu.tw::51dde39c-1691-458c-b840-9dbc3dd1ae57" providerId="AD" clId="Web-{2E7884CF-B05B-4704-A863-9A50F7E2476B}" dt="2023-10-26T06:40:46.449" v="23" actId="20577"/>
          <ac:spMkLst>
            <pc:docMk/>
            <pc:sldMk cId="3564677727" sldId="486"/>
            <ac:spMk id="9219" creationId="{00000000-0000-0000-0000-000000000000}"/>
          </ac:spMkLst>
        </pc:spChg>
      </pc:sldChg>
    </pc:docChg>
  </pc:docChgLst>
  <pc:docChgLst>
    <pc:chgData name="楊淨雯" userId="S::112598017@cc.ntut.edu.tw::7f2610d6-a863-4d1e-b960-0612953df963" providerId="AD" clId="Web-{9839181E-A5FD-4084-92AF-7486788F5F8D}"/>
    <pc:docChg chg="sldOrd">
      <pc:chgData name="楊淨雯" userId="S::112598017@cc.ntut.edu.tw::7f2610d6-a863-4d1e-b960-0612953df963" providerId="AD" clId="Web-{9839181E-A5FD-4084-92AF-7486788F5F8D}" dt="2023-10-25T13:26:37.169" v="1"/>
      <pc:docMkLst>
        <pc:docMk/>
      </pc:docMkLst>
      <pc:sldChg chg="ord">
        <pc:chgData name="楊淨雯" userId="S::112598017@cc.ntut.edu.tw::7f2610d6-a863-4d1e-b960-0612953df963" providerId="AD" clId="Web-{9839181E-A5FD-4084-92AF-7486788F5F8D}" dt="2023-10-25T13:26:37.169" v="1"/>
        <pc:sldMkLst>
          <pc:docMk/>
          <pc:sldMk cId="0" sldId="274"/>
        </pc:sldMkLst>
      </pc:sldChg>
      <pc:sldChg chg="ord">
        <pc:chgData name="楊淨雯" userId="S::112598017@cc.ntut.edu.tw::7f2610d6-a863-4d1e-b960-0612953df963" providerId="AD" clId="Web-{9839181E-A5FD-4084-92AF-7486788F5F8D}" dt="2023-10-25T13:16:57.796" v="0"/>
        <pc:sldMkLst>
          <pc:docMk/>
          <pc:sldMk cId="1113098904" sldId="48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3757D5D-D1AF-4826-8377-32FD1A2255D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2488" y="744538"/>
            <a:ext cx="4964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716463"/>
            <a:ext cx="5335588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A0504BC-C9BE-43C6-B3F3-B0FBE0E426C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93AA2B1-3269-44FF-BD7C-F603E9264FE8}" type="slidenum">
              <a:rPr lang="en-US" altLang="zh-TW" smtClean="0"/>
              <a:pPr>
                <a:spcBef>
                  <a:spcPct val="0"/>
                </a:spcBef>
              </a:pPr>
              <a:t>1</a:t>
            </a:fld>
            <a:endParaRPr lang="en-US" altLang="zh-TW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C8A9CC95-CBB4-4C50-9694-3C9EA672D978}" type="slidenum">
              <a:rPr lang="en-US" altLang="zh-TW" smtClean="0"/>
              <a:pPr>
                <a:spcBef>
                  <a:spcPct val="0"/>
                </a:spcBef>
              </a:pPr>
              <a:t>2</a:t>
            </a:fld>
            <a:endParaRPr lang="en-US" altLang="zh-TW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D7C2B61-2071-4AA1-9B33-BCBE676BD67C}" type="slidenum">
              <a:rPr lang="en-US" altLang="zh-TW" smtClean="0"/>
              <a:pPr>
                <a:spcBef>
                  <a:spcPct val="0"/>
                </a:spcBef>
              </a:pPr>
              <a:t>3</a:t>
            </a:fld>
            <a:endParaRPr lang="en-US" altLang="zh-TW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2193802-E272-47D9-BB1A-96179C65B02A}" type="slidenum">
              <a:rPr lang="en-US" altLang="zh-TW" smtClean="0"/>
              <a:pPr>
                <a:spcBef>
                  <a:spcPct val="0"/>
                </a:spcBef>
              </a:pPr>
              <a:t>10</a:t>
            </a:fld>
            <a:endParaRPr lang="en-US" altLang="zh-TW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Big Data Mining &amp; Applications, Fall 2025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CSIE, IEECS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A8B602-FE1A-4325-AB4E-E45D20AEBD5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92426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Big Data Mining &amp; Applications, Fall 2025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CSIE, IEECS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4DE800-8213-4A07-A533-DB992F026A0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13747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Big Data Mining &amp; Applications, Fall 2025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CSIE, IEECS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3BDD5E-29CF-48C8-8CCE-AA22C2EBC8E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28038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Big Data Mining &amp; Applications, Fall 2025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CSIE, IEECS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D56E26-38B2-4E60-9C6F-AF594654B6B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52069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Big Data Mining &amp; Applications, Fall 2025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CSIE, IEECS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DF3815-1422-4414-9BB2-7CA797B5960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5348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Big Data Mining &amp; Applications, Fall 2025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CSIE, IEECS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B77F31-1B30-4841-9EFF-44DF596CEAA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46107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Big Data Mining &amp; Applications, Fall 2025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CSIE, IEECS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A8DDAE-9E19-4A6F-80BA-9447D4BE8F7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12157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Big Data Mining &amp; Applications, Fall 2025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CSIE, IEECS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9778E7-7425-48B3-BBF7-5E34954176F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51783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Big Data Mining &amp; Applications, Fall 2025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CSIE, IEECS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B01F3A-20C2-4725-8B85-7808FE0CDEB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82546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Big Data Mining &amp; Applications, Fall 2025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CSIE, IEECS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C4DC80-E25C-4DAC-A170-7C0922B58CB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23364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Big Data Mining &amp; Applications, Fall 2025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CSIE, IEECS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58B677-C5A2-4CEF-ACDD-18A132F84E3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60002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0" sz="1400" smtClean="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Big Data Mining &amp; Applications, Fall 2025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NTUT CSIE, IEECS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/>
            </a:lvl1pPr>
          </a:lstStyle>
          <a:p>
            <a:pPr>
              <a:defRPr/>
            </a:pPr>
            <a:fld id="{51453D9C-684C-4B70-BD56-7D2DE4F1B0C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Book Antiqua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Book Antiqua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Book Antiqua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Book Antiqua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Book Antiqua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Book Antiqua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Book Antiqua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Book Antiqua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nap.stanford.edu/data/web-Google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arxiv.org/abs/0810.1355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2130425"/>
            <a:ext cx="7924800" cy="1470025"/>
          </a:xfrm>
        </p:spPr>
        <p:txBody>
          <a:bodyPr/>
          <a:lstStyle/>
          <a:p>
            <a:pPr eaLnBrk="1" hangingPunct="1"/>
            <a:r>
              <a:rPr lang="en-US" altLang="zh-TW"/>
              <a:t>Big Data Mining: HW#5</a:t>
            </a:r>
            <a:br>
              <a:rPr lang="en-US" altLang="zh-TW"/>
            </a:br>
            <a:r>
              <a:rPr lang="en-US" altLang="zh-TW"/>
              <a:t>(Optional)</a:t>
            </a:r>
            <a:br>
              <a:rPr lang="en-US" altLang="zh-TW" sz="4000"/>
            </a:br>
            <a:endParaRPr lang="en-US" altLang="zh-TW" sz="400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J. H. Wang</a:t>
            </a:r>
          </a:p>
          <a:p>
            <a:pPr eaLnBrk="1" hangingPunct="1"/>
            <a:r>
              <a:rPr lang="en-US" altLang="zh-TW" dirty="0"/>
              <a:t>Dec. 8,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Big Data Mining &amp; Applications, Fall 2025</a:t>
            </a:r>
          </a:p>
        </p:txBody>
      </p:sp>
      <p:sp>
        <p:nvSpPr>
          <p:cNvPr id="614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CSIE, IEECS</a:t>
            </a:r>
          </a:p>
        </p:txBody>
      </p:sp>
      <p:sp>
        <p:nvSpPr>
          <p:cNvPr id="614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41DF456-FC18-4E88-AD8D-D9F8360EA0BC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524000"/>
          </a:xfrm>
        </p:spPr>
        <p:txBody>
          <a:bodyPr/>
          <a:lstStyle/>
          <a:p>
            <a:pPr algn="l" eaLnBrk="1" hangingPunct="1"/>
            <a:r>
              <a:rPr lang="en-US" altLang="zh-TW" sz="3200"/>
              <a:t>[Optional] Programming Exercise: Mining Web Graphs</a:t>
            </a:r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8229600" cy="4114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TW" sz="2400" dirty="0"/>
              <a:t>Goal: Mining Web graphs </a:t>
            </a:r>
          </a:p>
          <a:p>
            <a:pPr eaLnBrk="1" hangingPunct="1">
              <a:lnSpc>
                <a:spcPct val="80000"/>
              </a:lnSpc>
            </a:pPr>
            <a:endParaRPr lang="en-US" altLang="zh-TW" sz="2000" dirty="0"/>
          </a:p>
          <a:p>
            <a:pPr lvl="1" indent="-342900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/>
              <a:t>Either MapReduce on </a:t>
            </a:r>
            <a:r>
              <a:rPr lang="en-US" altLang="zh-TW" sz="2000" dirty="0">
                <a:solidFill>
                  <a:srgbClr val="0000FF"/>
                </a:solidFill>
              </a:rPr>
              <a:t>multi-node</a:t>
            </a:r>
            <a:r>
              <a:rPr lang="en-US" altLang="zh-TW" sz="2000" dirty="0"/>
              <a:t> Spark (for CS students)</a:t>
            </a:r>
          </a:p>
          <a:p>
            <a:pPr lvl="1" indent="-342900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/>
              <a:t>or Python in </a:t>
            </a:r>
            <a:r>
              <a:rPr lang="en-US" altLang="zh-TW" sz="2000" dirty="0" err="1"/>
              <a:t>Jupyter</a:t>
            </a:r>
            <a:r>
              <a:rPr lang="en-US" altLang="zh-TW" sz="2000" dirty="0"/>
              <a:t> Notebook (for others)</a:t>
            </a:r>
          </a:p>
          <a:p>
            <a:pPr lvl="1" indent="-342900" eaLnBrk="1" hangingPunct="1">
              <a:lnSpc>
                <a:spcPct val="80000"/>
              </a:lnSpc>
            </a:pPr>
            <a:endParaRPr lang="en-US" altLang="zh-TW" sz="2000" dirty="0"/>
          </a:p>
          <a:p>
            <a:pPr eaLnBrk="1" hangingPunct="1">
              <a:lnSpc>
                <a:spcPct val="80000"/>
              </a:lnSpc>
            </a:pPr>
            <a:r>
              <a:rPr lang="en-US" altLang="zh-TW" sz="2400" dirty="0"/>
              <a:t>Input: A graph of the World Wide Web (to be detailed later)</a:t>
            </a:r>
          </a:p>
          <a:p>
            <a:pPr eaLnBrk="1" hangingPunct="1">
              <a:lnSpc>
                <a:spcPct val="80000"/>
              </a:lnSpc>
            </a:pPr>
            <a:endParaRPr lang="en-US" altLang="zh-TW" sz="2400" dirty="0"/>
          </a:p>
          <a:p>
            <a:pPr eaLnBrk="1" hangingPunct="1">
              <a:lnSpc>
                <a:spcPct val="80000"/>
              </a:lnSpc>
            </a:pPr>
            <a:r>
              <a:rPr lang="en-US" altLang="zh-TW" sz="2400" dirty="0"/>
              <a:t>Output: Degree distribution (to be detailed later)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Big Data Mining &amp; Applications, Fall 2025</a:t>
            </a:r>
          </a:p>
        </p:txBody>
      </p:sp>
      <p:sp>
        <p:nvSpPr>
          <p:cNvPr id="819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CSIE, IEECS</a:t>
            </a:r>
          </a:p>
        </p:txBody>
      </p:sp>
      <p:sp>
        <p:nvSpPr>
          <p:cNvPr id="819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C20E760-CBD5-41B8-8FD9-CD65E9906FAB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TW" sz="3200"/>
              <a:t>Input Data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7638"/>
            <a:ext cx="8229600" cy="4708525"/>
          </a:xfrm>
        </p:spPr>
        <p:txBody>
          <a:bodyPr/>
          <a:lstStyle/>
          <a:p>
            <a:r>
              <a:rPr lang="en-US" altLang="zh-TW" sz="2000" dirty="0"/>
              <a:t>Data: </a:t>
            </a:r>
          </a:p>
          <a:p>
            <a:pPr lvl="1"/>
            <a:r>
              <a:rPr lang="en-US" altLang="zh-TW" sz="2000" dirty="0"/>
              <a:t>[</a:t>
            </a:r>
            <a:r>
              <a:rPr lang="en-US" altLang="zh-TW" sz="2000" b="1" dirty="0"/>
              <a:t>Google web graph Data Set</a:t>
            </a:r>
            <a:r>
              <a:rPr lang="en-US" altLang="zh-TW" sz="2000" dirty="0"/>
              <a:t>] from Stanford Large Network (SNAP) Dataset Collection</a:t>
            </a:r>
          </a:p>
          <a:p>
            <a:pPr lvl="1"/>
            <a:r>
              <a:rPr lang="en-US" altLang="zh-TW" sz="2000" dirty="0"/>
              <a:t>The data was released in 2002 by Google as a part of Google Programming Contest</a:t>
            </a:r>
          </a:p>
          <a:p>
            <a:pPr lvl="1"/>
            <a:r>
              <a:rPr lang="en-US" altLang="zh-TW" sz="2000" dirty="0"/>
              <a:t>Available at: </a:t>
            </a:r>
            <a:r>
              <a:rPr lang="en-US" altLang="zh-TW" sz="2000" dirty="0">
                <a:hlinkClick r:id="rId3"/>
              </a:rPr>
              <a:t>https://snap.stanford.edu/data/web-Google.html</a:t>
            </a:r>
            <a:r>
              <a:rPr lang="en-US" altLang="zh-TW" sz="2000" dirty="0"/>
              <a:t> </a:t>
            </a:r>
          </a:p>
          <a:p>
            <a:r>
              <a:rPr lang="en-US" altLang="zh-TW" sz="2000" dirty="0"/>
              <a:t>Format:</a:t>
            </a:r>
          </a:p>
          <a:p>
            <a:pPr lvl="1"/>
            <a:r>
              <a:rPr lang="en-US" altLang="zh-TW" sz="2000" dirty="0"/>
              <a:t>A text file containing around 5 million lines (20MB compressed, 75M uncompressed)</a:t>
            </a:r>
          </a:p>
          <a:p>
            <a:pPr lvl="2"/>
            <a:r>
              <a:rPr lang="en-US" altLang="zh-TW" sz="2000" dirty="0"/>
              <a:t>Each line is a directed edge representing hyperlinks between nodes (web pages)</a:t>
            </a:r>
          </a:p>
          <a:p>
            <a:pPr lvl="2"/>
            <a:r>
              <a:rPr lang="en-US" altLang="zh-TW" sz="2000" dirty="0"/>
              <a:t> &lt;</a:t>
            </a:r>
            <a:r>
              <a:rPr lang="en-US" altLang="zh-TW" sz="2000" dirty="0" err="1"/>
              <a:t>FromNodeID</a:t>
            </a:r>
            <a:r>
              <a:rPr lang="en-US" altLang="zh-TW" sz="2000" dirty="0"/>
              <a:t>&gt; &lt;</a:t>
            </a:r>
            <a:r>
              <a:rPr lang="en-US" altLang="zh-TW" sz="2000" dirty="0" err="1"/>
              <a:t>ToNodeID</a:t>
            </a:r>
            <a:r>
              <a:rPr lang="en-US" altLang="zh-TW" sz="2000" dirty="0"/>
              <a:t>&gt;</a:t>
            </a:r>
            <a:br>
              <a:rPr lang="en-US" altLang="zh-TW" sz="2000" dirty="0"/>
            </a:br>
            <a:r>
              <a:rPr lang="en-US" altLang="zh-TW" sz="2000" dirty="0"/>
              <a:t>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sz="3200"/>
              <a:t>Task Description</a:t>
            </a:r>
            <a:endParaRPr lang="zh-TW" altLang="en-US" sz="3200"/>
          </a:p>
        </p:txBody>
      </p:sp>
      <p:sp>
        <p:nvSpPr>
          <p:cNvPr id="9219" name="內容版面配置區 2"/>
          <p:cNvSpPr>
            <a:spLocks noGrp="1"/>
          </p:cNvSpPr>
          <p:nvPr>
            <p:ph idx="1"/>
          </p:nvPr>
        </p:nvSpPr>
        <p:spPr>
          <a:xfrm>
            <a:off x="353568" y="1207008"/>
            <a:ext cx="8473440" cy="5038217"/>
          </a:xfrm>
        </p:spPr>
        <p:txBody>
          <a:bodyPr>
            <a:noAutofit/>
          </a:bodyPr>
          <a:lstStyle/>
          <a:p>
            <a:r>
              <a:rPr lang="en-US" altLang="zh-TW" sz="2000" dirty="0"/>
              <a:t>All Subtasks in HW#5 are </a:t>
            </a:r>
            <a:r>
              <a:rPr lang="en-US" altLang="zh-TW" sz="2000" dirty="0">
                <a:solidFill>
                  <a:srgbClr val="FF0000"/>
                </a:solidFill>
              </a:rPr>
              <a:t>optional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sz="2000" dirty="0"/>
              <a:t>(</a:t>
            </a:r>
            <a:r>
              <a:rPr lang="en-US" altLang="zh-TW" sz="2000" b="1" dirty="0"/>
              <a:t>30pt</a:t>
            </a:r>
            <a:r>
              <a:rPr lang="en-US" altLang="zh-TW" sz="2000" dirty="0"/>
              <a:t>) (1) Given the Google web graph dataset, please output the sorted list of </a:t>
            </a:r>
            <a:r>
              <a:rPr lang="en-US" altLang="zh-TW" sz="2000" dirty="0">
                <a:solidFill>
                  <a:srgbClr val="0000FF"/>
                </a:solidFill>
              </a:rPr>
              <a:t>web pages with the number of </a:t>
            </a:r>
            <a:r>
              <a:rPr lang="en-US" altLang="zh-TW" sz="2000" dirty="0" err="1">
                <a:solidFill>
                  <a:srgbClr val="0000FF"/>
                </a:solidFill>
              </a:rPr>
              <a:t>outlinks</a:t>
            </a:r>
            <a:r>
              <a:rPr lang="en-US" altLang="zh-TW" sz="2000" dirty="0">
                <a:solidFill>
                  <a:srgbClr val="0000FF"/>
                </a:solidFill>
              </a:rPr>
              <a:t>, </a:t>
            </a:r>
            <a:r>
              <a:rPr lang="en-US" altLang="zh-TW" sz="2000" dirty="0"/>
              <a:t>sorted in descending order of the out-degrees.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sz="2000" dirty="0"/>
              <a:t>(</a:t>
            </a:r>
            <a:r>
              <a:rPr lang="en-US" altLang="zh-TW" sz="2000" b="1" dirty="0"/>
              <a:t>30pt</a:t>
            </a:r>
            <a:r>
              <a:rPr lang="en-US" altLang="zh-TW" sz="2000" dirty="0"/>
              <a:t>) (2) Please output the </a:t>
            </a:r>
            <a:r>
              <a:rPr lang="en-US" altLang="zh-TW" sz="2000" dirty="0" err="1">
                <a:solidFill>
                  <a:srgbClr val="0000FF"/>
                </a:solidFill>
              </a:rPr>
              <a:t>inlink</a:t>
            </a:r>
            <a:r>
              <a:rPr lang="en-US" altLang="zh-TW" sz="2000" dirty="0">
                <a:solidFill>
                  <a:srgbClr val="0000FF"/>
                </a:solidFill>
              </a:rPr>
              <a:t> distribution of the top linked web pages</a:t>
            </a:r>
            <a:r>
              <a:rPr lang="en-US" altLang="zh-TW" sz="2000" dirty="0"/>
              <a:t>, sorted in descending order of the in-degrees.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sz="2000" dirty="0"/>
              <a:t>(</a:t>
            </a:r>
            <a:r>
              <a:rPr lang="en-US" altLang="zh-TW" sz="2000" b="1" dirty="0"/>
              <a:t>40pt</a:t>
            </a:r>
            <a:r>
              <a:rPr lang="en-US" altLang="zh-TW" sz="2000" dirty="0"/>
              <a:t>) (3) Design an algorithm that maintains the </a:t>
            </a:r>
            <a:r>
              <a:rPr lang="en-US" altLang="zh-TW" sz="2000" dirty="0">
                <a:solidFill>
                  <a:srgbClr val="0000FF"/>
                </a:solidFill>
              </a:rPr>
              <a:t>connectivity</a:t>
            </a:r>
            <a:r>
              <a:rPr lang="en-US" altLang="zh-TW" sz="2000" dirty="0"/>
              <a:t> of two nodes in an efficient way. Given a node v, please output the list of nodes that v points to, and the list of nodes that points to v.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sz="2000" dirty="0"/>
              <a:t>[</a:t>
            </a:r>
            <a:r>
              <a:rPr lang="en-US" altLang="zh-TW" sz="2000" dirty="0">
                <a:solidFill>
                  <a:srgbClr val="0000FF"/>
                </a:solidFill>
              </a:rPr>
              <a:t>extra</a:t>
            </a:r>
            <a:r>
              <a:rPr lang="en-US" altLang="zh-TW" sz="2000" dirty="0"/>
              <a:t>] (</a:t>
            </a:r>
            <a:r>
              <a:rPr lang="en-US" altLang="zh-TW" sz="2000" b="1" dirty="0"/>
              <a:t>30pt</a:t>
            </a:r>
            <a:r>
              <a:rPr lang="en-US" altLang="zh-TW" sz="2000" dirty="0"/>
              <a:t>) (4) Compute the </a:t>
            </a:r>
            <a:r>
              <a:rPr lang="en-US" altLang="zh-TW" sz="2000" dirty="0">
                <a:solidFill>
                  <a:srgbClr val="FF0000"/>
                </a:solidFill>
              </a:rPr>
              <a:t>PageRank</a:t>
            </a:r>
            <a:r>
              <a:rPr lang="en-US" altLang="zh-TW" sz="2000" dirty="0"/>
              <a:t> of each node in the graph using MapReduce.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sz="2000" dirty="0"/>
              <a:t>[</a:t>
            </a:r>
            <a:r>
              <a:rPr lang="en-US" altLang="zh-TW" sz="2000" dirty="0">
                <a:solidFill>
                  <a:srgbClr val="0000FF"/>
                </a:solidFill>
              </a:rPr>
              <a:t>extra</a:t>
            </a:r>
            <a:r>
              <a:rPr lang="en-US" altLang="zh-TW" sz="2000" dirty="0"/>
              <a:t>] (</a:t>
            </a:r>
            <a:r>
              <a:rPr lang="en-US" altLang="zh-TW" sz="2000" b="1" dirty="0"/>
              <a:t>30pt</a:t>
            </a:r>
            <a:r>
              <a:rPr lang="en-US" altLang="zh-TW" sz="2000" dirty="0"/>
              <a:t>) (5) Compute the hub and authority scores of each node in the graph with </a:t>
            </a:r>
            <a:r>
              <a:rPr lang="en-US" altLang="zh-TW" sz="2000" dirty="0">
                <a:solidFill>
                  <a:srgbClr val="FF0000"/>
                </a:solidFill>
              </a:rPr>
              <a:t>HITS algorithm </a:t>
            </a:r>
            <a:r>
              <a:rPr lang="en-US" altLang="zh-TW" sz="2000" dirty="0"/>
              <a:t>using MapReduce. </a:t>
            </a:r>
          </a:p>
          <a:p>
            <a:pPr marL="457200" lvl="1" indent="0">
              <a:buNone/>
            </a:pPr>
            <a:endParaRPr lang="en-US" altLang="zh-TW" sz="2000" dirty="0"/>
          </a:p>
          <a:p>
            <a:endParaRPr lang="zh-TW" altLang="en-US" sz="2000" dirty="0"/>
          </a:p>
        </p:txBody>
      </p:sp>
      <p:sp>
        <p:nvSpPr>
          <p:cNvPr id="1024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Big Data Mining &amp; Applications, Fall 2025</a:t>
            </a:r>
          </a:p>
        </p:txBody>
      </p:sp>
      <p:sp>
        <p:nvSpPr>
          <p:cNvPr id="1024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CSIE, IEECS</a:t>
            </a:r>
          </a:p>
        </p:txBody>
      </p:sp>
      <p:sp>
        <p:nvSpPr>
          <p:cNvPr id="1024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AB2E62-CEB5-4611-97B7-167E2BCF41D9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3942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sz="3200"/>
              <a:t>Output Format</a:t>
            </a:r>
            <a:endParaRPr lang="zh-TW" altLang="en-US" sz="3200"/>
          </a:p>
        </p:txBody>
      </p:sp>
      <p:sp>
        <p:nvSpPr>
          <p:cNvPr id="9219" name="內容版面配置區 2"/>
          <p:cNvSpPr>
            <a:spLocks noGrp="1"/>
          </p:cNvSpPr>
          <p:nvPr>
            <p:ph idx="1"/>
          </p:nvPr>
        </p:nvSpPr>
        <p:spPr>
          <a:xfrm>
            <a:off x="457200" y="1316736"/>
            <a:ext cx="8229600" cy="4855463"/>
          </a:xfrm>
        </p:spPr>
        <p:txBody>
          <a:bodyPr>
            <a:noAutofit/>
          </a:bodyPr>
          <a:lstStyle/>
          <a:p>
            <a:r>
              <a:rPr lang="en-US" altLang="zh-TW" sz="1800"/>
              <a:t>(1) a sorted list of pages with their out-degrees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sz="1800"/>
              <a:t>Each line contains: &lt;NodeID&gt;, &lt;out-degree&gt; </a:t>
            </a:r>
          </a:p>
          <a:p>
            <a:r>
              <a:rPr lang="en-US" altLang="zh-TW" sz="1800"/>
              <a:t>(2) a sorted list of pages with their in-degrees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sz="1800"/>
              <a:t>Each line contains: &lt;NodeID&gt;, &lt;in-degree&gt;</a:t>
            </a:r>
          </a:p>
          <a:p>
            <a:r>
              <a:rPr lang="en-US" altLang="zh-TW" sz="1800"/>
              <a:t>(3) Given a node v,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sz="1800"/>
              <a:t>The first line contains a list of nodes that v points to: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zh-TW" sz="1800"/>
              <a:t>&lt;ToNodeID&gt;, …, &lt;ToNodeID&gt;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sz="1800"/>
              <a:t>The second line contains a list of nodes that point to v</a:t>
            </a:r>
          </a:p>
          <a:p>
            <a:pPr lvl="2"/>
            <a:r>
              <a:rPr lang="en-US" altLang="zh-TW" sz="1800"/>
              <a:t>&lt;FromNodeID&gt;, …, &lt;FromNodeID&gt;</a:t>
            </a:r>
          </a:p>
          <a:p>
            <a:r>
              <a:rPr lang="en-US" altLang="zh-TW" sz="1800"/>
              <a:t>(4) The PageRank of each node in steady state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sz="1800"/>
              <a:t>Each line contains: &lt;NodeID&gt;, &lt;pagerank score&gt;</a:t>
            </a:r>
          </a:p>
          <a:p>
            <a:r>
              <a:rPr lang="en-US" altLang="zh-TW" sz="1800"/>
              <a:t>(5) The hub and authority scores of each node in steady state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sz="1800"/>
              <a:t>Each line contains: &lt;NodeID&gt;, &lt;hub score&gt;, &lt;authority score&gt;</a:t>
            </a:r>
          </a:p>
          <a:p>
            <a:pPr lvl="1"/>
            <a:endParaRPr lang="en-US" altLang="zh-TW" sz="1800"/>
          </a:p>
          <a:p>
            <a:endParaRPr lang="en-US" altLang="zh-TW" sz="1800" dirty="0"/>
          </a:p>
        </p:txBody>
      </p:sp>
      <p:sp>
        <p:nvSpPr>
          <p:cNvPr id="1024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Big Data Mining &amp; Applications, Fall 2025</a:t>
            </a:r>
          </a:p>
        </p:txBody>
      </p:sp>
      <p:sp>
        <p:nvSpPr>
          <p:cNvPr id="1024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CSIE, IEECS</a:t>
            </a:r>
          </a:p>
        </p:txBody>
      </p:sp>
      <p:sp>
        <p:nvSpPr>
          <p:cNvPr id="1024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AB2E62-CEB5-4611-97B7-167E2BCF41D9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4677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sz="3200"/>
              <a:t>Homework Submission</a:t>
            </a:r>
            <a:endParaRPr lang="zh-TW" altLang="en-US" sz="3200"/>
          </a:p>
        </p:txBody>
      </p:sp>
      <p:sp>
        <p:nvSpPr>
          <p:cNvPr id="9219" name="內容版面配置區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54561"/>
          </a:xfrm>
        </p:spPr>
        <p:txBody>
          <a:bodyPr>
            <a:noAutofit/>
          </a:bodyPr>
          <a:lstStyle/>
          <a:p>
            <a:r>
              <a:rPr lang="en-US" altLang="zh-TW" sz="2400" dirty="0"/>
              <a:t>For implementation projects, please submit a compressed file containing: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sz="1600" dirty="0"/>
              <a:t>A document showing your environment setup</a:t>
            </a:r>
          </a:p>
          <a:p>
            <a:pPr lvl="2"/>
            <a:r>
              <a:rPr lang="en-US" altLang="zh-TW" sz="1600" dirty="0"/>
              <a:t>PCs/VMs, platform spec, CPU cores, memory size, …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sz="1600" dirty="0"/>
              <a:t>Your </a:t>
            </a:r>
            <a:r>
              <a:rPr lang="en-US" altLang="zh-TW" sz="1600" dirty="0">
                <a:solidFill>
                  <a:srgbClr val="FF0000"/>
                </a:solidFill>
              </a:rPr>
              <a:t>source codes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srgbClr val="FF0000"/>
                </a:solidFill>
              </a:rPr>
              <a:t>The generated output</a:t>
            </a:r>
            <a:r>
              <a:rPr lang="en-US" altLang="zh-TW" sz="1600" dirty="0"/>
              <a:t> (or snapshots)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srgbClr val="FF0000"/>
                </a:solidFill>
              </a:rPr>
              <a:t>Documentation</a:t>
            </a:r>
            <a:r>
              <a:rPr lang="en-US" altLang="zh-TW" sz="1600" dirty="0"/>
              <a:t> on how to compile, install, or configure the environment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sz="1600" dirty="0"/>
              <a:t>Remember to specify </a:t>
            </a:r>
            <a:r>
              <a:rPr lang="en-US" altLang="zh-TW" sz="1600" b="1" dirty="0">
                <a:solidFill>
                  <a:srgbClr val="0000FF"/>
                </a:solidFill>
              </a:rPr>
              <a:t>your name, student ID and your department </a:t>
            </a:r>
            <a:r>
              <a:rPr lang="en-US" altLang="zh-TW" sz="1600" dirty="0"/>
              <a:t>in the documentation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srgbClr val="FF0000"/>
                </a:solidFill>
              </a:rPr>
              <a:t>Team members list</a:t>
            </a:r>
            <a:r>
              <a:rPr lang="en-US" altLang="zh-TW" sz="1600" dirty="0"/>
              <a:t>: The names and the responsible parts of each individual member *should* be clearly identified.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altLang="zh-TW" sz="2000" dirty="0"/>
          </a:p>
          <a:p>
            <a:r>
              <a:rPr lang="en-US" altLang="zh-TW" sz="2400" dirty="0"/>
              <a:t>Due: 3 weeks (</a:t>
            </a:r>
            <a:r>
              <a:rPr lang="en-US" altLang="zh-TW" sz="2400" dirty="0">
                <a:solidFill>
                  <a:srgbClr val="FF0000"/>
                </a:solidFill>
              </a:rPr>
              <a:t>Dec. 29, 2025</a:t>
            </a:r>
            <a:r>
              <a:rPr lang="en-US" altLang="zh-TW" sz="2400" dirty="0"/>
              <a:t>)</a:t>
            </a:r>
          </a:p>
        </p:txBody>
      </p:sp>
      <p:sp>
        <p:nvSpPr>
          <p:cNvPr id="1024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Big Data Mining &amp; Applications, Fall 2025</a:t>
            </a:r>
          </a:p>
        </p:txBody>
      </p:sp>
      <p:sp>
        <p:nvSpPr>
          <p:cNvPr id="1024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CSIE, IEECS</a:t>
            </a:r>
          </a:p>
        </p:txBody>
      </p:sp>
      <p:sp>
        <p:nvSpPr>
          <p:cNvPr id="1024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AB2E62-CEB5-4611-97B7-167E2BCF41D9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9443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sz="3200"/>
              <a:t>Homework Submission Site</a:t>
            </a:r>
            <a:endParaRPr lang="zh-TW" altLang="en-US" sz="3200"/>
          </a:p>
        </p:txBody>
      </p:sp>
      <p:sp>
        <p:nvSpPr>
          <p:cNvPr id="9219" name="內容版面配置區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54561"/>
          </a:xfrm>
        </p:spPr>
        <p:txBody>
          <a:bodyPr>
            <a:noAutofit/>
          </a:bodyPr>
          <a:lstStyle/>
          <a:p>
            <a:r>
              <a:rPr lang="en-US" altLang="zh-TW" sz="2400"/>
              <a:t>Programs or projects in electronic files must be submitted directly to the TA online at </a:t>
            </a:r>
            <a:r>
              <a:rPr lang="en-US" altLang="zh-TW" sz="2400">
                <a:solidFill>
                  <a:srgbClr val="0000FF"/>
                </a:solidFill>
              </a:rPr>
              <a:t>iSchool+</a:t>
            </a:r>
            <a:r>
              <a:rPr lang="en-US" altLang="zh-TW" sz="2400"/>
              <a:t>  </a:t>
            </a:r>
          </a:p>
          <a:p>
            <a:r>
              <a:rPr lang="en-US" altLang="zh-TW" sz="2400"/>
              <a:t>If you cannot successfully submit your work, please contact with the TA or the instructor</a:t>
            </a:r>
          </a:p>
          <a:p>
            <a:endParaRPr lang="en-US" altLang="zh-TW" sz="2000"/>
          </a:p>
        </p:txBody>
      </p:sp>
      <p:sp>
        <p:nvSpPr>
          <p:cNvPr id="1024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Big Data Mining &amp; Applications, Fall 2025</a:t>
            </a:r>
          </a:p>
        </p:txBody>
      </p:sp>
      <p:sp>
        <p:nvSpPr>
          <p:cNvPr id="1024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CSIE, IEECS</a:t>
            </a:r>
          </a:p>
        </p:txBody>
      </p:sp>
      <p:sp>
        <p:nvSpPr>
          <p:cNvPr id="1024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AB2E62-CEB5-4611-97B7-167E2BCF41D9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8769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sz="3200"/>
              <a:t>Evaluation of Results</a:t>
            </a:r>
            <a:endParaRPr lang="zh-TW" altLang="en-US" sz="3200"/>
          </a:p>
        </p:txBody>
      </p:sp>
      <p:sp>
        <p:nvSpPr>
          <p:cNvPr id="9219" name="內容版面配置區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54561"/>
          </a:xfrm>
        </p:spPr>
        <p:txBody>
          <a:bodyPr>
            <a:noAutofit/>
          </a:bodyPr>
          <a:lstStyle/>
          <a:p>
            <a:pPr marL="400050"/>
            <a:r>
              <a:rPr lang="en-US" altLang="zh-TW" sz="2000">
                <a:solidFill>
                  <a:srgbClr val="0000FF"/>
                </a:solidFill>
              </a:rPr>
              <a:t>Correctness</a:t>
            </a:r>
            <a:r>
              <a:rPr lang="en-US" altLang="zh-TW" sz="2000"/>
              <a:t> of Output </a:t>
            </a:r>
          </a:p>
          <a:p>
            <a:pPr marL="400050"/>
            <a:endParaRPr lang="en-US" altLang="zh-TW" sz="2000"/>
          </a:p>
          <a:p>
            <a:pPr marL="400050"/>
            <a:r>
              <a:rPr lang="en-US" altLang="zh-TW" sz="2000">
                <a:solidFill>
                  <a:srgbClr val="FF0000"/>
                </a:solidFill>
              </a:rPr>
              <a:t>Efficiency </a:t>
            </a:r>
            <a:r>
              <a:rPr lang="en-US" altLang="zh-TW" sz="2000"/>
              <a:t>in processing</a:t>
            </a:r>
            <a:r>
              <a:rPr lang="en-US" altLang="zh-TW" sz="2000">
                <a:solidFill>
                  <a:srgbClr val="FF0000"/>
                </a:solidFill>
              </a:rPr>
              <a:t> </a:t>
            </a:r>
            <a:r>
              <a:rPr lang="en-US" altLang="zh-TW" sz="2000"/>
              <a:t>(Please output / screenshot your processing time)</a:t>
            </a:r>
          </a:p>
          <a:p>
            <a:pPr marL="400050"/>
            <a:endParaRPr lang="en-US" altLang="zh-TW" sz="2000"/>
          </a:p>
          <a:p>
            <a:pPr marL="400050"/>
            <a:r>
              <a:rPr lang="en-US" altLang="zh-TW" sz="2000"/>
              <a:t>In completion of each of the subtasks, you get part of the scores</a:t>
            </a:r>
          </a:p>
          <a:p>
            <a:pPr marL="400050"/>
            <a:endParaRPr lang="en-US" altLang="zh-TW" sz="2000"/>
          </a:p>
          <a:p>
            <a:pPr marL="400050"/>
            <a:r>
              <a:rPr lang="en-US" altLang="zh-TW" sz="2000"/>
              <a:t>You get extra credits for optional functions</a:t>
            </a:r>
          </a:p>
          <a:p>
            <a:endParaRPr lang="en-US" altLang="zh-TW" sz="2000"/>
          </a:p>
          <a:p>
            <a:r>
              <a:rPr lang="en-US" altLang="zh-TW" sz="2000"/>
              <a:t>You might need to demo if your program was unable to run</a:t>
            </a:r>
          </a:p>
          <a:p>
            <a:endParaRPr lang="zh-TW" altLang="en-US" sz="2000"/>
          </a:p>
        </p:txBody>
      </p:sp>
      <p:sp>
        <p:nvSpPr>
          <p:cNvPr id="1024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Big Data Mining &amp; Applications, Fall 2025</a:t>
            </a:r>
          </a:p>
        </p:txBody>
      </p:sp>
      <p:sp>
        <p:nvSpPr>
          <p:cNvPr id="1024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CSIE, IEECS</a:t>
            </a:r>
          </a:p>
        </p:txBody>
      </p:sp>
      <p:sp>
        <p:nvSpPr>
          <p:cNvPr id="1024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AB2E62-CEB5-4611-97B7-167E2BCF41D9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844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sz="3200"/>
              <a:t>References</a:t>
            </a:r>
            <a:endParaRPr lang="zh-TW" altLang="en-US" sz="3200"/>
          </a:p>
        </p:txBody>
      </p:sp>
      <p:sp>
        <p:nvSpPr>
          <p:cNvPr id="9219" name="內容版面配置區 2"/>
          <p:cNvSpPr>
            <a:spLocks noGrp="1"/>
          </p:cNvSpPr>
          <p:nvPr>
            <p:ph idx="1"/>
          </p:nvPr>
        </p:nvSpPr>
        <p:spPr>
          <a:xfrm>
            <a:off x="457200" y="1194816"/>
            <a:ext cx="8229600" cy="4977383"/>
          </a:xfrm>
        </p:spPr>
        <p:txBody>
          <a:bodyPr>
            <a:noAutofit/>
          </a:bodyPr>
          <a:lstStyle/>
          <a:p>
            <a:r>
              <a:rPr lang="en-US" altLang="zh-TW" sz="2000"/>
              <a:t>Related Paper on the dataset: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sz="2000"/>
              <a:t>J. Leskovec, K. Lang, A. Dasgupta, M. Mahoney. </a:t>
            </a:r>
            <a:r>
              <a:rPr lang="en-US" altLang="zh-TW" sz="2000">
                <a:hlinkClick r:id="rId2"/>
              </a:rPr>
              <a:t>Community Structure in Large Networks: Natural Cluster Sizes and the Absence of Large Well-Defined Clusters</a:t>
            </a:r>
            <a:r>
              <a:rPr lang="en-US" altLang="zh-TW" sz="2000"/>
              <a:t>. Internet Mathematics 6(1) 29--123, 2009.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altLang="zh-TW" sz="200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sz="2000"/>
              <a:t>Google programming contest, 2002</a:t>
            </a:r>
            <a:endParaRPr lang="en-US" altLang="zh-TW" sz="2000" dirty="0"/>
          </a:p>
        </p:txBody>
      </p:sp>
      <p:sp>
        <p:nvSpPr>
          <p:cNvPr id="1024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Big Data Mining &amp; Applications, Fall 2025</a:t>
            </a:r>
          </a:p>
        </p:txBody>
      </p:sp>
      <p:sp>
        <p:nvSpPr>
          <p:cNvPr id="1024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CSIE, IEECS</a:t>
            </a:r>
          </a:p>
        </p:txBody>
      </p:sp>
      <p:sp>
        <p:nvSpPr>
          <p:cNvPr id="1024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AB2E62-CEB5-4611-97B7-167E2BCF41D9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711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Big Data Mining &amp; Applications, Fall 2025</a:t>
            </a:r>
          </a:p>
        </p:txBody>
      </p:sp>
      <p:sp>
        <p:nvSpPr>
          <p:cNvPr id="3891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CSIE, IEECS</a:t>
            </a:r>
          </a:p>
        </p:txBody>
      </p:sp>
      <p:sp>
        <p:nvSpPr>
          <p:cNvPr id="3891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68B3B14-7943-4F32-9328-A4C4078DFDF0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389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TW" sz="3200"/>
              <a:t>Questions or Comments?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Book Antiqua"/>
        <a:ea typeface="新細明體"/>
        <a:cs typeface=""/>
      </a:majorFont>
      <a:minorFont>
        <a:latin typeface="Book Antiqu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CD7C3B1DE9EC174B8BA3B585D24F6191" ma:contentTypeVersion="9" ma:contentTypeDescription="建立新的文件。" ma:contentTypeScope="" ma:versionID="fc8995282d5575718c8545977d9a162e">
  <xsd:schema xmlns:xsd="http://www.w3.org/2001/XMLSchema" xmlns:xs="http://www.w3.org/2001/XMLSchema" xmlns:p="http://schemas.microsoft.com/office/2006/metadata/properties" xmlns:ns2="87d63e5e-dbb1-48d6-b55e-f31be5250adf" xmlns:ns3="5ec4d5cc-f3e4-4cb6-9660-c3ee0f8ba627" targetNamespace="http://schemas.microsoft.com/office/2006/metadata/properties" ma:root="true" ma:fieldsID="d106560f30a6cbf1f3ea6f6476f43159" ns2:_="" ns3:_="">
    <xsd:import namespace="87d63e5e-dbb1-48d6-b55e-f31be5250adf"/>
    <xsd:import namespace="5ec4d5cc-f3e4-4cb6-9660-c3ee0f8ba6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d63e5e-dbb1-48d6-b55e-f31be5250a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c4d5cc-f3e4-4cb6-9660-c3ee0f8ba627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D3C8F21-5442-4811-AD37-E39D2F83CAEB}">
  <ds:schemaRefs>
    <ds:schemaRef ds:uri="5ec4d5cc-f3e4-4cb6-9660-c3ee0f8ba627"/>
    <ds:schemaRef ds:uri="87d63e5e-dbb1-48d6-b55e-f31be5250ad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A1B13E3-E4E8-4EF1-807D-F507603EC49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56FD376-3A59-466C-9035-95669A142593}">
  <ds:schemaRefs>
    <ds:schemaRef ds:uri="5ec4d5cc-f3e4-4cb6-9660-c3ee0f8ba627"/>
    <ds:schemaRef ds:uri="87d63e5e-dbb1-48d6-b55e-f31be5250ad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225</TotalTime>
  <Words>847</Words>
  <Application>Microsoft Office PowerPoint</Application>
  <PresentationFormat>如螢幕大小 (4:3)</PresentationFormat>
  <Paragraphs>103</Paragraphs>
  <Slides>10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3" baseType="lpstr">
      <vt:lpstr>Arial</vt:lpstr>
      <vt:lpstr>Book Antiqua</vt:lpstr>
      <vt:lpstr>預設簡報設計</vt:lpstr>
      <vt:lpstr>Big Data Mining: HW#5 (Optional) </vt:lpstr>
      <vt:lpstr>[Optional] Programming Exercise: Mining Web Graphs</vt:lpstr>
      <vt:lpstr>Input Data</vt:lpstr>
      <vt:lpstr>Task Description</vt:lpstr>
      <vt:lpstr>Output Format</vt:lpstr>
      <vt:lpstr>Homework Submission</vt:lpstr>
      <vt:lpstr>Homework Submission Site</vt:lpstr>
      <vt:lpstr>Evaluation of Results</vt:lpstr>
      <vt:lpstr>References</vt:lpstr>
      <vt:lpstr>Questions or Comments?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jhwang</dc:creator>
  <cp:lastModifiedBy>Chris Wang</cp:lastModifiedBy>
  <cp:revision>41</cp:revision>
  <cp:lastPrinted>1601-01-01T00:00:00Z</cp:lastPrinted>
  <dcterms:created xsi:type="dcterms:W3CDTF">1601-01-01T00:00:00Z</dcterms:created>
  <dcterms:modified xsi:type="dcterms:W3CDTF">2025-12-08T03:37:52Z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ContentTypeId">
    <vt:lpwstr>0x010100CD7C3B1DE9EC174B8BA3B585D24F6191</vt:lpwstr>
  </property>
</Properties>
</file>