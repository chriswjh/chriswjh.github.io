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274" r:id="rId3"/>
    <p:sldId id="442" r:id="rId4"/>
    <p:sldId id="439" r:id="rId5"/>
    <p:sldId id="275" r:id="rId6"/>
    <p:sldId id="334" r:id="rId7"/>
    <p:sldId id="444" r:id="rId8"/>
    <p:sldId id="283" r:id="rId9"/>
    <p:sldId id="276" r:id="rId10"/>
    <p:sldId id="278" r:id="rId11"/>
    <p:sldId id="425" r:id="rId12"/>
    <p:sldId id="313" r:id="rId13"/>
    <p:sldId id="294" r:id="rId14"/>
    <p:sldId id="305" r:id="rId15"/>
    <p:sldId id="446" r:id="rId16"/>
    <p:sldId id="445" r:id="rId17"/>
    <p:sldId id="409" r:id="rId18"/>
    <p:sldId id="259" r:id="rId19"/>
    <p:sldId id="273" r:id="rId20"/>
    <p:sldId id="288" r:id="rId21"/>
    <p:sldId id="422" r:id="rId22"/>
    <p:sldId id="423" r:id="rId23"/>
    <p:sldId id="424" r:id="rId24"/>
    <p:sldId id="447" r:id="rId25"/>
    <p:sldId id="420" r:id="rId26"/>
    <p:sldId id="358" r:id="rId27"/>
    <p:sldId id="357" r:id="rId28"/>
    <p:sldId id="436" r:id="rId29"/>
    <p:sldId id="293" r:id="rId30"/>
  </p:sldIdLst>
  <p:sldSz cx="9144000" cy="6858000" type="screen4x3"/>
  <p:notesSz cx="6669088" cy="9928225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0000FF"/>
    <a:srgbClr val="FF0000"/>
    <a:srgbClr val="FFFFCC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45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57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FA63915-02B0-4FCB-B79D-6473DB741EF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2488" y="744538"/>
            <a:ext cx="4964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6463"/>
            <a:ext cx="5335588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A9DAA3F-91C8-4C4D-B0DF-A53C22F2461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B5B2A45-88A3-48FC-AAD0-23FBD169B063}" type="slidenum">
              <a:rPr lang="en-US" altLang="zh-TW" smtClean="0"/>
              <a:pPr>
                <a:spcBef>
                  <a:spcPct val="0"/>
                </a:spcBef>
              </a:pPr>
              <a:t>1</a:t>
            </a:fld>
            <a:endParaRPr lang="en-US" altLang="zh-TW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172C561-7BFD-41C1-9BE5-BDC004813A20}" type="slidenum">
              <a:rPr lang="en-US" altLang="zh-TW" smtClean="0"/>
              <a:pPr>
                <a:spcBef>
                  <a:spcPct val="0"/>
                </a:spcBef>
              </a:pPr>
              <a:t>2</a:t>
            </a:fld>
            <a:endParaRPr lang="en-US" altLang="zh-TW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3DC6DEEF-32D2-40FD-82CD-3C848EA20579}" type="slidenum">
              <a:rPr lang="en-US" altLang="zh-TW" smtClean="0"/>
              <a:pPr>
                <a:spcBef>
                  <a:spcPct val="0"/>
                </a:spcBef>
              </a:pPr>
              <a:t>3</a:t>
            </a:fld>
            <a:endParaRPr lang="en-US" altLang="zh-TW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C5E8CFE-F758-4345-9676-F645D35DBF12}" type="slidenum">
              <a:rPr lang="en-US" altLang="zh-TW" smtClean="0"/>
              <a:pPr>
                <a:spcBef>
                  <a:spcPct val="0"/>
                </a:spcBef>
              </a:pPr>
              <a:t>5</a:t>
            </a:fld>
            <a:endParaRPr lang="en-US" altLang="zh-TW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F8F0735-750C-4258-B282-CC1909E810A6}" type="slidenum">
              <a:rPr lang="en-US" altLang="zh-TW" smtClean="0"/>
              <a:pPr>
                <a:spcBef>
                  <a:spcPct val="0"/>
                </a:spcBef>
              </a:pPr>
              <a:t>8</a:t>
            </a:fld>
            <a:endParaRPr lang="en-US" altLang="zh-TW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7ACBEF0-6B0C-4C95-A4A1-8CFB78ED5541}" type="slidenum">
              <a:rPr lang="en-US" altLang="zh-TW" smtClean="0"/>
              <a:pPr>
                <a:spcBef>
                  <a:spcPct val="0"/>
                </a:spcBef>
              </a:pPr>
              <a:t>9</a:t>
            </a:fld>
            <a:endParaRPr lang="en-US" altLang="zh-TW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835BDA1-D2CA-49DB-9086-BA538E652B45}" type="slidenum">
              <a:rPr lang="en-US" altLang="zh-TW" smtClean="0"/>
              <a:pPr>
                <a:spcBef>
                  <a:spcPct val="0"/>
                </a:spcBef>
              </a:pPr>
              <a:t>10</a:t>
            </a:fld>
            <a:endParaRPr lang="en-US" altLang="zh-TW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5205A32-A52F-4825-A83E-5A65DA0F1EDB}" type="slidenum">
              <a:rPr lang="en-US" altLang="zh-TW" smtClean="0"/>
              <a:pPr>
                <a:spcBef>
                  <a:spcPct val="0"/>
                </a:spcBef>
              </a:pPr>
              <a:t>12</a:t>
            </a:fld>
            <a:endParaRPr lang="en-US" altLang="zh-TW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ECD8205-1B31-4FF2-8FE4-199E421F2254}" type="slidenum">
              <a:rPr lang="en-US" altLang="zh-TW" smtClean="0"/>
              <a:pPr>
                <a:spcBef>
                  <a:spcPct val="0"/>
                </a:spcBef>
              </a:pPr>
              <a:t>13</a:t>
            </a:fld>
            <a:endParaRPr lang="en-US" altLang="zh-TW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43CBEE4-5514-4C8E-B9F6-051DD2F2A30C}" type="slidenum">
              <a:rPr lang="en-US" altLang="zh-TW" smtClean="0"/>
              <a:pPr>
                <a:spcBef>
                  <a:spcPct val="0"/>
                </a:spcBef>
              </a:pPr>
              <a:t>14</a:t>
            </a:fld>
            <a:endParaRPr lang="en-US" altLang="zh-TW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F2AC958-9E2B-4B6D-BA8E-5B98C38892BE}" type="slidenum">
              <a:rPr lang="en-US" altLang="zh-TW" smtClean="0"/>
              <a:pPr>
                <a:spcBef>
                  <a:spcPct val="0"/>
                </a:spcBef>
              </a:pPr>
              <a:t>18</a:t>
            </a:fld>
            <a:endParaRPr lang="en-US" altLang="zh-TW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4B1FA1C-077D-4BEA-86AE-2580E35DEC58}" type="slidenum">
              <a:rPr lang="en-US" altLang="zh-TW" smtClean="0"/>
              <a:pPr>
                <a:spcBef>
                  <a:spcPct val="0"/>
                </a:spcBef>
              </a:pPr>
              <a:t>19</a:t>
            </a:fld>
            <a:endParaRPr lang="en-US" altLang="zh-TW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74ADE48-A185-47DE-A7FC-C01D70C4298D}" type="slidenum">
              <a:rPr lang="en-US" altLang="zh-TW" smtClean="0"/>
              <a:pPr>
                <a:spcBef>
                  <a:spcPct val="0"/>
                </a:spcBef>
              </a:pPr>
              <a:t>20</a:t>
            </a:fld>
            <a:endParaRPr lang="en-US" altLang="zh-TW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4DD84DD-3D83-4B53-BE73-B05BCB942630}" type="slidenum">
              <a:rPr lang="en-US" altLang="zh-TW" smtClean="0"/>
              <a:pPr>
                <a:spcBef>
                  <a:spcPct val="0"/>
                </a:spcBef>
              </a:pPr>
              <a:t>26</a:t>
            </a:fld>
            <a:endParaRPr lang="en-US" altLang="zh-TW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B48C9AA-58B2-40E9-A406-2D7694D7CC5A}" type="slidenum">
              <a:rPr lang="en-US" altLang="zh-TW" smtClean="0"/>
              <a:pPr>
                <a:spcBef>
                  <a:spcPct val="0"/>
                </a:spcBef>
              </a:pPr>
              <a:t>29</a:t>
            </a:fld>
            <a:endParaRPr lang="en-US" altLang="zh-TW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Introduction to Big Data Analytics, Fall 2026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FE94C1-FA9D-4BA7-A924-25092CA1A47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40698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Introduction to Big Data Analytics, Fall 2026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CE3ACE-715B-42EB-8112-DFB5C547F31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41437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Introduction to Big Data Analytics, Fall 2026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6C8419-E711-4CBA-A5BB-6DFAF5FB6A9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07731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Introduction to Big Data Analytics, Fall 2026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54D136-E712-4504-8412-602D25C3E91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8533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Introduction to Big Data Analytics, Fall 2026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FF3F8F-DA18-41FA-8F24-9D9C5F6FE73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9045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Introduction to Big Data Analytics, Fall 2026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B53010-4A37-4AFA-95E8-80153BBCDB0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54897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Introduction to Big Data Analytics, Fall 2026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CE1461-A078-4655-AD17-FF8F57E87C3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65696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Introduction to Big Data Analytics, Fall 2026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A82891-84AF-4282-A713-0496D7CCC08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10597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Introduction to Big Data Analytics, Fall 2026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2BF4D6-12D6-467B-AA88-82084041849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31206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Introduction to Big Data Analytics, Fall 2026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83AF7C-E74D-4A53-93E7-BE32F1921C2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62655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Introduction to Big Data Analytics, Fall 2026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998E03-EECD-4EFD-90FB-2ADD48A99D2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05270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0" sz="14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Introduction to Big Data Analytics, Fall 2026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/>
            </a:lvl1pPr>
          </a:lstStyle>
          <a:p>
            <a:pPr>
              <a:defRPr/>
            </a:pPr>
            <a:fld id="{D729FC0C-C60B-435B-B7AB-6EFF3E6BF8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jhwang@ntut.edu.tw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hriswjh.github.io/BDA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mds.org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://140.124.180.184/Course/BDA/slides/06FPBasic.ppt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chriswjh.github.io/EDM/07-ClassificationAdvanced.pptx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2130425"/>
            <a:ext cx="7924800" cy="1470025"/>
          </a:xfrm>
        </p:spPr>
        <p:txBody>
          <a:bodyPr/>
          <a:lstStyle/>
          <a:p>
            <a:pPr eaLnBrk="1" hangingPunct="1"/>
            <a:r>
              <a:rPr lang="en-US" altLang="zh-TW" sz="4000" dirty="0"/>
              <a:t>Course Overview: </a:t>
            </a:r>
            <a:br>
              <a:rPr lang="en-US" altLang="zh-TW" sz="4000" dirty="0"/>
            </a:br>
            <a:r>
              <a:rPr lang="en-US" altLang="zh-TW" sz="4000" dirty="0"/>
              <a:t>Introduction to Big Data Analytics</a:t>
            </a:r>
            <a:br>
              <a:rPr lang="en-US" altLang="zh-TW" sz="4000" dirty="0"/>
            </a:br>
            <a:endParaRPr lang="en-US" altLang="zh-TW" sz="400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zh-TW" dirty="0"/>
          </a:p>
          <a:p>
            <a:pPr eaLnBrk="1" hangingPunct="1"/>
            <a:r>
              <a:rPr lang="en-US" altLang="zh-TW" dirty="0"/>
              <a:t>J. H. Wang</a:t>
            </a:r>
          </a:p>
          <a:p>
            <a:pPr eaLnBrk="1" hangingPunct="1"/>
            <a:r>
              <a:rPr lang="en-US" altLang="zh-TW" dirty="0"/>
              <a:t>Sep. 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 dirty="0">
                <a:latin typeface="Arial" panose="020B0604020202020204" pitchFamily="34" charset="0"/>
              </a:rPr>
              <a:t>Introduction to Big Data Analytics, Fall 2026</a:t>
            </a:r>
          </a:p>
        </p:txBody>
      </p:sp>
      <p:sp>
        <p:nvSpPr>
          <p:cNvPr id="1229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1229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8F70E2A-9C05-4253-8038-D65DE463CF88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Instructor &amp; TA</a:t>
            </a:r>
          </a:p>
        </p:txBody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Instructor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J. H. Wang (</a:t>
            </a:r>
            <a:r>
              <a:rPr lang="zh-TW" altLang="en-US" sz="2400" dirty="0"/>
              <a:t>王正豪</a:t>
            </a:r>
            <a:r>
              <a:rPr lang="en-US" altLang="zh-TW" sz="2400" dirty="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Professor, CSIE, NTUT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Office: R1534, Technology Building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E-mail: </a:t>
            </a:r>
            <a:r>
              <a:rPr lang="en-US" altLang="zh-TW" sz="2400" dirty="0">
                <a:hlinkClick r:id="rId3"/>
              </a:rPr>
              <a:t>jhwang@ntut.edu.tw</a:t>
            </a:r>
            <a:endParaRPr lang="en-US" altLang="zh-TW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Tel: ext. 4238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Office Hour: 9:10-12:00am, every Tuesday and Thursday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TA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>
                <a:solidFill>
                  <a:srgbClr val="0000FF"/>
                </a:solidFill>
              </a:rPr>
              <a:t>Mr. Wang (@ R1424, Technology Building)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E-mail: (TBA)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Introduction to Big Data Analytics, Fall 2026</a:t>
            </a:r>
          </a:p>
        </p:txBody>
      </p:sp>
      <p:sp>
        <p:nvSpPr>
          <p:cNvPr id="1433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1434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8ED9D1B-7C0D-4D40-B10B-77911882E0E1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About this Course</a:t>
            </a:r>
          </a:p>
        </p:txBody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648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Course Web Page: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>
                <a:hlinkClick r:id="rId3"/>
              </a:rPr>
              <a:t>https://chriswjh.github.io/BDA/</a:t>
            </a:r>
            <a:r>
              <a:rPr lang="en-US" altLang="zh-TW" sz="2400" dirty="0"/>
              <a:t>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Time: 10:10-12:00am, Mon., 13:10-14:00pm, Tue.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Classroom: </a:t>
            </a:r>
            <a:r>
              <a:rPr lang="en-US" altLang="zh-TW" sz="2800" dirty="0">
                <a:solidFill>
                  <a:srgbClr val="FF0000"/>
                </a:solidFill>
              </a:rPr>
              <a:t>R235/R234, Technology Building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Classes will be in-person, offered at sophomore level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The teacher and the TA can be reached via e-mails, Teams, or Facebook group if needed</a:t>
            </a:r>
          </a:p>
          <a:p>
            <a:pPr eaLnBrk="1" hangingPunct="1">
              <a:lnSpc>
                <a:spcPct val="80000"/>
              </a:lnSpc>
            </a:pPr>
            <a:endParaRPr lang="en-US" altLang="zh-TW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Other Communication Channels</a:t>
            </a:r>
            <a:endParaRPr lang="zh-TW" altLang="en-US" dirty="0"/>
          </a:p>
        </p:txBody>
      </p:sp>
      <p:sp>
        <p:nvSpPr>
          <p:cNvPr id="9219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altLang="zh-TW" dirty="0"/>
              <a:t>Class sessions will be recorded using </a:t>
            </a:r>
            <a:r>
              <a:rPr lang="en-US" altLang="zh-TW" dirty="0" err="1">
                <a:solidFill>
                  <a:srgbClr val="0000FF"/>
                </a:solidFill>
              </a:rPr>
              <a:t>i</a:t>
            </a:r>
            <a:r>
              <a:rPr lang="en-US" altLang="zh-TW" dirty="0">
                <a:solidFill>
                  <a:srgbClr val="0000FF"/>
                </a:solidFill>
              </a:rPr>
              <a:t>-School+</a:t>
            </a:r>
          </a:p>
          <a:p>
            <a:pPr>
              <a:defRPr/>
            </a:pPr>
            <a:r>
              <a:rPr lang="en-US" altLang="zh-TW" dirty="0"/>
              <a:t>Online class sessions using Microsoft Teams will also be provided when possible</a:t>
            </a:r>
          </a:p>
          <a:p>
            <a:pPr lvl="1">
              <a:defRPr/>
            </a:pPr>
            <a:r>
              <a:rPr lang="en-US" altLang="zh-TW" dirty="0"/>
              <a:t>Team created for the course number:</a:t>
            </a:r>
          </a:p>
          <a:p>
            <a:pPr lvl="2">
              <a:defRPr/>
            </a:pPr>
            <a:r>
              <a:rPr lang="en-US" altLang="zh-TW" dirty="0"/>
              <a:t>[NTUT-Sync] 115-1_</a:t>
            </a:r>
            <a:r>
              <a:rPr lang="en-US" altLang="zh-TW" dirty="0">
                <a:solidFill>
                  <a:srgbClr val="FF0000"/>
                </a:solidFill>
              </a:rPr>
              <a:t>365939</a:t>
            </a:r>
            <a:r>
              <a:rPr lang="en-US" altLang="zh-TW" dirty="0"/>
              <a:t>_</a:t>
            </a:r>
            <a:r>
              <a:rPr lang="zh-TW" altLang="en-US" dirty="0"/>
              <a:t>巨量資料分析導論 </a:t>
            </a:r>
            <a:endParaRPr lang="en-US" altLang="zh-TW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altLang="zh-TW" dirty="0"/>
              <a:t>Online communication channels: </a:t>
            </a:r>
            <a:r>
              <a:rPr lang="en-US" altLang="zh-TW" dirty="0">
                <a:solidFill>
                  <a:srgbClr val="0000FF"/>
                </a:solidFill>
              </a:rPr>
              <a:t>Teams, </a:t>
            </a:r>
            <a:r>
              <a:rPr lang="en-US" altLang="zh-TW" dirty="0" err="1">
                <a:solidFill>
                  <a:srgbClr val="0000FF"/>
                </a:solidFill>
              </a:rPr>
              <a:t>iSchool</a:t>
            </a:r>
            <a:r>
              <a:rPr lang="en-US" altLang="zh-TW" dirty="0">
                <a:solidFill>
                  <a:srgbClr val="0000FF"/>
                </a:solidFill>
              </a:rPr>
              <a:t>+, </a:t>
            </a:r>
            <a:r>
              <a:rPr lang="en-US" altLang="zh-TW" dirty="0"/>
              <a:t>course web page, e-mails</a:t>
            </a:r>
          </a:p>
          <a:p>
            <a:pPr lvl="1">
              <a:defRPr/>
            </a:pPr>
            <a:endParaRPr lang="en-US" altLang="zh-TW" dirty="0"/>
          </a:p>
          <a:p>
            <a:pPr>
              <a:defRPr/>
            </a:pPr>
            <a:endParaRPr lang="zh-TW" altLang="en-US" dirty="0"/>
          </a:p>
        </p:txBody>
      </p:sp>
      <p:sp>
        <p:nvSpPr>
          <p:cNvPr id="1024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Introduction to Big Data Analytics, Fall 2026</a:t>
            </a:r>
          </a:p>
        </p:txBody>
      </p:sp>
      <p:sp>
        <p:nvSpPr>
          <p:cNvPr id="1024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1024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4CBBEE0-6AC3-449C-AB48-8718F5033217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Introduction to Big Data Analytics, Fall 2026</a:t>
            </a:r>
          </a:p>
        </p:txBody>
      </p:sp>
      <p:sp>
        <p:nvSpPr>
          <p:cNvPr id="1638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1638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D70FE33-E2DB-415E-9C36-1309FD83E94E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Course Materials</a:t>
            </a:r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648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Textbook: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 err="1"/>
              <a:t>Jiawei</a:t>
            </a:r>
            <a:r>
              <a:rPr lang="en-US" altLang="zh-TW" sz="2400" dirty="0"/>
              <a:t> Han, Jian Pei, and </a:t>
            </a:r>
            <a:r>
              <a:rPr lang="en-US" altLang="zh-TW" sz="2400" dirty="0" err="1"/>
              <a:t>Hanghang</a:t>
            </a:r>
            <a:r>
              <a:rPr lang="en-US" altLang="zh-TW" sz="2400" dirty="0"/>
              <a:t> Tong, </a:t>
            </a:r>
            <a:r>
              <a:rPr lang="en-US" altLang="zh-TW" sz="2400" i="1" dirty="0"/>
              <a:t>Data Mining: Concepts and Techniques, 4th ed.</a:t>
            </a:r>
            <a:r>
              <a:rPr lang="en-US" altLang="zh-TW" sz="2400" dirty="0"/>
              <a:t>, Morgan Kaufmann Publishers, Oct. 2022. [DM4] (selected chapters)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Prerequisites: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/>
              <a:t>Basic knowledge of </a:t>
            </a:r>
            <a:r>
              <a:rPr lang="en-US" altLang="zh-TW" sz="2400" dirty="0">
                <a:solidFill>
                  <a:srgbClr val="0000FF"/>
                </a:solidFill>
              </a:rPr>
              <a:t>data structures (and algorithms)</a:t>
            </a:r>
            <a:r>
              <a:rPr lang="en-US" altLang="zh-TW" sz="2400" dirty="0"/>
              <a:t>, </a:t>
            </a:r>
            <a:r>
              <a:rPr lang="en-US" altLang="zh-TW" sz="2400" dirty="0">
                <a:solidFill>
                  <a:srgbClr val="0000FF"/>
                </a:solidFill>
              </a:rPr>
              <a:t>database systems</a:t>
            </a:r>
            <a:r>
              <a:rPr lang="en-US" altLang="zh-TW" sz="2400" dirty="0"/>
              <a:t>, and </a:t>
            </a:r>
            <a:r>
              <a:rPr lang="en-US" altLang="zh-TW" sz="2400" dirty="0">
                <a:solidFill>
                  <a:srgbClr val="0000FF"/>
                </a:solidFill>
              </a:rPr>
              <a:t>discrete math (probability)</a:t>
            </a:r>
            <a:endParaRPr lang="en-US" altLang="zh-TW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/>
              <a:t>Programming experience is *required* for completing </a:t>
            </a:r>
            <a:r>
              <a:rPr lang="en-US" altLang="zh-TW" sz="2400" dirty="0" err="1"/>
              <a:t>homeworks</a:t>
            </a:r>
            <a:r>
              <a:rPr lang="en-US" altLang="zh-TW" sz="2400" dirty="0"/>
              <a:t> &amp; projects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Target Audience</a:t>
            </a:r>
            <a:endParaRPr lang="zh-TW" altLang="en-US"/>
          </a:p>
        </p:txBody>
      </p:sp>
      <p:sp>
        <p:nvSpPr>
          <p:cNvPr id="1843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CSIE </a:t>
            </a:r>
            <a:r>
              <a:rPr lang="en-US" altLang="zh-TW" dirty="0">
                <a:solidFill>
                  <a:srgbClr val="0000FF"/>
                </a:solidFill>
              </a:rPr>
              <a:t>sophomores</a:t>
            </a:r>
            <a:r>
              <a:rPr lang="en-US" altLang="zh-TW" dirty="0"/>
              <a:t> and above</a:t>
            </a:r>
          </a:p>
          <a:p>
            <a:r>
              <a:rPr lang="en-US" altLang="zh-TW" dirty="0"/>
              <a:t>Students who are interested in learning </a:t>
            </a:r>
            <a:r>
              <a:rPr lang="en-US" altLang="zh-TW" dirty="0">
                <a:solidFill>
                  <a:srgbClr val="0000FF"/>
                </a:solidFill>
              </a:rPr>
              <a:t>data mining </a:t>
            </a:r>
            <a:r>
              <a:rPr lang="en-US" altLang="zh-TW" dirty="0"/>
              <a:t>concepts and tools</a:t>
            </a:r>
          </a:p>
          <a:p>
            <a:r>
              <a:rPr lang="en-US" altLang="zh-TW" dirty="0"/>
              <a:t>Applying big data analytics techniques for analyzing real-world data</a:t>
            </a:r>
          </a:p>
          <a:p>
            <a:endParaRPr lang="en-US" altLang="zh-TW" dirty="0"/>
          </a:p>
          <a:p>
            <a:endParaRPr lang="en-US" altLang="zh-TW" dirty="0"/>
          </a:p>
        </p:txBody>
      </p:sp>
      <p:sp>
        <p:nvSpPr>
          <p:cNvPr id="1843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Introduction to Big Data Analytics, Fall 2026</a:t>
            </a:r>
          </a:p>
        </p:txBody>
      </p:sp>
      <p:sp>
        <p:nvSpPr>
          <p:cNvPr id="1843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1843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88AAFBB-9A47-467C-B60A-21236B937DC6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Differences between Courses with Similar Names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/>
              <a:t>CS:</a:t>
            </a:r>
          </a:p>
          <a:p>
            <a:pPr lvl="1"/>
            <a:r>
              <a:rPr lang="en-US" altLang="zh-TW" dirty="0"/>
              <a:t>Basics: Introduction to Big Data Analytics (</a:t>
            </a:r>
            <a:r>
              <a:rPr lang="en-US" altLang="zh-TW" dirty="0">
                <a:solidFill>
                  <a:srgbClr val="FF0000"/>
                </a:solidFill>
              </a:rPr>
              <a:t>This course</a:t>
            </a:r>
            <a:r>
              <a:rPr lang="en-US" altLang="zh-TW" dirty="0"/>
              <a:t>)</a:t>
            </a:r>
          </a:p>
          <a:p>
            <a:pPr lvl="2"/>
            <a:r>
              <a:rPr lang="en-US" altLang="zh-TW" dirty="0"/>
              <a:t>Concepts of data mining &amp; </a:t>
            </a:r>
            <a:r>
              <a:rPr lang="en-US" altLang="zh-TW" dirty="0">
                <a:solidFill>
                  <a:srgbClr val="0000FF"/>
                </a:solidFill>
              </a:rPr>
              <a:t>big data</a:t>
            </a:r>
          </a:p>
          <a:p>
            <a:pPr lvl="1"/>
            <a:r>
              <a:rPr lang="en-US" altLang="zh-TW" dirty="0"/>
              <a:t>Application: Educational Data Mining and Applications (2023-2025)</a:t>
            </a:r>
          </a:p>
          <a:p>
            <a:pPr lvl="2"/>
            <a:r>
              <a:rPr lang="en-US" altLang="zh-TW" dirty="0"/>
              <a:t>Data mining concept + </a:t>
            </a:r>
            <a:r>
              <a:rPr lang="en-US" altLang="zh-TW" dirty="0">
                <a:solidFill>
                  <a:srgbClr val="0000FF"/>
                </a:solidFill>
              </a:rPr>
              <a:t>educational </a:t>
            </a:r>
            <a:r>
              <a:rPr lang="en-US" altLang="zh-TW" dirty="0"/>
              <a:t>data analysis</a:t>
            </a:r>
          </a:p>
          <a:p>
            <a:pPr lvl="1"/>
            <a:r>
              <a:rPr lang="en-US" altLang="zh-TW" dirty="0"/>
              <a:t>Advanced: Big Data Mining and Applications (graduate-level)</a:t>
            </a:r>
          </a:p>
          <a:p>
            <a:pPr lvl="2"/>
            <a:r>
              <a:rPr lang="en-US" altLang="zh-TW" dirty="0"/>
              <a:t>Mining different types of big data + </a:t>
            </a:r>
            <a:r>
              <a:rPr lang="en-US" altLang="zh-TW" dirty="0">
                <a:solidFill>
                  <a:srgbClr val="0000FF"/>
                </a:solidFill>
              </a:rPr>
              <a:t>distributed platform</a:t>
            </a:r>
          </a:p>
          <a:p>
            <a:r>
              <a:rPr lang="en-US" altLang="zh-TW" dirty="0"/>
              <a:t>IFM:</a:t>
            </a:r>
          </a:p>
          <a:p>
            <a:pPr lvl="1"/>
            <a:r>
              <a:rPr lang="en-US" altLang="zh-TW" dirty="0"/>
              <a:t>Basics: Big Data Analytics</a:t>
            </a:r>
          </a:p>
          <a:p>
            <a:pPr lvl="2"/>
            <a:r>
              <a:rPr lang="en-US" altLang="zh-TW" dirty="0"/>
              <a:t>Data mining concepts</a:t>
            </a:r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Introduction to Big Data Analytics, Fall 2026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CE3ACE-715B-42EB-8112-DFB5C547F31F}" type="slidenum">
              <a:rPr lang="en-US" altLang="zh-TW" smtClean="0"/>
              <a:pPr>
                <a:defRPr/>
              </a:pPr>
              <a:t>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93135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Introduction to Big Data Analytics, Fall 2026</a:t>
            </a:r>
          </a:p>
        </p:txBody>
      </p:sp>
      <p:sp>
        <p:nvSpPr>
          <p:cNvPr id="1945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1946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FDDC24C-DEBD-4656-A6E2-60EBBDF8AD88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Additional Reading Materials</a:t>
            </a:r>
          </a:p>
        </p:txBody>
      </p:sp>
      <p:sp>
        <p:nvSpPr>
          <p:cNvPr id="153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altLang="zh-TW" sz="2400" dirty="0"/>
              <a:t>Reference Books</a:t>
            </a:r>
          </a:p>
          <a:p>
            <a:pPr lvl="1" eaLnBrk="1" hangingPunct="1">
              <a:defRPr/>
            </a:pPr>
            <a:r>
              <a:rPr lang="en-US" altLang="zh-TW" sz="2000" dirty="0"/>
              <a:t>Tom White, </a:t>
            </a:r>
            <a:r>
              <a:rPr lang="en-US" altLang="zh-TW" sz="2000" i="1" dirty="0"/>
              <a:t>Hadoop: The Definitive Guide, 4</a:t>
            </a:r>
            <a:r>
              <a:rPr lang="en-US" altLang="zh-TW" sz="2000" i="1" baseline="30000" dirty="0"/>
              <a:t>th</a:t>
            </a:r>
            <a:r>
              <a:rPr lang="en-US" altLang="zh-TW" sz="2000" i="1" dirty="0"/>
              <a:t> ed</a:t>
            </a:r>
            <a:r>
              <a:rPr lang="en-US" altLang="zh-TW" sz="2000" dirty="0"/>
              <a:t>., O’Reilly Media, 2015.</a:t>
            </a:r>
          </a:p>
          <a:p>
            <a:pPr lvl="1" eaLnBrk="1" hangingPunct="1">
              <a:defRPr/>
            </a:pPr>
            <a:r>
              <a:rPr lang="en-US" altLang="zh-TW" sz="2000" dirty="0"/>
              <a:t>Jules S. </a:t>
            </a:r>
            <a:r>
              <a:rPr lang="en-US" altLang="zh-TW" sz="2000" dirty="0" err="1"/>
              <a:t>Damji</a:t>
            </a:r>
            <a:r>
              <a:rPr lang="en-US" altLang="zh-TW" sz="2000" dirty="0"/>
              <a:t>, Brooke </a:t>
            </a:r>
            <a:r>
              <a:rPr lang="en-US" altLang="zh-TW" sz="2000" dirty="0" err="1"/>
              <a:t>Wenig</a:t>
            </a:r>
            <a:r>
              <a:rPr lang="en-US" altLang="zh-TW" sz="2000" dirty="0"/>
              <a:t>, </a:t>
            </a:r>
            <a:r>
              <a:rPr lang="en-US" altLang="zh-TW" sz="2000" dirty="0" err="1"/>
              <a:t>Tathagata</a:t>
            </a:r>
            <a:r>
              <a:rPr lang="en-US" altLang="zh-TW" sz="2000" dirty="0"/>
              <a:t> Das, Denny Lee, </a:t>
            </a:r>
            <a:r>
              <a:rPr lang="en-US" altLang="zh-TW" sz="2000" i="1" dirty="0"/>
              <a:t>Learning Spark: Lightning-Fast Big Data Analysis</a:t>
            </a:r>
            <a:r>
              <a:rPr lang="en-US" altLang="zh-TW" sz="2000" dirty="0"/>
              <a:t>, 2</a:t>
            </a:r>
            <a:r>
              <a:rPr lang="en-US" altLang="zh-TW" sz="2000" baseline="30000" dirty="0"/>
              <a:t>nd</a:t>
            </a:r>
            <a:r>
              <a:rPr lang="en-US" altLang="zh-TW" sz="2000" dirty="0"/>
              <a:t> ed., O'Reilly Media, Jul. 2020.</a:t>
            </a:r>
          </a:p>
          <a:p>
            <a:pPr lvl="1" eaLnBrk="1" hangingPunct="1">
              <a:defRPr/>
            </a:pPr>
            <a:r>
              <a:rPr lang="en-US" altLang="zh-TW" sz="2000" dirty="0"/>
              <a:t>Jimmy Lin and Chris Dyer, </a:t>
            </a:r>
            <a:r>
              <a:rPr lang="en-US" altLang="zh-TW" sz="2000" i="1" dirty="0"/>
              <a:t>Data-Intensive Text Processing with </a:t>
            </a:r>
            <a:r>
              <a:rPr lang="en-US" altLang="zh-TW" sz="2000" i="1" dirty="0" err="1"/>
              <a:t>MapReduce</a:t>
            </a:r>
            <a:r>
              <a:rPr lang="en-US" altLang="zh-TW" sz="2000" dirty="0"/>
              <a:t>, Morgan &amp; Claypool Publishers, 2010.</a:t>
            </a:r>
          </a:p>
          <a:p>
            <a:pPr lvl="1" eaLnBrk="1" hangingPunct="1">
              <a:defRPr/>
            </a:pPr>
            <a:r>
              <a:rPr lang="en-US" altLang="zh-TW" sz="2000" dirty="0"/>
              <a:t>Jure </a:t>
            </a:r>
            <a:r>
              <a:rPr lang="en-US" altLang="zh-TW" sz="2000" dirty="0" err="1"/>
              <a:t>Leskovec</a:t>
            </a:r>
            <a:r>
              <a:rPr lang="en-US" altLang="zh-TW" sz="2000" dirty="0"/>
              <a:t>, </a:t>
            </a:r>
            <a:r>
              <a:rPr lang="en-US" altLang="zh-TW" sz="2000" dirty="0" err="1"/>
              <a:t>Anand</a:t>
            </a:r>
            <a:r>
              <a:rPr lang="en-US" altLang="zh-TW" sz="2000" dirty="0"/>
              <a:t> </a:t>
            </a:r>
            <a:r>
              <a:rPr lang="en-US" altLang="zh-TW" sz="2000" dirty="0" err="1"/>
              <a:t>Rajaraman</a:t>
            </a:r>
            <a:r>
              <a:rPr lang="en-US" altLang="zh-TW" sz="2000" dirty="0"/>
              <a:t>, Jeffrey David Ullman, </a:t>
            </a:r>
            <a:r>
              <a:rPr lang="en-US" altLang="zh-TW" sz="2000" i="1" dirty="0"/>
              <a:t>Mining of Massive Datasets</a:t>
            </a:r>
            <a:r>
              <a:rPr lang="en-US" altLang="zh-TW" sz="2000" dirty="0"/>
              <a:t>, 3rd Edition, Cambridge University Press, 2020. </a:t>
            </a:r>
          </a:p>
          <a:p>
            <a:pPr lvl="2" eaLnBrk="1" hangingPunct="1">
              <a:defRPr/>
            </a:pPr>
            <a:r>
              <a:rPr lang="en-US" altLang="zh-TW" sz="1600" dirty="0">
                <a:hlinkClick r:id="rId3"/>
              </a:rPr>
              <a:t>http://www.mmds.org/</a:t>
            </a:r>
            <a:r>
              <a:rPr lang="en-US" altLang="zh-TW" sz="1600" dirty="0"/>
              <a:t> </a:t>
            </a:r>
          </a:p>
          <a:p>
            <a:pPr eaLnBrk="1" hangingPunct="1">
              <a:defRPr/>
            </a:pPr>
            <a:r>
              <a:rPr lang="en-US" altLang="zh-TW" sz="2400" dirty="0"/>
              <a:t>Official online documents: Hadoop, Spark, …</a:t>
            </a:r>
          </a:p>
          <a:p>
            <a:pPr eaLnBrk="1" hangingPunct="1">
              <a:defRPr/>
            </a:pPr>
            <a:r>
              <a:rPr lang="en-US" altLang="zh-TW" sz="2400" dirty="0"/>
              <a:t>Academic papers</a:t>
            </a:r>
          </a:p>
          <a:p>
            <a:pPr eaLnBrk="1" hangingPunct="1">
              <a:defRPr/>
            </a:pPr>
            <a:endParaRPr lang="en-US" altLang="zh-TW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Introduction to Big Data Analytics, Fall 2026</a:t>
            </a:r>
          </a:p>
        </p:txBody>
      </p:sp>
      <p:sp>
        <p:nvSpPr>
          <p:cNvPr id="2150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2150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F63C8B4-5750-49A0-9F3F-63F39E5FFA74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Grading Policy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altLang="zh-TW" dirty="0"/>
              <a:t>Homework assignments and programming exercises: ~40%</a:t>
            </a:r>
          </a:p>
          <a:p>
            <a:pPr eaLnBrk="1" hangingPunct="1">
              <a:defRPr/>
            </a:pPr>
            <a:r>
              <a:rPr lang="en-US" altLang="zh-TW" dirty="0"/>
              <a:t>Mid-term exam: ~25%</a:t>
            </a:r>
          </a:p>
          <a:p>
            <a:pPr eaLnBrk="1" hangingPunct="1">
              <a:defRPr/>
            </a:pPr>
            <a:r>
              <a:rPr lang="en-US" altLang="zh-TW" dirty="0">
                <a:solidFill>
                  <a:srgbClr val="0000FF"/>
                </a:solidFill>
              </a:rPr>
              <a:t>Term project</a:t>
            </a:r>
            <a:r>
              <a:rPr lang="en-US" altLang="zh-TW" dirty="0"/>
              <a:t>: ~35%</a:t>
            </a:r>
          </a:p>
          <a:p>
            <a:pPr lvl="1" eaLnBrk="1" hangingPunct="1">
              <a:defRPr/>
            </a:pPr>
            <a:r>
              <a:rPr lang="en-US" altLang="zh-TW" dirty="0"/>
              <a:t>Including proposal, presentation, and final report</a:t>
            </a:r>
          </a:p>
          <a:p>
            <a:pPr eaLnBrk="1" hangingPunct="1">
              <a:defRPr/>
            </a:pPr>
            <a:r>
              <a:rPr lang="en-US" altLang="zh-TW" dirty="0"/>
              <a:t>All </a:t>
            </a:r>
            <a:r>
              <a:rPr lang="en-US" altLang="zh-TW" dirty="0" err="1"/>
              <a:t>homeworks</a:t>
            </a:r>
            <a:r>
              <a:rPr lang="en-US" altLang="zh-TW" dirty="0"/>
              <a:t>, projects, and reports must be submitted before the deadline</a:t>
            </a:r>
          </a:p>
          <a:p>
            <a:pPr lvl="1" eaLnBrk="1" hangingPunct="1">
              <a:defRPr/>
            </a:pPr>
            <a:r>
              <a:rPr lang="en-US" altLang="zh-TW" dirty="0"/>
              <a:t>Late submission has to be done *</a:t>
            </a:r>
            <a:r>
              <a:rPr lang="en-US" altLang="zh-TW" b="1" dirty="0"/>
              <a:t>before*</a:t>
            </a:r>
            <a:r>
              <a:rPr lang="en-US" altLang="zh-TW" dirty="0"/>
              <a:t> the end of the semester (</a:t>
            </a:r>
            <a:r>
              <a:rPr lang="en-US" altLang="zh-TW" dirty="0">
                <a:solidFill>
                  <a:srgbClr val="FF0000"/>
                </a:solidFill>
              </a:rPr>
              <a:t>Jan. 8, 2027</a:t>
            </a:r>
            <a:r>
              <a:rPr lang="en-US" altLang="zh-TW" dirty="0"/>
              <a:t>), if not specified otherwise</a:t>
            </a:r>
          </a:p>
          <a:p>
            <a:pPr lvl="1" eaLnBrk="1" hangingPunct="1">
              <a:defRPr/>
            </a:pPr>
            <a:endParaRPr lang="en-US" altLang="zh-TW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Introduction to Big Data Analytics, Fall 2026</a:t>
            </a:r>
          </a:p>
        </p:txBody>
      </p:sp>
      <p:sp>
        <p:nvSpPr>
          <p:cNvPr id="2355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2355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DC04F1E-86FD-4B45-8B06-2552449D28D6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/>
              <a:t>Homeworks and Projects</a:t>
            </a:r>
          </a:p>
        </p:txBody>
      </p:sp>
      <p:sp>
        <p:nvSpPr>
          <p:cNvPr id="153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altLang="zh-TW" sz="2800" dirty="0"/>
              <a:t>About </a:t>
            </a:r>
            <a:r>
              <a:rPr lang="en-US" altLang="zh-TW" sz="2800" dirty="0">
                <a:solidFill>
                  <a:srgbClr val="0000FF"/>
                </a:solidFill>
              </a:rPr>
              <a:t>3~4</a:t>
            </a:r>
            <a:r>
              <a:rPr lang="en-US" altLang="zh-TW" sz="2800" dirty="0"/>
              <a:t> written assignments</a:t>
            </a:r>
          </a:p>
          <a:p>
            <a:pPr lvl="1" eaLnBrk="1" hangingPunct="1">
              <a:defRPr/>
            </a:pPr>
            <a:r>
              <a:rPr lang="en-US" altLang="zh-TW" sz="2000" dirty="0"/>
              <a:t>Data mining concepts </a:t>
            </a:r>
          </a:p>
          <a:p>
            <a:pPr eaLnBrk="1" hangingPunct="1">
              <a:defRPr/>
            </a:pPr>
            <a:r>
              <a:rPr lang="en-US" altLang="zh-TW" sz="2800" dirty="0"/>
              <a:t>About </a:t>
            </a:r>
            <a:r>
              <a:rPr lang="en-US" altLang="zh-TW" sz="2800" dirty="0">
                <a:solidFill>
                  <a:srgbClr val="0000FF"/>
                </a:solidFill>
              </a:rPr>
              <a:t>3</a:t>
            </a:r>
            <a:r>
              <a:rPr lang="en-US" altLang="zh-TW" sz="2800" dirty="0"/>
              <a:t> team-based programming exercises</a:t>
            </a:r>
          </a:p>
          <a:p>
            <a:pPr lvl="1" eaLnBrk="1" hangingPunct="1">
              <a:defRPr/>
            </a:pPr>
            <a:r>
              <a:rPr lang="en-US" altLang="zh-TW" sz="2400" dirty="0"/>
              <a:t>Maximum number of students per team: </a:t>
            </a:r>
            <a:r>
              <a:rPr lang="en-US" altLang="zh-TW" sz="2400" dirty="0">
                <a:solidFill>
                  <a:srgbClr val="FF0000"/>
                </a:solidFill>
              </a:rPr>
              <a:t>4</a:t>
            </a:r>
          </a:p>
          <a:p>
            <a:pPr eaLnBrk="1" hangingPunct="1">
              <a:defRPr/>
            </a:pPr>
            <a:r>
              <a:rPr lang="en-US" altLang="zh-TW" sz="2800" dirty="0">
                <a:solidFill>
                  <a:srgbClr val="0000FF"/>
                </a:solidFill>
              </a:rPr>
              <a:t>One</a:t>
            </a:r>
            <a:r>
              <a:rPr lang="en-US" altLang="zh-TW" sz="2800" dirty="0"/>
              <a:t> term project for data analysis or system development</a:t>
            </a:r>
          </a:p>
          <a:p>
            <a:pPr lvl="1" eaLnBrk="1" hangingPunct="1">
              <a:defRPr/>
            </a:pPr>
            <a:r>
              <a:rPr lang="en-US" altLang="zh-TW" sz="2400" dirty="0"/>
              <a:t>Team-based (the same as programming exercises)</a:t>
            </a:r>
          </a:p>
          <a:p>
            <a:pPr lvl="1" eaLnBrk="1" hangingPunct="1">
              <a:defRPr/>
            </a:pPr>
            <a:r>
              <a:rPr lang="en-US" altLang="zh-TW" sz="2400" dirty="0"/>
              <a:t>e.g. to find interesting open datasets and appropriate methods to analyze </a:t>
            </a:r>
          </a:p>
          <a:p>
            <a:pPr eaLnBrk="1" hangingPunct="1">
              <a:defRPr/>
            </a:pPr>
            <a:r>
              <a:rPr lang="en-US" altLang="zh-TW" sz="2800" dirty="0"/>
              <a:t>Responsibility of each member must be specified in the document for team-based projects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About the Midterm Exam</a:t>
            </a:r>
            <a:endParaRPr lang="zh-TW" altLang="en-US"/>
          </a:p>
        </p:txBody>
      </p:sp>
      <p:sp>
        <p:nvSpPr>
          <p:cNvPr id="21507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TW" dirty="0"/>
              <a:t>Date: (TBD) </a:t>
            </a:r>
            <a:r>
              <a:rPr lang="en-US" altLang="zh-TW" dirty="0">
                <a:solidFill>
                  <a:srgbClr val="FF0000"/>
                </a:solidFill>
              </a:rPr>
              <a:t>Nov. 16, 2026</a:t>
            </a:r>
          </a:p>
          <a:p>
            <a:pPr>
              <a:defRPr/>
            </a:pPr>
            <a:r>
              <a:rPr lang="en-US" altLang="zh-TW" dirty="0"/>
              <a:t>Time: 10:10-12:00</a:t>
            </a:r>
          </a:p>
          <a:p>
            <a:pPr>
              <a:defRPr/>
            </a:pPr>
            <a:r>
              <a:rPr lang="en-US" altLang="zh-TW" dirty="0"/>
              <a:t>Location: </a:t>
            </a:r>
            <a:r>
              <a:rPr lang="en-US" altLang="zh-TW" sz="3200" dirty="0">
                <a:solidFill>
                  <a:srgbClr val="FF0000"/>
                </a:solidFill>
              </a:rPr>
              <a:t>R235, Technology Building</a:t>
            </a:r>
            <a:endParaRPr lang="en-US" altLang="zh-TW" dirty="0"/>
          </a:p>
          <a:p>
            <a:pPr>
              <a:defRPr/>
            </a:pPr>
            <a:r>
              <a:rPr lang="en-US" altLang="zh-TW" dirty="0"/>
              <a:t>Range: (TBD) [</a:t>
            </a:r>
            <a:r>
              <a:rPr lang="en-US" altLang="zh-TW" b="1" dirty="0"/>
              <a:t>DM4] Ch.1-2, 4, 6, 7 (part), 8</a:t>
            </a:r>
            <a:endParaRPr lang="en-US" altLang="zh-TW" dirty="0"/>
          </a:p>
          <a:p>
            <a:pPr>
              <a:defRPr/>
            </a:pPr>
            <a:r>
              <a:rPr lang="en-US" altLang="zh-TW" dirty="0"/>
              <a:t>Question Types: Calculation, Short Answer, True-False, Multiple Choice</a:t>
            </a:r>
          </a:p>
          <a:p>
            <a:pPr>
              <a:defRPr/>
            </a:pPr>
            <a:r>
              <a:rPr lang="en-US" altLang="zh-TW" dirty="0">
                <a:solidFill>
                  <a:srgbClr val="0000FF"/>
                </a:solidFill>
              </a:rPr>
              <a:t>Closed-book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2560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Introduction to Big Data Analytics, Fall 2026</a:t>
            </a:r>
          </a:p>
        </p:txBody>
      </p:sp>
      <p:sp>
        <p:nvSpPr>
          <p:cNvPr id="2560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2560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2E01CB4-27DF-4DF2-A1B1-23B83BD28297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Introduction to Big Data Analytics, Fall 2026</a:t>
            </a:r>
          </a:p>
        </p:txBody>
      </p:sp>
      <p:sp>
        <p:nvSpPr>
          <p:cNvPr id="2662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2662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4A2AC5B-64A9-4FE4-BE4C-41E13D97DD7C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About the Term Project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zh-TW" sz="2800" dirty="0"/>
              <a:t>Proposals, presentations, and reports are </a:t>
            </a:r>
            <a:r>
              <a:rPr lang="en-US" altLang="zh-TW" sz="2800" b="1" dirty="0">
                <a:solidFill>
                  <a:srgbClr val="0000FF"/>
                </a:solidFill>
              </a:rPr>
              <a:t>*required*</a:t>
            </a:r>
            <a:r>
              <a:rPr lang="en-US" altLang="zh-TW" sz="2800" b="1" dirty="0"/>
              <a:t> for each team</a:t>
            </a:r>
            <a:r>
              <a:rPr lang="en-US" altLang="zh-TW" sz="2800" dirty="0"/>
              <a:t>, and will be counted in the score</a:t>
            </a:r>
          </a:p>
          <a:p>
            <a:pPr lvl="1" eaLnBrk="1" hangingPunct="1"/>
            <a:r>
              <a:rPr lang="en-US" altLang="zh-TW" sz="2400" dirty="0"/>
              <a:t>The score you’ll get depends on the functionality, difficulty, and quality of your project </a:t>
            </a:r>
          </a:p>
          <a:p>
            <a:pPr eaLnBrk="1" hangingPunct="1"/>
            <a:r>
              <a:rPr lang="en-US" altLang="zh-TW" sz="2800" dirty="0"/>
              <a:t>Proposal: A one-page description of your idea on how you are going analyze which dataset</a:t>
            </a:r>
          </a:p>
          <a:p>
            <a:pPr lvl="1" eaLnBrk="1" hangingPunct="1"/>
            <a:r>
              <a:rPr lang="en-US" altLang="zh-TW" sz="2400" dirty="0"/>
              <a:t>You can either write your own program, or </a:t>
            </a:r>
            <a:r>
              <a:rPr lang="en-US" altLang="zh-TW" sz="2400" dirty="0">
                <a:solidFill>
                  <a:srgbClr val="0000FF"/>
                </a:solidFill>
              </a:rPr>
              <a:t>call existing open source code or library</a:t>
            </a:r>
            <a:r>
              <a:rPr lang="en-US" altLang="zh-TW" sz="2400" dirty="0"/>
              <a:t> (but </a:t>
            </a:r>
            <a:r>
              <a:rPr lang="en-US" altLang="zh-TW" sz="2400" dirty="0">
                <a:solidFill>
                  <a:srgbClr val="FF0000"/>
                </a:solidFill>
              </a:rPr>
              <a:t>NOT</a:t>
            </a:r>
            <a:r>
              <a:rPr lang="en-US" altLang="zh-TW" sz="2400" dirty="0"/>
              <a:t> executing binary code only)</a:t>
            </a:r>
          </a:p>
          <a:p>
            <a:pPr eaLnBrk="1" hangingPunct="1"/>
            <a:r>
              <a:rPr lang="en-US" altLang="zh-TW" sz="2800" dirty="0"/>
              <a:t>Presentation: ~20 minutes per team</a:t>
            </a:r>
          </a:p>
          <a:p>
            <a:pPr lvl="1" eaLnBrk="1" hangingPunct="1"/>
            <a:r>
              <a:rPr lang="en-US" altLang="zh-TW" sz="2400" dirty="0"/>
              <a:t>Focus on data description, analytical methods, results and interpretations</a:t>
            </a:r>
          </a:p>
          <a:p>
            <a:pPr eaLnBrk="1" hangingPunct="1"/>
            <a:r>
              <a:rPr lang="en-US" altLang="zh-TW" sz="2800" dirty="0"/>
              <a:t>Reports: slides, source code, and document</a:t>
            </a:r>
          </a:p>
          <a:p>
            <a:pPr lvl="1" eaLnBrk="1" hangingPunct="1"/>
            <a:endParaRPr lang="en-US" altLang="zh-TW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Introduction to Big Data Analytics, Fall 2026</a:t>
            </a:r>
          </a:p>
        </p:txBody>
      </p:sp>
      <p:sp>
        <p:nvSpPr>
          <p:cNvPr id="2867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2867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6541350-23E8-453C-8E9C-B99442A0F069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Homework Submission</a:t>
            </a:r>
          </a:p>
        </p:txBody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How to Submit:</a:t>
            </a:r>
          </a:p>
          <a:p>
            <a:pPr lvl="1" eaLnBrk="1" hangingPunct="1"/>
            <a:r>
              <a:rPr lang="en-US" altLang="zh-TW" dirty="0"/>
              <a:t>Written exercises are to be submitted in paper</a:t>
            </a:r>
          </a:p>
          <a:p>
            <a:pPr lvl="2" eaLnBrk="1" hangingPunct="1"/>
            <a:r>
              <a:rPr lang="en-US" altLang="zh-TW" dirty="0"/>
              <a:t>Electronic version is also acceptable in </a:t>
            </a:r>
            <a:r>
              <a:rPr lang="en-US" altLang="zh-TW" dirty="0" err="1">
                <a:solidFill>
                  <a:srgbClr val="0000FF"/>
                </a:solidFill>
              </a:rPr>
              <a:t>iSchool</a:t>
            </a:r>
            <a:r>
              <a:rPr lang="en-US" altLang="zh-TW" dirty="0">
                <a:solidFill>
                  <a:srgbClr val="0000FF"/>
                </a:solidFill>
              </a:rPr>
              <a:t>+</a:t>
            </a:r>
            <a:r>
              <a:rPr lang="en-US" altLang="zh-TW" dirty="0"/>
              <a:t> </a:t>
            </a:r>
          </a:p>
          <a:p>
            <a:pPr lvl="1" eaLnBrk="1" hangingPunct="1"/>
            <a:r>
              <a:rPr lang="en-US" altLang="zh-TW" dirty="0"/>
              <a:t>Systems, programs &amp; documentation, project proposals, and project reports in electronic files must be submitted online to </a:t>
            </a:r>
            <a:r>
              <a:rPr lang="en-US" altLang="zh-TW" dirty="0" err="1">
                <a:solidFill>
                  <a:srgbClr val="0000FF"/>
                </a:solidFill>
              </a:rPr>
              <a:t>iSchool</a:t>
            </a:r>
            <a:r>
              <a:rPr lang="en-US" altLang="zh-TW" dirty="0">
                <a:solidFill>
                  <a:srgbClr val="0000FF"/>
                </a:solidFill>
              </a:rPr>
              <a:t>+</a:t>
            </a:r>
          </a:p>
          <a:p>
            <a:pPr lvl="1" eaLnBrk="1" hangingPunct="1"/>
            <a:r>
              <a:rPr lang="en-US" altLang="zh-TW" dirty="0"/>
              <a:t>You will get deducted score when there’s delay in homework submission</a:t>
            </a:r>
          </a:p>
          <a:p>
            <a:pPr lvl="2" eaLnBrk="1" hangingPunct="1"/>
            <a:r>
              <a:rPr lang="en-US" altLang="zh-TW" dirty="0">
                <a:solidFill>
                  <a:srgbClr val="0000FF"/>
                </a:solidFill>
              </a:rPr>
              <a:t>The longer the delay, the higher the deduction</a:t>
            </a:r>
          </a:p>
          <a:p>
            <a:pPr lvl="2" eaLnBrk="1" hangingPunct="1"/>
            <a:endParaRPr lang="en-US" altLang="zh-TW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Introduction to Big Data Analytics, Fall 2026</a:t>
            </a:r>
          </a:p>
        </p:txBody>
      </p:sp>
      <p:sp>
        <p:nvSpPr>
          <p:cNvPr id="3072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3072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7661551-563E-474E-9A83-E197F9751D98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307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What This Course is about</a:t>
            </a:r>
          </a:p>
        </p:txBody>
      </p:sp>
      <p:sp>
        <p:nvSpPr>
          <p:cNvPr id="307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z="2800" dirty="0"/>
              <a:t>This course can help you</a:t>
            </a:r>
          </a:p>
          <a:p>
            <a:pPr lvl="1" eaLnBrk="1" hangingPunct="1"/>
            <a:r>
              <a:rPr lang="en-US" altLang="zh-TW" sz="2400" dirty="0"/>
              <a:t>Understand the general techniques of </a:t>
            </a:r>
            <a:r>
              <a:rPr lang="en-US" altLang="zh-TW" sz="2400" dirty="0">
                <a:solidFill>
                  <a:srgbClr val="0000FF"/>
                </a:solidFill>
              </a:rPr>
              <a:t>data mining</a:t>
            </a:r>
          </a:p>
          <a:p>
            <a:pPr lvl="1" eaLnBrk="1" hangingPunct="1"/>
            <a:r>
              <a:rPr lang="en-US" altLang="zh-TW" sz="2400" dirty="0"/>
              <a:t>Apply data mining tools in analyzing different kinds of data</a:t>
            </a:r>
          </a:p>
          <a:p>
            <a:pPr lvl="1" eaLnBrk="1" hangingPunct="1"/>
            <a:r>
              <a:rPr lang="en-US" altLang="zh-TW" sz="2400" dirty="0"/>
              <a:t>Get an idea of what distributed platforms like Hadoop/Spark can do (if time permits)</a:t>
            </a:r>
          </a:p>
          <a:p>
            <a:pPr eaLnBrk="1" hangingPunct="1"/>
            <a:r>
              <a:rPr lang="en-US" altLang="zh-TW" sz="2800" dirty="0"/>
              <a:t>And MORE…</a:t>
            </a:r>
          </a:p>
          <a:p>
            <a:pPr lvl="1" eaLnBrk="1" hangingPunct="1"/>
            <a:r>
              <a:rPr lang="en-US" altLang="zh-TW" sz="2400" dirty="0"/>
              <a:t>Technical and practical skills for:</a:t>
            </a:r>
          </a:p>
          <a:p>
            <a:pPr lvl="2" eaLnBrk="1" hangingPunct="1"/>
            <a:r>
              <a:rPr lang="en-US" altLang="zh-TW" sz="1600" dirty="0"/>
              <a:t>Data analysis and data mining methods</a:t>
            </a:r>
          </a:p>
          <a:p>
            <a:pPr lvl="2" eaLnBrk="1" hangingPunct="1"/>
            <a:r>
              <a:rPr lang="en-US" altLang="zh-TW" sz="1600" dirty="0"/>
              <a:t>Environment setup of distributed computing (if time permits)</a:t>
            </a:r>
          </a:p>
          <a:p>
            <a:pPr lvl="2" eaLnBrk="1" hangingPunct="1"/>
            <a:endParaRPr lang="en-US" altLang="zh-TW" sz="1600" dirty="0"/>
          </a:p>
          <a:p>
            <a:pPr lvl="2" eaLnBrk="1" hangingPunct="1"/>
            <a:endParaRPr lang="en-US" altLang="zh-TW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Related Topics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Introduction to Big Data Analytics, Fall 2026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CE3ACE-715B-42EB-8112-DFB5C547F31F}" type="slidenum">
              <a:rPr lang="en-US" altLang="zh-TW" smtClean="0"/>
              <a:pPr>
                <a:defRPr/>
              </a:pPr>
              <a:t>15</a:t>
            </a:fld>
            <a:endParaRPr lang="en-US" altLang="zh-TW"/>
          </a:p>
        </p:txBody>
      </p:sp>
      <p:pic>
        <p:nvPicPr>
          <p:cNvPr id="7" name="內容版面配置區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902938"/>
            <a:ext cx="6400800" cy="3920488"/>
          </a:xfrm>
        </p:spPr>
      </p:pic>
    </p:spTree>
    <p:extLst>
      <p:ext uri="{BB962C8B-B14F-4D97-AF65-F5344CB8AC3E}">
        <p14:creationId xmlns:p14="http://schemas.microsoft.com/office/powerpoint/2010/main" val="3814143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Related Topics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Introduction to Big Data Analytics, Fall 2026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CE3ACE-715B-42EB-8112-DFB5C547F31F}" type="slidenum">
              <a:rPr lang="en-US" altLang="zh-TW" smtClean="0"/>
              <a:pPr>
                <a:defRPr/>
              </a:pPr>
              <a:t>16</a:t>
            </a:fld>
            <a:endParaRPr lang="en-US" altLang="zh-TW"/>
          </a:p>
        </p:txBody>
      </p:sp>
      <p:pic>
        <p:nvPicPr>
          <p:cNvPr id="7" name="內容版面配置區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258" y="1600200"/>
            <a:ext cx="7511484" cy="4525963"/>
          </a:xfrm>
        </p:spPr>
      </p:pic>
    </p:spTree>
    <p:extLst>
      <p:ext uri="{BB962C8B-B14F-4D97-AF65-F5344CB8AC3E}">
        <p14:creationId xmlns:p14="http://schemas.microsoft.com/office/powerpoint/2010/main" val="3887723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Major Focus in Big Data Analytics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altLang="zh-TW" dirty="0"/>
              <a:t>The management of complete data lifecycle</a:t>
            </a:r>
          </a:p>
          <a:p>
            <a:pPr lvl="1">
              <a:defRPr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Collecting</a:t>
            </a:r>
          </a:p>
          <a:p>
            <a:pPr lvl="1">
              <a:defRPr/>
            </a:pPr>
            <a:r>
              <a:rPr lang="en-US" altLang="zh-TW" dirty="0">
                <a:solidFill>
                  <a:srgbClr val="0000FF"/>
                </a:solidFill>
              </a:rPr>
              <a:t>Cleansing </a:t>
            </a:r>
          </a:p>
          <a:p>
            <a:pPr lvl="1">
              <a:defRPr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Organizing </a:t>
            </a:r>
          </a:p>
          <a:p>
            <a:pPr lvl="1">
              <a:defRPr/>
            </a:pPr>
            <a:r>
              <a:rPr lang="en-US" altLang="zh-TW" dirty="0">
                <a:solidFill>
                  <a:srgbClr val="0000FF"/>
                </a:solidFill>
              </a:rPr>
              <a:t>Storing </a:t>
            </a:r>
          </a:p>
          <a:p>
            <a:pPr lvl="1">
              <a:defRPr/>
            </a:pPr>
            <a:r>
              <a:rPr lang="en-US" altLang="zh-TW" dirty="0">
                <a:solidFill>
                  <a:srgbClr val="FF0000"/>
                </a:solidFill>
              </a:rPr>
              <a:t>Analyzing </a:t>
            </a:r>
          </a:p>
          <a:p>
            <a:pPr lvl="1">
              <a:defRPr/>
            </a:pPr>
            <a:r>
              <a:rPr lang="en-US" altLang="zh-TW" b="1" dirty="0">
                <a:solidFill>
                  <a:srgbClr val="0000FF"/>
                </a:solidFill>
              </a:rPr>
              <a:t>Visualization &amp; Interpretation</a:t>
            </a:r>
          </a:p>
          <a:p>
            <a:pPr lvl="1">
              <a:defRPr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Governing </a:t>
            </a:r>
          </a:p>
          <a:p>
            <a:pPr>
              <a:defRPr/>
            </a:pPr>
            <a:endParaRPr lang="zh-TW" altLang="en-US" dirty="0"/>
          </a:p>
        </p:txBody>
      </p:sp>
      <p:sp>
        <p:nvSpPr>
          <p:cNvPr id="3789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Introduction to Big Data Analytics, Fall 2026</a:t>
            </a:r>
          </a:p>
        </p:txBody>
      </p:sp>
      <p:sp>
        <p:nvSpPr>
          <p:cNvPr id="3789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3789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51885D5-2B6E-48D7-88E7-C7FDB97A361E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Introduction to Big Data Analytics, Fall 2026</a:t>
            </a:r>
          </a:p>
        </p:txBody>
      </p:sp>
      <p:sp>
        <p:nvSpPr>
          <p:cNvPr id="3891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3891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C40A6B7-2979-4CC4-81BE-A37E07A68CED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389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The Goal of the Course</a:t>
            </a:r>
          </a:p>
        </p:txBody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To help you learn the basic concepts &amp; principles of data mining</a:t>
            </a:r>
          </a:p>
          <a:p>
            <a:pPr eaLnBrk="1" hangingPunct="1"/>
            <a:r>
              <a:rPr lang="en-US" altLang="zh-TW" dirty="0"/>
              <a:t>To help you know the characteristics of your data and find appropriate tools to analyze it</a:t>
            </a:r>
          </a:p>
          <a:p>
            <a:pPr eaLnBrk="1" hangingPunct="1"/>
            <a:r>
              <a:rPr lang="en-US" altLang="zh-TW" dirty="0"/>
              <a:t>To </a:t>
            </a:r>
            <a:r>
              <a:rPr lang="en-US" altLang="zh-TW" dirty="0">
                <a:solidFill>
                  <a:srgbClr val="0000FF"/>
                </a:solidFill>
              </a:rPr>
              <a:t>interpret</a:t>
            </a:r>
            <a:r>
              <a:rPr lang="en-US" altLang="zh-TW" dirty="0"/>
              <a:t> the analytic results of data mining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Introduction to Big Data Analytics, Fall 2026</a:t>
            </a:r>
          </a:p>
        </p:txBody>
      </p:sp>
      <p:sp>
        <p:nvSpPr>
          <p:cNvPr id="4301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4301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0FEE976-E7EC-4024-B84D-F64E3E9FEA0A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The Topics to be Covered</a:t>
            </a:r>
          </a:p>
        </p:txBody>
      </p:sp>
      <p:sp>
        <p:nvSpPr>
          <p:cNvPr id="378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zh-TW" sz="2800" dirty="0"/>
              <a:t>Introduction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TW" sz="2800" dirty="0">
                <a:solidFill>
                  <a:srgbClr val="FF0000"/>
                </a:solidFill>
              </a:rPr>
              <a:t>Data mining concepts</a:t>
            </a:r>
            <a:endParaRPr lang="en-US" altLang="zh-TW" sz="2800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400" dirty="0"/>
              <a:t>Data preprocessing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400" dirty="0"/>
              <a:t>Frequent pattern mining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400" dirty="0"/>
              <a:t>Data classification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400" dirty="0"/>
              <a:t>Data clustering 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TW" sz="2800" dirty="0">
                <a:solidFill>
                  <a:srgbClr val="0000FF"/>
                </a:solidFill>
              </a:rPr>
              <a:t>Distributed platform for big data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400" dirty="0"/>
              <a:t>Introducing distributed platforms: Hadoop, Spark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400" dirty="0" err="1"/>
              <a:t>MapReduce</a:t>
            </a:r>
            <a:r>
              <a:rPr lang="en-US" altLang="zh-TW" sz="2400" dirty="0"/>
              <a:t> programming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en-US" altLang="zh-TW" sz="18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Introduction to Big Data Analytics, Fall 2026</a:t>
            </a:r>
          </a:p>
        </p:txBody>
      </p:sp>
      <p:sp>
        <p:nvSpPr>
          <p:cNvPr id="4505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4506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46DDA29-7C14-46DF-95A4-6898E0E768D5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450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Tentative Schedule</a:t>
            </a:r>
          </a:p>
        </p:txBody>
      </p:sp>
      <p:sp>
        <p:nvSpPr>
          <p:cNvPr id="450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Before midterm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/>
              <a:t>Introduction (1 </a:t>
            </a:r>
            <a:r>
              <a:rPr lang="en-US" altLang="zh-TW" sz="2400" dirty="0" err="1"/>
              <a:t>wk</a:t>
            </a:r>
            <a:r>
              <a:rPr lang="en-US" altLang="zh-TW" sz="2400" dirty="0"/>
              <a:t>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/>
              <a:t>Data characteristics &amp; preprocessing (2 </a:t>
            </a:r>
            <a:r>
              <a:rPr lang="en-US" altLang="zh-TW" sz="2400" dirty="0" err="1"/>
              <a:t>wks</a:t>
            </a:r>
            <a:r>
              <a:rPr lang="en-US" altLang="zh-TW" sz="2400" dirty="0"/>
              <a:t>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/>
              <a:t>Frequent pattern mining (2 </a:t>
            </a:r>
            <a:r>
              <a:rPr lang="en-US" altLang="zh-TW" sz="2400" dirty="0" err="1"/>
              <a:t>wks</a:t>
            </a:r>
            <a:r>
              <a:rPr lang="en-US" altLang="zh-TW" sz="2400" dirty="0"/>
              <a:t>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/>
              <a:t>Data classification (2 </a:t>
            </a:r>
            <a:r>
              <a:rPr lang="en-US" altLang="zh-TW" sz="2400" dirty="0" err="1"/>
              <a:t>wks</a:t>
            </a:r>
            <a:r>
              <a:rPr lang="en-US" altLang="zh-TW" sz="2400" dirty="0"/>
              <a:t>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/>
              <a:t>Data clustering (1 </a:t>
            </a:r>
            <a:r>
              <a:rPr lang="en-US" altLang="zh-TW" sz="2400" dirty="0" err="1"/>
              <a:t>wk</a:t>
            </a:r>
            <a:r>
              <a:rPr lang="en-US" altLang="zh-TW" sz="2400" dirty="0"/>
              <a:t>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After midterm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/>
              <a:t>Advanced methods: pattern mining, classification, clustering (1 </a:t>
            </a:r>
            <a:r>
              <a:rPr lang="en-US" altLang="zh-TW" sz="2400" dirty="0" err="1"/>
              <a:t>wk</a:t>
            </a:r>
            <a:r>
              <a:rPr lang="en-US" altLang="zh-TW" sz="2400" dirty="0"/>
              <a:t>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/>
              <a:t>Introducing distributed platforms: Hadoop, Spark (1 </a:t>
            </a:r>
            <a:r>
              <a:rPr lang="en-US" altLang="zh-TW" sz="2400" dirty="0" err="1"/>
              <a:t>wk</a:t>
            </a:r>
            <a:r>
              <a:rPr lang="en-US" altLang="zh-TW" sz="2400" dirty="0"/>
              <a:t>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 err="1"/>
              <a:t>MapReduce</a:t>
            </a:r>
            <a:r>
              <a:rPr lang="en-US" altLang="zh-TW" sz="2400" dirty="0"/>
              <a:t> programming (1-2 </a:t>
            </a:r>
            <a:r>
              <a:rPr lang="en-US" altLang="zh-TW" sz="2400" dirty="0" err="1"/>
              <a:t>wks</a:t>
            </a:r>
            <a:r>
              <a:rPr lang="en-US" altLang="zh-TW" sz="2400" dirty="0"/>
              <a:t>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/>
              <a:t>Term Project </a:t>
            </a:r>
            <a:r>
              <a:rPr lang="en-US" altLang="zh-TW" sz="2400" dirty="0">
                <a:solidFill>
                  <a:srgbClr val="0000FF"/>
                </a:solidFill>
              </a:rPr>
              <a:t>Presentation</a:t>
            </a:r>
            <a:r>
              <a:rPr lang="en-US" altLang="zh-TW" sz="2400" dirty="0"/>
              <a:t> (3-4 </a:t>
            </a:r>
            <a:r>
              <a:rPr lang="en-US" altLang="zh-TW" sz="2400" dirty="0" err="1"/>
              <a:t>wks</a:t>
            </a:r>
            <a:r>
              <a:rPr lang="en-US" altLang="zh-TW" sz="2400" dirty="0"/>
              <a:t>)</a:t>
            </a:r>
          </a:p>
          <a:p>
            <a:pPr eaLnBrk="1" hangingPunct="1">
              <a:lnSpc>
                <a:spcPct val="80000"/>
              </a:lnSpc>
            </a:pPr>
            <a:endParaRPr lang="en-US" altLang="zh-TW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Tentative Schedule</a:t>
            </a:r>
            <a:endParaRPr lang="zh-TW" altLang="en-US"/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5107431"/>
              </p:ext>
            </p:extLst>
          </p:nvPr>
        </p:nvGraphicFramePr>
        <p:xfrm>
          <a:off x="457200" y="1241425"/>
          <a:ext cx="8229600" cy="512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Week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Date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Content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Note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9/7</a:t>
                      </a:r>
                      <a:br>
                        <a:rPr lang="en-US" altLang="zh-TW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9/8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Course Overview</a:t>
                      </a:r>
                    </a:p>
                    <a:p>
                      <a:r>
                        <a:rPr lang="hsb-DE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Ch.1, Introduction</a:t>
                      </a:r>
                      <a:endParaRPr lang="en-US" altLang="zh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9/14</a:t>
                      </a:r>
                      <a:br>
                        <a:rPr lang="en-US" altLang="zh-TW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9/15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(Leave for Czech project)</a:t>
                      </a:r>
                      <a:endParaRPr lang="en-US" altLang="zh-TW" dirty="0">
                        <a:solidFill>
                          <a:srgbClr val="FF0000"/>
                        </a:solidFill>
                        <a:hlinkClick r:id="rId2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9/21</a:t>
                      </a:r>
                    </a:p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9/22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(Leave for Czech project)</a:t>
                      </a:r>
                      <a:endParaRPr lang="en-US" dirty="0">
                        <a:solidFill>
                          <a:srgbClr val="FF0000"/>
                        </a:solidFill>
                        <a:hlinkClick r:id="rId2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9/28</a:t>
                      </a:r>
                    </a:p>
                    <a:p>
                      <a:r>
                        <a:rPr lang="en-US" altLang="zh-TW" dirty="0"/>
                        <a:t>9/29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(9/28: Teachers’ Day)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Ch.2, Data, Measurements, and Data Preprocessing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10/5</a:t>
                      </a:r>
                    </a:p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10/6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Ch.4, Pattern Mining: Basic Concepts and Methods</a:t>
                      </a:r>
                      <a:endParaRPr lang="en-US" altLang="zh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HW#1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10/12</a:t>
                      </a:r>
                    </a:p>
                    <a:p>
                      <a:r>
                        <a:rPr lang="en-US" altLang="zh-TW" dirty="0"/>
                        <a:t>10/13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Ch.4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Ch.5, Pattern Mining: Advanced Methods</a:t>
                      </a:r>
                      <a:endParaRPr lang="zh-TW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10/19</a:t>
                      </a:r>
                    </a:p>
                    <a:p>
                      <a:r>
                        <a:rPr lang="en-US" altLang="zh-TW" dirty="0"/>
                        <a:t>10/20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sb-DE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Ch.6, Classification: Basic Concepts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Due: HW#1</a:t>
                      </a:r>
                      <a:br>
                        <a:rPr lang="en-US" altLang="zh-TW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HW#2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715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Introduction to Big Data Analytics, Fall 2026</a:t>
            </a:r>
          </a:p>
        </p:txBody>
      </p:sp>
      <p:sp>
        <p:nvSpPr>
          <p:cNvPr id="4715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4715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BE6CFE-6630-4D18-AA0F-8709B3C2E724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8131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Introduction to Big Data Analytics, Fall 2026</a:t>
            </a:r>
          </a:p>
        </p:txBody>
      </p:sp>
      <p:sp>
        <p:nvSpPr>
          <p:cNvPr id="48132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48133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3872DDD-9910-49CC-9F70-36EFDEFDF8AD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5710132"/>
              </p:ext>
            </p:extLst>
          </p:nvPr>
        </p:nvGraphicFramePr>
        <p:xfrm>
          <a:off x="457200" y="1123782"/>
          <a:ext cx="8229600" cy="51214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163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Week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Date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Content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Note</a:t>
                      </a:r>
                      <a:endParaRPr lang="zh-TW" altLang="en-US" sz="1800" dirty="0"/>
                    </a:p>
                  </a:txBody>
                  <a:tcPr marT="45729" marB="4572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97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10/26</a:t>
                      </a:r>
                      <a:br>
                        <a:rPr lang="en-US" altLang="zh-TW" sz="1800" dirty="0"/>
                      </a:br>
                      <a:r>
                        <a:rPr lang="en-US" altLang="zh-TW" sz="1800" dirty="0"/>
                        <a:t>10/27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Ch.6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T="45729" marB="4572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197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11/2</a:t>
                      </a:r>
                      <a:br>
                        <a:rPr lang="en-US" altLang="zh-TW" sz="1800" dirty="0"/>
                      </a:br>
                      <a:r>
                        <a:rPr lang="en-US" altLang="zh-TW" sz="1800" dirty="0"/>
                        <a:t>11/3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Ch.8, Cluster Analysis: Basic Concepts and Methods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altLang="zh-TW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Due: HW#2</a:t>
                      </a:r>
                    </a:p>
                    <a:p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HW#3 </a:t>
                      </a:r>
                      <a:endParaRPr lang="zh-TW" altLang="en-US" sz="1800" dirty="0"/>
                    </a:p>
                  </a:txBody>
                  <a:tcPr marT="45729" marB="4572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97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11/9</a:t>
                      </a:r>
                    </a:p>
                    <a:p>
                      <a:r>
                        <a:rPr lang="en-US" altLang="zh-TW" sz="1800" dirty="0"/>
                        <a:t>11/10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Ch.8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sb-DE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Ch.7, Classification: Advanced Methods</a:t>
                      </a:r>
                      <a:endParaRPr lang="zh-TW" altLang="en-US" sz="1800" dirty="0"/>
                    </a:p>
                  </a:txBody>
                  <a:tcPr marT="45729" marB="45729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dirty="0"/>
                    </a:p>
                  </a:txBody>
                  <a:tcPr marT="45729" marB="4572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197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11/16</a:t>
                      </a:r>
                    </a:p>
                    <a:p>
                      <a:r>
                        <a:rPr lang="en-US" altLang="zh-TW" sz="1800" dirty="0"/>
                        <a:t>11/17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en-US" altLang="zh-TW" sz="1800" b="1" dirty="0">
                          <a:solidFill>
                            <a:srgbClr val="FF0000"/>
                          </a:solidFill>
                        </a:rPr>
                        <a:t>11/16</a:t>
                      </a:r>
                      <a:r>
                        <a:rPr lang="en-US" altLang="zh-TW" sz="1800" dirty="0">
                          <a:solidFill>
                            <a:srgbClr val="FF0000"/>
                          </a:solidFill>
                        </a:rPr>
                        <a:t>: Midterm)</a:t>
                      </a:r>
                      <a:r>
                        <a:rPr lang="hsb-DE" altLang="zh-TW" sz="18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 </a:t>
                      </a:r>
                      <a:endParaRPr lang="zh-TW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Due: HW#3</a:t>
                      </a:r>
                      <a:endParaRPr lang="zh-TW" altLang="en-US" sz="1800" dirty="0"/>
                    </a:p>
                  </a:txBody>
                  <a:tcPr marT="45729" marB="4572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0672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11/23</a:t>
                      </a:r>
                    </a:p>
                    <a:p>
                      <a:r>
                        <a:rPr lang="en-US" altLang="zh-TW" sz="1800" dirty="0"/>
                        <a:t>11/24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Ch.9, Cluster Analysis: Advanced Methods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Due: Proposal</a:t>
                      </a:r>
                      <a:endParaRPr lang="zh-TW" altLang="en-US" sz="18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HW#4</a:t>
                      </a:r>
                      <a:endParaRPr lang="zh-TW" altLang="en-US" sz="1800" dirty="0"/>
                    </a:p>
                  </a:txBody>
                  <a:tcPr marT="45729" marB="4572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197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11/30</a:t>
                      </a:r>
                    </a:p>
                    <a:p>
                      <a:r>
                        <a:rPr lang="en-US" altLang="zh-TW" sz="1800" dirty="0"/>
                        <a:t>12/1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Distributed Platforms: Hadoop, Spark </a:t>
                      </a:r>
                    </a:p>
                    <a:p>
                      <a:r>
                        <a:rPr lang="en-US" altLang="zh-TW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MapReduce</a:t>
                      </a: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Programming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dirty="0"/>
                    </a:p>
                  </a:txBody>
                  <a:tcPr marT="45729" marB="4572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197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12/7</a:t>
                      </a:r>
                    </a:p>
                    <a:p>
                      <a:r>
                        <a:rPr lang="en-US" altLang="zh-TW" sz="1800" dirty="0"/>
                        <a:t>12/8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Spark Programming</a:t>
                      </a:r>
                      <a:endParaRPr lang="zh-TW" alt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Due: HW#4</a:t>
                      </a:r>
                      <a:endParaRPr lang="zh-TW" altLang="en-US" sz="1800" dirty="0"/>
                    </a:p>
                  </a:txBody>
                  <a:tcPr marT="45729" marB="45729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6662047"/>
              </p:ext>
            </p:extLst>
          </p:nvPr>
        </p:nvGraphicFramePr>
        <p:xfrm>
          <a:off x="457200" y="1600200"/>
          <a:ext cx="8229600" cy="2930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513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Week</a:t>
                      </a:r>
                      <a:endParaRPr lang="zh-TW" altLang="en-US" sz="18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Date</a:t>
                      </a:r>
                      <a:endParaRPr lang="zh-TW" altLang="en-US" sz="18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Content</a:t>
                      </a:r>
                      <a:endParaRPr lang="zh-TW" altLang="en-US" sz="18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Note</a:t>
                      </a:r>
                      <a:endParaRPr lang="zh-TW" altLang="en-US" sz="18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03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15</a:t>
                      </a:r>
                      <a:endParaRPr lang="zh-TW" altLang="en-US" sz="18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12/14</a:t>
                      </a:r>
                    </a:p>
                    <a:p>
                      <a:r>
                        <a:rPr lang="en-US" altLang="zh-TW" sz="1800" dirty="0"/>
                        <a:t>12/15</a:t>
                      </a: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rgbClr val="0000FF"/>
                          </a:solidFill>
                        </a:rPr>
                        <a:t>Term Project Presentation: Week</a:t>
                      </a:r>
                      <a:r>
                        <a:rPr lang="en-US" altLang="zh-TW" sz="1800" baseline="0" dirty="0">
                          <a:solidFill>
                            <a:srgbClr val="0000FF"/>
                          </a:solidFill>
                        </a:rPr>
                        <a:t> 1</a:t>
                      </a:r>
                      <a:endParaRPr lang="zh-TW" alt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03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16</a:t>
                      </a:r>
                      <a:endParaRPr lang="zh-TW" altLang="en-US" sz="18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12/21</a:t>
                      </a:r>
                    </a:p>
                    <a:p>
                      <a:r>
                        <a:rPr lang="en-US" altLang="zh-TW" sz="1800" dirty="0"/>
                        <a:t>12/22</a:t>
                      </a:r>
                      <a:endParaRPr lang="zh-TW" altLang="en-US" sz="18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rgbClr val="0000FF"/>
                          </a:solidFill>
                        </a:rPr>
                        <a:t>Term Project Presentation: Week</a:t>
                      </a:r>
                      <a:r>
                        <a:rPr lang="en-US" altLang="zh-TW" sz="1800" baseline="0" dirty="0">
                          <a:solidFill>
                            <a:srgbClr val="0000FF"/>
                          </a:solidFill>
                        </a:rPr>
                        <a:t> 2</a:t>
                      </a:r>
                      <a:endParaRPr lang="zh-TW" alt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03"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rgbClr val="FF0000"/>
                          </a:solidFill>
                        </a:rPr>
                        <a:t>17</a:t>
                      </a:r>
                      <a:endParaRPr lang="zh-TW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682" marB="45682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12/28</a:t>
                      </a:r>
                    </a:p>
                    <a:p>
                      <a:r>
                        <a:rPr lang="en-US" altLang="zh-TW" sz="1800" dirty="0"/>
                        <a:t>12/29</a:t>
                      </a:r>
                      <a:endParaRPr lang="zh-TW" altLang="en-US" sz="1800" dirty="0"/>
                    </a:p>
                  </a:txBody>
                  <a:tcPr marT="45682" marB="45682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rgbClr val="0000FF"/>
                          </a:solidFill>
                        </a:rPr>
                        <a:t>Term Project Presentation: Week</a:t>
                      </a:r>
                      <a:r>
                        <a:rPr lang="en-US" altLang="zh-TW" sz="1800" baseline="0" dirty="0">
                          <a:solidFill>
                            <a:srgbClr val="0000FF"/>
                          </a:solidFill>
                        </a:rPr>
                        <a:t> 3</a:t>
                      </a:r>
                    </a:p>
                    <a:p>
                      <a:r>
                        <a:rPr lang="en-US" altLang="zh-TW" sz="1800" baseline="0" dirty="0">
                          <a:solidFill>
                            <a:srgbClr val="0000FF"/>
                          </a:solidFill>
                        </a:rPr>
                        <a:t>(online)</a:t>
                      </a:r>
                    </a:p>
                  </a:txBody>
                  <a:tcPr marT="45682" marB="45682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T="45682" marB="45682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03"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rgbClr val="FF0000"/>
                          </a:solidFill>
                        </a:rPr>
                        <a:t>18</a:t>
                      </a:r>
                      <a:endParaRPr lang="zh-TW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682" marB="45682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1/4</a:t>
                      </a:r>
                    </a:p>
                    <a:p>
                      <a:r>
                        <a:rPr lang="en-US" altLang="zh-TW" sz="1800" dirty="0"/>
                        <a:t>1/5</a:t>
                      </a:r>
                      <a:endParaRPr lang="zh-TW" altLang="en-US" sz="1800" dirty="0"/>
                    </a:p>
                  </a:txBody>
                  <a:tcPr marT="45682" marB="45682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rgbClr val="0000FF"/>
                          </a:solidFill>
                        </a:rPr>
                        <a:t>Term Project Presentation: Week</a:t>
                      </a:r>
                      <a:r>
                        <a:rPr lang="en-US" altLang="zh-TW" sz="1800" baseline="0" dirty="0">
                          <a:solidFill>
                            <a:srgbClr val="0000FF"/>
                          </a:solidFill>
                        </a:rPr>
                        <a:t> 4</a:t>
                      </a:r>
                    </a:p>
                    <a:p>
                      <a:r>
                        <a:rPr lang="en-US" altLang="zh-TW" sz="1800" baseline="0" dirty="0">
                          <a:solidFill>
                            <a:srgbClr val="0000FF"/>
                          </a:solidFill>
                        </a:rPr>
                        <a:t>(online)</a:t>
                      </a:r>
                      <a:endParaRPr lang="zh-TW" alt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 marT="45682" marB="45682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rgbClr val="FF0000"/>
                          </a:solidFill>
                        </a:rPr>
                        <a:t>1/8 </a:t>
                      </a:r>
                      <a:r>
                        <a:rPr lang="en-US" altLang="zh-TW" sz="1800" dirty="0"/>
                        <a:t>Due: Final report</a:t>
                      </a:r>
                      <a:endParaRPr lang="zh-TW" altLang="en-US" sz="1800" dirty="0"/>
                    </a:p>
                  </a:txBody>
                  <a:tcPr marT="45682" marB="45682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187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Introduction to Big Data Analytics, Fall 2026</a:t>
            </a:r>
          </a:p>
        </p:txBody>
      </p:sp>
      <p:sp>
        <p:nvSpPr>
          <p:cNvPr id="49188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49189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C61185F-E6BD-4580-85A9-ED2DA2608ABA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4E28E2-B3CE-84F7-A0D6-B55469343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Flexible Learning (Week 17-18)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31441B-395D-7229-A63C-C9478D2B4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Group-based term project implementation and presentation</a:t>
            </a:r>
          </a:p>
          <a:p>
            <a:pPr lvl="1"/>
            <a:r>
              <a:rPr lang="en-US" altLang="zh-TW" dirty="0"/>
              <a:t> Online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Submission for make-up </a:t>
            </a:r>
            <a:r>
              <a:rPr lang="en-US" altLang="zh-TW" dirty="0" err="1"/>
              <a:t>homeworks</a:t>
            </a:r>
            <a:r>
              <a:rPr lang="en-US" altLang="zh-TW" dirty="0"/>
              <a:t>, and extra bonus</a:t>
            </a:r>
          </a:p>
          <a:p>
            <a:pPr lvl="1"/>
            <a:r>
              <a:rPr lang="en-US" altLang="zh-TW" dirty="0"/>
              <a:t>No more than 10% of the total score</a:t>
            </a:r>
          </a:p>
          <a:p>
            <a:pPr lvl="1"/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892F958-AD74-D5EB-5987-319852C9C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Introduction to Big Data Analytics, Fall 2026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3BF9C30-DBCD-7AB5-6499-17C0BF1FB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ABDC966-2E84-944A-78DA-F6F70FA62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CE3ACE-715B-42EB-8112-DFB5C547F31F}" type="slidenum">
              <a:rPr lang="en-US" altLang="zh-TW" smtClean="0"/>
              <a:pPr>
                <a:defRPr/>
              </a:pPr>
              <a:t>24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59234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Notes on Homeworks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altLang="zh-TW" dirty="0"/>
              <a:t>Rule 1: </a:t>
            </a:r>
            <a:r>
              <a:rPr lang="en-US" altLang="zh-TW" dirty="0">
                <a:solidFill>
                  <a:srgbClr val="FF0000"/>
                </a:solidFill>
              </a:rPr>
              <a:t>Plagiarism is prohibited</a:t>
            </a:r>
            <a:endParaRPr lang="en-US" altLang="zh-TW" dirty="0"/>
          </a:p>
          <a:p>
            <a:pPr lvl="1">
              <a:defRPr/>
            </a:pPr>
            <a:r>
              <a:rPr lang="en-US" altLang="zh-TW" dirty="0"/>
              <a:t>Near-duplicate codes will get equal and deducted scores</a:t>
            </a:r>
          </a:p>
          <a:p>
            <a:pPr>
              <a:defRPr/>
            </a:pPr>
            <a:r>
              <a:rPr lang="en-US" altLang="zh-TW" dirty="0"/>
              <a:t>Rule 2: </a:t>
            </a:r>
            <a:r>
              <a:rPr lang="en-US" altLang="zh-TW" dirty="0">
                <a:solidFill>
                  <a:srgbClr val="0000FF"/>
                </a:solidFill>
              </a:rPr>
              <a:t>Clear documentation is required </a:t>
            </a:r>
            <a:r>
              <a:rPr lang="en-US" altLang="zh-TW" dirty="0"/>
              <a:t>in your system projects</a:t>
            </a:r>
          </a:p>
          <a:p>
            <a:pPr lvl="1">
              <a:defRPr/>
            </a:pPr>
            <a:r>
              <a:rPr lang="en-US" altLang="zh-TW" dirty="0"/>
              <a:t>Instructions on downloading, installing, configuring, and executing your code, open source library, APIs, or codes must be included in the documentation</a:t>
            </a:r>
          </a:p>
          <a:p>
            <a:pPr lvl="1">
              <a:defRPr/>
            </a:pPr>
            <a:r>
              <a:rPr lang="en-US" altLang="zh-TW" dirty="0"/>
              <a:t>Package control is recommended</a:t>
            </a:r>
            <a:endParaRPr lang="zh-TW" altLang="en-US" dirty="0"/>
          </a:p>
        </p:txBody>
      </p:sp>
      <p:sp>
        <p:nvSpPr>
          <p:cNvPr id="5018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Introduction to Big Data Analytics, Fall 2026</a:t>
            </a:r>
          </a:p>
        </p:txBody>
      </p:sp>
      <p:sp>
        <p:nvSpPr>
          <p:cNvPr id="5018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5018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5E6EDBC-D984-4B82-BDED-98F383E032A1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More on Term Projects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z="2800" dirty="0"/>
              <a:t>Tentative schedule for all teams:</a:t>
            </a:r>
          </a:p>
          <a:p>
            <a:pPr lvl="1" eaLnBrk="1" hangingPunct="1"/>
            <a:r>
              <a:rPr lang="en-US" altLang="zh-TW" sz="2400" b="1" dirty="0"/>
              <a:t>Proposal</a:t>
            </a:r>
            <a:r>
              <a:rPr lang="en-US" altLang="zh-TW" sz="2400" dirty="0"/>
              <a:t>: *required* one week after midterm (</a:t>
            </a:r>
            <a:r>
              <a:rPr lang="en-US" altLang="zh-TW" sz="2400" dirty="0">
                <a:solidFill>
                  <a:srgbClr val="FF0000"/>
                </a:solidFill>
              </a:rPr>
              <a:t>Nov. 23, 2026</a:t>
            </a:r>
            <a:r>
              <a:rPr lang="en-US" altLang="zh-TW" sz="2400" dirty="0"/>
              <a:t>)</a:t>
            </a:r>
          </a:p>
          <a:p>
            <a:pPr lvl="1" eaLnBrk="1" hangingPunct="1"/>
            <a:r>
              <a:rPr lang="en-US" altLang="zh-TW" sz="2400" b="1" dirty="0"/>
              <a:t>Presentations</a:t>
            </a:r>
            <a:r>
              <a:rPr lang="en-US" altLang="zh-TW" sz="2400" dirty="0"/>
              <a:t> (including demos): *required* in the last </a:t>
            </a:r>
            <a:r>
              <a:rPr lang="en-US" altLang="zh-TW" sz="2400" dirty="0">
                <a:solidFill>
                  <a:srgbClr val="0000FF"/>
                </a:solidFill>
              </a:rPr>
              <a:t>three-four</a:t>
            </a:r>
            <a:r>
              <a:rPr lang="en-US" altLang="zh-TW" sz="2400" dirty="0"/>
              <a:t> weeks (starting as early as </a:t>
            </a:r>
            <a:r>
              <a:rPr lang="en-US" altLang="zh-TW" sz="2400" dirty="0">
                <a:solidFill>
                  <a:srgbClr val="FF0000"/>
                </a:solidFill>
              </a:rPr>
              <a:t>Dec. 14, 2026</a:t>
            </a:r>
            <a:r>
              <a:rPr lang="en-US" altLang="zh-TW" sz="2400" dirty="0"/>
              <a:t>)</a:t>
            </a:r>
          </a:p>
          <a:p>
            <a:pPr lvl="1" eaLnBrk="1" hangingPunct="1"/>
            <a:r>
              <a:rPr lang="en-US" altLang="zh-TW" sz="2400" b="1" dirty="0"/>
              <a:t>Final report</a:t>
            </a:r>
            <a:r>
              <a:rPr lang="en-US" altLang="zh-TW" sz="2400" dirty="0"/>
              <a:t>: *required* before the end of the semester (</a:t>
            </a:r>
            <a:r>
              <a:rPr lang="en-US" altLang="zh-TW" sz="2400" dirty="0">
                <a:solidFill>
                  <a:srgbClr val="FF0000"/>
                </a:solidFill>
              </a:rPr>
              <a:t>Jan. 8, 2027</a:t>
            </a:r>
            <a:r>
              <a:rPr lang="en-US" altLang="zh-TW" sz="2400" dirty="0"/>
              <a:t>)</a:t>
            </a:r>
          </a:p>
          <a:p>
            <a:pPr lvl="2" eaLnBrk="1" hangingPunct="1"/>
            <a:r>
              <a:rPr lang="en-US" altLang="zh-TW" sz="2000" dirty="0"/>
              <a:t>Slides, source code, documentation</a:t>
            </a:r>
          </a:p>
        </p:txBody>
      </p:sp>
      <p:sp>
        <p:nvSpPr>
          <p:cNvPr id="51204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Introduction to Big Data Analytics, Fall 2026</a:t>
            </a:r>
          </a:p>
        </p:txBody>
      </p:sp>
      <p:sp>
        <p:nvSpPr>
          <p:cNvPr id="51205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51206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0D9385A-E88D-44EF-83AC-7ED8E33B5CCE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Notes on System Development</a:t>
            </a:r>
            <a:endParaRPr lang="zh-TW" altLang="en-US"/>
          </a:p>
        </p:txBody>
      </p:sp>
      <p:sp>
        <p:nvSpPr>
          <p:cNvPr id="43011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altLang="zh-TW" dirty="0"/>
              <a:t>You have to write your own code</a:t>
            </a:r>
          </a:p>
          <a:p>
            <a:pPr lvl="1">
              <a:defRPr/>
            </a:pPr>
            <a:r>
              <a:rPr lang="en-US" altLang="zh-TW" dirty="0"/>
              <a:t>In any programming language: Python, R, …</a:t>
            </a:r>
          </a:p>
          <a:p>
            <a:pPr lvl="1">
              <a:defRPr/>
            </a:pPr>
            <a:r>
              <a:rPr lang="en-US" altLang="zh-TW" dirty="0">
                <a:solidFill>
                  <a:srgbClr val="FF0000"/>
                </a:solidFill>
              </a:rPr>
              <a:t>Calling existing open APIs or libraries is Ok</a:t>
            </a:r>
          </a:p>
          <a:p>
            <a:pPr lvl="2">
              <a:defRPr/>
            </a:pPr>
            <a:r>
              <a:rPr lang="en-US" altLang="zh-TW" dirty="0">
                <a:solidFill>
                  <a:srgbClr val="0000FF"/>
                </a:solidFill>
              </a:rPr>
              <a:t>E.g. Hadoop, Spark, </a:t>
            </a:r>
            <a:r>
              <a:rPr lang="en-US" altLang="zh-TW" dirty="0" err="1">
                <a:solidFill>
                  <a:srgbClr val="0000FF"/>
                </a:solidFill>
              </a:rPr>
              <a:t>TensorFlow</a:t>
            </a:r>
            <a:r>
              <a:rPr lang="en-US" altLang="zh-TW" dirty="0">
                <a:solidFill>
                  <a:srgbClr val="0000FF"/>
                </a:solidFill>
              </a:rPr>
              <a:t>, </a:t>
            </a:r>
            <a:r>
              <a:rPr lang="en-US" altLang="zh-TW" dirty="0" err="1">
                <a:solidFill>
                  <a:srgbClr val="0000FF"/>
                </a:solidFill>
              </a:rPr>
              <a:t>Keras</a:t>
            </a:r>
            <a:r>
              <a:rPr lang="en-US" altLang="zh-TW" dirty="0">
                <a:solidFill>
                  <a:srgbClr val="0000FF"/>
                </a:solidFill>
              </a:rPr>
              <a:t>, </a:t>
            </a:r>
            <a:r>
              <a:rPr lang="en-US" altLang="zh-TW" dirty="0" err="1">
                <a:solidFill>
                  <a:srgbClr val="0000FF"/>
                </a:solidFill>
              </a:rPr>
              <a:t>PyTorch</a:t>
            </a:r>
            <a:r>
              <a:rPr lang="en-US" altLang="zh-TW" dirty="0">
                <a:solidFill>
                  <a:srgbClr val="0000FF"/>
                </a:solidFill>
              </a:rPr>
              <a:t>, …</a:t>
            </a:r>
          </a:p>
          <a:p>
            <a:pPr lvl="2">
              <a:defRPr/>
            </a:pPr>
            <a:r>
              <a:rPr lang="en-US" altLang="zh-TW" dirty="0"/>
              <a:t>But simply running existing binary codes or commercial tools is </a:t>
            </a:r>
            <a:r>
              <a:rPr lang="en-US" altLang="zh-TW" b="1" dirty="0">
                <a:solidFill>
                  <a:srgbClr val="0000FF"/>
                </a:solidFill>
              </a:rPr>
              <a:t>NOT</a:t>
            </a:r>
            <a:r>
              <a:rPr lang="en-US" altLang="zh-TW" dirty="0">
                <a:solidFill>
                  <a:srgbClr val="0000FF"/>
                </a:solidFill>
              </a:rPr>
              <a:t> acceptable</a:t>
            </a:r>
          </a:p>
          <a:p>
            <a:pPr lvl="1">
              <a:defRPr/>
            </a:pPr>
            <a:r>
              <a:rPr lang="en-US" altLang="zh-TW" dirty="0">
                <a:solidFill>
                  <a:srgbClr val="FF0000"/>
                </a:solidFill>
              </a:rPr>
              <a:t>You have to explain the major part of your code</a:t>
            </a:r>
          </a:p>
          <a:p>
            <a:pPr>
              <a:defRPr/>
            </a:pPr>
            <a:r>
              <a:rPr lang="en-US" altLang="zh-TW" dirty="0"/>
              <a:t>Any application of big data analytics</a:t>
            </a:r>
          </a:p>
          <a:p>
            <a:pPr lvl="1">
              <a:defRPr/>
            </a:pPr>
            <a:r>
              <a:rPr lang="en-US" altLang="zh-TW" dirty="0"/>
              <a:t>Public datasets: UCI ML repository, </a:t>
            </a:r>
            <a:r>
              <a:rPr lang="en-US" altLang="zh-TW" dirty="0" err="1"/>
              <a:t>kaggle</a:t>
            </a:r>
            <a:r>
              <a:rPr lang="en-US" altLang="zh-TW" dirty="0"/>
              <a:t>, …</a:t>
            </a:r>
          </a:p>
          <a:p>
            <a:pPr>
              <a:defRPr/>
            </a:pPr>
            <a:r>
              <a:rPr lang="en-US" altLang="zh-TW" dirty="0"/>
              <a:t>Relevant competitions</a:t>
            </a:r>
          </a:p>
          <a:p>
            <a:pPr lvl="1">
              <a:defRPr/>
            </a:pPr>
            <a:r>
              <a:rPr lang="en-US" altLang="zh-TW" dirty="0"/>
              <a:t>AI cup 2026, …</a:t>
            </a:r>
          </a:p>
        </p:txBody>
      </p:sp>
      <p:sp>
        <p:nvSpPr>
          <p:cNvPr id="5325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Introduction to Big Data Analytics, Fall 2026</a:t>
            </a:r>
          </a:p>
        </p:txBody>
      </p:sp>
      <p:sp>
        <p:nvSpPr>
          <p:cNvPr id="5325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5325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84B49FB-A97B-44AD-91CB-6018A30D3545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When it comes to Big Data…</a:t>
            </a:r>
            <a:endParaRPr lang="zh-TW" altLang="en-US" dirty="0"/>
          </a:p>
        </p:txBody>
      </p:sp>
      <p:sp>
        <p:nvSpPr>
          <p:cNvPr id="60419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/>
              <a:t>It’s all about </a:t>
            </a:r>
            <a:r>
              <a:rPr lang="en-US" altLang="zh-TW">
                <a:solidFill>
                  <a:srgbClr val="FF0000"/>
                </a:solidFill>
              </a:rPr>
              <a:t>scalability</a:t>
            </a:r>
            <a:r>
              <a:rPr lang="en-US" altLang="zh-TW"/>
              <a:t>!</a:t>
            </a:r>
          </a:p>
          <a:p>
            <a:pPr lvl="1"/>
            <a:r>
              <a:rPr lang="en-US" altLang="zh-TW"/>
              <a:t>Scale up (vertical scalability)</a:t>
            </a:r>
          </a:p>
          <a:p>
            <a:pPr lvl="1"/>
            <a:r>
              <a:rPr lang="en-US" altLang="zh-TW"/>
              <a:t>Scale out (horizontal scalability)</a:t>
            </a:r>
          </a:p>
          <a:p>
            <a:endParaRPr lang="zh-TW" altLang="en-US"/>
          </a:p>
        </p:txBody>
      </p:sp>
      <p:sp>
        <p:nvSpPr>
          <p:cNvPr id="6042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Introduction to Big Data Analytics, Fall 2026</a:t>
            </a:r>
          </a:p>
        </p:txBody>
      </p:sp>
      <p:sp>
        <p:nvSpPr>
          <p:cNvPr id="6042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6042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A5FF24C-6B14-4860-8B25-DAA5FB3ACD8A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pic>
        <p:nvPicPr>
          <p:cNvPr id="60423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638" y="3276600"/>
            <a:ext cx="5546725" cy="276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Introduction to Big Data Analytics, Fall 2026</a:t>
            </a:r>
          </a:p>
        </p:txBody>
      </p:sp>
      <p:sp>
        <p:nvSpPr>
          <p:cNvPr id="6144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6144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1E94C93-1968-489B-887E-C0B9E108E1CA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614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Summary</a:t>
            </a:r>
          </a:p>
        </p:txBody>
      </p:sp>
      <p:sp>
        <p:nvSpPr>
          <p:cNvPr id="614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Introducing data mining concepts and tools</a:t>
            </a:r>
          </a:p>
          <a:p>
            <a:pPr eaLnBrk="1" hangingPunct="1"/>
            <a:r>
              <a:rPr lang="en-US" altLang="zh-TW" dirty="0"/>
              <a:t>Analyzing real world data</a:t>
            </a:r>
          </a:p>
          <a:p>
            <a:pPr eaLnBrk="1" hangingPunct="1"/>
            <a:r>
              <a:rPr lang="en-US" altLang="zh-TW" dirty="0"/>
              <a:t>Learning how to interpret the analysis results</a:t>
            </a:r>
          </a:p>
          <a:p>
            <a:pPr eaLnBrk="1" hangingPunct="1"/>
            <a:endParaRPr lang="en-US" altLang="zh-TW" dirty="0"/>
          </a:p>
          <a:p>
            <a:pPr eaLnBrk="1" hangingPunct="1"/>
            <a:endParaRPr lang="en-US" altLang="zh-TW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Book Antiqua"/>
        <a:ea typeface="新細明體"/>
        <a:cs typeface=""/>
      </a:majorFont>
      <a:minorFont>
        <a:latin typeface="Book Antiqu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10243</TotalTime>
  <Words>1966</Words>
  <Application>Microsoft Office PowerPoint</Application>
  <PresentationFormat>如螢幕大小 (4:3)</PresentationFormat>
  <Paragraphs>375</Paragraphs>
  <Slides>29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2" baseType="lpstr">
      <vt:lpstr>Arial</vt:lpstr>
      <vt:lpstr>Book Antiqua</vt:lpstr>
      <vt:lpstr>預設簡報設計</vt:lpstr>
      <vt:lpstr>Course Overview:  Introduction to Big Data Analytics </vt:lpstr>
      <vt:lpstr>Instructor &amp; TA</vt:lpstr>
      <vt:lpstr>About this Course</vt:lpstr>
      <vt:lpstr>Other Communication Channels</vt:lpstr>
      <vt:lpstr>Course Materials</vt:lpstr>
      <vt:lpstr>Target Audience</vt:lpstr>
      <vt:lpstr>Differences between Courses with Similar Names</vt:lpstr>
      <vt:lpstr>Additional Reading Materials</vt:lpstr>
      <vt:lpstr>Grading Policy</vt:lpstr>
      <vt:lpstr>Homeworks and Projects</vt:lpstr>
      <vt:lpstr>About the Midterm Exam</vt:lpstr>
      <vt:lpstr>About the Term Project</vt:lpstr>
      <vt:lpstr>Homework Submission</vt:lpstr>
      <vt:lpstr>What This Course is about</vt:lpstr>
      <vt:lpstr>Related Topics</vt:lpstr>
      <vt:lpstr>Related Topics</vt:lpstr>
      <vt:lpstr>Major Focus in Big Data Analytics</vt:lpstr>
      <vt:lpstr>The Goal of the Course</vt:lpstr>
      <vt:lpstr>The Topics to be Covered</vt:lpstr>
      <vt:lpstr>Tentative Schedule</vt:lpstr>
      <vt:lpstr>Tentative Schedule</vt:lpstr>
      <vt:lpstr>PowerPoint 簡報</vt:lpstr>
      <vt:lpstr>PowerPoint 簡報</vt:lpstr>
      <vt:lpstr>Flexible Learning (Week 17-18) </vt:lpstr>
      <vt:lpstr>Notes on Homeworks</vt:lpstr>
      <vt:lpstr>More on Term Projects</vt:lpstr>
      <vt:lpstr>Notes on System Development</vt:lpstr>
      <vt:lpstr>When it comes to Big Data…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jhwang</dc:creator>
  <cp:lastModifiedBy>王正豪</cp:lastModifiedBy>
  <cp:revision>362</cp:revision>
  <cp:lastPrinted>1601-01-01T00:00:00Z</cp:lastPrinted>
  <dcterms:created xsi:type="dcterms:W3CDTF">1601-01-01T00:00:00Z</dcterms:created>
  <dcterms:modified xsi:type="dcterms:W3CDTF">2026-09-07T01:45:58Z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