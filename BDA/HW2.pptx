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3" r:id="rId4"/>
    <p:sldId id="270" r:id="rId5"/>
    <p:sldId id="275" r:id="rId6"/>
    <p:sldId id="265" r:id="rId7"/>
    <p:sldId id="266" r:id="rId8"/>
    <p:sldId id="267" r:id="rId9"/>
    <p:sldId id="268" r:id="rId10"/>
    <p:sldId id="276" r:id="rId11"/>
    <p:sldId id="269" r:id="rId12"/>
    <p:sldId id="263" r:id="rId13"/>
    <p:sldId id="262"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51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42769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2658925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3227972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9553D06D-798D-41B2-8E09-945CDEC492DF}" type="datetimeFigureOut">
              <a:rPr lang="zh-TW" altLang="en-US" smtClean="0"/>
              <a:t>2026/10/19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810427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9553D06D-798D-41B2-8E09-945CDEC492DF}" type="datetimeFigureOut">
              <a:rPr lang="zh-TW" altLang="en-US" smtClean="0"/>
              <a:t>2026/10/19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4250065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9553D06D-798D-41B2-8E09-945CDEC492DF}" type="datetimeFigureOut">
              <a:rPr lang="zh-TW" altLang="en-US" smtClean="0"/>
              <a:t>2026/10/19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2380329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9553D06D-798D-41B2-8E09-945CDEC492DF}" type="datetimeFigureOut">
              <a:rPr lang="zh-TW" altLang="en-US" smtClean="0"/>
              <a:t>2026/10/19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4127527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9553D06D-798D-41B2-8E09-945CDEC492DF}" type="datetimeFigureOut">
              <a:rPr lang="zh-TW" altLang="en-US" smtClean="0"/>
              <a:t>2026/10/19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954193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9553D06D-798D-41B2-8E09-945CDEC492DF}" type="datetimeFigureOut">
              <a:rPr lang="zh-TW" altLang="en-US" smtClean="0"/>
              <a:t>2026/10/19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541423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3290945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9553D06D-798D-41B2-8E09-945CDEC492DF}" type="datetimeFigureOut">
              <a:rPr lang="zh-TW" altLang="en-US" smtClean="0"/>
              <a:t>2026/10/19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3806443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53D06D-798D-41B2-8E09-945CDEC492DF}" type="datetimeFigureOut">
              <a:rPr lang="zh-TW" altLang="en-US" smtClean="0"/>
              <a:t>2026/10/19</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3D3188-31C8-4289-BF43-961C2C4CF52D}" type="slidenum">
              <a:rPr lang="zh-TW" altLang="en-US" smtClean="0"/>
              <a:t>‹#›</a:t>
            </a:fld>
            <a:endParaRPr lang="zh-TW" altLang="en-US"/>
          </a:p>
        </p:txBody>
      </p:sp>
    </p:spTree>
    <p:extLst>
      <p:ext uri="{BB962C8B-B14F-4D97-AF65-F5344CB8AC3E}">
        <p14:creationId xmlns:p14="http://schemas.microsoft.com/office/powerpoint/2010/main" val="53058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blp.org/xml/"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dblp.org/xml/" TargetMode="External"/><Relationship Id="rId2" Type="http://schemas.openxmlformats.org/officeDocument/2006/relationships/hyperlink" Target="https://dblp.org/faq/How+can+I+download+the+whole+dblp+dataset.html"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dirty="0"/>
              <a:t>Introduction to Big Data Analytics: HW#2</a:t>
            </a:r>
            <a:endParaRPr lang="zh-TW" altLang="en-US" dirty="0"/>
          </a:p>
        </p:txBody>
      </p:sp>
      <p:sp>
        <p:nvSpPr>
          <p:cNvPr id="3" name="副標題 2"/>
          <p:cNvSpPr>
            <a:spLocks noGrp="1"/>
          </p:cNvSpPr>
          <p:nvPr>
            <p:ph type="subTitle" idx="1"/>
          </p:nvPr>
        </p:nvSpPr>
        <p:spPr/>
        <p:txBody>
          <a:bodyPr/>
          <a:lstStyle/>
          <a:p>
            <a:r>
              <a:rPr lang="en-US" altLang="zh-TW" dirty="0"/>
              <a:t>By J. H. Wang</a:t>
            </a:r>
          </a:p>
          <a:p>
            <a:r>
              <a:rPr lang="en-US" altLang="zh-TW" dirty="0"/>
              <a:t>Oct. 20, 2026</a:t>
            </a:r>
            <a:endParaRPr lang="zh-TW" altLang="en-US" dirty="0"/>
          </a:p>
        </p:txBody>
      </p:sp>
    </p:spTree>
    <p:extLst>
      <p:ext uri="{BB962C8B-B14F-4D97-AF65-F5344CB8AC3E}">
        <p14:creationId xmlns:p14="http://schemas.microsoft.com/office/powerpoint/2010/main" val="12118685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Homework #2: Frequent </a:t>
            </a:r>
            <a:r>
              <a:rPr lang="en-US" altLang="zh-TW"/>
              <a:t>Pattern Mining</a:t>
            </a:r>
            <a:endParaRPr lang="zh-TW" altLang="en-US" dirty="0"/>
          </a:p>
        </p:txBody>
      </p:sp>
      <p:sp>
        <p:nvSpPr>
          <p:cNvPr id="3" name="內容版面配置區 2"/>
          <p:cNvSpPr>
            <a:spLocks noGrp="1"/>
          </p:cNvSpPr>
          <p:nvPr>
            <p:ph idx="1"/>
          </p:nvPr>
        </p:nvSpPr>
        <p:spPr/>
        <p:txBody>
          <a:bodyPr>
            <a:normAutofit lnSpcReduction="10000"/>
          </a:bodyPr>
          <a:lstStyle/>
          <a:p>
            <a:r>
              <a:rPr lang="en-US" altLang="zh-TW" dirty="0"/>
              <a:t>Chap.4:</a:t>
            </a:r>
          </a:p>
          <a:p>
            <a:pPr lvl="1"/>
            <a:r>
              <a:rPr lang="en-US" altLang="zh-TW" dirty="0"/>
              <a:t>4.6</a:t>
            </a:r>
          </a:p>
          <a:p>
            <a:pPr lvl="1"/>
            <a:r>
              <a:rPr lang="en-US" altLang="zh-TW" dirty="0"/>
              <a:t>4.8</a:t>
            </a:r>
          </a:p>
          <a:p>
            <a:pPr lvl="1"/>
            <a:r>
              <a:rPr lang="en-US" altLang="zh-TW" dirty="0"/>
              <a:t>4.14</a:t>
            </a:r>
          </a:p>
          <a:p>
            <a:r>
              <a:rPr lang="en-US" altLang="zh-TW" dirty="0"/>
              <a:t>Programming exercises:</a:t>
            </a:r>
          </a:p>
          <a:p>
            <a:pPr lvl="1"/>
            <a:r>
              <a:rPr lang="en-US" altLang="zh-TW" dirty="0">
                <a:solidFill>
                  <a:srgbClr val="0000FF"/>
                </a:solidFill>
              </a:rPr>
              <a:t>*</a:t>
            </a:r>
            <a:r>
              <a:rPr lang="en-US" altLang="zh-TW" dirty="0"/>
              <a:t>4.7(a)(b)</a:t>
            </a:r>
          </a:p>
          <a:p>
            <a:pPr lvl="1"/>
            <a:r>
              <a:rPr lang="en-US" altLang="zh-TW" dirty="0">
                <a:solidFill>
                  <a:srgbClr val="0000FF"/>
                </a:solidFill>
              </a:rPr>
              <a:t>*</a:t>
            </a:r>
            <a:r>
              <a:rPr lang="en-US" altLang="zh-TW" dirty="0"/>
              <a:t>4.15(a)(b)</a:t>
            </a:r>
          </a:p>
          <a:p>
            <a:r>
              <a:rPr lang="en-US" altLang="zh-TW" dirty="0">
                <a:solidFill>
                  <a:srgbClr val="0000FF"/>
                </a:solidFill>
              </a:rPr>
              <a:t>*</a:t>
            </a:r>
            <a:r>
              <a:rPr lang="en-US" altLang="zh-TW" dirty="0"/>
              <a:t> denotes the programming exercises where each team must implement </a:t>
            </a:r>
            <a:r>
              <a:rPr lang="en-US" altLang="zh-TW" dirty="0">
                <a:solidFill>
                  <a:srgbClr val="0000FF"/>
                </a:solidFill>
              </a:rPr>
              <a:t>at least one among the two exercises</a:t>
            </a:r>
          </a:p>
          <a:p>
            <a:r>
              <a:rPr lang="en-US" altLang="zh-TW" dirty="0"/>
              <a:t>Due: 2 weeks (</a:t>
            </a:r>
            <a:r>
              <a:rPr lang="en-US" altLang="zh-TW" dirty="0">
                <a:solidFill>
                  <a:srgbClr val="FF0000"/>
                </a:solidFill>
              </a:rPr>
              <a:t>Nov. 3, 2026</a:t>
            </a:r>
            <a:r>
              <a:rPr lang="en-US" altLang="zh-TW" dirty="0"/>
              <a:t>)</a:t>
            </a:r>
            <a:endParaRPr lang="zh-TW" altLang="en-US" dirty="0"/>
          </a:p>
        </p:txBody>
      </p:sp>
    </p:spTree>
    <p:extLst>
      <p:ext uri="{BB962C8B-B14F-4D97-AF65-F5344CB8AC3E}">
        <p14:creationId xmlns:p14="http://schemas.microsoft.com/office/powerpoint/2010/main" val="236096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Exercises for Chap.4</a:t>
            </a:r>
            <a:endParaRPr lang="zh-TW" altLang="en-US" dirty="0"/>
          </a:p>
        </p:txBody>
      </p:sp>
      <p:sp>
        <p:nvSpPr>
          <p:cNvPr id="3" name="內容版面配置區 2"/>
          <p:cNvSpPr>
            <a:spLocks noGrp="1"/>
          </p:cNvSpPr>
          <p:nvPr>
            <p:ph idx="1"/>
          </p:nvPr>
        </p:nvSpPr>
        <p:spPr/>
        <p:txBody>
          <a:bodyPr>
            <a:normAutofit fontScale="92500"/>
          </a:bodyPr>
          <a:lstStyle/>
          <a:p>
            <a:r>
              <a:rPr lang="en-US" altLang="zh-TW" dirty="0"/>
              <a:t>4.6: (</a:t>
            </a:r>
            <a:r>
              <a:rPr lang="en-US" altLang="zh-TW" b="1" dirty="0"/>
              <a:t>30pt</a:t>
            </a:r>
            <a:r>
              <a:rPr lang="en-US" altLang="zh-TW" dirty="0"/>
              <a:t>) A database has five transactions. Let </a:t>
            </a:r>
            <a:r>
              <a:rPr lang="en-US" altLang="zh-TW" dirty="0" err="1"/>
              <a:t>min_sup</a:t>
            </a:r>
            <a:r>
              <a:rPr lang="en-US" altLang="zh-TW" dirty="0"/>
              <a:t> = 60% and </a:t>
            </a:r>
            <a:r>
              <a:rPr lang="en-US" altLang="zh-TW" dirty="0" err="1"/>
              <a:t>min_conf</a:t>
            </a:r>
            <a:r>
              <a:rPr lang="en-US" altLang="zh-TW" dirty="0"/>
              <a:t> = 80%.</a:t>
            </a:r>
          </a:p>
          <a:p>
            <a:endParaRPr lang="en-US" altLang="zh-TW" dirty="0"/>
          </a:p>
          <a:p>
            <a:endParaRPr lang="en-US" altLang="zh-TW" dirty="0"/>
          </a:p>
          <a:p>
            <a:endParaRPr lang="en-US" altLang="zh-TW" dirty="0"/>
          </a:p>
          <a:p>
            <a:r>
              <a:rPr lang="en-US" altLang="zh-TW" dirty="0"/>
              <a:t>(a) Find all frequent </a:t>
            </a:r>
            <a:r>
              <a:rPr lang="en-US" altLang="zh-TW" dirty="0" err="1"/>
              <a:t>itemsets</a:t>
            </a:r>
            <a:r>
              <a:rPr lang="en-US" altLang="zh-TW" dirty="0"/>
              <a:t> using </a:t>
            </a:r>
            <a:r>
              <a:rPr lang="en-US" altLang="zh-TW" dirty="0" err="1"/>
              <a:t>Apriori</a:t>
            </a:r>
            <a:r>
              <a:rPr lang="en-US" altLang="zh-TW" dirty="0"/>
              <a:t> and FP-growth, respectively. Compare the efficiency of the two mining processes.</a:t>
            </a:r>
          </a:p>
          <a:p>
            <a:r>
              <a:rPr lang="en-US" altLang="zh-TW" dirty="0"/>
              <a:t>(b) List all the strong association rules (with support s and confidence c) matching the following metarule, where X is a variable representing customers, and </a:t>
            </a:r>
            <a:r>
              <a:rPr lang="en-US" altLang="zh-TW" dirty="0" err="1"/>
              <a:t>item</a:t>
            </a:r>
            <a:r>
              <a:rPr lang="en-US" altLang="zh-TW" baseline="-25000" dirty="0" err="1"/>
              <a:t>i</a:t>
            </a:r>
            <a:r>
              <a:rPr lang="en-US" altLang="zh-TW" dirty="0"/>
              <a:t> denotes variables representing items (e.g., “A,” “B,”):</a:t>
            </a:r>
          </a:p>
          <a:p>
            <a:endParaRPr lang="zh-TW" altLang="en-US" dirty="0"/>
          </a:p>
        </p:txBody>
      </p:sp>
      <p:pic>
        <p:nvPicPr>
          <p:cNvPr id="5" name="圖片 4">
            <a:extLst>
              <a:ext uri="{FF2B5EF4-FFF2-40B4-BE49-F238E27FC236}">
                <a16:creationId xmlns:a16="http://schemas.microsoft.com/office/drawing/2014/main" id="{4B427FBD-98DF-BFD0-CBD8-9FBBB6BAAD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4839" y="2267713"/>
            <a:ext cx="2822321" cy="1853350"/>
          </a:xfrm>
          <a:prstGeom prst="rect">
            <a:avLst/>
          </a:prstGeom>
        </p:spPr>
      </p:pic>
      <p:pic>
        <p:nvPicPr>
          <p:cNvPr id="7" name="圖片 6">
            <a:extLst>
              <a:ext uri="{FF2B5EF4-FFF2-40B4-BE49-F238E27FC236}">
                <a16:creationId xmlns:a16="http://schemas.microsoft.com/office/drawing/2014/main" id="{00B93E7B-1A0D-62D4-FD2B-731FB3931B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27632" y="6123758"/>
            <a:ext cx="8936736" cy="376284"/>
          </a:xfrm>
          <a:prstGeom prst="rect">
            <a:avLst/>
          </a:prstGeom>
        </p:spPr>
      </p:pic>
    </p:spTree>
    <p:extLst>
      <p:ext uri="{BB962C8B-B14F-4D97-AF65-F5344CB8AC3E}">
        <p14:creationId xmlns:p14="http://schemas.microsoft.com/office/powerpoint/2010/main" val="2906206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normAutofit/>
          </a:bodyPr>
          <a:lstStyle/>
          <a:p>
            <a:r>
              <a:rPr lang="en-US" altLang="zh-TW" dirty="0"/>
              <a:t>4.8: (</a:t>
            </a:r>
            <a:r>
              <a:rPr lang="en-US" altLang="zh-TW" b="1" dirty="0"/>
              <a:t>30pt</a:t>
            </a:r>
            <a:r>
              <a:rPr lang="en-US" altLang="zh-TW" dirty="0"/>
              <a:t>) A database has four transactions. Let </a:t>
            </a:r>
            <a:r>
              <a:rPr lang="en-US" altLang="zh-TW" dirty="0" err="1"/>
              <a:t>min_sup</a:t>
            </a:r>
            <a:r>
              <a:rPr lang="en-US" altLang="zh-TW" dirty="0"/>
              <a:t>=60% and </a:t>
            </a:r>
            <a:r>
              <a:rPr lang="en-US" altLang="zh-TW" dirty="0" err="1"/>
              <a:t>min_conf</a:t>
            </a:r>
            <a:r>
              <a:rPr lang="en-US" altLang="zh-TW" dirty="0"/>
              <a:t>=80%.</a:t>
            </a:r>
            <a:br>
              <a:rPr lang="en-US" altLang="zh-TW" dirty="0"/>
            </a:br>
            <a:br>
              <a:rPr lang="en-US" altLang="zh-TW" dirty="0"/>
            </a:br>
            <a:br>
              <a:rPr lang="en-US" altLang="zh-TW" dirty="0"/>
            </a:br>
            <a:endParaRPr lang="en-US" altLang="zh-TW" dirty="0"/>
          </a:p>
          <a:p>
            <a:pPr marL="0" indent="0">
              <a:buNone/>
            </a:pPr>
            <a:endParaRPr lang="en-US" altLang="zh-TW" dirty="0"/>
          </a:p>
          <a:p>
            <a:pPr marL="0" indent="0">
              <a:buNone/>
            </a:pPr>
            <a:endParaRPr lang="en-US" altLang="zh-TW" dirty="0"/>
          </a:p>
          <a:p>
            <a:pPr lvl="1"/>
            <a:endParaRPr lang="en-US" altLang="zh-TW" dirty="0"/>
          </a:p>
          <a:p>
            <a:pPr lvl="1"/>
            <a:endParaRPr lang="zh-TW" altLang="en-US" dirty="0"/>
          </a:p>
        </p:txBody>
      </p:sp>
      <p:graphicFrame>
        <p:nvGraphicFramePr>
          <p:cNvPr id="4" name="表格 3"/>
          <p:cNvGraphicFramePr>
            <a:graphicFrameLocks noGrp="1"/>
          </p:cNvGraphicFramePr>
          <p:nvPr/>
        </p:nvGraphicFramePr>
        <p:xfrm>
          <a:off x="996287" y="2784145"/>
          <a:ext cx="8911988" cy="2153848"/>
        </p:xfrm>
        <a:graphic>
          <a:graphicData uri="http://schemas.openxmlformats.org/drawingml/2006/table">
            <a:tbl>
              <a:tblPr firstRow="1" bandRow="1">
                <a:tableStyleId>{5C22544A-7EE6-4342-B048-85BDC9FD1C3A}</a:tableStyleId>
              </a:tblPr>
              <a:tblGrid>
                <a:gridCol w="966737">
                  <a:extLst>
                    <a:ext uri="{9D8B030D-6E8A-4147-A177-3AD203B41FA5}">
                      <a16:colId xmlns:a16="http://schemas.microsoft.com/office/drawing/2014/main" val="20000"/>
                    </a:ext>
                  </a:extLst>
                </a:gridCol>
                <a:gridCol w="815661">
                  <a:extLst>
                    <a:ext uri="{9D8B030D-6E8A-4147-A177-3AD203B41FA5}">
                      <a16:colId xmlns:a16="http://schemas.microsoft.com/office/drawing/2014/main" val="20001"/>
                    </a:ext>
                  </a:extLst>
                </a:gridCol>
                <a:gridCol w="7129590">
                  <a:extLst>
                    <a:ext uri="{9D8B030D-6E8A-4147-A177-3AD203B41FA5}">
                      <a16:colId xmlns:a16="http://schemas.microsoft.com/office/drawing/2014/main" val="20002"/>
                    </a:ext>
                  </a:extLst>
                </a:gridCol>
              </a:tblGrid>
              <a:tr h="645647">
                <a:tc>
                  <a:txBody>
                    <a:bodyPr/>
                    <a:lstStyle/>
                    <a:p>
                      <a:r>
                        <a:rPr lang="en-US" altLang="zh-TW" dirty="0" err="1"/>
                        <a:t>Cust_ID</a:t>
                      </a:r>
                      <a:endParaRPr lang="zh-TW" altLang="en-US" dirty="0"/>
                    </a:p>
                  </a:txBody>
                  <a:tcPr/>
                </a:tc>
                <a:tc>
                  <a:txBody>
                    <a:bodyPr/>
                    <a:lstStyle/>
                    <a:p>
                      <a:r>
                        <a:rPr lang="en-US" altLang="zh-TW" dirty="0"/>
                        <a:t>TID</a:t>
                      </a:r>
                      <a:endParaRPr lang="zh-TW" altLang="en-US" dirty="0"/>
                    </a:p>
                  </a:txBody>
                  <a:tcPr/>
                </a:tc>
                <a:tc>
                  <a:txBody>
                    <a:bodyPr/>
                    <a:lstStyle/>
                    <a:p>
                      <a:r>
                        <a:rPr lang="en-US" altLang="zh-TW" dirty="0" err="1"/>
                        <a:t>Items_bought</a:t>
                      </a:r>
                      <a:r>
                        <a:rPr lang="en-US" altLang="zh-TW" dirty="0"/>
                        <a:t> (in the</a:t>
                      </a:r>
                      <a:r>
                        <a:rPr lang="en-US" altLang="zh-TW" baseline="0" dirty="0"/>
                        <a:t> form of brand-</a:t>
                      </a:r>
                      <a:r>
                        <a:rPr lang="en-US" altLang="zh-TW" baseline="0" dirty="0" err="1"/>
                        <a:t>item_category</a:t>
                      </a:r>
                      <a:r>
                        <a:rPr lang="en-US" altLang="zh-TW" baseline="0" dirty="0"/>
                        <a:t>)</a:t>
                      </a:r>
                      <a:endParaRPr lang="zh-TW" altLang="en-US" dirty="0"/>
                    </a:p>
                  </a:txBody>
                  <a:tcPr/>
                </a:tc>
                <a:extLst>
                  <a:ext uri="{0D108BD9-81ED-4DB2-BD59-A6C34878D82A}">
                    <a16:rowId xmlns:a16="http://schemas.microsoft.com/office/drawing/2014/main" val="10000"/>
                  </a:ext>
                </a:extLst>
              </a:tr>
              <a:tr h="374065">
                <a:tc>
                  <a:txBody>
                    <a:bodyPr/>
                    <a:lstStyle/>
                    <a:p>
                      <a:r>
                        <a:rPr lang="en-US" altLang="zh-TW" dirty="0"/>
                        <a:t>01</a:t>
                      </a:r>
                      <a:endParaRPr lang="zh-TW" altLang="en-US" dirty="0"/>
                    </a:p>
                  </a:txBody>
                  <a:tcPr/>
                </a:tc>
                <a:tc>
                  <a:txBody>
                    <a:bodyPr/>
                    <a:lstStyle/>
                    <a:p>
                      <a:r>
                        <a:rPr lang="en-US" altLang="zh-TW" dirty="0"/>
                        <a:t>T100</a:t>
                      </a:r>
                      <a:endParaRPr lang="zh-TW" altLang="en-US" dirty="0"/>
                    </a:p>
                  </a:txBody>
                  <a:tcPr/>
                </a:tc>
                <a:tc>
                  <a:txBody>
                    <a:bodyPr/>
                    <a:lstStyle/>
                    <a:p>
                      <a:r>
                        <a:rPr lang="en-US" altLang="zh-TW" dirty="0"/>
                        <a:t>{King’s-Crab, Sunset-Milk, </a:t>
                      </a:r>
                      <a:r>
                        <a:rPr lang="en-US" altLang="zh-TW" dirty="0" err="1"/>
                        <a:t>Dairyland</a:t>
                      </a:r>
                      <a:r>
                        <a:rPr lang="en-US" altLang="zh-TW" dirty="0"/>
                        <a:t>-Cheese,</a:t>
                      </a:r>
                      <a:r>
                        <a:rPr lang="en-US" altLang="zh-TW" baseline="0" dirty="0"/>
                        <a:t> Best-Bread}</a:t>
                      </a:r>
                      <a:endParaRPr lang="zh-TW" altLang="en-US" dirty="0"/>
                    </a:p>
                  </a:txBody>
                  <a:tcPr/>
                </a:tc>
                <a:extLst>
                  <a:ext uri="{0D108BD9-81ED-4DB2-BD59-A6C34878D82A}">
                    <a16:rowId xmlns:a16="http://schemas.microsoft.com/office/drawing/2014/main" val="10001"/>
                  </a:ext>
                </a:extLst>
              </a:tr>
              <a:tr h="386006">
                <a:tc>
                  <a:txBody>
                    <a:bodyPr/>
                    <a:lstStyle/>
                    <a:p>
                      <a:r>
                        <a:rPr lang="en-US" altLang="zh-TW" dirty="0"/>
                        <a:t>02</a:t>
                      </a:r>
                      <a:endParaRPr lang="zh-TW" altLang="en-US" dirty="0"/>
                    </a:p>
                  </a:txBody>
                  <a:tcPr/>
                </a:tc>
                <a:tc>
                  <a:txBody>
                    <a:bodyPr/>
                    <a:lstStyle/>
                    <a:p>
                      <a:r>
                        <a:rPr lang="en-US" altLang="zh-TW" dirty="0"/>
                        <a:t>T200</a:t>
                      </a:r>
                      <a:endParaRPr lang="zh-TW" altLang="en-US" dirty="0"/>
                    </a:p>
                  </a:txBody>
                  <a:tcPr/>
                </a:tc>
                <a:tc>
                  <a:txBody>
                    <a:bodyPr/>
                    <a:lstStyle/>
                    <a:p>
                      <a:r>
                        <a:rPr lang="en-US" altLang="zh-TW" dirty="0"/>
                        <a:t>{Best-Cheese, </a:t>
                      </a:r>
                      <a:r>
                        <a:rPr lang="en-US" altLang="zh-TW" dirty="0" err="1"/>
                        <a:t>Dairyland</a:t>
                      </a:r>
                      <a:r>
                        <a:rPr lang="en-US" altLang="zh-TW" dirty="0"/>
                        <a:t>-Milk,</a:t>
                      </a:r>
                      <a:r>
                        <a:rPr lang="en-US" altLang="zh-TW" baseline="0" dirty="0"/>
                        <a:t> </a:t>
                      </a:r>
                      <a:r>
                        <a:rPr lang="en-US" altLang="zh-TW" baseline="0" dirty="0" err="1"/>
                        <a:t>Goldenfarm</a:t>
                      </a:r>
                      <a:r>
                        <a:rPr lang="en-US" altLang="zh-TW" baseline="0" dirty="0"/>
                        <a:t>-Apple, Tasty-Pie, Wonder-Bread}</a:t>
                      </a:r>
                      <a:endParaRPr lang="zh-TW" altLang="en-US" dirty="0"/>
                    </a:p>
                  </a:txBody>
                  <a:tcPr/>
                </a:tc>
                <a:extLst>
                  <a:ext uri="{0D108BD9-81ED-4DB2-BD59-A6C34878D82A}">
                    <a16:rowId xmlns:a16="http://schemas.microsoft.com/office/drawing/2014/main" val="10002"/>
                  </a:ext>
                </a:extLst>
              </a:tr>
              <a:tr h="374065">
                <a:tc>
                  <a:txBody>
                    <a:bodyPr/>
                    <a:lstStyle/>
                    <a:p>
                      <a:r>
                        <a:rPr lang="en-US" altLang="zh-TW" dirty="0"/>
                        <a:t>01</a:t>
                      </a:r>
                      <a:endParaRPr lang="zh-TW" altLang="en-US" dirty="0"/>
                    </a:p>
                  </a:txBody>
                  <a:tcPr/>
                </a:tc>
                <a:tc>
                  <a:txBody>
                    <a:bodyPr/>
                    <a:lstStyle/>
                    <a:p>
                      <a:r>
                        <a:rPr lang="en-US" altLang="zh-TW" dirty="0"/>
                        <a:t>T300</a:t>
                      </a:r>
                      <a:endParaRPr lang="zh-TW" altLang="en-US" dirty="0"/>
                    </a:p>
                  </a:txBody>
                  <a:tcPr/>
                </a:tc>
                <a:tc>
                  <a:txBody>
                    <a:bodyPr/>
                    <a:lstStyle/>
                    <a:p>
                      <a:r>
                        <a:rPr lang="en-US" altLang="zh-TW" dirty="0"/>
                        <a:t>{Westcoast-Apple, </a:t>
                      </a:r>
                      <a:r>
                        <a:rPr lang="en-US" altLang="zh-TW" dirty="0" err="1"/>
                        <a:t>Dairyland</a:t>
                      </a:r>
                      <a:r>
                        <a:rPr lang="en-US" altLang="zh-TW" dirty="0"/>
                        <a:t>-Milk,</a:t>
                      </a:r>
                      <a:r>
                        <a:rPr lang="en-US" altLang="zh-TW" baseline="0" dirty="0"/>
                        <a:t> Wonder-Bread, Tasty-Pie}</a:t>
                      </a:r>
                      <a:endParaRPr lang="zh-TW" altLang="en-US" dirty="0"/>
                    </a:p>
                  </a:txBody>
                  <a:tcPr/>
                </a:tc>
                <a:extLst>
                  <a:ext uri="{0D108BD9-81ED-4DB2-BD59-A6C34878D82A}">
                    <a16:rowId xmlns:a16="http://schemas.microsoft.com/office/drawing/2014/main" val="10003"/>
                  </a:ext>
                </a:extLst>
              </a:tr>
              <a:tr h="374065">
                <a:tc>
                  <a:txBody>
                    <a:bodyPr/>
                    <a:lstStyle/>
                    <a:p>
                      <a:r>
                        <a:rPr lang="en-US" altLang="zh-TW" dirty="0"/>
                        <a:t>03</a:t>
                      </a:r>
                      <a:endParaRPr lang="zh-TW" altLang="en-US" dirty="0"/>
                    </a:p>
                  </a:txBody>
                  <a:tcPr/>
                </a:tc>
                <a:tc>
                  <a:txBody>
                    <a:bodyPr/>
                    <a:lstStyle/>
                    <a:p>
                      <a:r>
                        <a:rPr lang="en-US" altLang="zh-TW" dirty="0"/>
                        <a:t>T400</a:t>
                      </a:r>
                      <a:endParaRPr lang="zh-TW" altLang="en-US" dirty="0"/>
                    </a:p>
                  </a:txBody>
                  <a:tcPr/>
                </a:tc>
                <a:tc>
                  <a:txBody>
                    <a:bodyPr/>
                    <a:lstStyle/>
                    <a:p>
                      <a:r>
                        <a:rPr lang="en-US" altLang="zh-TW" dirty="0"/>
                        <a:t>{Wonder-Bread, Sunset-Milk, </a:t>
                      </a:r>
                      <a:r>
                        <a:rPr lang="en-US" altLang="zh-TW" dirty="0" err="1"/>
                        <a:t>Dairyland</a:t>
                      </a:r>
                      <a:r>
                        <a:rPr lang="en-US" altLang="zh-TW" dirty="0"/>
                        <a:t>-Cheese}</a:t>
                      </a:r>
                      <a:endParaRPr lang="zh-TW" alt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798799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pPr lvl="1"/>
            <a:r>
              <a:rPr lang="en-US" altLang="zh-TW" dirty="0"/>
              <a:t>(a) (15pt) At the granularity of </a:t>
            </a:r>
            <a:r>
              <a:rPr lang="en-US" altLang="zh-TW" dirty="0" err="1"/>
              <a:t>item_category</a:t>
            </a:r>
            <a:r>
              <a:rPr lang="en-US" altLang="zh-TW" dirty="0"/>
              <a:t>, (e.g. </a:t>
            </a:r>
            <a:r>
              <a:rPr lang="en-US" altLang="zh-TW" dirty="0" err="1"/>
              <a:t>item_i</a:t>
            </a:r>
            <a:r>
              <a:rPr lang="en-US" altLang="zh-TW" dirty="0"/>
              <a:t> could be ”Milk”), for the rule template,</a:t>
            </a:r>
            <a:br>
              <a:rPr lang="en-US" altLang="zh-TW" dirty="0"/>
            </a:br>
            <a:r>
              <a:rPr lang="en-US" altLang="zh-TW" dirty="0"/>
              <a:t>	 </a:t>
            </a:r>
            <a:r>
              <a:rPr lang="en-US" altLang="zh-TW" dirty="0">
                <a:sym typeface="Symbol" panose="05050102010706020507" pitchFamily="18" charset="2"/>
              </a:rPr>
              <a:t> </a:t>
            </a:r>
            <a:r>
              <a:rPr lang="en-US" altLang="zh-TW" dirty="0" err="1">
                <a:sym typeface="Symbol" panose="05050102010706020507" pitchFamily="18" charset="2"/>
              </a:rPr>
              <a:t>Xtransaction</a:t>
            </a:r>
            <a:r>
              <a:rPr lang="en-US" altLang="zh-TW" dirty="0">
                <a:sym typeface="Symbol" panose="05050102010706020507" pitchFamily="18" charset="2"/>
              </a:rPr>
              <a:t>, buys(X,item1)buys(X,item2)=&gt; buys(X,item3)  [</a:t>
            </a:r>
            <a:r>
              <a:rPr lang="en-US" altLang="zh-TW" dirty="0" err="1">
                <a:sym typeface="Symbol" panose="05050102010706020507" pitchFamily="18" charset="2"/>
              </a:rPr>
              <a:t>s,c</a:t>
            </a:r>
            <a:r>
              <a:rPr lang="en-US" altLang="zh-TW" dirty="0">
                <a:sym typeface="Symbol" panose="05050102010706020507" pitchFamily="18" charset="2"/>
              </a:rPr>
              <a:t>]</a:t>
            </a:r>
            <a:br>
              <a:rPr lang="en-US" altLang="zh-TW" dirty="0">
                <a:sym typeface="Symbol" panose="05050102010706020507" pitchFamily="18" charset="2"/>
              </a:rPr>
            </a:br>
            <a:r>
              <a:rPr lang="en-US" altLang="zh-TW" dirty="0">
                <a:sym typeface="Symbol" panose="05050102010706020507" pitchFamily="18" charset="2"/>
              </a:rPr>
              <a:t>list the frequent k-</a:t>
            </a:r>
            <a:r>
              <a:rPr lang="en-US" altLang="zh-TW" dirty="0" err="1">
                <a:sym typeface="Symbol" panose="05050102010706020507" pitchFamily="18" charset="2"/>
              </a:rPr>
              <a:t>itemset</a:t>
            </a:r>
            <a:r>
              <a:rPr lang="en-US" altLang="zh-TW" dirty="0">
                <a:sym typeface="Symbol" panose="05050102010706020507" pitchFamily="18" charset="2"/>
              </a:rPr>
              <a:t> for the largest k, and all the strong association rules (with their support s and confidence c) containing the frequent k-</a:t>
            </a:r>
            <a:r>
              <a:rPr lang="en-US" altLang="zh-TW" dirty="0" err="1">
                <a:sym typeface="Symbol" panose="05050102010706020507" pitchFamily="18" charset="2"/>
              </a:rPr>
              <a:t>itemset</a:t>
            </a:r>
            <a:r>
              <a:rPr lang="en-US" altLang="zh-TW" dirty="0">
                <a:sym typeface="Symbol" panose="05050102010706020507" pitchFamily="18" charset="2"/>
              </a:rPr>
              <a:t> for the largest k.</a:t>
            </a:r>
          </a:p>
          <a:p>
            <a:pPr lvl="1"/>
            <a:r>
              <a:rPr lang="en-US" altLang="zh-TW" dirty="0"/>
              <a:t>(b) (15pt) At the granularity of brand-</a:t>
            </a:r>
            <a:r>
              <a:rPr lang="en-US" altLang="zh-TW" dirty="0" err="1"/>
              <a:t>item_category</a:t>
            </a:r>
            <a:r>
              <a:rPr lang="en-US" altLang="zh-TW" dirty="0"/>
              <a:t>, (e.g. </a:t>
            </a:r>
            <a:r>
              <a:rPr lang="en-US" altLang="zh-TW" dirty="0" err="1"/>
              <a:t>item_i</a:t>
            </a:r>
            <a:r>
              <a:rPr lang="en-US" altLang="zh-TW" dirty="0"/>
              <a:t> could be ”Sunset-Milk”), for the rule template,</a:t>
            </a:r>
            <a:br>
              <a:rPr lang="en-US" altLang="zh-TW" dirty="0"/>
            </a:br>
            <a:r>
              <a:rPr lang="en-US" altLang="zh-TW" dirty="0"/>
              <a:t> 	</a:t>
            </a:r>
            <a:r>
              <a:rPr lang="en-US" altLang="zh-TW" dirty="0">
                <a:sym typeface="Symbol" panose="05050102010706020507" pitchFamily="18" charset="2"/>
              </a:rPr>
              <a:t> </a:t>
            </a:r>
            <a:r>
              <a:rPr lang="en-US" altLang="zh-TW" dirty="0" err="1">
                <a:sym typeface="Symbol" panose="05050102010706020507" pitchFamily="18" charset="2"/>
              </a:rPr>
              <a:t>Xcustomer</a:t>
            </a:r>
            <a:r>
              <a:rPr lang="en-US" altLang="zh-TW" dirty="0">
                <a:sym typeface="Symbol" panose="05050102010706020507" pitchFamily="18" charset="2"/>
              </a:rPr>
              <a:t>, buys(X,item1)buys(X,item2)=&gt; buys(X,item3) </a:t>
            </a:r>
            <a:br>
              <a:rPr lang="en-US" altLang="zh-TW" dirty="0">
                <a:sym typeface="Symbol" panose="05050102010706020507" pitchFamily="18" charset="2"/>
              </a:rPr>
            </a:br>
            <a:r>
              <a:rPr lang="en-US" altLang="zh-TW" dirty="0">
                <a:sym typeface="Symbol" panose="05050102010706020507" pitchFamily="18" charset="2"/>
              </a:rPr>
              <a:t>list the frequent k-</a:t>
            </a:r>
            <a:r>
              <a:rPr lang="en-US" altLang="zh-TW" dirty="0" err="1">
                <a:sym typeface="Symbol" panose="05050102010706020507" pitchFamily="18" charset="2"/>
              </a:rPr>
              <a:t>itemset</a:t>
            </a:r>
            <a:r>
              <a:rPr lang="en-US" altLang="zh-TW" dirty="0">
                <a:sym typeface="Symbol" panose="05050102010706020507" pitchFamily="18" charset="2"/>
              </a:rPr>
              <a:t> for the largest k (but do not print any rules).</a:t>
            </a:r>
          </a:p>
          <a:p>
            <a:pPr marL="457200" lvl="1" indent="0">
              <a:buNone/>
            </a:pPr>
            <a:br>
              <a:rPr lang="en-US" altLang="zh-TW" dirty="0"/>
            </a:br>
            <a:endParaRPr lang="en-US" altLang="zh-TW" dirty="0"/>
          </a:p>
          <a:p>
            <a:endParaRPr lang="zh-TW" altLang="en-US" dirty="0"/>
          </a:p>
        </p:txBody>
      </p:sp>
    </p:spTree>
    <p:extLst>
      <p:ext uri="{BB962C8B-B14F-4D97-AF65-F5344CB8AC3E}">
        <p14:creationId xmlns:p14="http://schemas.microsoft.com/office/powerpoint/2010/main" val="23852119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normAutofit/>
          </a:bodyPr>
          <a:lstStyle/>
          <a:p>
            <a:r>
              <a:rPr lang="en-US" altLang="zh-TW" dirty="0"/>
              <a:t>4.14: (</a:t>
            </a:r>
            <a:r>
              <a:rPr lang="en-US" altLang="zh-TW" b="1" dirty="0"/>
              <a:t>40pt</a:t>
            </a:r>
            <a:r>
              <a:rPr lang="en-US" altLang="zh-TW" dirty="0"/>
              <a:t>) The following contingency table summarizes supermarket transaction data, where hot dogs refers to the transactions containing hot dogs, !(hot dogs) refers to the transactions that do not contain hot dogs, hamburgers refers to the transactions containing hamburgers, !(hamburgers) refers to the transactions that do not contain hamburgers.</a:t>
            </a:r>
            <a:br>
              <a:rPr lang="en-US" altLang="zh-TW" dirty="0"/>
            </a:br>
            <a:br>
              <a:rPr lang="en-US" altLang="zh-TW" dirty="0"/>
            </a:br>
            <a:br>
              <a:rPr lang="en-US" altLang="zh-TW" dirty="0"/>
            </a:br>
            <a:endParaRPr lang="en-US" altLang="zh-TW" dirty="0"/>
          </a:p>
          <a:p>
            <a:pPr marL="0" indent="0">
              <a:buNone/>
            </a:pPr>
            <a:endParaRPr lang="en-US" altLang="zh-TW" dirty="0"/>
          </a:p>
          <a:p>
            <a:pPr marL="0" indent="0">
              <a:buNone/>
            </a:pPr>
            <a:endParaRPr lang="en-US" altLang="zh-TW" dirty="0"/>
          </a:p>
          <a:p>
            <a:pPr lvl="1"/>
            <a:endParaRPr lang="en-US" altLang="zh-TW" dirty="0"/>
          </a:p>
          <a:p>
            <a:pPr lvl="1"/>
            <a:endParaRPr lang="zh-TW" altLang="en-US" dirty="0"/>
          </a:p>
        </p:txBody>
      </p:sp>
      <p:graphicFrame>
        <p:nvGraphicFramePr>
          <p:cNvPr id="4" name="表格 3"/>
          <p:cNvGraphicFramePr>
            <a:graphicFrameLocks noGrp="1"/>
          </p:cNvGraphicFramePr>
          <p:nvPr>
            <p:extLst>
              <p:ext uri="{D42A27DB-BD31-4B8C-83A1-F6EECF244321}">
                <p14:modId xmlns:p14="http://schemas.microsoft.com/office/powerpoint/2010/main" val="2898237875"/>
              </p:ext>
            </p:extLst>
          </p:nvPr>
        </p:nvGraphicFramePr>
        <p:xfrm>
          <a:off x="1323833" y="4339990"/>
          <a:ext cx="7096836" cy="1779783"/>
        </p:xfrm>
        <a:graphic>
          <a:graphicData uri="http://schemas.openxmlformats.org/drawingml/2006/table">
            <a:tbl>
              <a:tblPr firstRow="1" bandRow="1">
                <a:tableStyleId>{5C22544A-7EE6-4342-B048-85BDC9FD1C3A}</a:tableStyleId>
              </a:tblPr>
              <a:tblGrid>
                <a:gridCol w="1569492">
                  <a:extLst>
                    <a:ext uri="{9D8B030D-6E8A-4147-A177-3AD203B41FA5}">
                      <a16:colId xmlns:a16="http://schemas.microsoft.com/office/drawing/2014/main" val="20000"/>
                    </a:ext>
                  </a:extLst>
                </a:gridCol>
                <a:gridCol w="2129051">
                  <a:extLst>
                    <a:ext uri="{9D8B030D-6E8A-4147-A177-3AD203B41FA5}">
                      <a16:colId xmlns:a16="http://schemas.microsoft.com/office/drawing/2014/main" val="20001"/>
                    </a:ext>
                  </a:extLst>
                </a:gridCol>
                <a:gridCol w="2060812">
                  <a:extLst>
                    <a:ext uri="{9D8B030D-6E8A-4147-A177-3AD203B41FA5}">
                      <a16:colId xmlns:a16="http://schemas.microsoft.com/office/drawing/2014/main" val="20002"/>
                    </a:ext>
                  </a:extLst>
                </a:gridCol>
                <a:gridCol w="1337481">
                  <a:extLst>
                    <a:ext uri="{9D8B030D-6E8A-4147-A177-3AD203B41FA5}">
                      <a16:colId xmlns:a16="http://schemas.microsoft.com/office/drawing/2014/main" val="20003"/>
                    </a:ext>
                  </a:extLst>
                </a:gridCol>
              </a:tblGrid>
              <a:tr h="645647">
                <a:tc>
                  <a:txBody>
                    <a:bodyPr/>
                    <a:lstStyle/>
                    <a:p>
                      <a:endParaRPr lang="zh-TW" altLang="en-US" dirty="0"/>
                    </a:p>
                  </a:txBody>
                  <a:tcPr/>
                </a:tc>
                <a:tc>
                  <a:txBody>
                    <a:bodyPr/>
                    <a:lstStyle/>
                    <a:p>
                      <a:r>
                        <a:rPr lang="en-US" altLang="zh-TW" dirty="0"/>
                        <a:t>hot dogs</a:t>
                      </a:r>
                      <a:endParaRPr lang="zh-TW" altLang="en-US" dirty="0"/>
                    </a:p>
                  </a:txBody>
                  <a:tcPr>
                    <a:lnR w="12700" cap="flat" cmpd="sng" algn="ctr">
                      <a:solidFill>
                        <a:schemeClr val="bg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dirty="0"/>
                        <a:t>!(hot dogs)</a:t>
                      </a:r>
                      <a:endParaRPr lang="zh-TW" altLang="en-US" dirty="0"/>
                    </a:p>
                    <a:p>
                      <a:endParaRPr lang="zh-TW" altLang="en-US" dirty="0"/>
                    </a:p>
                  </a:txBody>
                  <a:tcPr>
                    <a:lnL w="12700" cap="flat" cmpd="sng" algn="ctr">
                      <a:solidFill>
                        <a:schemeClr val="bg1"/>
                      </a:solidFill>
                      <a:prstDash val="solid"/>
                      <a:round/>
                      <a:headEnd type="none" w="med" len="med"/>
                      <a:tailEnd type="none" w="med" len="med"/>
                    </a:lnL>
                  </a:tcPr>
                </a:tc>
                <a:tc>
                  <a:txBody>
                    <a:bodyPr/>
                    <a:lstStyle/>
                    <a:p>
                      <a:r>
                        <a:rPr lang="en-US" altLang="zh-TW" dirty="0"/>
                        <a:t>total</a:t>
                      </a:r>
                      <a:endParaRPr lang="zh-TW" altLang="en-US" dirty="0"/>
                    </a:p>
                  </a:txBody>
                  <a:tcPr/>
                </a:tc>
                <a:extLst>
                  <a:ext uri="{0D108BD9-81ED-4DB2-BD59-A6C34878D82A}">
                    <a16:rowId xmlns:a16="http://schemas.microsoft.com/office/drawing/2014/main" val="10000"/>
                  </a:ext>
                </a:extLst>
              </a:tr>
              <a:tr h="374065">
                <a:tc>
                  <a:txBody>
                    <a:bodyPr/>
                    <a:lstStyle/>
                    <a:p>
                      <a:r>
                        <a:rPr lang="en-US" altLang="zh-TW" dirty="0"/>
                        <a:t>hamburgers</a:t>
                      </a:r>
                      <a:endParaRPr lang="zh-TW" altLang="en-US" dirty="0"/>
                    </a:p>
                  </a:txBody>
                  <a:tcPr/>
                </a:tc>
                <a:tc>
                  <a:txBody>
                    <a:bodyPr/>
                    <a:lstStyle/>
                    <a:p>
                      <a:r>
                        <a:rPr lang="en-US" altLang="zh-TW" dirty="0"/>
                        <a:t>2000</a:t>
                      </a:r>
                      <a:endParaRPr lang="zh-TW" altLang="en-US" dirty="0"/>
                    </a:p>
                  </a:txBody>
                  <a:tcPr>
                    <a:lnR w="12700" cap="flat" cmpd="sng" algn="ctr">
                      <a:solidFill>
                        <a:schemeClr val="bg1"/>
                      </a:solidFill>
                      <a:prstDash val="solid"/>
                      <a:round/>
                      <a:headEnd type="none" w="med" len="med"/>
                      <a:tailEnd type="none" w="med" len="med"/>
                    </a:lnR>
                  </a:tcPr>
                </a:tc>
                <a:tc>
                  <a:txBody>
                    <a:bodyPr/>
                    <a:lstStyle/>
                    <a:p>
                      <a:r>
                        <a:rPr lang="en-US" altLang="zh-TW" dirty="0"/>
                        <a:t>500</a:t>
                      </a:r>
                      <a:endParaRPr lang="zh-TW" altLang="en-US" dirty="0"/>
                    </a:p>
                  </a:txBody>
                  <a:tcPr>
                    <a:lnL w="12700" cap="flat" cmpd="sng" algn="ctr">
                      <a:solidFill>
                        <a:schemeClr val="bg1"/>
                      </a:solidFill>
                      <a:prstDash val="solid"/>
                      <a:round/>
                      <a:headEnd type="none" w="med" len="med"/>
                      <a:tailEnd type="none" w="med" len="med"/>
                    </a:lnL>
                  </a:tcPr>
                </a:tc>
                <a:tc>
                  <a:txBody>
                    <a:bodyPr/>
                    <a:lstStyle/>
                    <a:p>
                      <a:r>
                        <a:rPr lang="en-US" altLang="zh-TW" dirty="0"/>
                        <a:t>2500</a:t>
                      </a:r>
                      <a:endParaRPr lang="zh-TW" altLang="en-US" dirty="0"/>
                    </a:p>
                  </a:txBody>
                  <a:tcPr/>
                </a:tc>
                <a:extLst>
                  <a:ext uri="{0D108BD9-81ED-4DB2-BD59-A6C34878D82A}">
                    <a16:rowId xmlns:a16="http://schemas.microsoft.com/office/drawing/2014/main" val="10001"/>
                  </a:ext>
                </a:extLst>
              </a:tr>
              <a:tr h="386006">
                <a:tc>
                  <a:txBody>
                    <a:bodyPr/>
                    <a:lstStyle/>
                    <a:p>
                      <a:r>
                        <a:rPr lang="en-US" altLang="zh-TW" dirty="0"/>
                        <a:t>!(hamburgers) </a:t>
                      </a:r>
                      <a:endParaRPr lang="zh-TW" altLang="en-US" dirty="0"/>
                    </a:p>
                  </a:txBody>
                  <a:tcPr/>
                </a:tc>
                <a:tc>
                  <a:txBody>
                    <a:bodyPr/>
                    <a:lstStyle/>
                    <a:p>
                      <a:r>
                        <a:rPr lang="en-US" altLang="zh-TW" dirty="0"/>
                        <a:t>1000</a:t>
                      </a:r>
                      <a:endParaRPr lang="zh-TW" altLang="en-US" dirty="0"/>
                    </a:p>
                  </a:txBody>
                  <a:tcPr>
                    <a:lnR w="12700" cap="flat" cmpd="sng" algn="ctr">
                      <a:solidFill>
                        <a:schemeClr val="bg1"/>
                      </a:solidFill>
                      <a:prstDash val="solid"/>
                      <a:round/>
                      <a:headEnd type="none" w="med" len="med"/>
                      <a:tailEnd type="none" w="med" len="med"/>
                    </a:lnR>
                  </a:tcPr>
                </a:tc>
                <a:tc>
                  <a:txBody>
                    <a:bodyPr/>
                    <a:lstStyle/>
                    <a:p>
                      <a:r>
                        <a:rPr lang="en-US" altLang="zh-TW" dirty="0"/>
                        <a:t>1500</a:t>
                      </a:r>
                      <a:endParaRPr lang="zh-TW" altLang="en-US" dirty="0"/>
                    </a:p>
                  </a:txBody>
                  <a:tcPr>
                    <a:lnL w="12700" cap="flat" cmpd="sng" algn="ctr">
                      <a:solidFill>
                        <a:schemeClr val="bg1"/>
                      </a:solidFill>
                      <a:prstDash val="solid"/>
                      <a:round/>
                      <a:headEnd type="none" w="med" len="med"/>
                      <a:tailEnd type="none" w="med" len="med"/>
                    </a:lnL>
                  </a:tcPr>
                </a:tc>
                <a:tc>
                  <a:txBody>
                    <a:bodyPr/>
                    <a:lstStyle/>
                    <a:p>
                      <a:r>
                        <a:rPr lang="en-US" altLang="zh-TW" dirty="0"/>
                        <a:t>2500</a:t>
                      </a:r>
                      <a:endParaRPr lang="zh-TW" altLang="en-US" dirty="0"/>
                    </a:p>
                  </a:txBody>
                  <a:tcPr/>
                </a:tc>
                <a:extLst>
                  <a:ext uri="{0D108BD9-81ED-4DB2-BD59-A6C34878D82A}">
                    <a16:rowId xmlns:a16="http://schemas.microsoft.com/office/drawing/2014/main" val="10002"/>
                  </a:ext>
                </a:extLst>
              </a:tr>
              <a:tr h="374065">
                <a:tc>
                  <a:txBody>
                    <a:bodyPr/>
                    <a:lstStyle/>
                    <a:p>
                      <a:r>
                        <a:rPr lang="en-US" altLang="zh-TW" dirty="0"/>
                        <a:t>Total</a:t>
                      </a:r>
                      <a:endParaRPr lang="zh-TW" altLang="en-US" dirty="0"/>
                    </a:p>
                  </a:txBody>
                  <a:tcPr/>
                </a:tc>
                <a:tc>
                  <a:txBody>
                    <a:bodyPr/>
                    <a:lstStyle/>
                    <a:p>
                      <a:r>
                        <a:rPr lang="en-US" altLang="zh-TW" dirty="0"/>
                        <a:t>3000</a:t>
                      </a:r>
                      <a:endParaRPr lang="zh-TW" altLang="en-US" dirty="0"/>
                    </a:p>
                  </a:txBody>
                  <a:tcPr>
                    <a:lnR w="12700" cap="flat" cmpd="sng" algn="ctr">
                      <a:solidFill>
                        <a:schemeClr val="bg1"/>
                      </a:solidFill>
                      <a:prstDash val="solid"/>
                      <a:round/>
                      <a:headEnd type="none" w="med" len="med"/>
                      <a:tailEnd type="none" w="med" len="med"/>
                    </a:lnR>
                  </a:tcPr>
                </a:tc>
                <a:tc>
                  <a:txBody>
                    <a:bodyPr/>
                    <a:lstStyle/>
                    <a:p>
                      <a:r>
                        <a:rPr lang="en-US" altLang="zh-TW" dirty="0"/>
                        <a:t>2000</a:t>
                      </a:r>
                      <a:endParaRPr lang="zh-TW" altLang="en-US" dirty="0"/>
                    </a:p>
                  </a:txBody>
                  <a:tcPr>
                    <a:lnL w="12700" cap="flat" cmpd="sng" algn="ctr">
                      <a:solidFill>
                        <a:schemeClr val="bg1"/>
                      </a:solidFill>
                      <a:prstDash val="solid"/>
                      <a:round/>
                      <a:headEnd type="none" w="med" len="med"/>
                      <a:tailEnd type="none" w="med" len="med"/>
                    </a:lnL>
                  </a:tcPr>
                </a:tc>
                <a:tc>
                  <a:txBody>
                    <a:bodyPr/>
                    <a:lstStyle/>
                    <a:p>
                      <a:r>
                        <a:rPr lang="en-US" altLang="zh-TW" dirty="0"/>
                        <a:t>5000</a:t>
                      </a:r>
                      <a:endParaRPr lang="zh-TW" altLang="en-US"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59317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pPr lvl="1"/>
            <a:r>
              <a:rPr lang="en-US" altLang="zh-TW" dirty="0"/>
              <a:t>(a) (10pt) suppose that the association rule “hot dogs =&gt; hamburgers” is mined. Given a minimum support threshold of 25% and a minimum confidence threshold of 50%, is this association rule strong?</a:t>
            </a:r>
          </a:p>
          <a:p>
            <a:pPr lvl="1"/>
            <a:r>
              <a:rPr lang="en-US" altLang="zh-TW" dirty="0"/>
              <a:t>(b) (10pt) Based on the given data, is the purchase of hot dogs independent of the purchase of hamburgers? If not, what kind of correlation relationship exists between the two?</a:t>
            </a:r>
          </a:p>
          <a:p>
            <a:pPr lvl="1"/>
            <a:r>
              <a:rPr lang="en-US" altLang="zh-TW" dirty="0"/>
              <a:t>(c) (20pt) Compare the use of the </a:t>
            </a:r>
            <a:r>
              <a:rPr lang="en-US" altLang="zh-TW" dirty="0" err="1"/>
              <a:t>all_confidence</a:t>
            </a:r>
            <a:r>
              <a:rPr lang="en-US" altLang="zh-TW" dirty="0"/>
              <a:t>, </a:t>
            </a:r>
            <a:r>
              <a:rPr lang="en-US" altLang="zh-TW" dirty="0" err="1"/>
              <a:t>max_confidence</a:t>
            </a:r>
            <a:r>
              <a:rPr lang="en-US" altLang="zh-TW" dirty="0"/>
              <a:t>, </a:t>
            </a:r>
            <a:r>
              <a:rPr lang="en-US" altLang="zh-TW" dirty="0" err="1"/>
              <a:t>Kulczynski</a:t>
            </a:r>
            <a:r>
              <a:rPr lang="en-US" altLang="zh-TW" dirty="0"/>
              <a:t>, and cosine measures with lift and correlation on the given data.</a:t>
            </a:r>
            <a:endParaRPr lang="zh-TW" altLang="en-US" dirty="0"/>
          </a:p>
        </p:txBody>
      </p:sp>
    </p:spTree>
    <p:extLst>
      <p:ext uri="{BB962C8B-B14F-4D97-AF65-F5344CB8AC3E}">
        <p14:creationId xmlns:p14="http://schemas.microsoft.com/office/powerpoint/2010/main" val="28530323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Programming Projects</a:t>
            </a:r>
            <a:endParaRPr lang="zh-TW" altLang="en-US" dirty="0"/>
          </a:p>
        </p:txBody>
      </p:sp>
      <p:sp>
        <p:nvSpPr>
          <p:cNvPr id="3" name="內容版面配置區 2"/>
          <p:cNvSpPr>
            <a:spLocks noGrp="1"/>
          </p:cNvSpPr>
          <p:nvPr>
            <p:ph idx="1"/>
          </p:nvPr>
        </p:nvSpPr>
        <p:spPr/>
        <p:txBody>
          <a:bodyPr>
            <a:normAutofit/>
          </a:bodyPr>
          <a:lstStyle/>
          <a:p>
            <a:r>
              <a:rPr lang="en-US" altLang="zh-TW" dirty="0">
                <a:solidFill>
                  <a:srgbClr val="0000FF"/>
                </a:solidFill>
              </a:rPr>
              <a:t>*</a:t>
            </a:r>
            <a:r>
              <a:rPr lang="en-US" altLang="zh-TW" dirty="0"/>
              <a:t>4.7: (</a:t>
            </a:r>
            <a:r>
              <a:rPr lang="en-US" altLang="zh-TW" b="1" dirty="0"/>
              <a:t>50pt</a:t>
            </a:r>
            <a:r>
              <a:rPr lang="en-US" altLang="zh-TW" dirty="0"/>
              <a:t>) Using a programming language that you are familiar with, such as C++ or Java, implement the following frequent itemset mining algorithms introduced in this chapter: </a:t>
            </a:r>
          </a:p>
          <a:p>
            <a:pPr marL="0" indent="0">
              <a:buNone/>
            </a:pPr>
            <a:r>
              <a:rPr lang="en-US" altLang="zh-TW" dirty="0"/>
              <a:t>(a) (20pt) </a:t>
            </a:r>
            <a:r>
              <a:rPr lang="en-US" altLang="zh-TW" dirty="0" err="1">
                <a:solidFill>
                  <a:srgbClr val="0000FF"/>
                </a:solidFill>
              </a:rPr>
              <a:t>Apriori</a:t>
            </a:r>
            <a:r>
              <a:rPr lang="en-US" altLang="zh-TW" dirty="0"/>
              <a:t>, </a:t>
            </a:r>
          </a:p>
          <a:p>
            <a:pPr marL="0" indent="0">
              <a:buNone/>
            </a:pPr>
            <a:r>
              <a:rPr lang="en-US" altLang="zh-TW" dirty="0"/>
              <a:t>(b) (30pt) </a:t>
            </a:r>
            <a:r>
              <a:rPr lang="en-US" altLang="zh-TW" dirty="0">
                <a:solidFill>
                  <a:srgbClr val="0000FF"/>
                </a:solidFill>
              </a:rPr>
              <a:t>FP-Growth</a:t>
            </a:r>
            <a:r>
              <a:rPr lang="en-US" altLang="zh-TW" dirty="0"/>
              <a:t>. </a:t>
            </a:r>
            <a:br>
              <a:rPr lang="en-US" altLang="zh-TW" dirty="0"/>
            </a:br>
            <a:br>
              <a:rPr lang="en-US" altLang="zh-TW" dirty="0"/>
            </a:br>
            <a:r>
              <a:rPr lang="en-US" altLang="zh-TW" dirty="0"/>
              <a:t>Compare the performance of each algorithm with various kinds of large data sets. </a:t>
            </a:r>
            <a:br>
              <a:rPr lang="en-US" altLang="zh-TW" dirty="0"/>
            </a:br>
            <a:endParaRPr lang="en-US" altLang="zh-TW" dirty="0"/>
          </a:p>
        </p:txBody>
      </p:sp>
    </p:spTree>
    <p:extLst>
      <p:ext uri="{BB962C8B-B14F-4D97-AF65-F5344CB8AC3E}">
        <p14:creationId xmlns:p14="http://schemas.microsoft.com/office/powerpoint/2010/main" val="275584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a:bodyPr>
          <a:lstStyle/>
          <a:p>
            <a:r>
              <a:rPr lang="en-US" altLang="zh-TW" dirty="0">
                <a:solidFill>
                  <a:srgbClr val="0000FF"/>
                </a:solidFill>
              </a:rPr>
              <a:t>*</a:t>
            </a:r>
            <a:r>
              <a:rPr lang="en-US" altLang="zh-TW" dirty="0"/>
              <a:t>4.15: (</a:t>
            </a:r>
            <a:r>
              <a:rPr lang="en-US" altLang="zh-TW" b="1" dirty="0"/>
              <a:t>50pt</a:t>
            </a:r>
            <a:r>
              <a:rPr lang="en-US" altLang="zh-TW" dirty="0"/>
              <a:t>) The DBLP data set (</a:t>
            </a:r>
            <a:r>
              <a:rPr lang="en-US" altLang="zh-TW" dirty="0">
                <a:hlinkClick r:id="rId2" tooltip="https://dblp.org/xml/"/>
              </a:rPr>
              <a:t>https://dblp.org/xml/</a:t>
            </a:r>
            <a:r>
              <a:rPr lang="en-US" altLang="zh-TW" dirty="0"/>
              <a:t> ) consists of over one million entries of research papers published in computer science conferences and journals. Among these entries, there are a good number of authors that have coauthor relationships.</a:t>
            </a:r>
            <a:br>
              <a:rPr lang="en-US" altLang="zh-TW" dirty="0"/>
            </a:br>
            <a:r>
              <a:rPr lang="en-US" altLang="zh-TW" dirty="0"/>
              <a:t>(a) (30pt) Propose a method to efficiently mine a set of </a:t>
            </a:r>
            <a:r>
              <a:rPr lang="en-US" altLang="zh-TW" dirty="0">
                <a:solidFill>
                  <a:srgbClr val="0000FF"/>
                </a:solidFill>
              </a:rPr>
              <a:t>coauthor</a:t>
            </a:r>
            <a:r>
              <a:rPr lang="en-US" altLang="zh-TW" dirty="0"/>
              <a:t> relationships that are closely correlated (e.g. often coauthoring papers together).</a:t>
            </a:r>
            <a:br>
              <a:rPr lang="en-US" altLang="zh-TW" dirty="0"/>
            </a:br>
            <a:r>
              <a:rPr lang="en-US" altLang="zh-TW" dirty="0"/>
              <a:t>(b) (20pt) Based on the mining results and the pattern evaluation measures discussed in this chapter, discuss which measure may convincingly uncover close collaboration patterns better than others.</a:t>
            </a:r>
            <a:endParaRPr lang="zh-TW" altLang="en-US" dirty="0"/>
          </a:p>
        </p:txBody>
      </p:sp>
    </p:spTree>
    <p:extLst>
      <p:ext uri="{BB962C8B-B14F-4D97-AF65-F5344CB8AC3E}">
        <p14:creationId xmlns:p14="http://schemas.microsoft.com/office/powerpoint/2010/main" val="23038560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E2CFEC8-F7E9-4B81-91A4-2B1510892429}"/>
              </a:ext>
            </a:extLst>
          </p:cNvPr>
          <p:cNvSpPr>
            <a:spLocks noGrp="1"/>
          </p:cNvSpPr>
          <p:nvPr>
            <p:ph type="title"/>
          </p:nvPr>
        </p:nvSpPr>
        <p:spPr/>
        <p:txBody>
          <a:bodyPr/>
          <a:lstStyle/>
          <a:p>
            <a:r>
              <a:rPr lang="en-US" altLang="zh-TW" dirty="0"/>
              <a:t>About DBLP dataset</a:t>
            </a:r>
            <a:endParaRPr lang="zh-TW" altLang="en-US" dirty="0"/>
          </a:p>
        </p:txBody>
      </p:sp>
      <p:sp>
        <p:nvSpPr>
          <p:cNvPr id="3" name="內容版面配置區 2">
            <a:extLst>
              <a:ext uri="{FF2B5EF4-FFF2-40B4-BE49-F238E27FC236}">
                <a16:creationId xmlns:a16="http://schemas.microsoft.com/office/drawing/2014/main" id="{08BE1F78-C2EE-4DD7-BF14-ABB31EA14D8F}"/>
              </a:ext>
            </a:extLst>
          </p:cNvPr>
          <p:cNvSpPr>
            <a:spLocks noGrp="1"/>
          </p:cNvSpPr>
          <p:nvPr>
            <p:ph idx="1"/>
          </p:nvPr>
        </p:nvSpPr>
        <p:spPr/>
        <p:txBody>
          <a:bodyPr/>
          <a:lstStyle/>
          <a:p>
            <a:r>
              <a:rPr lang="en-US" altLang="zh-TW" dirty="0"/>
              <a:t>You can find out how to download and parse the XML dump in the following document:</a:t>
            </a:r>
          </a:p>
          <a:p>
            <a:pPr lvl="1"/>
            <a:r>
              <a:rPr lang="en-US" altLang="zh-TW" dirty="0"/>
              <a:t>⁠</a:t>
            </a:r>
            <a:r>
              <a:rPr lang="en-US" altLang="zh-TW" dirty="0">
                <a:hlinkClick r:id="rId2" tooltip="https://dblp.org/faq/how+can+i+download+the+whole+dblp+dataset.html"/>
              </a:rPr>
              <a:t>https://dblp.org/</a:t>
            </a:r>
            <a:r>
              <a:rPr lang="en-US" altLang="zh-TW" dirty="0" err="1">
                <a:hlinkClick r:id="rId2" tooltip="https://dblp.org/faq/how+can+i+download+the+whole+dblp+dataset.html"/>
              </a:rPr>
              <a:t>faq</a:t>
            </a:r>
            <a:r>
              <a:rPr lang="en-US" altLang="zh-TW" dirty="0">
                <a:hlinkClick r:id="rId2" tooltip="https://dblp.org/faq/how+can+i+download+the+whole+dblp+dataset.html"/>
              </a:rPr>
              <a:t>/How+can+I+download+the+whole+dblp+dataset.html</a:t>
            </a:r>
            <a:endParaRPr lang="en-US" altLang="zh-TW" dirty="0"/>
          </a:p>
          <a:p>
            <a:r>
              <a:rPr lang="en-US" altLang="zh-TW" dirty="0"/>
              <a:t>Or, you can directly download the XML dump in the following URL:</a:t>
            </a:r>
          </a:p>
          <a:p>
            <a:pPr lvl="1"/>
            <a:r>
              <a:rPr lang="en-US" altLang="zh-TW" dirty="0"/>
              <a:t>⁠</a:t>
            </a:r>
            <a:r>
              <a:rPr lang="en-US" altLang="zh-TW" dirty="0">
                <a:hlinkClick r:id="rId3" tooltip="https://dblp.org/xml/"/>
              </a:rPr>
              <a:t>https://dblp.org/xml/</a:t>
            </a:r>
            <a:r>
              <a:rPr lang="en-US" altLang="zh-TW" dirty="0"/>
              <a:t> </a:t>
            </a:r>
          </a:p>
          <a:p>
            <a:endParaRPr lang="en-US" altLang="zh-TW" dirty="0"/>
          </a:p>
          <a:p>
            <a:endParaRPr lang="zh-TW" altLang="en-US" dirty="0"/>
          </a:p>
        </p:txBody>
      </p:sp>
    </p:spTree>
    <p:extLst>
      <p:ext uri="{BB962C8B-B14F-4D97-AF65-F5344CB8AC3E}">
        <p14:creationId xmlns:p14="http://schemas.microsoft.com/office/powerpoint/2010/main" val="2568191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Note on Programming Exercises</a:t>
            </a:r>
            <a:endParaRPr lang="zh-TW" altLang="en-US" dirty="0"/>
          </a:p>
        </p:txBody>
      </p:sp>
      <p:sp>
        <p:nvSpPr>
          <p:cNvPr id="3" name="內容版面配置區 2"/>
          <p:cNvSpPr>
            <a:spLocks noGrp="1"/>
          </p:cNvSpPr>
          <p:nvPr>
            <p:ph idx="1"/>
          </p:nvPr>
        </p:nvSpPr>
        <p:spPr/>
        <p:txBody>
          <a:bodyPr>
            <a:normAutofit/>
          </a:bodyPr>
          <a:lstStyle/>
          <a:p>
            <a:r>
              <a:rPr lang="en-US" altLang="zh-TW" dirty="0"/>
              <a:t>Implementation can be done as a team (&lt;= </a:t>
            </a:r>
            <a:r>
              <a:rPr lang="en-US" altLang="zh-TW" dirty="0">
                <a:solidFill>
                  <a:srgbClr val="FF0000"/>
                </a:solidFill>
              </a:rPr>
              <a:t>four</a:t>
            </a:r>
            <a:r>
              <a:rPr lang="en-US" altLang="zh-TW" dirty="0"/>
              <a:t> persons per team)</a:t>
            </a:r>
          </a:p>
          <a:p>
            <a:pPr lvl="1"/>
            <a:r>
              <a:rPr lang="en-US" altLang="zh-TW" dirty="0"/>
              <a:t>Please remember to register your team members to the TA *as soon as possible*</a:t>
            </a:r>
            <a:endParaRPr lang="en-US" altLang="zh-TW" dirty="0">
              <a:solidFill>
                <a:srgbClr val="FF0000"/>
              </a:solidFill>
            </a:endParaRPr>
          </a:p>
          <a:p>
            <a:pPr marL="457200" lvl="1" indent="0">
              <a:buNone/>
            </a:pPr>
            <a:endParaRPr lang="en-US" altLang="zh-TW" dirty="0"/>
          </a:p>
          <a:p>
            <a:r>
              <a:rPr lang="en-US" altLang="zh-TW" dirty="0"/>
              <a:t>Each team has to complete </a:t>
            </a:r>
            <a:r>
              <a:rPr lang="en-US" altLang="zh-TW" dirty="0">
                <a:solidFill>
                  <a:srgbClr val="0000FF"/>
                </a:solidFill>
              </a:rPr>
              <a:t>at least one </a:t>
            </a:r>
            <a:r>
              <a:rPr lang="en-US" altLang="zh-TW" dirty="0"/>
              <a:t>programming exercise</a:t>
            </a:r>
          </a:p>
          <a:p>
            <a:pPr lvl="1"/>
            <a:r>
              <a:rPr lang="en-US" altLang="zh-TW" dirty="0"/>
              <a:t>If you complete more programming projects, you will get extra bonus</a:t>
            </a:r>
          </a:p>
          <a:p>
            <a:endParaRPr lang="en-US" altLang="zh-TW" dirty="0"/>
          </a:p>
          <a:p>
            <a:r>
              <a:rPr lang="en-US" altLang="zh-TW" dirty="0"/>
              <a:t>You can use </a:t>
            </a:r>
            <a:r>
              <a:rPr lang="en-US" altLang="zh-TW" dirty="0">
                <a:solidFill>
                  <a:srgbClr val="0000FF"/>
                </a:solidFill>
              </a:rPr>
              <a:t>any </a:t>
            </a:r>
            <a:r>
              <a:rPr lang="en-US" altLang="zh-TW" dirty="0"/>
              <a:t>programming language to implement</a:t>
            </a:r>
          </a:p>
          <a:p>
            <a:pPr lvl="1"/>
            <a:r>
              <a:rPr lang="en-US" altLang="zh-TW" dirty="0"/>
              <a:t>You </a:t>
            </a:r>
            <a:r>
              <a:rPr lang="en-US" altLang="zh-TW" dirty="0">
                <a:solidFill>
                  <a:srgbClr val="FF0000"/>
                </a:solidFill>
              </a:rPr>
              <a:t>must</a:t>
            </a:r>
            <a:r>
              <a:rPr lang="en-US" altLang="zh-TW" dirty="0"/>
              <a:t> provide detailed documentation on the necessary packages or libraries you used, where to download, how to install and configure</a:t>
            </a:r>
            <a:endParaRPr lang="zh-TW" altLang="en-US" dirty="0"/>
          </a:p>
        </p:txBody>
      </p:sp>
    </p:spTree>
    <p:extLst>
      <p:ext uri="{BB962C8B-B14F-4D97-AF65-F5344CB8AC3E}">
        <p14:creationId xmlns:p14="http://schemas.microsoft.com/office/powerpoint/2010/main" val="4031530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Homework Submission</a:t>
            </a:r>
            <a:endParaRPr lang="zh-TW" altLang="en-US" dirty="0"/>
          </a:p>
        </p:txBody>
      </p:sp>
      <p:sp>
        <p:nvSpPr>
          <p:cNvPr id="3" name="內容版面配置區 2"/>
          <p:cNvSpPr>
            <a:spLocks noGrp="1"/>
          </p:cNvSpPr>
          <p:nvPr>
            <p:ph idx="1"/>
          </p:nvPr>
        </p:nvSpPr>
        <p:spPr/>
        <p:txBody>
          <a:bodyPr/>
          <a:lstStyle/>
          <a:p>
            <a:r>
              <a:rPr lang="en-US" altLang="zh-TW" dirty="0"/>
              <a:t>For hand-written exercises, please hand in your homework in class (paper version)</a:t>
            </a:r>
          </a:p>
          <a:p>
            <a:pPr lvl="1"/>
            <a:r>
              <a:rPr lang="en-US" altLang="zh-TW" dirty="0"/>
              <a:t>Remember to write your student ID</a:t>
            </a:r>
          </a:p>
          <a:p>
            <a:pPr lvl="1"/>
            <a:endParaRPr lang="en-US" altLang="zh-TW" dirty="0"/>
          </a:p>
          <a:p>
            <a:r>
              <a:rPr lang="en-US" altLang="zh-TW" dirty="0"/>
              <a:t>For programming projects, please submit a compressed file containing your </a:t>
            </a:r>
            <a:r>
              <a:rPr lang="en-US" altLang="zh-TW" dirty="0">
                <a:solidFill>
                  <a:srgbClr val="FF0000"/>
                </a:solidFill>
              </a:rPr>
              <a:t>source codes</a:t>
            </a:r>
            <a:r>
              <a:rPr lang="en-US" altLang="zh-TW" dirty="0"/>
              <a:t>, </a:t>
            </a:r>
            <a:r>
              <a:rPr lang="en-US" altLang="zh-TW" dirty="0">
                <a:solidFill>
                  <a:srgbClr val="FF0000"/>
                </a:solidFill>
              </a:rPr>
              <a:t>sample input and generated output</a:t>
            </a:r>
            <a:r>
              <a:rPr lang="en-US" altLang="zh-TW" dirty="0"/>
              <a:t>, and </a:t>
            </a:r>
            <a:r>
              <a:rPr lang="en-US" altLang="zh-TW" dirty="0">
                <a:solidFill>
                  <a:srgbClr val="FF0000"/>
                </a:solidFill>
              </a:rPr>
              <a:t>documentation</a:t>
            </a:r>
            <a:r>
              <a:rPr lang="en-US" altLang="zh-TW" dirty="0"/>
              <a:t> on how to compile, install, or configure the environment.</a:t>
            </a:r>
          </a:p>
          <a:p>
            <a:pPr lvl="1"/>
            <a:endParaRPr lang="zh-TW" altLang="en-US" dirty="0"/>
          </a:p>
        </p:txBody>
      </p:sp>
    </p:spTree>
    <p:extLst>
      <p:ext uri="{BB962C8B-B14F-4D97-AF65-F5344CB8AC3E}">
        <p14:creationId xmlns:p14="http://schemas.microsoft.com/office/powerpoint/2010/main" val="2211693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Thanks for Your Attention!</a:t>
            </a:r>
            <a:endParaRPr lang="zh-TW" altLang="en-US" dirty="0"/>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1958913494"/>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1041</TotalTime>
  <Words>1047</Words>
  <Application>Microsoft Office PowerPoint</Application>
  <PresentationFormat>寬螢幕</PresentationFormat>
  <Paragraphs>87</Paragraphs>
  <Slides>13</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Arial</vt:lpstr>
      <vt:lpstr>Calibri</vt:lpstr>
      <vt:lpstr>Calibri Light</vt:lpstr>
      <vt:lpstr>Symbol</vt:lpstr>
      <vt:lpstr>Office 佈景主題</vt:lpstr>
      <vt:lpstr>Introduction to Big Data Analytics: HW#2</vt:lpstr>
      <vt:lpstr>Homework #2: Frequent Pattern Mining</vt:lpstr>
      <vt:lpstr>Exercises for Chap.4</vt:lpstr>
      <vt:lpstr>PowerPoint 簡報</vt:lpstr>
      <vt:lpstr>PowerPoint 簡報</vt:lpstr>
      <vt:lpstr>PowerPoint 簡報</vt:lpstr>
      <vt:lpstr>PowerPoint 簡報</vt:lpstr>
      <vt:lpstr>Programming Projects</vt:lpstr>
      <vt:lpstr>PowerPoint 簡報</vt:lpstr>
      <vt:lpstr>About DBLP dataset</vt:lpstr>
      <vt:lpstr>Note on Programming Exercises</vt:lpstr>
      <vt:lpstr>Homework Submission</vt:lpstr>
      <vt:lpstr>Thanks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HW#1</dc:title>
  <dc:creator>jhwang</dc:creator>
  <cp:lastModifiedBy>王正豪</cp:lastModifiedBy>
  <cp:revision>51</cp:revision>
  <dcterms:created xsi:type="dcterms:W3CDTF">2017-03-16T10:08:31Z</dcterms:created>
  <dcterms:modified xsi:type="dcterms:W3CDTF">2026-10-19T05:10:19Z</dcterms:modified>
</cp:coreProperties>
</file>