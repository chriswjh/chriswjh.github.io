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tmp" ContentType="image/p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ink/ink1.xml" ContentType="application/inkml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6" r:id="rId2"/>
  </p:sldMasterIdLst>
  <p:notesMasterIdLst>
    <p:notesMasterId r:id="rId86"/>
  </p:notesMasterIdLst>
  <p:sldIdLst>
    <p:sldId id="1892" r:id="rId3"/>
    <p:sldId id="1752" r:id="rId4"/>
    <p:sldId id="1838" r:id="rId5"/>
    <p:sldId id="1753" r:id="rId6"/>
    <p:sldId id="1754" r:id="rId7"/>
    <p:sldId id="1858" r:id="rId8"/>
    <p:sldId id="1944" r:id="rId9"/>
    <p:sldId id="1757" r:id="rId10"/>
    <p:sldId id="1758" r:id="rId11"/>
    <p:sldId id="1856" r:id="rId12"/>
    <p:sldId id="1762" r:id="rId13"/>
    <p:sldId id="1863" r:id="rId14"/>
    <p:sldId id="1864" r:id="rId15"/>
    <p:sldId id="1759" r:id="rId16"/>
    <p:sldId id="1760" r:id="rId17"/>
    <p:sldId id="1887" r:id="rId18"/>
    <p:sldId id="1865" r:id="rId19"/>
    <p:sldId id="1763" r:id="rId20"/>
    <p:sldId id="1945" r:id="rId21"/>
    <p:sldId id="1778" r:id="rId22"/>
    <p:sldId id="1869" r:id="rId23"/>
    <p:sldId id="1780" r:id="rId24"/>
    <p:sldId id="1781" r:id="rId25"/>
    <p:sldId id="1782" r:id="rId26"/>
    <p:sldId id="1854" r:id="rId27"/>
    <p:sldId id="1888" r:id="rId28"/>
    <p:sldId id="1889" r:id="rId29"/>
    <p:sldId id="1890" r:id="rId30"/>
    <p:sldId id="1784" r:id="rId31"/>
    <p:sldId id="1785" r:id="rId32"/>
    <p:sldId id="1857" r:id="rId33"/>
    <p:sldId id="1946" r:id="rId34"/>
    <p:sldId id="1657" r:id="rId35"/>
    <p:sldId id="1658" r:id="rId36"/>
    <p:sldId id="1659" r:id="rId37"/>
    <p:sldId id="1660" r:id="rId38"/>
    <p:sldId id="1943" r:id="rId39"/>
    <p:sldId id="1661" r:id="rId40"/>
    <p:sldId id="1947" r:id="rId41"/>
    <p:sldId id="1870" r:id="rId42"/>
    <p:sldId id="1871" r:id="rId43"/>
    <p:sldId id="1872" r:id="rId44"/>
    <p:sldId id="1873" r:id="rId45"/>
    <p:sldId id="1874" r:id="rId46"/>
    <p:sldId id="1875" r:id="rId47"/>
    <p:sldId id="1876" r:id="rId48"/>
    <p:sldId id="1877" r:id="rId49"/>
    <p:sldId id="304" r:id="rId50"/>
    <p:sldId id="426" r:id="rId51"/>
    <p:sldId id="427" r:id="rId52"/>
    <p:sldId id="1948" r:id="rId53"/>
    <p:sldId id="1897" r:id="rId54"/>
    <p:sldId id="1898" r:id="rId55"/>
    <p:sldId id="1899" r:id="rId56"/>
    <p:sldId id="1900" r:id="rId57"/>
    <p:sldId id="1901" r:id="rId58"/>
    <p:sldId id="1902" r:id="rId59"/>
    <p:sldId id="1903" r:id="rId60"/>
    <p:sldId id="1904" r:id="rId61"/>
    <p:sldId id="1905" r:id="rId62"/>
    <p:sldId id="1942" r:id="rId63"/>
    <p:sldId id="1907" r:id="rId64"/>
    <p:sldId id="1949" r:id="rId65"/>
    <p:sldId id="1909" r:id="rId66"/>
    <p:sldId id="1950" r:id="rId67"/>
    <p:sldId id="1722" r:id="rId68"/>
    <p:sldId id="1855" r:id="rId69"/>
    <p:sldId id="1809" r:id="rId70"/>
    <p:sldId id="1852" r:id="rId71"/>
    <p:sldId id="1859" r:id="rId72"/>
    <p:sldId id="1860" r:id="rId73"/>
    <p:sldId id="1861" r:id="rId74"/>
    <p:sldId id="1812" r:id="rId75"/>
    <p:sldId id="1851" r:id="rId76"/>
    <p:sldId id="1862" r:id="rId77"/>
    <p:sldId id="1910" r:id="rId78"/>
    <p:sldId id="1911" r:id="rId79"/>
    <p:sldId id="1912" r:id="rId80"/>
    <p:sldId id="1914" r:id="rId81"/>
    <p:sldId id="1930" r:id="rId82"/>
    <p:sldId id="1932" r:id="rId83"/>
    <p:sldId id="1933" r:id="rId84"/>
    <p:sldId id="1934" r:id="rId85"/>
  </p:sldIdLst>
  <p:sldSz cx="12192000" cy="6858000"/>
  <p:notesSz cx="7010400" cy="9296400"/>
  <p:defaultTextStyle>
    <a:defPPr>
      <a:defRPr lang="en-US"/>
    </a:defPPr>
    <a:lvl1pPr marL="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  <p:cmAuthor id="2" name="Shang, Jingbo" initials="SJ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00CC"/>
    <a:srgbClr val="F0CDBC"/>
    <a:srgbClr val="E48312"/>
    <a:srgbClr val="94A088"/>
    <a:srgbClr val="008080"/>
    <a:srgbClr val="BD582C"/>
    <a:srgbClr val="7F7F7F"/>
    <a:srgbClr val="865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99" autoAdjust="0"/>
    <p:restoredTop sz="83739" autoAdjust="0"/>
  </p:normalViewPr>
  <p:slideViewPr>
    <p:cSldViewPr snapToGrid="0">
      <p:cViewPr varScale="1">
        <p:scale>
          <a:sx n="62" d="100"/>
          <a:sy n="62" d="100"/>
        </p:scale>
        <p:origin x="844" y="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35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09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theme" Target="theme/theme1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commentAuthors" Target="commentAuthor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18-11-01T15:05:37.8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20180 16375 372 0,'0'0'10'16,"0"0"8"-16,-3 0 19 0,1 0-21 15,-3-4-16-15,0 1-3 0,-1-1 0 16,0 1 3-16,3 0 3 0,-1 1 7 16,3 1 8-16,1 1 6 0,0 0 7 15,0 0 2-15,0 0-12 0,0 0-12 16,0 0-6-16,0 0-2 0,0 0 0 16,0 0-1-16,0 0 4 0,0 0 0 15,0 0 8-15,0 0 2 0,0 0 4 16,0 0 6-16,0 0 5 0,0 0 3 15,0 0-8-15,0 0-2 0,0 0-7 16,0 0-1-16,0 0 6 0,0 0 1 16,0 0 3-16,0 0-1 0,0 0-3 15,0 0-7-15,0 0-3 0,0 0-4 16,0 0 1-16,0 0 1 0,0 0 0 16,0 0 5-16,0 0 4 0,0 0-1 15,0 0 1-15,0 0-3 0,0 0-1 16,0 0-4-16,0 0-2 0,0 0-2 15,0 0-1-15,0 0 1 16,0 0 1-16,0 0 1 0,0 0 1 16,0 0-1-16,0 0-1 0,0 0 2 15,0 0 2-15,0 0 1 0,0 0 3 16,0 0-4-16,0 0-4 0,0 0-2 16,0 0-1-16,0 0-3 0,0 0 1 15,0 0 1-15,0 0-2 0,0 0 0 16,0 0 0-16,0 0-1 0,0 0 0 15,-2 0-3-15,1 0-4 0,-1 0-7 16,2 0-13-16,0 0-13 0,-1 0-29 16,1 0-50-16,-7-1-67 0,-2-2-95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4" rIns="93167" bIns="465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7" tIns="46584" rIns="93167" bIns="4658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BF947792-BF46-405C-86E9-4DC33AF8A072}" type="slidenum">
              <a:rPr lang="en-US" altLang="en-US">
                <a:solidFill>
                  <a:prstClr val="black"/>
                </a:solidFill>
              </a:rPr>
              <a:pPr algn="r">
                <a:spcBef>
                  <a:spcPct val="0"/>
                </a:spcBef>
              </a:pPr>
              <a:t>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9313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169C16F-83A6-4654-ACB4-E3597022A30B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0952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9C16F-83A6-4654-ACB4-E3597022A30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128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58558DE-5F4D-4D4D-8157-80D78941E4AA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3199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C87ACD3-78F1-4E49-B487-DCEF5659D421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835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C87ACD3-78F1-4E49-B487-DCEF5659D421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7111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47792-BF46-405C-86E9-4DC33AF8A07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0362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9D86FD-A244-42A4-AEDB-C28D6F30B35B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58683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70A63E-C667-4AC0-8176-DF644A0FB608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8948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70A63E-C667-4AC0-8176-DF644A0FB608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9223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A6F9A96-B1C2-454F-A435-EAA583CB3B73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72197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http://cse.msu.edu/~cse802/DecisionTrees.pdf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55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65EC476-ADA0-4B8B-9C02-E341A210E4EF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I : the expected information needed to classify a given sample</a:t>
            </a:r>
          </a:p>
          <a:p>
            <a:r>
              <a:rPr lang="en-US" altLang="en-US"/>
              <a:t>E (entropy) : expected information based on the partitioning into subsets by A</a:t>
            </a:r>
          </a:p>
          <a:p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6544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10FB955-1A05-46BC-9E97-806C4BB938B5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80413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10FB955-1A05-46BC-9E97-806C4BB938B5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685524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EDCBD44-BA6F-47C3-9FCD-D068176CAEB4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/>
              <a:t>splitInfo</a:t>
            </a:r>
            <a:r>
              <a:rPr lang="en-US" altLang="en-US" dirty="0"/>
              <a:t> is the entropy of A</a:t>
            </a:r>
          </a:p>
        </p:txBody>
      </p:sp>
    </p:spTree>
    <p:extLst>
      <p:ext uri="{BB962C8B-B14F-4D97-AF65-F5344CB8AC3E}">
        <p14:creationId xmlns:p14="http://schemas.microsoft.com/office/powerpoint/2010/main" val="14340265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47792-BF46-405C-86E9-4DC33AF8A07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76954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9F1B8A3-85F5-43BE-9C88-C460B9285F31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130456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9F1B8A3-85F5-43BE-9C88-C460B9285F31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366471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C436065-8218-40D6-861F-0D3B602C952A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What</a:t>
            </a:r>
            <a:r>
              <a:rPr lang="en-US" altLang="en-US" baseline="0" dirty="0"/>
              <a:t> is naïve </a:t>
            </a:r>
            <a:r>
              <a:rPr lang="en-US" altLang="en-US" baseline="0" dirty="0" err="1"/>
              <a:t>bayes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013408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C436065-8218-40D6-861F-0D3B602C952A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84305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62B3276-B21B-46AA-8A50-86AF7917B6FD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https://</a:t>
            </a:r>
            <a:r>
              <a:rPr lang="en-US" altLang="en-US" dirty="0" err="1"/>
              <a:t>www.saedsayad.com</a:t>
            </a:r>
            <a:r>
              <a:rPr lang="en-US" altLang="en-US" dirty="0"/>
              <a:t>/</a:t>
            </a:r>
            <a:r>
              <a:rPr lang="en-US" altLang="en-US" dirty="0" err="1"/>
              <a:t>naive_bayesian.htm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485088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62B3276-B21B-46AA-8A50-86AF7917B6FD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485088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62B3276-B21B-46AA-8A50-86AF7917B6FD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30950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62B3276-B21B-46AA-8A50-86AF7917B6FD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756538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62B3276-B21B-46AA-8A50-86AF7917B6FD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401071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6ADF1B5-D8D2-47D1-B188-20EBA14F6225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For a given class, if there is no tuple whose income is low. Then given a test tuple whose income is low, its posterior probability by NB is zero and we will never predict this tuple to belong to this class </a:t>
            </a:r>
          </a:p>
        </p:txBody>
      </p:sp>
    </p:spTree>
    <p:extLst>
      <p:ext uri="{BB962C8B-B14F-4D97-AF65-F5344CB8AC3E}">
        <p14:creationId xmlns:p14="http://schemas.microsoft.com/office/powerpoint/2010/main" val="7643006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45A8F0-8966-46AC-B0C6-0A66CA5E6FF0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98102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45A8F0-8966-46AC-B0C6-0A66CA5E6FF0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98102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47792-BF46-405C-86E9-4DC33AF8A07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75861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61625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9DC6D-C4E2-405C-9F83-41BA8304616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48401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04871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74050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118B35-F898-4D00-ABD9-948C0213822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29162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47792-BF46-405C-86E9-4DC33AF8A07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81091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169C16F-83A6-4654-ACB4-E3597022A30B}" type="slidenum">
              <a:rPr lang="en-US" altLang="en-US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87909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33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736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89B04-2105-49BC-8F24-8B131249B93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5528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89B04-2105-49BC-8F24-8B131249B93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555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89B04-2105-49BC-8F24-8B131249B93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361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47792-BF46-405C-86E9-4DC33AF8A07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09404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6991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481230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720846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Left half: actual positives (P)</a:t>
            </a:r>
          </a:p>
          <a:p>
            <a:r>
              <a:rPr lang="en-US" altLang="en-US" dirty="0"/>
              <a:t>Right half: actual negatives (N)</a:t>
            </a:r>
          </a:p>
          <a:p>
            <a:r>
              <a:rPr lang="en-US" altLang="en-US" dirty="0"/>
              <a:t>Inside circle: predicted positive (P’)</a:t>
            </a:r>
          </a:p>
          <a:p>
            <a:r>
              <a:rPr lang="en-US" altLang="en-US" dirty="0"/>
              <a:t>Outside circle: predicted negative (N’)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4148053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1/alpha -  1 =  beta^2</a:t>
            </a:r>
          </a:p>
        </p:txBody>
      </p:sp>
    </p:spTree>
    <p:extLst>
      <p:ext uri="{BB962C8B-B14F-4D97-AF65-F5344CB8AC3E}">
        <p14:creationId xmlns:p14="http://schemas.microsoft.com/office/powerpoint/2010/main" val="284660911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2">
              <a:defRPr/>
            </a:pPr>
            <a:r>
              <a:rPr lang="en-US" altLang="en-US" dirty="0"/>
              <a:t>Sensitivity = TP/P = 90/300 = 30%</a:t>
            </a:r>
          </a:p>
          <a:p>
            <a:pPr lvl="2">
              <a:defRPr/>
            </a:pPr>
            <a:r>
              <a:rPr lang="en-US" altLang="en-US" dirty="0"/>
              <a:t>Specificity = TN/N = 9560/9700 = 98.56%</a:t>
            </a:r>
          </a:p>
          <a:p>
            <a:pPr lvl="2">
              <a:defRPr/>
            </a:pPr>
            <a:r>
              <a:rPr lang="en-US" altLang="en-US" dirty="0"/>
              <a:t>Accuracy = (TP + TN)/All = (90+9560)/10000 = 96.50%</a:t>
            </a:r>
          </a:p>
          <a:p>
            <a:pPr lvl="2">
              <a:defRPr/>
            </a:pPr>
            <a:r>
              <a:rPr lang="en-US" altLang="en-US" dirty="0"/>
              <a:t>Error rate = (FP + FN)/All = (140 + 210)/10000 = 3.50%</a:t>
            </a:r>
          </a:p>
          <a:p>
            <a:pPr lvl="2">
              <a:defRPr/>
            </a:pPr>
            <a:r>
              <a:rPr lang="en-US" altLang="en-US" dirty="0"/>
              <a:t>Precision = TP/(TP + FP) = 90/(90 + 140) = 90/230 = 39.13%          </a:t>
            </a:r>
          </a:p>
          <a:p>
            <a:pPr lvl="2">
              <a:defRPr/>
            </a:pPr>
            <a:r>
              <a:rPr lang="en-US" altLang="en-US" dirty="0"/>
              <a:t>Recall = TP/ (TP + FN) = 90/(90 + 210) = 90/300 = 30.00%</a:t>
            </a:r>
          </a:p>
          <a:p>
            <a:pPr lvl="2">
              <a:defRPr/>
            </a:pPr>
            <a:r>
              <a:rPr lang="en-US" altLang="en-US" dirty="0"/>
              <a:t>F1 = 2 P × R /(P + R) = 2 × 39.13% × 30.00%/(39.13% + 30%) = 33.96%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7372409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2">
              <a:defRPr/>
            </a:pPr>
            <a:r>
              <a:rPr lang="en-US" altLang="en-US" dirty="0"/>
              <a:t>Sensitivity = TP/P = 90/300 = 30%</a:t>
            </a:r>
          </a:p>
          <a:p>
            <a:pPr lvl="2">
              <a:defRPr/>
            </a:pPr>
            <a:r>
              <a:rPr lang="en-US" altLang="en-US" dirty="0"/>
              <a:t>Specificity = TN/N = 9560/9700 = 98.56%</a:t>
            </a:r>
          </a:p>
          <a:p>
            <a:pPr lvl="2">
              <a:defRPr/>
            </a:pPr>
            <a:r>
              <a:rPr lang="en-US" altLang="en-US" dirty="0"/>
              <a:t>Accuracy = (TP + TN)/All = (90+9560)/10000 = 96.50%</a:t>
            </a:r>
          </a:p>
          <a:p>
            <a:pPr lvl="2">
              <a:defRPr/>
            </a:pPr>
            <a:r>
              <a:rPr lang="en-US" altLang="en-US" dirty="0"/>
              <a:t>Error rate = (FP + FN)/All = (140 + 210)/10000 = 3.50%</a:t>
            </a:r>
          </a:p>
          <a:p>
            <a:pPr lvl="2">
              <a:defRPr/>
            </a:pPr>
            <a:r>
              <a:rPr lang="en-US" altLang="en-US" dirty="0"/>
              <a:t>Precision = TP/(TP + FP) = 90/(90 + 140) = 90/230 = 39.13%          </a:t>
            </a:r>
          </a:p>
          <a:p>
            <a:pPr lvl="2">
              <a:defRPr/>
            </a:pPr>
            <a:r>
              <a:rPr lang="en-US" altLang="en-US" dirty="0"/>
              <a:t>Recall = TP/ (TP + FN) = 90/(90 + 210) = 90/300 = 30.00%</a:t>
            </a:r>
          </a:p>
          <a:p>
            <a:pPr lvl="2">
              <a:defRPr/>
            </a:pPr>
            <a:r>
              <a:rPr lang="en-US" altLang="en-US" dirty="0"/>
              <a:t>F1 = 2 P × R /(P + R) = 2 × 39.13% × 30.00%/(39.13% + 30%) = 33.96%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882304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812D569-BC08-4C6E-B65B-15609C3C5776}" type="slidenum">
              <a:rPr lang="en-US" altLang="en-US"/>
              <a:pPr>
                <a:spcBef>
                  <a:spcPct val="0"/>
                </a:spcBef>
              </a:pPr>
              <a:t>60</a:t>
            </a:fld>
            <a:endParaRPr lang="en-US" altLang="en-US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0040208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812D569-BC08-4C6E-B65B-15609C3C5776}" type="slidenum">
              <a:rPr lang="en-US" altLang="en-US"/>
              <a:pPr>
                <a:spcBef>
                  <a:spcPct val="0"/>
                </a:spcBef>
              </a:pPr>
              <a:t>61</a:t>
            </a:fld>
            <a:endParaRPr lang="en-US" altLang="en-US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5389493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5931356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47792-BF46-405C-86E9-4DC33AF8A07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79360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BF947792-BF46-405C-86E9-4DC33AF8A072}" type="slidenum">
              <a:rPr lang="en-US" altLang="en-US">
                <a:solidFill>
                  <a:prstClr val="black"/>
                </a:solidFill>
              </a:rPr>
              <a:pPr algn="r">
                <a:spcBef>
                  <a:spcPct val="0"/>
                </a:spcBef>
              </a:pPr>
              <a:t>64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862026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045357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216650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788787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942424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054163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016557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035286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727365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707294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8305218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653995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3043752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5935798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85542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483792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020052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41835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2351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951" indent="-461951">
              <a:defRPr sz="2800"/>
            </a:lvl1pPr>
            <a:lvl2pPr marL="738170" indent="-538149">
              <a:defRPr sz="2800"/>
            </a:lvl2pPr>
            <a:lvl3pPr marL="858817" indent="-474651">
              <a:defRPr sz="2800"/>
            </a:lvl3pPr>
            <a:lvl4pPr marL="1144559" indent="-522275">
              <a:defRPr sz="2800"/>
            </a:lvl4pPr>
            <a:lvl5pPr marL="1376328" indent="-507987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203200" y="6324600"/>
            <a:ext cx="25400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951A89-488A-40F4-925D-3A8D716DC85C}" type="datetime4">
              <a:rPr lang="en-US"/>
              <a:pPr>
                <a:defRPr/>
              </a:pPr>
              <a:t>October 19, 2026</a:t>
            </a:fld>
            <a:endParaRPr lang="en-US"/>
          </a:p>
        </p:txBody>
      </p:sp>
      <p:sp>
        <p:nvSpPr>
          <p:cNvPr id="3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4267200" y="6324600"/>
            <a:ext cx="38608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37563FD-6697-45D1-A120-28B4ECD114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4220206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4064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0FFBA9-6F95-4F70-A0C1-45366D5DB750}" type="datetime4">
              <a:rPr lang="en-US"/>
              <a:pPr>
                <a:defRPr/>
              </a:pPr>
              <a:t>October 19, 2026</a:t>
            </a:fld>
            <a:endParaRPr lang="en-US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477000"/>
            <a:ext cx="38608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3B0B6D57-B021-463B-8D62-09A83E2EE1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6993140"/>
      </p:ext>
    </p:extLst>
  </p:cSld>
  <p:clrMapOvr>
    <a:masterClrMapping/>
  </p:clrMapOvr>
  <p:transition spd="med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716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4064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EE658-57DF-4B39-B118-E03A2B79081A}" type="datetime4">
              <a:rPr lang="en-US"/>
              <a:pPr>
                <a:defRPr/>
              </a:pPr>
              <a:t>October 19, 2026</a:t>
            </a:fld>
            <a:endParaRPr lang="en-US"/>
          </a:p>
        </p:txBody>
      </p:sp>
      <p:sp>
        <p:nvSpPr>
          <p:cNvPr id="7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477000"/>
            <a:ext cx="38608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8" name="Rectangle 206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9DA83-A2E4-4BB2-82C9-33E7C7455E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32498"/>
      </p:ext>
    </p:extLst>
  </p:cSld>
  <p:clrMapOvr>
    <a:masterClrMapping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1371600"/>
            <a:ext cx="5537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537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936636E-AA82-48A0-9724-8B30587E83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613622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7E9CF88-D109-4A11-9C8C-9AA1CCFBA9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5622503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381000"/>
            <a:ext cx="11203517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1371600"/>
            <a:ext cx="112776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4000500"/>
            <a:ext cx="112776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8B188AE-0E67-4EDB-ADA3-3959A28F24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0423212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5088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25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5088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5088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25088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fld id="{306979DB-5192-4CD2-A7F5-2F05E878CD0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499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fld id="{D14B6BE2-ECE5-42DA-A92D-3BA0F8D6747A}" type="slidenum">
              <a:rPr lang="en-US" altLang="en-US" sz="1000">
                <a:solidFill>
                  <a:srgbClr val="000000"/>
                </a:solidFill>
              </a:rPr>
              <a:pPr/>
              <a:t>‹#›</a:t>
            </a:fld>
            <a:endParaRPr lang="en-US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196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fld id="{E94F5229-D415-4266-9D7A-733C2B78EBD6}" type="slidenum">
              <a:rPr lang="en-US" altLang="en-US" sz="1000">
                <a:solidFill>
                  <a:srgbClr val="000000"/>
                </a:solidFill>
              </a:rPr>
              <a:pPr/>
              <a:t>‹#›</a:t>
            </a:fld>
            <a:endParaRPr lang="en-US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196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fld id="{FB105B23-433F-40EF-965C-FCB10BC057BB}" type="slidenum">
              <a:rPr lang="en-US" altLang="en-US" sz="1000">
                <a:solidFill>
                  <a:srgbClr val="000000"/>
                </a:solidFill>
              </a:rPr>
              <a:pPr/>
              <a:t>‹#›</a:t>
            </a:fld>
            <a:endParaRPr lang="en-US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928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fld id="{B0B207EA-356E-4080-A05B-00C2D51F4EA3}" type="slidenum">
              <a:rPr lang="en-US" altLang="en-US" sz="1000">
                <a:solidFill>
                  <a:srgbClr val="000000"/>
                </a:solidFill>
              </a:rPr>
              <a:pPr/>
              <a:t>‹#›</a:t>
            </a:fld>
            <a:endParaRPr lang="en-US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075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fld id="{614F1297-DA89-4162-9CD2-12FC2A1477E0}" type="slidenum">
              <a:rPr lang="en-US" altLang="en-US" sz="1000">
                <a:solidFill>
                  <a:srgbClr val="000000"/>
                </a:solidFill>
              </a:rPr>
              <a:pPr/>
              <a:t>‹#›</a:t>
            </a:fld>
            <a:endParaRPr lang="en-US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843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fld id="{8E82DBB3-CDF0-4895-A99B-08F9B131BE15}" type="slidenum">
              <a:rPr lang="en-US" altLang="en-US" sz="1000">
                <a:solidFill>
                  <a:srgbClr val="000000"/>
                </a:solidFill>
              </a:rPr>
              <a:pPr/>
              <a:t>‹#›</a:t>
            </a:fld>
            <a:endParaRPr lang="en-US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753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fld id="{E7616486-38AC-4A23-9076-DA70429624D5}" type="slidenum">
              <a:rPr lang="en-US" altLang="en-US" sz="1000">
                <a:solidFill>
                  <a:srgbClr val="000000"/>
                </a:solidFill>
              </a:rPr>
              <a:pPr/>
              <a:t>‹#›</a:t>
            </a:fld>
            <a:endParaRPr lang="en-US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976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fld id="{1D95DC8E-5E66-41FF-A38D-3A6728F9834E}" type="slidenum">
              <a:rPr lang="en-US" altLang="en-US" sz="1000">
                <a:solidFill>
                  <a:srgbClr val="000000"/>
                </a:solidFill>
              </a:rPr>
              <a:pPr/>
              <a:t>‹#›</a:t>
            </a:fld>
            <a:endParaRPr lang="en-US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094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fld id="{92A7A349-50FB-4AEC-89C8-3D64DF0C4EF6}" type="slidenum">
              <a:rPr lang="en-US" altLang="en-US" sz="1000">
                <a:solidFill>
                  <a:srgbClr val="000000"/>
                </a:solidFill>
              </a:rPr>
              <a:pPr/>
              <a:t>‹#›</a:t>
            </a:fld>
            <a:endParaRPr lang="en-US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207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3000" y="152401"/>
            <a:ext cx="2819400" cy="58594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1"/>
            <a:ext cx="8255000" cy="58594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>
              <a:solidFill>
                <a:srgbClr val="000000"/>
              </a:solidFill>
            </a:endParaRPr>
          </a:p>
          <a:p>
            <a:fld id="{175B9BBC-1AE7-4256-8079-59359648DC7E}" type="slidenum">
              <a:rPr lang="en-US" altLang="en-US" sz="1000">
                <a:solidFill>
                  <a:srgbClr val="000000"/>
                </a:solidFill>
              </a:rPr>
              <a:pPr/>
              <a:t>‹#›</a:t>
            </a:fld>
            <a:endParaRPr lang="en-US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2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b="0" smtClean="0"/>
              <a:pPr/>
              <a:t>‹#›</a:t>
            </a:fld>
            <a:endParaRPr lang="en-US" sz="16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</p:sldLayoutIdLst>
  <p:hf hdr="0" ftr="0" dt="0"/>
  <p:txStyles>
    <p:titleStyle>
      <a:lvl1pPr algn="ctr" defTabSz="914354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1305" indent="-341305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3074" indent="-37305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4179" indent="-30002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791" indent="-290506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971" indent="-274632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0058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4986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41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4986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4986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 b="0">
                <a:ea typeface="SimSun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24986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90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90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90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fld id="{3911A1E8-3C92-48A4-8A9D-4E232D9C3F5C}" type="slidenum">
              <a:rPr lang="en-US" alt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37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3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2200">
          <a:solidFill>
            <a:srgbClr val="333399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3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600">
          <a:solidFill>
            <a:srgbClr val="3366FF"/>
          </a:solidFill>
          <a:latin typeface="+mn-lt"/>
        </a:defRPr>
      </a:lvl2pPr>
      <a:lvl3pPr marL="987425" indent="-293688" algn="l" rtl="0" fontAlgn="base">
        <a:spcBef>
          <a:spcPct val="3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1400">
          <a:solidFill>
            <a:srgbClr val="669900"/>
          </a:solidFill>
          <a:latin typeface="+mn-lt"/>
        </a:defRPr>
      </a:lvl3pPr>
      <a:lvl4pPr marL="1281113" indent="-292100" algn="l" rtl="0" fontAlgn="base">
        <a:spcBef>
          <a:spcPct val="3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1200">
          <a:solidFill>
            <a:srgbClr val="333399"/>
          </a:solidFill>
          <a:latin typeface="+mn-lt"/>
        </a:defRPr>
      </a:lvl4pPr>
      <a:lvl5pPr marL="1598613" indent="-315913" algn="l" rtl="0" fontAlgn="base">
        <a:spcBef>
          <a:spcPct val="3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000">
          <a:solidFill>
            <a:srgbClr val="333399"/>
          </a:solidFill>
          <a:latin typeface="+mn-lt"/>
        </a:defRPr>
      </a:lvl5pPr>
      <a:lvl6pPr marL="2055813" indent="-315913" algn="l" rtl="0" fontAlgn="base">
        <a:spcBef>
          <a:spcPct val="3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000">
          <a:solidFill>
            <a:srgbClr val="333399"/>
          </a:solidFill>
          <a:latin typeface="+mn-lt"/>
        </a:defRPr>
      </a:lvl6pPr>
      <a:lvl7pPr marL="2513013" indent="-315913" algn="l" rtl="0" fontAlgn="base">
        <a:spcBef>
          <a:spcPct val="3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000">
          <a:solidFill>
            <a:srgbClr val="333399"/>
          </a:solidFill>
          <a:latin typeface="+mn-lt"/>
        </a:defRPr>
      </a:lvl7pPr>
      <a:lvl8pPr marL="2970213" indent="-315913" algn="l" rtl="0" fontAlgn="base">
        <a:spcBef>
          <a:spcPct val="3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000">
          <a:solidFill>
            <a:srgbClr val="333399"/>
          </a:solidFill>
          <a:latin typeface="+mn-lt"/>
        </a:defRPr>
      </a:lvl8pPr>
      <a:lvl9pPr marL="3427413" indent="-315913" algn="l" rtl="0" fontAlgn="base">
        <a:spcBef>
          <a:spcPct val="3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000">
          <a:solidFill>
            <a:srgbClr val="33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5.png"/><Relationship Id="rId4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customXml" Target="../ink/ink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tmp"/><Relationship Id="rId5" Type="http://schemas.openxmlformats.org/officeDocument/2006/relationships/image" Target="../media/image33.tmp"/><Relationship Id="rId4" Type="http://schemas.openxmlformats.org/officeDocument/2006/relationships/image" Target="../media/image4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tif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tif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tmp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6. Classification: Basic Concepts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 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Lazy Learners (or learning from your neighbors)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Linear Classifiers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5051493" y="1169103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954706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913987" y="164920"/>
            <a:ext cx="10991850" cy="885825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/>
            <a:r>
              <a:rPr lang="en-US" altLang="en-US" sz="4000" dirty="0"/>
              <a:t>Supervised vs. Unsupervised Learning (1)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2022" y="1191652"/>
            <a:ext cx="10848975" cy="2182993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en-US" sz="2400" dirty="0">
                <a:solidFill>
                  <a:srgbClr val="F83F24"/>
                </a:solidFill>
              </a:rPr>
              <a:t>Supervised learning (classification)</a:t>
            </a:r>
            <a:endParaRPr lang="en-US" altLang="en-US" sz="2400" dirty="0"/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dirty="0"/>
              <a:t>Supervision: The training data such as observations or measurements are accompanied by </a:t>
            </a:r>
            <a:r>
              <a:rPr lang="en-US" altLang="en-US" sz="2400" b="1" dirty="0"/>
              <a:t>labels</a:t>
            </a:r>
            <a:r>
              <a:rPr lang="en-US" altLang="en-US" sz="2400" dirty="0"/>
              <a:t> indicating the classes which they belong to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dirty="0"/>
              <a:t>New data is classified based on the models built from the training 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1E678F-ABFE-4061-8A92-57B3FAE84375}"/>
              </a:ext>
            </a:extLst>
          </p:cNvPr>
          <p:cNvSpPr txBox="1"/>
          <p:nvPr/>
        </p:nvSpPr>
        <p:spPr>
          <a:xfrm>
            <a:off x="305241" y="3294672"/>
            <a:ext cx="3082566" cy="3847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Training Data with class label: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7440FD7D-CA7A-4B99-8295-420FF9F741F9}"/>
              </a:ext>
            </a:extLst>
          </p:cNvPr>
          <p:cNvSpPr/>
          <p:nvPr/>
        </p:nvSpPr>
        <p:spPr>
          <a:xfrm>
            <a:off x="3458454" y="3676381"/>
            <a:ext cx="207390" cy="132140"/>
          </a:xfrm>
          <a:prstGeom prst="downArrow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815194" y="3443079"/>
            <a:ext cx="6324600" cy="3167163"/>
            <a:chOff x="1752600" y="1828800"/>
            <a:chExt cx="6324600" cy="3962400"/>
          </a:xfrm>
        </p:grpSpPr>
        <p:sp>
          <p:nvSpPr>
            <p:cNvPr id="107" name="Rectangle 5"/>
            <p:cNvSpPr>
              <a:spLocks noChangeArrowheads="1"/>
            </p:cNvSpPr>
            <p:nvPr/>
          </p:nvSpPr>
          <p:spPr bwMode="auto">
            <a:xfrm>
              <a:off x="4191000" y="1828800"/>
              <a:ext cx="1981200" cy="1600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algn="ctr" eaLnBrk="1" hangingPunct="1"/>
              <a:r>
                <a:rPr lang="en-US" altLang="zh-CN" sz="1800" b="1" dirty="0"/>
                <a:t>Model </a:t>
              </a:r>
            </a:p>
            <a:p>
              <a:pPr algn="ctr" eaLnBrk="1" hangingPunct="1"/>
              <a:r>
                <a:rPr lang="en-US" altLang="zh-CN" sz="1800" b="1" dirty="0"/>
                <a:t>Learning</a:t>
              </a:r>
            </a:p>
          </p:txBody>
        </p:sp>
        <p:sp>
          <p:nvSpPr>
            <p:cNvPr id="108" name="Oval 9"/>
            <p:cNvSpPr>
              <a:spLocks noChangeArrowheads="1"/>
            </p:cNvSpPr>
            <p:nvPr/>
          </p:nvSpPr>
          <p:spPr bwMode="auto">
            <a:xfrm>
              <a:off x="6858000" y="3962400"/>
              <a:ext cx="1219200" cy="685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algn="ctr" eaLnBrk="1" hangingPunct="1"/>
              <a:r>
                <a:rPr lang="en-US" altLang="zh-CN" sz="1800" b="1" dirty="0"/>
                <a:t>Positive</a:t>
              </a:r>
            </a:p>
          </p:txBody>
        </p:sp>
        <p:sp>
          <p:nvSpPr>
            <p:cNvPr id="109" name="Oval 10"/>
            <p:cNvSpPr>
              <a:spLocks noChangeArrowheads="1"/>
            </p:cNvSpPr>
            <p:nvPr/>
          </p:nvSpPr>
          <p:spPr bwMode="auto">
            <a:xfrm>
              <a:off x="6858000" y="5105400"/>
              <a:ext cx="1219200" cy="685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algn="ctr" eaLnBrk="1" hangingPunct="1"/>
              <a:r>
                <a:rPr lang="en-US" altLang="zh-CN" sz="1800" b="1" dirty="0"/>
                <a:t>Negative</a:t>
              </a:r>
            </a:p>
          </p:txBody>
        </p:sp>
        <p:sp>
          <p:nvSpPr>
            <p:cNvPr id="110" name="AutoShape 17"/>
            <p:cNvSpPr>
              <a:spLocks noChangeArrowheads="1"/>
            </p:cNvSpPr>
            <p:nvPr/>
          </p:nvSpPr>
          <p:spPr bwMode="auto">
            <a:xfrm>
              <a:off x="3429000" y="2286000"/>
              <a:ext cx="685800" cy="457200"/>
            </a:xfrm>
            <a:prstGeom prst="rightArrow">
              <a:avLst>
                <a:gd name="adj1" fmla="val 50000"/>
                <a:gd name="adj2" fmla="val 63889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1" name="AutoShape 18"/>
            <p:cNvSpPr>
              <a:spLocks noChangeArrowheads="1"/>
            </p:cNvSpPr>
            <p:nvPr/>
          </p:nvSpPr>
          <p:spPr bwMode="auto">
            <a:xfrm rot="5400000">
              <a:off x="4914900" y="3619500"/>
              <a:ext cx="533400" cy="457200"/>
            </a:xfrm>
            <a:prstGeom prst="rightArrow">
              <a:avLst>
                <a:gd name="adj1" fmla="val 50000"/>
                <a:gd name="adj2" fmla="val 21983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2" name="AutoShape 19"/>
            <p:cNvSpPr>
              <a:spLocks noChangeArrowheads="1"/>
            </p:cNvSpPr>
            <p:nvPr/>
          </p:nvSpPr>
          <p:spPr bwMode="auto">
            <a:xfrm>
              <a:off x="3429000" y="4724400"/>
              <a:ext cx="685800" cy="457200"/>
            </a:xfrm>
            <a:prstGeom prst="rightArrow">
              <a:avLst>
                <a:gd name="adj1" fmla="val 50000"/>
                <a:gd name="adj2" fmla="val 63889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3" name="AutoShape 20"/>
            <p:cNvSpPr>
              <a:spLocks noChangeArrowheads="1"/>
            </p:cNvSpPr>
            <p:nvPr/>
          </p:nvSpPr>
          <p:spPr bwMode="auto">
            <a:xfrm rot="20411408">
              <a:off x="6275388" y="4419600"/>
              <a:ext cx="658812" cy="457200"/>
            </a:xfrm>
            <a:prstGeom prst="rightArrow">
              <a:avLst>
                <a:gd name="adj1" fmla="val 50000"/>
                <a:gd name="adj2" fmla="val 36024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4" name="AutoShape 23"/>
            <p:cNvSpPr>
              <a:spLocks noChangeArrowheads="1"/>
            </p:cNvSpPr>
            <p:nvPr/>
          </p:nvSpPr>
          <p:spPr bwMode="auto">
            <a:xfrm rot="1765968">
              <a:off x="6248400" y="4953000"/>
              <a:ext cx="658813" cy="457200"/>
            </a:xfrm>
            <a:prstGeom prst="rightArrow">
              <a:avLst>
                <a:gd name="adj1" fmla="val 50000"/>
                <a:gd name="adj2" fmla="val 36024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5" name="AutoShape 24"/>
            <p:cNvSpPr>
              <a:spLocks noChangeAspect="1" noChangeArrowheads="1"/>
            </p:cNvSpPr>
            <p:nvPr/>
          </p:nvSpPr>
          <p:spPr bwMode="auto">
            <a:xfrm>
              <a:off x="2095500" y="1828800"/>
              <a:ext cx="1117600" cy="1257300"/>
            </a:xfrm>
            <a:prstGeom prst="foldedCorner">
              <a:avLst>
                <a:gd name="adj" fmla="val 12500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6" name="AutoShape 25"/>
            <p:cNvSpPr>
              <a:spLocks noChangeAspect="1" noChangeArrowheads="1"/>
            </p:cNvSpPr>
            <p:nvPr/>
          </p:nvSpPr>
          <p:spPr bwMode="auto">
            <a:xfrm>
              <a:off x="1924050" y="2000250"/>
              <a:ext cx="1117600" cy="1257300"/>
            </a:xfrm>
            <a:prstGeom prst="foldedCorner">
              <a:avLst>
                <a:gd name="adj" fmla="val 12500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7" name="AutoShape 26"/>
            <p:cNvSpPr>
              <a:spLocks noChangeAspect="1" noChangeArrowheads="1"/>
            </p:cNvSpPr>
            <p:nvPr/>
          </p:nvSpPr>
          <p:spPr bwMode="auto">
            <a:xfrm>
              <a:off x="1752600" y="2171700"/>
              <a:ext cx="1117600" cy="1257300"/>
            </a:xfrm>
            <a:prstGeom prst="foldedCorner">
              <a:avLst>
                <a:gd name="adj" fmla="val 12500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algn="ctr" eaLnBrk="1" hangingPunct="1"/>
              <a:r>
                <a:rPr lang="en-US" altLang="zh-CN" sz="1800" b="1" dirty="0">
                  <a:solidFill>
                    <a:srgbClr val="FF0000"/>
                  </a:solidFill>
                </a:rPr>
                <a:t>Training </a:t>
              </a:r>
            </a:p>
            <a:p>
              <a:pPr algn="ctr" eaLnBrk="1" hangingPunct="1"/>
              <a:r>
                <a:rPr lang="en-US" altLang="zh-CN" sz="1800" b="1" dirty="0">
                  <a:solidFill>
                    <a:srgbClr val="FF0000"/>
                  </a:solidFill>
                </a:rPr>
                <a:t>Instances</a:t>
              </a:r>
            </a:p>
          </p:txBody>
        </p:sp>
        <p:sp>
          <p:nvSpPr>
            <p:cNvPr id="118" name="AutoShape 27"/>
            <p:cNvSpPr>
              <a:spLocks noChangeAspect="1" noChangeArrowheads="1"/>
            </p:cNvSpPr>
            <p:nvPr/>
          </p:nvSpPr>
          <p:spPr bwMode="auto">
            <a:xfrm>
              <a:off x="2095500" y="4191000"/>
              <a:ext cx="1117600" cy="1257300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9" name="AutoShape 28"/>
            <p:cNvSpPr>
              <a:spLocks noChangeAspect="1" noChangeArrowheads="1"/>
            </p:cNvSpPr>
            <p:nvPr/>
          </p:nvSpPr>
          <p:spPr bwMode="auto">
            <a:xfrm>
              <a:off x="1924050" y="4362450"/>
              <a:ext cx="1117600" cy="1257300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20" name="AutoShape 29"/>
            <p:cNvSpPr>
              <a:spLocks noChangeAspect="1" noChangeArrowheads="1"/>
            </p:cNvSpPr>
            <p:nvPr/>
          </p:nvSpPr>
          <p:spPr bwMode="auto">
            <a:xfrm>
              <a:off x="1752600" y="4533900"/>
              <a:ext cx="1117600" cy="1257300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algn="ctr" eaLnBrk="1" hangingPunct="1"/>
              <a:r>
                <a:rPr lang="en-US" altLang="zh-CN" sz="1800" b="1" dirty="0">
                  <a:solidFill>
                    <a:srgbClr val="FF0000"/>
                  </a:solidFill>
                </a:rPr>
                <a:t>Test </a:t>
              </a:r>
            </a:p>
            <a:p>
              <a:pPr algn="ctr" eaLnBrk="1" hangingPunct="1"/>
              <a:r>
                <a:rPr lang="en-US" altLang="zh-CN" sz="1800" b="1" dirty="0">
                  <a:solidFill>
                    <a:srgbClr val="FF0000"/>
                  </a:solidFill>
                </a:rPr>
                <a:t>Instances</a:t>
              </a:r>
            </a:p>
          </p:txBody>
        </p:sp>
        <p:sp>
          <p:nvSpPr>
            <p:cNvPr id="121" name="AutoShape 30"/>
            <p:cNvSpPr>
              <a:spLocks noChangeArrowheads="1"/>
            </p:cNvSpPr>
            <p:nvPr/>
          </p:nvSpPr>
          <p:spPr bwMode="auto">
            <a:xfrm>
              <a:off x="4191000" y="4267200"/>
              <a:ext cx="1981200" cy="1447800"/>
            </a:xfrm>
            <a:prstGeom prst="flowChartMultidocumen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algn="ctr" eaLnBrk="1" hangingPunct="1"/>
              <a:r>
                <a:rPr lang="en-US" altLang="zh-CN" sz="1800" b="1" dirty="0"/>
                <a:t>Prediction </a:t>
              </a:r>
            </a:p>
            <a:p>
              <a:pPr algn="ctr" eaLnBrk="1" hangingPunct="1"/>
              <a:r>
                <a:rPr lang="en-US" altLang="zh-CN" sz="1800" b="1" dirty="0"/>
                <a:t>Model </a:t>
              </a:r>
            </a:p>
          </p:txBody>
        </p:sp>
      </p:grp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30440"/>
              </p:ext>
            </p:extLst>
          </p:nvPr>
        </p:nvGraphicFramePr>
        <p:xfrm>
          <a:off x="333675" y="3808521"/>
          <a:ext cx="3779313" cy="259739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13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6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75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Outlook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Play Golf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599"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599">
                <a:tc>
                  <a:txBody>
                    <a:bodyPr/>
                    <a:lstStyle/>
                    <a:p>
                      <a:pPr marL="0" marR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/>
                        <a:t>Yes</a:t>
                      </a:r>
                      <a:endParaRPr lang="en-US" sz="11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104775"/>
            <a:ext cx="10991850" cy="885825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/>
            <a:r>
              <a:rPr lang="en-US" altLang="en-US" sz="4000" dirty="0"/>
              <a:t>Supervised vs. Unsupervised Learning (2)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1975" y="1182377"/>
            <a:ext cx="10848975" cy="224898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en-US" sz="2400" dirty="0">
                <a:solidFill>
                  <a:srgbClr val="F83F24"/>
                </a:solidFill>
              </a:rPr>
              <a:t>Unsupervised learning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rgbClr val="FF3300"/>
                </a:solidFill>
              </a:rPr>
              <a:t>(clustering)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dirty="0"/>
              <a:t>The class labels of training data are </a:t>
            </a:r>
            <a:r>
              <a:rPr lang="en-US" altLang="en-US" sz="2400" b="1" dirty="0"/>
              <a:t>unknown</a:t>
            </a:r>
          </a:p>
          <a:p>
            <a:pPr lvl="1">
              <a:lnSpc>
                <a:spcPct val="130000"/>
              </a:lnSpc>
            </a:pPr>
            <a:r>
              <a:rPr lang="en-US" altLang="en-US" sz="2400" dirty="0"/>
              <a:t>Given a set of observations or measurements, establish the possible existence of classes or clusters in the data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016" y="3483979"/>
            <a:ext cx="4411884" cy="31863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84" y="2860340"/>
            <a:ext cx="355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2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599" y="1143000"/>
            <a:ext cx="10772775" cy="55626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>
                <a:solidFill>
                  <a:srgbClr val="FF0000"/>
                </a:solidFill>
              </a:rPr>
              <a:t>Classification</a:t>
            </a:r>
            <a:r>
              <a:rPr lang="en-US" altLang="en-US" sz="2000" dirty="0">
                <a:solidFill>
                  <a:srgbClr val="FF0000"/>
                </a:solidFill>
              </a:rPr>
              <a:t>  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Predict </a:t>
            </a:r>
            <a:r>
              <a:rPr lang="en-US" altLang="en-US" sz="2400" b="1" dirty="0"/>
              <a:t>categorical class labels </a:t>
            </a:r>
            <a:r>
              <a:rPr lang="en-US" altLang="en-US" sz="2400" dirty="0"/>
              <a:t>(discrete or nominal)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Construct a model based on the training set and the </a:t>
            </a:r>
            <a:r>
              <a:rPr lang="en-US" altLang="en-US" sz="2400" b="1" dirty="0"/>
              <a:t>class labels</a:t>
            </a:r>
            <a:r>
              <a:rPr lang="en-US" altLang="en-US" sz="2400" dirty="0"/>
              <a:t> (the values in a classifying attribute) and use it in classifying new data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>
                <a:solidFill>
                  <a:srgbClr val="FF0000"/>
                </a:solidFill>
              </a:rPr>
              <a:t>Numeric prediction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Model </a:t>
            </a:r>
            <a:r>
              <a:rPr lang="en-US" altLang="en-US" sz="2400" b="1" dirty="0"/>
              <a:t>continuous-valued functions </a:t>
            </a:r>
            <a:r>
              <a:rPr lang="en-US" altLang="en-US" sz="2400" dirty="0"/>
              <a:t>(i.e., predict unknown or missing values)</a:t>
            </a:r>
          </a:p>
          <a:p>
            <a:pPr eaLnBrk="1" hangingPunct="1">
              <a:spcAft>
                <a:spcPts val="600"/>
              </a:spcAft>
            </a:pPr>
            <a:endParaRPr lang="en-US" altLang="en-US" sz="2400" dirty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3600" dirty="0"/>
              <a:t>Prediction Problems: Classification vs. Numeric Prediction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773" y="4190038"/>
            <a:ext cx="4033200" cy="266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96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6675"/>
            <a:ext cx="12191999" cy="90151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/>
              <a:t>Classification—Model Construction, Validation and Testing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2924" y="1095375"/>
            <a:ext cx="11277601" cy="5507132"/>
          </a:xfrm>
        </p:spPr>
        <p:txBody>
          <a:bodyPr/>
          <a:lstStyle/>
          <a:p>
            <a:pPr eaLnBrk="1" hangingPunct="1">
              <a:spcBef>
                <a:spcPts val="400"/>
              </a:spcBef>
            </a:pPr>
            <a:r>
              <a:rPr lang="en-US" altLang="en-US" sz="2400" b="1" dirty="0"/>
              <a:t>Model Construction and Training</a:t>
            </a:r>
          </a:p>
          <a:p>
            <a:pPr lvl="1">
              <a:spcBef>
                <a:spcPts val="400"/>
              </a:spcBef>
            </a:pPr>
            <a:r>
              <a:rPr lang="en-US" altLang="en-US" sz="2400" dirty="0"/>
              <a:t>Model: Represented as decision trees, rules, mathematical formulas, or other forms</a:t>
            </a:r>
          </a:p>
          <a:p>
            <a:pPr lvl="1" eaLnBrk="1" hangingPunct="1">
              <a:spcBef>
                <a:spcPts val="400"/>
              </a:spcBef>
            </a:pPr>
            <a:r>
              <a:rPr lang="en-US" altLang="en-US" sz="2400" dirty="0"/>
              <a:t>Assumption: Each sample belongs to a predefined class /</a:t>
            </a:r>
            <a:r>
              <a:rPr lang="en-US" altLang="en-US" sz="2400" b="1" dirty="0"/>
              <a:t>class label</a:t>
            </a:r>
            <a:endParaRPr lang="en-US" altLang="en-US" sz="2400" dirty="0"/>
          </a:p>
          <a:p>
            <a:pPr lvl="1" eaLnBrk="1" hangingPunct="1">
              <a:spcBef>
                <a:spcPts val="400"/>
              </a:spcBef>
            </a:pPr>
            <a:r>
              <a:rPr lang="en-US" altLang="en-US" sz="2400" dirty="0"/>
              <a:t>Training Set: The set of samples used for model construction</a:t>
            </a:r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4924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6675"/>
            <a:ext cx="12191999" cy="90151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/>
              <a:t>Classification—Model Construction, Validation and Testing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2924" y="1095375"/>
            <a:ext cx="11277601" cy="5507132"/>
          </a:xfrm>
        </p:spPr>
        <p:txBody>
          <a:bodyPr/>
          <a:lstStyle/>
          <a:p>
            <a:pPr>
              <a:spcBef>
                <a:spcPts val="400"/>
              </a:spcBef>
            </a:pPr>
            <a:r>
              <a:rPr lang="en-US" altLang="en-US" sz="2400" b="1" dirty="0"/>
              <a:t>Model Validation and Testing</a:t>
            </a:r>
            <a:r>
              <a:rPr lang="en-US" altLang="en-US" sz="2400" dirty="0"/>
              <a:t>: </a:t>
            </a:r>
          </a:p>
          <a:p>
            <a:pPr lvl="1">
              <a:spcBef>
                <a:spcPts val="400"/>
              </a:spcBef>
            </a:pPr>
            <a:r>
              <a:rPr lang="en-US" altLang="en-US" sz="2400" b="1" dirty="0"/>
              <a:t>Test:</a:t>
            </a:r>
            <a:r>
              <a:rPr lang="en-US" altLang="en-US" sz="2400" dirty="0"/>
              <a:t> Estimate accuracy of the model</a:t>
            </a:r>
          </a:p>
          <a:p>
            <a:pPr lvl="2" eaLnBrk="1" hangingPunct="1">
              <a:spcBef>
                <a:spcPts val="400"/>
              </a:spcBef>
            </a:pPr>
            <a:r>
              <a:rPr lang="en-US" altLang="en-US" sz="2400" dirty="0"/>
              <a:t>The known label of test sample VS. the classified result from the model</a:t>
            </a:r>
          </a:p>
          <a:p>
            <a:pPr lvl="2" eaLnBrk="1" hangingPunct="1">
              <a:spcBef>
                <a:spcPts val="400"/>
              </a:spcBef>
            </a:pPr>
            <a:r>
              <a:rPr lang="en-US" altLang="en-US" sz="2400" i="1" dirty="0"/>
              <a:t>Accuracy:</a:t>
            </a:r>
            <a:r>
              <a:rPr lang="en-US" altLang="en-US" sz="2400" dirty="0"/>
              <a:t> % of test set samples that are correctly classified by the model</a:t>
            </a:r>
          </a:p>
          <a:p>
            <a:pPr lvl="2" eaLnBrk="1" hangingPunct="1">
              <a:spcBef>
                <a:spcPts val="400"/>
              </a:spcBef>
            </a:pPr>
            <a:r>
              <a:rPr lang="en-US" altLang="en-US" sz="2400" dirty="0"/>
              <a:t>Test set is </a:t>
            </a:r>
            <a:r>
              <a:rPr lang="en-US" altLang="en-US" sz="2400" dirty="0">
                <a:solidFill>
                  <a:srgbClr val="FF0000"/>
                </a:solidFill>
              </a:rPr>
              <a:t>independent</a:t>
            </a:r>
            <a:r>
              <a:rPr lang="en-US" altLang="en-US" sz="2400" dirty="0"/>
              <a:t> of training set </a:t>
            </a:r>
          </a:p>
          <a:p>
            <a:pPr lvl="1">
              <a:spcBef>
                <a:spcPts val="400"/>
              </a:spcBef>
            </a:pPr>
            <a:r>
              <a:rPr lang="en-US" altLang="en-US" sz="2400" b="1" dirty="0"/>
              <a:t>Validation</a:t>
            </a:r>
            <a:r>
              <a:rPr lang="en-US" altLang="en-US" sz="2400" dirty="0"/>
              <a:t>: If </a:t>
            </a:r>
            <a:r>
              <a:rPr lang="en-US" altLang="en-US" sz="2400" i="1" dirty="0"/>
              <a:t>the test set </a:t>
            </a:r>
            <a:r>
              <a:rPr lang="en-US" altLang="en-US" sz="2400" dirty="0"/>
              <a:t>is used to select or refine models, it is called </a:t>
            </a:r>
            <a:r>
              <a:rPr lang="en-US" altLang="en-US" sz="2400" b="1" dirty="0"/>
              <a:t>validation </a:t>
            </a:r>
            <a:r>
              <a:rPr lang="en-US" altLang="en-US" sz="2400" dirty="0"/>
              <a:t>(or development)</a:t>
            </a:r>
            <a:r>
              <a:rPr lang="en-US" altLang="en-US" sz="2400" b="1" dirty="0"/>
              <a:t> (test) set</a:t>
            </a:r>
            <a:endParaRPr lang="en-US" altLang="en-US" sz="2400" dirty="0"/>
          </a:p>
          <a:p>
            <a:pPr>
              <a:spcBef>
                <a:spcPts val="400"/>
              </a:spcBef>
            </a:pPr>
            <a:r>
              <a:rPr lang="en-US" altLang="en-US" sz="2400" b="1" dirty="0"/>
              <a:t>Model Deployment:</a:t>
            </a:r>
            <a:r>
              <a:rPr lang="en-US" altLang="en-US" sz="2400" dirty="0"/>
              <a:t> If the accuracy is acceptable, use the model to classify new data</a:t>
            </a:r>
          </a:p>
        </p:txBody>
      </p:sp>
    </p:spTree>
    <p:extLst>
      <p:ext uri="{BB962C8B-B14F-4D97-AF65-F5344CB8AC3E}">
        <p14:creationId xmlns:p14="http://schemas.microsoft.com/office/powerpoint/2010/main" val="432028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6. Classification: Basic Concepts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 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Lazy Learners (or learning from your neighbors)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Linear Classifiers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4212594" y="1898946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132935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9144000" cy="838200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/>
            <a:r>
              <a:rPr lang="en-US" altLang="en-US" sz="4000" dirty="0"/>
              <a:t>Decision Tree Induction: An Example</a:t>
            </a:r>
            <a:endParaRPr lang="en-US" altLang="en-US" sz="4000" i="1" dirty="0"/>
          </a:p>
        </p:txBody>
      </p:sp>
      <p:sp>
        <p:nvSpPr>
          <p:cNvPr id="12295" name="Rectangle 3"/>
          <p:cNvSpPr>
            <a:spLocks noChangeArrowheads="1"/>
          </p:cNvSpPr>
          <p:nvPr/>
        </p:nvSpPr>
        <p:spPr bwMode="auto">
          <a:xfrm>
            <a:off x="2800451" y="2633593"/>
            <a:ext cx="1370745" cy="5114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outlook?</a:t>
            </a:r>
          </a:p>
        </p:txBody>
      </p:sp>
      <p:sp>
        <p:nvSpPr>
          <p:cNvPr id="12297" name="Rectangle 5"/>
          <p:cNvSpPr>
            <a:spLocks noChangeArrowheads="1"/>
          </p:cNvSpPr>
          <p:nvPr/>
        </p:nvSpPr>
        <p:spPr bwMode="auto">
          <a:xfrm>
            <a:off x="998229" y="4210358"/>
            <a:ext cx="1188820" cy="5114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windy?</a:t>
            </a:r>
          </a:p>
        </p:txBody>
      </p:sp>
      <p:sp>
        <p:nvSpPr>
          <p:cNvPr id="12298" name="Rectangle 6"/>
          <p:cNvSpPr>
            <a:spLocks noChangeArrowheads="1"/>
          </p:cNvSpPr>
          <p:nvPr/>
        </p:nvSpPr>
        <p:spPr bwMode="auto">
          <a:xfrm>
            <a:off x="4771730" y="4210358"/>
            <a:ext cx="1651162" cy="5114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Humidity?</a:t>
            </a:r>
          </a:p>
        </p:txBody>
      </p:sp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1822643" y="3248940"/>
            <a:ext cx="973022" cy="46230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Sunny</a:t>
            </a:r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4152732" y="3252648"/>
            <a:ext cx="920124" cy="462307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Rainy</a:t>
            </a:r>
          </a:p>
        </p:txBody>
      </p:sp>
      <p:sp>
        <p:nvSpPr>
          <p:cNvPr id="12309" name="Rectangle 25"/>
          <p:cNvSpPr>
            <a:spLocks noChangeArrowheads="1"/>
          </p:cNvSpPr>
          <p:nvPr/>
        </p:nvSpPr>
        <p:spPr bwMode="auto">
          <a:xfrm>
            <a:off x="382958" y="5916195"/>
            <a:ext cx="634469" cy="4623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2310" name="Rectangle 27"/>
          <p:cNvSpPr>
            <a:spLocks noChangeArrowheads="1"/>
          </p:cNvSpPr>
          <p:nvPr/>
        </p:nvSpPr>
        <p:spPr bwMode="auto">
          <a:xfrm>
            <a:off x="2451689" y="5911072"/>
            <a:ext cx="562655" cy="4623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2311" name="Rectangle 28"/>
          <p:cNvSpPr>
            <a:spLocks noChangeArrowheads="1"/>
          </p:cNvSpPr>
          <p:nvPr/>
        </p:nvSpPr>
        <p:spPr bwMode="auto">
          <a:xfrm>
            <a:off x="6265987" y="5910193"/>
            <a:ext cx="562655" cy="4623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2313" name="Rectangle 30"/>
          <p:cNvSpPr>
            <a:spLocks noChangeArrowheads="1"/>
          </p:cNvSpPr>
          <p:nvPr/>
        </p:nvSpPr>
        <p:spPr bwMode="auto">
          <a:xfrm>
            <a:off x="3316470" y="3753546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Overcast</a:t>
            </a:r>
          </a:p>
        </p:txBody>
      </p:sp>
      <p:sp>
        <p:nvSpPr>
          <p:cNvPr id="12314" name="Rectangle 62"/>
          <p:cNvSpPr>
            <a:spLocks noChangeArrowheads="1"/>
          </p:cNvSpPr>
          <p:nvPr/>
        </p:nvSpPr>
        <p:spPr bwMode="auto">
          <a:xfrm>
            <a:off x="4315284" y="5911820"/>
            <a:ext cx="634469" cy="4623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2315" name="Rectangle 9"/>
          <p:cNvSpPr>
            <a:spLocks noChangeArrowheads="1"/>
          </p:cNvSpPr>
          <p:nvPr/>
        </p:nvSpPr>
        <p:spPr bwMode="auto">
          <a:xfrm>
            <a:off x="6012040" y="5082865"/>
            <a:ext cx="801501" cy="462307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High</a:t>
            </a:r>
          </a:p>
        </p:txBody>
      </p:sp>
      <p:sp>
        <p:nvSpPr>
          <p:cNvPr id="12316" name="Rectangle 10"/>
          <p:cNvSpPr>
            <a:spLocks noChangeArrowheads="1"/>
          </p:cNvSpPr>
          <p:nvPr/>
        </p:nvSpPr>
        <p:spPr bwMode="auto">
          <a:xfrm>
            <a:off x="3903473" y="5082865"/>
            <a:ext cx="1125309" cy="462307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Normal</a:t>
            </a:r>
          </a:p>
        </p:txBody>
      </p:sp>
      <p:sp>
        <p:nvSpPr>
          <p:cNvPr id="12317" name="Rectangle 8"/>
          <p:cNvSpPr>
            <a:spLocks noChangeArrowheads="1"/>
          </p:cNvSpPr>
          <p:nvPr/>
        </p:nvSpPr>
        <p:spPr bwMode="auto">
          <a:xfrm>
            <a:off x="2209200" y="5084925"/>
            <a:ext cx="755463" cy="462307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True</a:t>
            </a:r>
          </a:p>
        </p:txBody>
      </p:sp>
      <p:sp>
        <p:nvSpPr>
          <p:cNvPr id="12318" name="Rectangle 7"/>
          <p:cNvSpPr>
            <a:spLocks noChangeArrowheads="1"/>
          </p:cNvSpPr>
          <p:nvPr/>
        </p:nvSpPr>
        <p:spPr bwMode="auto">
          <a:xfrm>
            <a:off x="504310" y="5085038"/>
            <a:ext cx="846967" cy="462307"/>
          </a:xfrm>
          <a:prstGeom prst="rect">
            <a:avLst/>
          </a:prstGeom>
          <a:noFill/>
          <a:ln>
            <a:noFill/>
          </a:ln>
        </p:spPr>
        <p:txBody>
          <a:bodyPr wrap="squar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False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294" name="Rectangle 1"/>
          <p:cNvSpPr>
            <a:spLocks noChangeArrowheads="1"/>
          </p:cNvSpPr>
          <p:nvPr/>
        </p:nvSpPr>
        <p:spPr bwMode="auto">
          <a:xfrm>
            <a:off x="530269" y="1186907"/>
            <a:ext cx="5583376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17098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en-US" sz="2400" b="1" dirty="0"/>
              <a:t>Decision tree construction</a:t>
            </a:r>
            <a:r>
              <a:rPr lang="en-US" altLang="en-US" sz="2400" dirty="0"/>
              <a:t>: </a:t>
            </a:r>
          </a:p>
          <a:p>
            <a:pPr lvl="1" eaLnBrk="1" hangingPunct="1">
              <a:spcBef>
                <a:spcPts val="600"/>
              </a:spcBef>
              <a:buClr>
                <a:srgbClr val="17098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en-US" sz="2400" dirty="0"/>
              <a:t> A top-down, recursive, divide-and-conquer process</a:t>
            </a:r>
          </a:p>
          <a:p>
            <a:pPr eaLnBrk="1" hangingPunct="1">
              <a:spcBef>
                <a:spcPts val="600"/>
              </a:spcBef>
              <a:buClr>
                <a:srgbClr val="17098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en-US" sz="2400" b="1" dirty="0"/>
              <a:t> Resulting tree: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31591" y="1146123"/>
            <a:ext cx="46702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buClr>
                <a:srgbClr val="170981"/>
              </a:buClr>
              <a:buSzPct val="75000"/>
            </a:pPr>
            <a:r>
              <a:rPr lang="en-US" altLang="en-US" sz="2200" dirty="0"/>
              <a:t>Training data set: Play Golf?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1EAE0D-8D1B-E040-8BD8-A8A2EE3CD1C7}"/>
              </a:ext>
            </a:extLst>
          </p:cNvPr>
          <p:cNvCxnSpPr>
            <a:stCxn id="12295" idx="2"/>
            <a:endCxn id="12297" idx="0"/>
          </p:cNvCxnSpPr>
          <p:nvPr/>
        </p:nvCxnSpPr>
        <p:spPr>
          <a:xfrm flipH="1">
            <a:off x="1592639" y="3145082"/>
            <a:ext cx="1893185" cy="1065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FC3B3E-1B08-A740-91FB-D7EEDB23FB8B}"/>
              </a:ext>
            </a:extLst>
          </p:cNvPr>
          <p:cNvCxnSpPr>
            <a:stCxn id="12295" idx="2"/>
          </p:cNvCxnSpPr>
          <p:nvPr/>
        </p:nvCxnSpPr>
        <p:spPr>
          <a:xfrm flipH="1">
            <a:off x="3484193" y="3145082"/>
            <a:ext cx="1631" cy="1066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33899FF-F2EB-3344-9A91-6FDE48E59570}"/>
              </a:ext>
            </a:extLst>
          </p:cNvPr>
          <p:cNvCxnSpPr>
            <a:cxnSpLocks/>
            <a:stCxn id="12295" idx="2"/>
            <a:endCxn id="12298" idx="0"/>
          </p:cNvCxnSpPr>
          <p:nvPr/>
        </p:nvCxnSpPr>
        <p:spPr>
          <a:xfrm>
            <a:off x="3485824" y="3145082"/>
            <a:ext cx="2111487" cy="1065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2412559-B354-FE45-B476-BA60C815BE19}"/>
              </a:ext>
            </a:extLst>
          </p:cNvPr>
          <p:cNvCxnSpPr>
            <a:stCxn id="12297" idx="2"/>
            <a:endCxn id="12309" idx="0"/>
          </p:cNvCxnSpPr>
          <p:nvPr/>
        </p:nvCxnSpPr>
        <p:spPr>
          <a:xfrm flipH="1">
            <a:off x="700193" y="4721847"/>
            <a:ext cx="892446" cy="1194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A5F44D-3748-C94E-9837-762125E2086A}"/>
              </a:ext>
            </a:extLst>
          </p:cNvPr>
          <p:cNvCxnSpPr>
            <a:stCxn id="12297" idx="2"/>
            <a:endCxn id="12310" idx="0"/>
          </p:cNvCxnSpPr>
          <p:nvPr/>
        </p:nvCxnSpPr>
        <p:spPr>
          <a:xfrm>
            <a:off x="1592639" y="4721847"/>
            <a:ext cx="1140378" cy="1189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A3F2F42-53E1-8A4A-B5DF-1768BDFBE8C4}"/>
              </a:ext>
            </a:extLst>
          </p:cNvPr>
          <p:cNvCxnSpPr>
            <a:stCxn id="12298" idx="2"/>
            <a:endCxn id="12314" idx="0"/>
          </p:cNvCxnSpPr>
          <p:nvPr/>
        </p:nvCxnSpPr>
        <p:spPr>
          <a:xfrm flipH="1">
            <a:off x="4632519" y="4721847"/>
            <a:ext cx="964792" cy="1189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5AB6471-018A-344A-B4E8-02FF108557E7}"/>
              </a:ext>
            </a:extLst>
          </p:cNvPr>
          <p:cNvCxnSpPr>
            <a:stCxn id="12298" idx="2"/>
            <a:endCxn id="12311" idx="0"/>
          </p:cNvCxnSpPr>
          <p:nvPr/>
        </p:nvCxnSpPr>
        <p:spPr>
          <a:xfrm>
            <a:off x="5597311" y="4721847"/>
            <a:ext cx="950004" cy="1188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5"/>
          <p:cNvSpPr>
            <a:spLocks noChangeArrowheads="1"/>
          </p:cNvSpPr>
          <p:nvPr/>
        </p:nvSpPr>
        <p:spPr bwMode="auto">
          <a:xfrm>
            <a:off x="3163981" y="4209481"/>
            <a:ext cx="634469" cy="4623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2310" y="8273845"/>
            <a:ext cx="18473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10529"/>
              </p:ext>
            </p:extLst>
          </p:nvPr>
        </p:nvGraphicFramePr>
        <p:xfrm>
          <a:off x="7321457" y="1599633"/>
          <a:ext cx="4634380" cy="5029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7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Outlook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Play Golf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0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/>
                        <a:t>Yes</a:t>
                      </a:r>
                      <a:endParaRPr lang="en-US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2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03772" y="6644842"/>
            <a:ext cx="26933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www.saedsayad.com</a:t>
            </a:r>
            <a:r>
              <a:rPr lang="en-US" sz="1000" dirty="0"/>
              <a:t>/</a:t>
            </a:r>
            <a:r>
              <a:rPr lang="en-US" sz="1000" dirty="0" err="1"/>
              <a:t>decision_tree.htm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73423849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28649" y="152400"/>
            <a:ext cx="10868025" cy="762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Decision Tree Induction: Algorithm</a:t>
            </a:r>
          </a:p>
        </p:txBody>
      </p:sp>
      <p:sp>
        <p:nvSpPr>
          <p:cNvPr id="1331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61974" y="1192305"/>
            <a:ext cx="10934700" cy="532447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Basic algorithm </a:t>
            </a:r>
          </a:p>
          <a:p>
            <a:pPr lvl="1"/>
            <a:r>
              <a:rPr lang="en-US" altLang="en-US" sz="2400" dirty="0"/>
              <a:t>Tree is constructed in a </a:t>
            </a:r>
            <a:r>
              <a:rPr lang="en-US" altLang="en-US" sz="2400" b="1" dirty="0"/>
              <a:t>top-down, recursive, divide-and-conquer manner</a:t>
            </a:r>
          </a:p>
          <a:p>
            <a:pPr lvl="1" eaLnBrk="1" hangingPunct="1"/>
            <a:r>
              <a:rPr lang="en-US" altLang="en-US" sz="2400" dirty="0"/>
              <a:t>At start, all the training examples are at the root</a:t>
            </a:r>
          </a:p>
          <a:p>
            <a:pPr lvl="1" eaLnBrk="1" hangingPunct="1"/>
            <a:r>
              <a:rPr lang="en-US" altLang="en-US" sz="2400" dirty="0"/>
              <a:t>Examples are partitioned recursively based on selected attributes</a:t>
            </a:r>
          </a:p>
          <a:p>
            <a:pPr lvl="1"/>
            <a:r>
              <a:rPr lang="en-US" altLang="en-US" sz="2400" dirty="0"/>
              <a:t>On each node, attributes are selected based on the training examples on that node, and a heuristic or statistical measure (e.g., </a:t>
            </a:r>
            <a:r>
              <a:rPr lang="en-US" altLang="en-US" sz="2400" b="1" dirty="0"/>
              <a:t>information gain, Gini index</a:t>
            </a:r>
            <a:r>
              <a:rPr lang="en-US" altLang="en-US" sz="2400" dirty="0"/>
              <a:t>)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10804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28649" y="152400"/>
            <a:ext cx="10868025" cy="762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Decision Tree Induction: Algorithm</a:t>
            </a:r>
          </a:p>
        </p:txBody>
      </p:sp>
      <p:sp>
        <p:nvSpPr>
          <p:cNvPr id="1331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61974" y="1192305"/>
            <a:ext cx="10934700" cy="5324475"/>
          </a:xfrm>
        </p:spPr>
        <p:txBody>
          <a:bodyPr/>
          <a:lstStyle/>
          <a:p>
            <a:r>
              <a:rPr lang="en-US" altLang="en-US" sz="2400" dirty="0"/>
              <a:t>Conditions for stopping partitioning</a:t>
            </a:r>
          </a:p>
          <a:p>
            <a:pPr lvl="1"/>
            <a:r>
              <a:rPr lang="en-US" altLang="en-US" sz="2400" dirty="0"/>
              <a:t>All samples for a given node belong to the same class</a:t>
            </a:r>
          </a:p>
          <a:p>
            <a:pPr lvl="1"/>
            <a:r>
              <a:rPr lang="en-US" altLang="en-US" sz="2400" dirty="0"/>
              <a:t>There are no remaining attributes for further partitioning </a:t>
            </a:r>
          </a:p>
          <a:p>
            <a:pPr lvl="1"/>
            <a:r>
              <a:rPr lang="en-US" altLang="en-US" sz="2400" dirty="0"/>
              <a:t>There are no samples left</a:t>
            </a:r>
          </a:p>
          <a:p>
            <a:r>
              <a:rPr lang="en-US" altLang="en-US" sz="2400" dirty="0"/>
              <a:t>Prediction</a:t>
            </a:r>
          </a:p>
          <a:p>
            <a:pPr lvl="1"/>
            <a:r>
              <a:rPr lang="en-US" altLang="en-US" sz="2400" b="1" dirty="0"/>
              <a:t>Majority voting </a:t>
            </a:r>
            <a:r>
              <a:rPr lang="en-US" altLang="en-US" sz="2400" dirty="0"/>
              <a:t>is employed for classifying the leaf</a:t>
            </a:r>
          </a:p>
        </p:txBody>
      </p:sp>
    </p:spTree>
    <p:extLst>
      <p:ext uri="{BB962C8B-B14F-4D97-AF65-F5344CB8AC3E}">
        <p14:creationId xmlns:p14="http://schemas.microsoft.com/office/powerpoint/2010/main" val="80545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01476" y="0"/>
            <a:ext cx="11070572" cy="1021976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How </a:t>
            </a:r>
            <a:r>
              <a:rPr lang="en-US" altLang="en-US" sz="4000"/>
              <a:t>to Handle Continuous-Valued Attributes?</a:t>
            </a:r>
            <a:endParaRPr lang="en-US" altLang="en-US" sz="4000" i="1" dirty="0">
              <a:solidFill>
                <a:srgbClr val="CC0000"/>
              </a:solidFill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475" y="1194572"/>
            <a:ext cx="10394474" cy="5437719"/>
          </a:xfrm>
        </p:spPr>
        <p:txBody>
          <a:bodyPr/>
          <a:lstStyle/>
          <a:p>
            <a:pPr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Method 1:</a:t>
            </a:r>
            <a:r>
              <a:rPr lang="en-US" altLang="en-US" sz="2400" dirty="0"/>
              <a:t> Discretize continuous values and treat them as categorical values</a:t>
            </a:r>
          </a:p>
          <a:p>
            <a:pPr lvl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dirty="0"/>
              <a:t>E.g., age: &lt; 20, 20..30, 30..40, 40..50, &gt; 50</a:t>
            </a:r>
          </a:p>
          <a:p>
            <a:pPr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Method 2</a:t>
            </a:r>
            <a:r>
              <a:rPr lang="en-US" altLang="en-US" sz="2400" dirty="0"/>
              <a:t>: Determine the </a:t>
            </a:r>
            <a:r>
              <a:rPr lang="en-US" altLang="en-US" sz="2400" b="1" i="1" dirty="0"/>
              <a:t>best split point</a:t>
            </a:r>
            <a:r>
              <a:rPr lang="en-US" altLang="en-US" sz="2400" b="1" dirty="0"/>
              <a:t> </a:t>
            </a:r>
            <a:r>
              <a:rPr lang="en-US" altLang="en-US" sz="2400" dirty="0"/>
              <a:t>for continuous-valued attribute A</a:t>
            </a:r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dirty="0"/>
              <a:t>Sort:, e.g. 15, 18, 21, 22, 24, 25, 29, 31, </a:t>
            </a:r>
            <a:r>
              <a:rPr lang="mr-IN" altLang="en-US" sz="2400" dirty="0"/>
              <a:t>…</a:t>
            </a:r>
            <a:endParaRPr lang="en-US" altLang="en-US" sz="2400" dirty="0"/>
          </a:p>
          <a:p>
            <a:pPr lvl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i="1" dirty="0"/>
              <a:t>Possible split point: </a:t>
            </a:r>
            <a:r>
              <a:rPr lang="en-US" altLang="en-US" sz="2400" dirty="0"/>
              <a:t>(a</a:t>
            </a:r>
            <a:r>
              <a:rPr lang="en-US" altLang="en-US" sz="2400" baseline="-25000" dirty="0"/>
              <a:t>i</a:t>
            </a:r>
            <a:r>
              <a:rPr lang="en-US" altLang="en-US" sz="2400" dirty="0"/>
              <a:t>+a</a:t>
            </a:r>
            <a:r>
              <a:rPr lang="en-US" altLang="en-US" sz="2400" baseline="-25000" dirty="0"/>
              <a:t>i+1</a:t>
            </a:r>
            <a:r>
              <a:rPr lang="en-US" altLang="en-US" sz="2400" dirty="0"/>
              <a:t>)/2 </a:t>
            </a:r>
            <a:endParaRPr lang="en-US" altLang="en-US" sz="2400" i="1" dirty="0"/>
          </a:p>
          <a:p>
            <a:pPr lvl="2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dirty="0"/>
              <a:t>e.g., (15+18)/2 = 16.5, 19.5, 21.5, 23, 24.5, 27, 30, </a:t>
            </a:r>
            <a:r>
              <a:rPr lang="mr-IN" altLang="en-US" sz="2400" dirty="0"/>
              <a:t>…</a:t>
            </a:r>
            <a:endParaRPr lang="en-US" altLang="en-US" sz="2400" dirty="0"/>
          </a:p>
          <a:p>
            <a:pPr lvl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dirty="0"/>
              <a:t>The point with the </a:t>
            </a:r>
            <a:r>
              <a:rPr lang="en-US" altLang="en-US" sz="2400" i="1" dirty="0"/>
              <a:t>maximum information gain </a:t>
            </a:r>
            <a:r>
              <a:rPr lang="en-US" altLang="en-US" sz="2400" dirty="0"/>
              <a:t>for A is selected as the </a:t>
            </a:r>
            <a:r>
              <a:rPr lang="en-US" altLang="en-US" sz="2400" b="1" dirty="0"/>
              <a:t>split-point</a:t>
            </a:r>
            <a:r>
              <a:rPr lang="en-US" altLang="en-US" sz="2400" dirty="0"/>
              <a:t> for A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en-US" sz="2400" dirty="0"/>
              <a:t>Split:  Based on split point P</a:t>
            </a:r>
          </a:p>
          <a:p>
            <a:pPr lvl="1">
              <a:lnSpc>
                <a:spcPct val="115000"/>
              </a:lnSpc>
            </a:pPr>
            <a:r>
              <a:rPr lang="en-US" altLang="en-US" sz="2400" dirty="0"/>
              <a:t>The set of tuples in D satisfying A ≤ P vs. those with A &gt; P</a:t>
            </a:r>
          </a:p>
        </p:txBody>
      </p:sp>
    </p:spTree>
    <p:extLst>
      <p:ext uri="{BB962C8B-B14F-4D97-AF65-F5344CB8AC3E}">
        <p14:creationId xmlns:p14="http://schemas.microsoft.com/office/powerpoint/2010/main" val="4213336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AFBF0-468D-4585-94E6-54303DBFB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Pro’s and Con’s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4B765-ED53-4460-A470-E03689D52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Pro’s</a:t>
            </a:r>
          </a:p>
          <a:p>
            <a:pPr lvl="1"/>
            <a:r>
              <a:rPr lang="en-US" dirty="0"/>
              <a:t>Easy to explain (even for non-expert)</a:t>
            </a:r>
          </a:p>
          <a:p>
            <a:pPr lvl="1"/>
            <a:r>
              <a:rPr lang="en-US" dirty="0"/>
              <a:t>Easy to implement (many software)</a:t>
            </a:r>
          </a:p>
          <a:p>
            <a:pPr lvl="1"/>
            <a:r>
              <a:rPr lang="en-US" dirty="0"/>
              <a:t>Efficient</a:t>
            </a:r>
          </a:p>
          <a:p>
            <a:pPr lvl="1"/>
            <a:r>
              <a:rPr lang="en-US" dirty="0"/>
              <a:t>Can tolerate missing data</a:t>
            </a:r>
          </a:p>
          <a:p>
            <a:pPr lvl="1"/>
            <a:r>
              <a:rPr lang="en-US" dirty="0"/>
              <a:t>White box</a:t>
            </a:r>
          </a:p>
          <a:p>
            <a:pPr lvl="1"/>
            <a:r>
              <a:rPr lang="en-US" dirty="0"/>
              <a:t>No need to normalize data</a:t>
            </a:r>
          </a:p>
          <a:p>
            <a:pPr lvl="1"/>
            <a:r>
              <a:rPr lang="en-US" dirty="0"/>
              <a:t>Non-parametric: No assumption on data distribution, no assumption on attribute independency</a:t>
            </a:r>
          </a:p>
          <a:p>
            <a:pPr lvl="1"/>
            <a:r>
              <a:rPr lang="en-US" dirty="0"/>
              <a:t>Can work on various attribute types</a:t>
            </a:r>
          </a:p>
        </p:txBody>
      </p:sp>
    </p:spTree>
    <p:extLst>
      <p:ext uri="{BB962C8B-B14F-4D97-AF65-F5344CB8AC3E}">
        <p14:creationId xmlns:p14="http://schemas.microsoft.com/office/powerpoint/2010/main" val="1205770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2E7E-B4D2-431F-8F89-749E10EAF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71E08-5F52-460D-AB2B-FA2C12350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Con’s</a:t>
            </a:r>
          </a:p>
          <a:p>
            <a:pPr lvl="1"/>
            <a:r>
              <a:rPr lang="en-US" dirty="0"/>
              <a:t>Unstable, sensitive to noise</a:t>
            </a:r>
          </a:p>
          <a:p>
            <a:pPr lvl="1"/>
            <a:r>
              <a:rPr lang="en-US" dirty="0"/>
              <a:t>Accuracy may not be good enough (depending on your data)</a:t>
            </a:r>
          </a:p>
          <a:p>
            <a:pPr lvl="1"/>
            <a:r>
              <a:rPr lang="en-US" dirty="0"/>
              <a:t>The optimal splitting is NP,  greedy algorithms are used</a:t>
            </a:r>
          </a:p>
          <a:p>
            <a:pPr lvl="1"/>
            <a:r>
              <a:rPr lang="en-US" dirty="0"/>
              <a:t>Overfitting  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751EC-6D51-411A-BF31-0DE351FC6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112" y="3495154"/>
            <a:ext cx="3207197" cy="3053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08F46E-47A1-4301-BC18-E15ACF10D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931" y="3470911"/>
            <a:ext cx="3264068" cy="313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30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Splitting Measures: Information Gain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108" y="1171575"/>
            <a:ext cx="11288497" cy="5384800"/>
          </a:xfrm>
        </p:spPr>
        <p:txBody>
          <a:bodyPr/>
          <a:lstStyle/>
          <a:p>
            <a:r>
              <a:rPr lang="en-US" sz="2400" dirty="0"/>
              <a:t>Entropy (Information Theory)</a:t>
            </a:r>
          </a:p>
          <a:p>
            <a:pPr lvl="1"/>
            <a:r>
              <a:rPr lang="en-US" sz="2400" dirty="0"/>
              <a:t>A measure of uncertainty associated with a random number</a:t>
            </a:r>
          </a:p>
          <a:p>
            <a:pPr lvl="1"/>
            <a:r>
              <a:rPr lang="en-US" sz="2400" dirty="0"/>
              <a:t>Calculation:  For a discrete random variable Y taking m distinct values {y</a:t>
            </a:r>
            <a:r>
              <a:rPr lang="en-US" sz="2400" baseline="-25000" dirty="0"/>
              <a:t>1</a:t>
            </a:r>
            <a:r>
              <a:rPr lang="en-US" sz="2400" dirty="0"/>
              <a:t>, y</a:t>
            </a:r>
            <a:r>
              <a:rPr lang="en-US" sz="2400" baseline="-25000" dirty="0"/>
              <a:t>2</a:t>
            </a:r>
            <a:r>
              <a:rPr lang="en-US" sz="2400" dirty="0"/>
              <a:t>, …, </a:t>
            </a:r>
            <a:r>
              <a:rPr lang="en-US" sz="2400" dirty="0" err="1"/>
              <a:t>y</a:t>
            </a:r>
            <a:r>
              <a:rPr lang="en-US" sz="2400" baseline="-25000" dirty="0" err="1"/>
              <a:t>m</a:t>
            </a:r>
            <a:r>
              <a:rPr lang="en-US" sz="2400" dirty="0"/>
              <a:t>}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Interpretation</a:t>
            </a:r>
          </a:p>
          <a:p>
            <a:pPr lvl="2"/>
            <a:r>
              <a:rPr lang="en-US" sz="2400" dirty="0"/>
              <a:t>Higher entropy </a:t>
            </a:r>
            <a:r>
              <a:rPr lang="en-US" sz="2400" dirty="0">
                <a:latin typeface="Calibri" panose="020F0502020204030204" pitchFamily="34" charset="0"/>
              </a:rPr>
              <a:t>→ higher uncertainty</a:t>
            </a:r>
          </a:p>
          <a:p>
            <a:pPr lvl="2"/>
            <a:r>
              <a:rPr lang="en-US" sz="2400" dirty="0"/>
              <a:t>Lower entropy </a:t>
            </a:r>
            <a:r>
              <a:rPr lang="en-US" sz="2400" dirty="0">
                <a:latin typeface="Calibri" panose="020F0502020204030204" pitchFamily="34" charset="0"/>
              </a:rPr>
              <a:t>→ lower uncertainty</a:t>
            </a:r>
            <a:endParaRPr lang="en-US" sz="2400" dirty="0"/>
          </a:p>
          <a:p>
            <a:r>
              <a:rPr lang="en-US" sz="2400" dirty="0"/>
              <a:t>Conditional entropy</a:t>
            </a:r>
          </a:p>
        </p:txBody>
      </p:sp>
      <p:pic>
        <p:nvPicPr>
          <p:cNvPr id="74754" name="Picture 2" descr="Image result for entrop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294" y="3059182"/>
            <a:ext cx="2914581" cy="291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518884"/>
            <a:ext cx="6848475" cy="9704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175" y="5685947"/>
            <a:ext cx="5734050" cy="939156"/>
          </a:xfrm>
          <a:prstGeom prst="rect">
            <a:avLst/>
          </a:prstGeom>
        </p:spPr>
      </p:pic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9810750" y="6083532"/>
            <a:ext cx="801688" cy="3381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m = 2</a:t>
            </a:r>
          </a:p>
        </p:txBody>
      </p:sp>
    </p:spTree>
    <p:extLst>
      <p:ext uri="{BB962C8B-B14F-4D97-AF65-F5344CB8AC3E}">
        <p14:creationId xmlns:p14="http://schemas.microsoft.com/office/powerpoint/2010/main" val="278465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-247650" y="76200"/>
            <a:ext cx="12725399" cy="873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b="1" dirty="0">
                <a:latin typeface="Berlin Sans FB Demi" panose="020E0802020502020306" pitchFamily="34" charset="0"/>
              </a:rPr>
              <a:t>Information Gain: An Attribute Selection Measure </a:t>
            </a: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708212" y="1227044"/>
            <a:ext cx="982083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+mn-lt"/>
              </a:rPr>
              <a:t>Select the attribute with the </a:t>
            </a:r>
            <a:r>
              <a:rPr lang="en-US" altLang="en-US" sz="2400" dirty="0">
                <a:solidFill>
                  <a:srgbClr val="FF0000"/>
                </a:solidFill>
                <a:latin typeface="+mn-lt"/>
              </a:rPr>
              <a:t>highest</a:t>
            </a:r>
            <a:r>
              <a:rPr lang="en-US" altLang="en-US" sz="2400" dirty="0">
                <a:latin typeface="+mn-lt"/>
              </a:rPr>
              <a:t> information gain (used in typical decision tree induction algorithm: ID3/C4.5)</a:t>
            </a: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+mn-lt"/>
              </a:rPr>
              <a:t>Let </a:t>
            </a:r>
            <a:r>
              <a:rPr lang="en-US" altLang="en-US" sz="2400" i="1" dirty="0">
                <a:latin typeface="+mn-lt"/>
              </a:rPr>
              <a:t>p</a:t>
            </a:r>
            <a:r>
              <a:rPr lang="en-US" altLang="en-US" sz="2400" i="1" baseline="-25000" dirty="0">
                <a:latin typeface="+mn-lt"/>
              </a:rPr>
              <a:t>i</a:t>
            </a:r>
            <a:r>
              <a:rPr lang="en-US" altLang="en-US" sz="2400" dirty="0">
                <a:latin typeface="+mn-lt"/>
              </a:rPr>
              <a:t> be the probability that an arbitrary tuple in D belongs to class C</a:t>
            </a:r>
            <a:r>
              <a:rPr lang="en-US" altLang="en-US" sz="2400" baseline="-25000" dirty="0">
                <a:latin typeface="+mn-lt"/>
              </a:rPr>
              <a:t>i</a:t>
            </a:r>
            <a:r>
              <a:rPr lang="en-US" altLang="en-US" sz="2400" dirty="0">
                <a:latin typeface="+mn-lt"/>
              </a:rPr>
              <a:t>, estimated by |C</a:t>
            </a:r>
            <a:r>
              <a:rPr lang="en-US" altLang="en-US" sz="2400" i="1" baseline="-25000" dirty="0">
                <a:latin typeface="+mn-lt"/>
              </a:rPr>
              <a:t>i</a:t>
            </a:r>
            <a:r>
              <a:rPr lang="en-US" altLang="en-US" sz="2400" baseline="-25000" dirty="0">
                <a:latin typeface="+mn-lt"/>
              </a:rPr>
              <a:t>, D</a:t>
            </a:r>
            <a:r>
              <a:rPr lang="en-US" altLang="en-US" sz="2400" dirty="0">
                <a:latin typeface="+mn-lt"/>
              </a:rPr>
              <a:t>|/|D|</a:t>
            </a: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+mn-lt"/>
              </a:rPr>
              <a:t>Expected information (entropy) needed to classify a tuple in D:</a:t>
            </a: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endParaRPr lang="en-US" altLang="en-US" sz="2400" dirty="0"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endParaRPr lang="en-US" altLang="en-US" sz="2400" dirty="0"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+mn-lt"/>
              </a:rPr>
              <a:t>Information needed (after using A to split D into v partitions) to classify D:</a:t>
            </a: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endParaRPr lang="en-US" altLang="en-US" sz="2400" dirty="0"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endParaRPr lang="en-US" altLang="en-US" sz="2400" dirty="0"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+mn-lt"/>
              </a:rPr>
              <a:t>Information gained by branching on attribute A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q"/>
            </a:pPr>
            <a:endParaRPr lang="en-US" altLang="en-US" sz="2400" dirty="0">
              <a:latin typeface="+mn-lt"/>
            </a:endParaRPr>
          </a:p>
        </p:txBody>
      </p:sp>
      <p:graphicFrame>
        <p:nvGraphicFramePr>
          <p:cNvPr id="15365" name="Object 4"/>
          <p:cNvGraphicFramePr>
            <a:graphicFrameLocks noChangeAspect="1"/>
          </p:cNvGraphicFramePr>
          <p:nvPr/>
        </p:nvGraphicFramePr>
        <p:xfrm>
          <a:off x="2955784" y="3165818"/>
          <a:ext cx="3604935" cy="924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2900" imgH="431800" progId="Equation.3">
                  <p:embed/>
                </p:oleObj>
              </mc:Choice>
              <mc:Fallback>
                <p:oleObj name="Equation" r:id="rId3" imgW="1612900" imgH="431800" progId="Equation.3">
                  <p:embed/>
                  <p:pic>
                    <p:nvPicPr>
                      <p:cNvPr id="1536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784" y="3165818"/>
                        <a:ext cx="3604935" cy="924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5"/>
          <p:cNvGraphicFramePr>
            <a:graphicFrameLocks noChangeAspect="1"/>
          </p:cNvGraphicFramePr>
          <p:nvPr/>
        </p:nvGraphicFramePr>
        <p:xfrm>
          <a:off x="2955784" y="4557016"/>
          <a:ext cx="44958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92300" imgH="457200" progId="Equation.3">
                  <p:embed/>
                </p:oleObj>
              </mc:Choice>
              <mc:Fallback>
                <p:oleObj name="Equation" r:id="rId5" imgW="1892300" imgH="457200" progId="Equation.3">
                  <p:embed/>
                  <p:pic>
                    <p:nvPicPr>
                      <p:cNvPr id="1536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784" y="4557016"/>
                        <a:ext cx="44958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6"/>
          <p:cNvGraphicFramePr>
            <a:graphicFrameLocks noChangeAspect="1"/>
          </p:cNvGraphicFramePr>
          <p:nvPr/>
        </p:nvGraphicFramePr>
        <p:xfrm>
          <a:off x="2955784" y="5973020"/>
          <a:ext cx="45894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90700" imgH="215900" progId="Equation.3">
                  <p:embed/>
                </p:oleObj>
              </mc:Choice>
              <mc:Fallback>
                <p:oleObj name="Equation" r:id="rId7" imgW="1790700" imgH="215900" progId="Equation.3">
                  <p:embed/>
                  <p:pic>
                    <p:nvPicPr>
                      <p:cNvPr id="1536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784" y="5973020"/>
                        <a:ext cx="4589462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7579264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5" y="24881"/>
            <a:ext cx="10963275" cy="96044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/>
              <a:t>Example: Attribute Selection with Information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9" name="Rectangle 4"/>
              <p:cNvSpPr>
                <a:spLocks noGrp="1" noChangeArrowheads="1"/>
              </p:cNvSpPr>
              <p:nvPr>
                <p:ph type="body" sz="half" idx="2"/>
              </p:nvPr>
            </p:nvSpPr>
            <p:spPr>
              <a:xfrm>
                <a:off x="3764798" y="4362599"/>
                <a:ext cx="8296022" cy="2365451"/>
              </a:xfrm>
            </p:spPr>
            <p:txBody>
              <a:bodyPr/>
              <a:lstStyle/>
              <a:p>
                <a:pPr eaLnBrk="1" hangingPunct="1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r>
                  <a:rPr lang="en-US" altLang="en-US" sz="2000" dirty="0">
                    <a:solidFill>
                      <a:srgbClr val="121328"/>
                    </a:solidFill>
                  </a:rPr>
                  <a:t>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b="0" i="1" smtClean="0">
                            <a:solidFill>
                              <a:srgbClr val="12132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solidFill>
                              <a:srgbClr val="121328"/>
                            </a:solidFill>
                            <a:latin typeface="Cambria Math" charset="0"/>
                          </a:rPr>
                          <m:t>5</m:t>
                        </m:r>
                      </m:num>
                      <m:den>
                        <m:r>
                          <a:rPr lang="en-US" altLang="en-US" sz="2000" b="0" i="1" smtClean="0">
                            <a:solidFill>
                              <a:srgbClr val="121328"/>
                            </a:solidFill>
                            <a:latin typeface="Cambria Math" charset="0"/>
                          </a:rPr>
                          <m:t>14</m:t>
                        </m:r>
                      </m:den>
                    </m:f>
                    <m:r>
                      <a:rPr lang="en-US" altLang="en-US" sz="2000" b="0" i="1" smtClean="0">
                        <a:solidFill>
                          <a:srgbClr val="121328"/>
                        </a:solidFill>
                        <a:latin typeface="Cambria Math" charset="0"/>
                      </a:rPr>
                      <m:t>𝐼</m:t>
                    </m:r>
                    <m:r>
                      <a:rPr lang="en-US" altLang="en-US" sz="2000" b="0" i="1" smtClean="0">
                        <a:solidFill>
                          <a:srgbClr val="121328"/>
                        </a:solidFill>
                        <a:latin typeface="Cambria Math" charset="0"/>
                      </a:rPr>
                      <m:t>(2,3)</m:t>
                    </m:r>
                  </m:oMath>
                </a14:m>
                <a:r>
                  <a:rPr lang="en-US" altLang="en-US" sz="2400" dirty="0">
                    <a:solidFill>
                      <a:srgbClr val="121328"/>
                    </a:solidFill>
                  </a:rPr>
                  <a:t>means “outlook=rainy” has 5 out of 14 samples, with 2 </a:t>
                </a:r>
                <a:r>
                  <a:rPr lang="en-US" altLang="en-US" sz="2400" dirty="0" err="1">
                    <a:solidFill>
                      <a:srgbClr val="121328"/>
                    </a:solidFill>
                  </a:rPr>
                  <a:t>yes’es</a:t>
                </a:r>
                <a:r>
                  <a:rPr lang="en-US" altLang="en-US" sz="2400" dirty="0">
                    <a:solidFill>
                      <a:srgbClr val="121328"/>
                    </a:solidFill>
                  </a:rPr>
                  <a:t>  and 3 no’s. Hence</a:t>
                </a:r>
                <a:endParaRPr lang="en-US" altLang="en-US" sz="2400" dirty="0"/>
              </a:p>
              <a:p>
                <a:pPr eaLnBrk="1" hangingPunct="1">
                  <a:lnSpc>
                    <a:spcPct val="90000"/>
                  </a:lnSpc>
                  <a:buClr>
                    <a:schemeClr val="accent1"/>
                  </a:buClr>
                  <a:buFont typeface="Wingdings 2" panose="05020102010507070707" pitchFamily="18" charset="2"/>
                  <a:buNone/>
                </a:pPr>
                <a:endParaRPr lang="en-US" altLang="en-US" sz="2000" dirty="0">
                  <a:solidFill>
                    <a:srgbClr val="121328"/>
                  </a:solidFill>
                </a:endParaRPr>
              </a:p>
            </p:txBody>
          </p:sp>
        </mc:Choice>
        <mc:Fallback xmlns="">
          <p:sp>
            <p:nvSpPr>
              <p:cNvPr id="16389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3764798" y="4362599"/>
                <a:ext cx="8296022" cy="2365451"/>
              </a:xfrm>
              <a:blipFill rotWithShape="0">
                <a:blip r:embed="rId4"/>
                <a:stretch>
                  <a:fillRect r="-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3" name="Object 8"/>
              <p:cNvSpPr txBox="1"/>
              <p:nvPr/>
            </p:nvSpPr>
            <p:spPr bwMode="auto">
              <a:xfrm>
                <a:off x="7378700" y="5057775"/>
                <a:ext cx="4402138" cy="4016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𝑜𝑢𝑡𝑙𝑜𝑜𝑘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𝐼𝑛𝑓𝑜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𝐼𝑛𝑓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𝑜𝑢𝑡𝑙𝑜𝑜𝑘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)=0.246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39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78700" y="5057775"/>
                <a:ext cx="4402138" cy="4016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7755037" y="1218091"/>
            <a:ext cx="4025803" cy="1427389"/>
            <a:chOff x="3978306" y="1304384"/>
            <a:chExt cx="4004672" cy="1577540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5186118" y="1304384"/>
              <a:ext cx="1370745" cy="51148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Times New Roman" panose="02020603050405020304" pitchFamily="18" charset="0"/>
                </a:rPr>
                <a:t>outlook?</a:t>
              </a:r>
            </a:p>
          </p:txBody>
        </p:sp>
        <p:sp>
          <p:nvSpPr>
            <p:cNvPr id="24" name="Rectangle 14"/>
            <p:cNvSpPr>
              <a:spLocks noChangeArrowheads="1"/>
            </p:cNvSpPr>
            <p:nvPr/>
          </p:nvSpPr>
          <p:spPr bwMode="auto">
            <a:xfrm>
              <a:off x="4208310" y="1919731"/>
              <a:ext cx="973022" cy="462307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Sunny</a:t>
              </a:r>
            </a:p>
          </p:txBody>
        </p:sp>
        <p:sp>
          <p:nvSpPr>
            <p:cNvPr id="25" name="Rectangle 15"/>
            <p:cNvSpPr>
              <a:spLocks noChangeArrowheads="1"/>
            </p:cNvSpPr>
            <p:nvPr/>
          </p:nvSpPr>
          <p:spPr bwMode="auto">
            <a:xfrm>
              <a:off x="6538399" y="1923439"/>
              <a:ext cx="920124" cy="46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Rainy</a:t>
              </a:r>
            </a:p>
          </p:txBody>
        </p:sp>
        <p:sp>
          <p:nvSpPr>
            <p:cNvPr id="29" name="Rectangle 30"/>
            <p:cNvSpPr>
              <a:spLocks noChangeArrowheads="1"/>
            </p:cNvSpPr>
            <p:nvPr/>
          </p:nvSpPr>
          <p:spPr bwMode="auto">
            <a:xfrm>
              <a:off x="5702137" y="2424337"/>
              <a:ext cx="1066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imes New Roman" panose="02020603050405020304" pitchFamily="18" charset="0"/>
                </a:rPr>
                <a:t>Overcast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31EAE0D-8D1B-E040-8BD8-A8A2EE3CD1C7}"/>
                </a:ext>
              </a:extLst>
            </p:cNvPr>
            <p:cNvCxnSpPr/>
            <p:nvPr/>
          </p:nvCxnSpPr>
          <p:spPr>
            <a:xfrm flipH="1">
              <a:off x="3978306" y="1815873"/>
              <a:ext cx="1893185" cy="10652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0FC3B3E-1B08-A740-91FB-D7EEDB23FB8B}"/>
                </a:ext>
              </a:extLst>
            </p:cNvPr>
            <p:cNvCxnSpPr/>
            <p:nvPr/>
          </p:nvCxnSpPr>
          <p:spPr>
            <a:xfrm flipH="1">
              <a:off x="5869860" y="1815873"/>
              <a:ext cx="1631" cy="10660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33899FF-F2EB-3344-9A91-6FDE48E59570}"/>
                </a:ext>
              </a:extLst>
            </p:cNvPr>
            <p:cNvCxnSpPr>
              <a:cxnSpLocks/>
            </p:cNvCxnSpPr>
            <p:nvPr/>
          </p:nvCxnSpPr>
          <p:spPr>
            <a:xfrm>
              <a:off x="5871491" y="1815873"/>
              <a:ext cx="2111487" cy="10652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7971157"/>
              </p:ext>
            </p:extLst>
          </p:nvPr>
        </p:nvGraphicFramePr>
        <p:xfrm>
          <a:off x="4211114" y="2907405"/>
          <a:ext cx="5276850" cy="575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14700" imgH="393700" progId="Equation.3">
                  <p:embed/>
                </p:oleObj>
              </mc:Choice>
              <mc:Fallback>
                <p:oleObj name="Equation" r:id="rId6" imgW="33147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114" y="2907405"/>
                        <a:ext cx="5276850" cy="575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7255DB3D-81CE-0A44-B720-EE9596082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662288"/>
              </p:ext>
            </p:extLst>
          </p:nvPr>
        </p:nvGraphicFramePr>
        <p:xfrm>
          <a:off x="4312019" y="1198732"/>
          <a:ext cx="3429272" cy="1147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2357">
                  <a:extLst>
                    <a:ext uri="{9D8B030D-6E8A-4147-A177-3AD203B41FA5}">
                      <a16:colId xmlns:a16="http://schemas.microsoft.com/office/drawing/2014/main" val="3189156840"/>
                    </a:ext>
                  </a:extLst>
                </a:gridCol>
                <a:gridCol w="843446">
                  <a:extLst>
                    <a:ext uri="{9D8B030D-6E8A-4147-A177-3AD203B41FA5}">
                      <a16:colId xmlns:a16="http://schemas.microsoft.com/office/drawing/2014/main" val="713696415"/>
                    </a:ext>
                  </a:extLst>
                </a:gridCol>
                <a:gridCol w="754128">
                  <a:extLst>
                    <a:ext uri="{9D8B030D-6E8A-4147-A177-3AD203B41FA5}">
                      <a16:colId xmlns:a16="http://schemas.microsoft.com/office/drawing/2014/main" val="265858083"/>
                    </a:ext>
                  </a:extLst>
                </a:gridCol>
                <a:gridCol w="1049341">
                  <a:extLst>
                    <a:ext uri="{9D8B030D-6E8A-4147-A177-3AD203B41FA5}">
                      <a16:colId xmlns:a16="http://schemas.microsoft.com/office/drawing/2014/main" val="1676482580"/>
                    </a:ext>
                  </a:extLst>
                </a:gridCol>
              </a:tblGrid>
              <a:tr h="3186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outlook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I(yes,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</a:rPr>
                        <a:t> no)</a:t>
                      </a:r>
                      <a:endParaRPr 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440297"/>
                  </a:ext>
                </a:extLst>
              </a:tr>
              <a:tr h="25590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rainy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0.971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029562"/>
                  </a:ext>
                </a:extLst>
              </a:tr>
              <a:tr h="28023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overcast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84903"/>
                  </a:ext>
                </a:extLst>
              </a:tr>
              <a:tr h="25590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sunny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0.971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0090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11114" y="3524827"/>
                <a:ext cx="6222409" cy="5533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𝐼𝑛𝑓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𝑜𝑢𝑡𝑙𝑜𝑜𝑘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14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2,3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14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4,0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14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3,2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=0.694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114" y="3524827"/>
                <a:ext cx="6222409" cy="55335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139739"/>
              </p:ext>
            </p:extLst>
          </p:nvPr>
        </p:nvGraphicFramePr>
        <p:xfrm>
          <a:off x="132373" y="1164985"/>
          <a:ext cx="3972794" cy="5273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47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3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2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0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Outlook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Play Golf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0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/>
                        <a:t>Yes</a:t>
                      </a:r>
                      <a:endParaRPr lang="en-US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2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51880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565546" y="47547"/>
            <a:ext cx="10963275" cy="96044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/>
              <a:t>Example: Attribute Selection with Information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9" name="Rectangle 4"/>
              <p:cNvSpPr>
                <a:spLocks noGrp="1" noChangeArrowheads="1"/>
              </p:cNvSpPr>
              <p:nvPr>
                <p:ph type="body" sz="half" idx="2"/>
              </p:nvPr>
            </p:nvSpPr>
            <p:spPr>
              <a:xfrm>
                <a:off x="8175510" y="1298078"/>
                <a:ext cx="4412787" cy="1607900"/>
              </a:xfrm>
            </p:spPr>
            <p:txBody>
              <a:bodyPr>
                <a:noAutofit/>
              </a:bodyPr>
              <a:lstStyle/>
              <a:p>
                <a:pPr eaLnBrk="1" hangingPunct="1">
                  <a:lnSpc>
                    <a:spcPct val="90000"/>
                  </a:lnSpc>
                  <a:buClr>
                    <a:schemeClr val="accent1"/>
                  </a:buClr>
                  <a:buFont typeface="Wingdings 2" panose="05020102010507070707" pitchFamily="18" charset="2"/>
                  <a:buNone/>
                </a:pPr>
                <a:r>
                  <a:rPr lang="en-US" altLang="en-US" sz="2400" dirty="0">
                    <a:solidFill>
                      <a:srgbClr val="121328"/>
                    </a:solidFill>
                  </a:rPr>
                  <a:t>Similarly, we can get</a:t>
                </a:r>
              </a:p>
              <a:p>
                <a:pPr eaLnBrk="1" hangingPunct="1">
                  <a:lnSpc>
                    <a:spcPct val="90000"/>
                  </a:lnSpc>
                  <a:buClr>
                    <a:schemeClr val="accent1"/>
                  </a:buClr>
                  <a:buFont typeface="Wingdings 2" panose="05020102010507070707" pitchFamily="18" charset="2"/>
                  <a:buNone/>
                </a:pPr>
                <a:r>
                  <a:rPr lang="en-US" altLang="en-US" sz="2400" dirty="0">
                    <a:solidFill>
                      <a:srgbClr val="121328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rgbClr val="121328"/>
                        </a:solidFill>
                        <a:latin typeface="Cambria Math" charset="0"/>
                      </a:rPr>
                      <m:t>𝐺𝑎𝑖𝑛</m:t>
                    </m:r>
                    <m:d>
                      <m:dPr>
                        <m:ctrlPr>
                          <a:rPr lang="en-US" altLang="en-US" sz="2400" b="0" i="1" smtClean="0">
                            <a:solidFill>
                              <a:srgbClr val="121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solidFill>
                              <a:srgbClr val="121328"/>
                            </a:solidFill>
                            <a:latin typeface="Cambria Math" charset="0"/>
                          </a:rPr>
                          <m:t>𝑇𝑒𝑚𝑝</m:t>
                        </m:r>
                      </m:e>
                    </m:d>
                    <m:r>
                      <a:rPr lang="en-US" altLang="en-US" sz="2400" b="0" i="1" smtClean="0">
                        <a:solidFill>
                          <a:srgbClr val="121328"/>
                        </a:solidFill>
                        <a:latin typeface="Cambria Math" charset="0"/>
                      </a:rPr>
                      <m:t>=0.029,  </m:t>
                    </m:r>
                    <m:r>
                      <a:rPr lang="en-US" altLang="en-US" sz="2400" b="0" i="1" smtClean="0">
                        <a:solidFill>
                          <a:srgbClr val="121328"/>
                        </a:solidFill>
                        <a:latin typeface="Cambria Math" charset="0"/>
                      </a:rPr>
                      <m:t>𝐺𝑎𝑖𝑛</m:t>
                    </m:r>
                    <m:d>
                      <m:dPr>
                        <m:ctrlPr>
                          <a:rPr lang="en-US" altLang="en-US" sz="2400" b="0" i="1" smtClean="0">
                            <a:solidFill>
                              <a:srgbClr val="121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solidFill>
                              <a:srgbClr val="121328"/>
                            </a:solidFill>
                            <a:latin typeface="Cambria Math" charset="0"/>
                          </a:rPr>
                          <m:t>h𝑢𝑚𝑖𝑑𝑖𝑡𝑦</m:t>
                        </m:r>
                      </m:e>
                    </m:d>
                    <m:r>
                      <a:rPr lang="en-US" altLang="en-US" sz="2400" b="0" i="1" smtClean="0">
                        <a:solidFill>
                          <a:srgbClr val="121328"/>
                        </a:solidFill>
                        <a:latin typeface="Cambria Math" charset="0"/>
                      </a:rPr>
                      <m:t>=0.151,  </m:t>
                    </m:r>
                    <m:r>
                      <a:rPr lang="en-US" altLang="en-US" sz="2400" b="0" i="1" smtClean="0">
                        <a:solidFill>
                          <a:srgbClr val="121328"/>
                        </a:solidFill>
                        <a:latin typeface="Cambria Math" charset="0"/>
                      </a:rPr>
                      <m:t>𝐺𝑎𝑖𝑛</m:t>
                    </m:r>
                    <m:d>
                      <m:dPr>
                        <m:ctrlPr>
                          <a:rPr lang="en-US" altLang="en-US" sz="2400" b="0" i="1" smtClean="0">
                            <a:solidFill>
                              <a:srgbClr val="121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solidFill>
                              <a:srgbClr val="121328"/>
                            </a:solidFill>
                            <a:latin typeface="Cambria Math" charset="0"/>
                          </a:rPr>
                          <m:t>𝑊𝑖𝑛𝑑𝑦</m:t>
                        </m:r>
                      </m:e>
                    </m:d>
                    <m:r>
                      <a:rPr lang="en-US" altLang="en-US" sz="2400" b="0" i="1" smtClean="0">
                        <a:solidFill>
                          <a:srgbClr val="121328"/>
                        </a:solidFill>
                        <a:latin typeface="Cambria Math" charset="0"/>
                      </a:rPr>
                      <m:t>=0.048</m:t>
                    </m:r>
                  </m:oMath>
                </a14:m>
                <a:endParaRPr lang="en-US" altLang="en-US" sz="2400" dirty="0">
                  <a:solidFill>
                    <a:srgbClr val="121328"/>
                  </a:solidFill>
                </a:endParaRPr>
              </a:p>
            </p:txBody>
          </p:sp>
        </mc:Choice>
        <mc:Fallback xmlns="">
          <p:sp>
            <p:nvSpPr>
              <p:cNvPr id="16389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175510" y="1298078"/>
                <a:ext cx="4412787" cy="1607900"/>
              </a:xfrm>
              <a:blipFill rotWithShape="0">
                <a:blip r:embed="rId3"/>
                <a:stretch>
                  <a:fillRect l="-2072" t="-5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255DB3D-81CE-0A44-B720-EE9596082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245981"/>
              </p:ext>
            </p:extLst>
          </p:nvPr>
        </p:nvGraphicFramePr>
        <p:xfrm>
          <a:off x="4221927" y="1273338"/>
          <a:ext cx="365051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2831">
                  <a:extLst>
                    <a:ext uri="{9D8B030D-6E8A-4147-A177-3AD203B41FA5}">
                      <a16:colId xmlns:a16="http://schemas.microsoft.com/office/drawing/2014/main" val="3189156840"/>
                    </a:ext>
                  </a:extLst>
                </a:gridCol>
                <a:gridCol w="897861">
                  <a:extLst>
                    <a:ext uri="{9D8B030D-6E8A-4147-A177-3AD203B41FA5}">
                      <a16:colId xmlns:a16="http://schemas.microsoft.com/office/drawing/2014/main" val="713696415"/>
                    </a:ext>
                  </a:extLst>
                </a:gridCol>
                <a:gridCol w="802781">
                  <a:extLst>
                    <a:ext uri="{9D8B030D-6E8A-4147-A177-3AD203B41FA5}">
                      <a16:colId xmlns:a16="http://schemas.microsoft.com/office/drawing/2014/main" val="265858083"/>
                    </a:ext>
                  </a:extLst>
                </a:gridCol>
                <a:gridCol w="1117039">
                  <a:extLst>
                    <a:ext uri="{9D8B030D-6E8A-4147-A177-3AD203B41FA5}">
                      <a16:colId xmlns:a16="http://schemas.microsoft.com/office/drawing/2014/main" val="1676482580"/>
                    </a:ext>
                  </a:extLst>
                </a:gridCol>
              </a:tblGrid>
              <a:tr h="19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bg1"/>
                          </a:solidFill>
                        </a:rPr>
                        <a:t>Temp</a:t>
                      </a:r>
                      <a:endParaRPr 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I(Yes,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</a:rPr>
                        <a:t> No)</a:t>
                      </a:r>
                      <a:endParaRPr 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440297"/>
                  </a:ext>
                </a:extLst>
              </a:tr>
              <a:tr h="25552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Hot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029562"/>
                  </a:ext>
                </a:extLst>
              </a:tr>
              <a:tr h="25552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Mild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84903"/>
                  </a:ext>
                </a:extLst>
              </a:tr>
              <a:tr h="25552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Cool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009038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CB5F134-5AE7-4A68-8A28-E9890D261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786435"/>
              </p:ext>
            </p:extLst>
          </p:nvPr>
        </p:nvGraphicFramePr>
        <p:xfrm>
          <a:off x="4221927" y="3878004"/>
          <a:ext cx="3862159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1116">
                  <a:extLst>
                    <a:ext uri="{9D8B030D-6E8A-4147-A177-3AD203B41FA5}">
                      <a16:colId xmlns:a16="http://schemas.microsoft.com/office/drawing/2014/main" val="3189156840"/>
                    </a:ext>
                  </a:extLst>
                </a:gridCol>
                <a:gridCol w="949917">
                  <a:extLst>
                    <a:ext uri="{9D8B030D-6E8A-4147-A177-3AD203B41FA5}">
                      <a16:colId xmlns:a16="http://schemas.microsoft.com/office/drawing/2014/main" val="713696415"/>
                    </a:ext>
                  </a:extLst>
                </a:gridCol>
                <a:gridCol w="849324">
                  <a:extLst>
                    <a:ext uri="{9D8B030D-6E8A-4147-A177-3AD203B41FA5}">
                      <a16:colId xmlns:a16="http://schemas.microsoft.com/office/drawing/2014/main" val="265858083"/>
                    </a:ext>
                  </a:extLst>
                </a:gridCol>
                <a:gridCol w="1181802">
                  <a:extLst>
                    <a:ext uri="{9D8B030D-6E8A-4147-A177-3AD203B41FA5}">
                      <a16:colId xmlns:a16="http://schemas.microsoft.com/office/drawing/2014/main" val="16764825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Humidity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I(Yes,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</a:rPr>
                        <a:t> No)</a:t>
                      </a:r>
                      <a:endParaRPr 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440297"/>
                  </a:ext>
                </a:extLst>
              </a:tr>
              <a:tr h="25552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Normal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029562"/>
                  </a:ext>
                </a:extLst>
              </a:tr>
              <a:tr h="25552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High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84903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3B24DA5-A22A-4DE6-B6FA-3B16451E3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856854"/>
              </p:ext>
            </p:extLst>
          </p:nvPr>
        </p:nvGraphicFramePr>
        <p:xfrm>
          <a:off x="4227480" y="2635967"/>
          <a:ext cx="3076147" cy="905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1795">
                  <a:extLst>
                    <a:ext uri="{9D8B030D-6E8A-4147-A177-3AD203B41FA5}">
                      <a16:colId xmlns:a16="http://schemas.microsoft.com/office/drawing/2014/main" val="3189156840"/>
                    </a:ext>
                  </a:extLst>
                </a:gridCol>
                <a:gridCol w="756593">
                  <a:extLst>
                    <a:ext uri="{9D8B030D-6E8A-4147-A177-3AD203B41FA5}">
                      <a16:colId xmlns:a16="http://schemas.microsoft.com/office/drawing/2014/main" val="713696415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65858083"/>
                    </a:ext>
                  </a:extLst>
                </a:gridCol>
                <a:gridCol w="941286">
                  <a:extLst>
                    <a:ext uri="{9D8B030D-6E8A-4147-A177-3AD203B41FA5}">
                      <a16:colId xmlns:a16="http://schemas.microsoft.com/office/drawing/2014/main" val="1676482580"/>
                    </a:ext>
                  </a:extLst>
                </a:gridCol>
              </a:tblGrid>
              <a:tr h="34208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Windy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I(Yes,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</a:rPr>
                        <a:t> No)</a:t>
                      </a:r>
                      <a:endParaRPr 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440297"/>
                  </a:ext>
                </a:extLst>
              </a:tr>
              <a:tr h="2818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True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 marL="0" marR="0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029562"/>
                  </a:ext>
                </a:extLst>
              </a:tr>
              <a:tr h="2818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False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8490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327015"/>
              </p:ext>
            </p:extLst>
          </p:nvPr>
        </p:nvGraphicFramePr>
        <p:xfrm>
          <a:off x="108106" y="1204561"/>
          <a:ext cx="3972794" cy="5273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47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3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2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0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Outlook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Play Golf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0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/>
                        <a:t>Yes</a:t>
                      </a:r>
                      <a:endParaRPr lang="en-US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2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94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145355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050"/>
          <p:cNvSpPr>
            <a:spLocks noGrp="1" noChangeArrowheads="1"/>
          </p:cNvSpPr>
          <p:nvPr>
            <p:ph type="title"/>
          </p:nvPr>
        </p:nvSpPr>
        <p:spPr>
          <a:xfrm>
            <a:off x="0" y="12700"/>
            <a:ext cx="12192000" cy="9779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Gain Ratio: A Refined Measure for Attribute Selection</a:t>
            </a:r>
            <a:endParaRPr lang="en-US" altLang="en-US" sz="4000" i="1" dirty="0">
              <a:solidFill>
                <a:srgbClr val="CC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6" name="Rectangle 2051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571499" y="1196650"/>
                <a:ext cx="10839451" cy="5204150"/>
              </a:xfrm>
            </p:spPr>
            <p:txBody>
              <a:bodyPr/>
              <a:lstStyle/>
              <a:p>
                <a:pPr eaLnBrk="1" hangingPunct="1"/>
                <a:r>
                  <a:rPr lang="en-US" altLang="en-US" dirty="0"/>
                  <a:t>Information gain measure is biased towards attributes with a large number of values (e.g. ID)</a:t>
                </a:r>
              </a:p>
              <a:p>
                <a:pPr eaLnBrk="1" hangingPunct="1"/>
                <a:r>
                  <a:rPr lang="en-US" altLang="en-US" dirty="0"/>
                  <a:t>Gain ratio: Overcomes the problem (as a normalization to information gain)</a:t>
                </a:r>
              </a:p>
              <a:p>
                <a:pPr eaLnBrk="1" hangingPunct="1"/>
                <a:endParaRPr lang="en-US" altLang="en-US" dirty="0"/>
              </a:p>
              <a:p>
                <a:pPr eaLnBrk="1" hangingPunct="1"/>
                <a:endParaRPr lang="en-US" altLang="en-US" dirty="0"/>
              </a:p>
              <a:p>
                <a:pPr lvl="1" eaLnBrk="1" hangingPunct="1"/>
                <a:r>
                  <a:rPr lang="en-US" altLang="en-US" dirty="0" err="1"/>
                  <a:t>GainRatio</a:t>
                </a:r>
                <a:r>
                  <a:rPr lang="en-US" altLang="en-US" dirty="0"/>
                  <a:t>(A) = Gain(A)/</a:t>
                </a:r>
                <a:r>
                  <a:rPr lang="en-US" altLang="en-US" dirty="0" err="1"/>
                  <a:t>SplitInfo</a:t>
                </a:r>
                <a:r>
                  <a:rPr lang="en-US" altLang="en-US" dirty="0"/>
                  <a:t>(A)</a:t>
                </a:r>
              </a:p>
              <a:p>
                <a:pPr lvl="1"/>
                <a:r>
                  <a:rPr lang="en-US" altLang="en-US" dirty="0"/>
                  <a:t>The attribute with the </a:t>
                </a:r>
                <a:r>
                  <a:rPr lang="en-US" altLang="en-US" dirty="0">
                    <a:solidFill>
                      <a:srgbClr val="FF0000"/>
                    </a:solidFill>
                  </a:rPr>
                  <a:t>maximum</a:t>
                </a:r>
                <a:r>
                  <a:rPr lang="en-US" altLang="en-US" dirty="0"/>
                  <a:t> gain ratio is selected as the splitting attribute</a:t>
                </a:r>
              </a:p>
              <a:p>
                <a:pPr lvl="1"/>
                <a:r>
                  <a:rPr lang="en-US" altLang="en-US" dirty="0"/>
                  <a:t>Gain ratio is used in a popular algorithm C4.5 (a successor of ID3) by R. Quinlan</a:t>
                </a:r>
              </a:p>
              <a:p>
                <a:pPr eaLnBrk="1" hangingPunct="1"/>
                <a:r>
                  <a:rPr lang="en-US" altLang="en-US" dirty="0"/>
                  <a:t>Example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</a:rPr>
                      <m:t>SplitInf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charset="0"/>
                          </a:rPr>
                          <m:t>temp</m:t>
                        </m:r>
                      </m:sub>
                    </m:sSub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=1.557</m:t>
                    </m:r>
                  </m:oMath>
                </a14:m>
                <a:endParaRPr lang="en-US" altLang="en-US" dirty="0"/>
              </a:p>
              <a:p>
                <a:pPr lvl="1" eaLnBrk="1" hangingPunct="1"/>
                <a:r>
                  <a:rPr lang="en-US" altLang="en-US" dirty="0" err="1"/>
                  <a:t>GainRatio</a:t>
                </a:r>
                <a:r>
                  <a:rPr lang="en-US" altLang="en-US" dirty="0"/>
                  <a:t>(temp) = 0.029/1.557 = 0.019</a:t>
                </a:r>
              </a:p>
            </p:txBody>
          </p:sp>
        </mc:Choice>
        <mc:Fallback xmlns="">
          <p:sp>
            <p:nvSpPr>
              <p:cNvPr id="18436" name="Rectangle 205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571499" y="1196650"/>
                <a:ext cx="10839451" cy="5204150"/>
              </a:xfrm>
              <a:blipFill>
                <a:blip r:embed="rId4"/>
                <a:stretch>
                  <a:fillRect l="-450" t="-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437" name="Object 204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560903" y="2479033"/>
          <a:ext cx="43434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87600" imgH="457200" progId="Equation.3">
                  <p:embed/>
                </p:oleObj>
              </mc:Choice>
              <mc:Fallback>
                <p:oleObj name="Equation" r:id="rId5" imgW="2387600" imgH="457200" progId="Equation.3">
                  <p:embed/>
                  <p:pic>
                    <p:nvPicPr>
                      <p:cNvPr id="18437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0903" y="2479033"/>
                        <a:ext cx="43434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4574761"/>
      </p:ext>
    </p:extLst>
  </p:cSld>
  <p:clrMapOvr>
    <a:masterClrMapping/>
  </p:clrMapOvr>
  <p:transition spd="med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6. Classification: Basic Concepts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 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Lazy Learners (or learning from your neighbors)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Linear Classifiers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4707545" y="2528121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849452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8486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Bayes’ Theorem: Basics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71500" y="1143001"/>
                <a:ext cx="10972800" cy="5410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400" dirty="0"/>
                  <a:t>Total probability Theorem: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US" sz="240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nary>
                      <m:d>
                        <m:d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e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 dirty="0"/>
              </a:p>
              <a:p>
                <a:pPr eaLnBrk="1" hangingPunct="1"/>
                <a:r>
                  <a:rPr lang="en-US" altLang="en-US" sz="2400" dirty="0"/>
                  <a:t>Bayes’ Theorem: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US" sz="2400" i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en-US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en-US" alt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b="1" i="0" smtClean="0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en-US" sz="2400" i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m:rPr>
                          <m:sty m:val="p"/>
                        </m:rPr>
                        <a:rPr lang="en-US" altLang="en-US" sz="240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alt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 sz="240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altLang="en-US" sz="2400" dirty="0"/>
              </a:p>
              <a:p>
                <a:pPr eaLnBrk="1" hangingPunct="1"/>
                <a:endParaRPr lang="en-US" altLang="en-US" sz="2400" dirty="0"/>
              </a:p>
              <a:p>
                <a:pPr lvl="1" eaLnBrk="1" hangingPunct="1"/>
                <a:endParaRPr lang="en-US" altLang="en-US" sz="2400" b="1" dirty="0"/>
              </a:p>
              <a:p>
                <a:pPr lvl="1" eaLnBrk="1" hangingPunct="1"/>
                <a:endParaRPr lang="en-US" altLang="en-US" sz="2400" b="1" dirty="0"/>
              </a:p>
              <a:p>
                <a:pPr marL="200021" lvl="1" indent="0" eaLnBrk="1" hangingPunct="1">
                  <a:buNone/>
                </a:pPr>
                <a:endParaRPr lang="en-US" altLang="en-US" sz="2400" b="1" dirty="0"/>
              </a:p>
              <a:p>
                <a:pPr lvl="1" eaLnBrk="1" hangingPunct="1"/>
                <a:r>
                  <a:rPr lang="en-US" altLang="en-US" sz="2400" b="1" dirty="0"/>
                  <a:t>X:</a:t>
                </a:r>
                <a:r>
                  <a:rPr lang="en-US" altLang="en-US" sz="2400" dirty="0"/>
                  <a:t> a data sample (“</a:t>
                </a:r>
                <a:r>
                  <a:rPr lang="en-US" altLang="en-US" sz="2400" i="1" dirty="0"/>
                  <a:t>evidence</a:t>
                </a:r>
                <a:r>
                  <a:rPr lang="en-US" altLang="en-US" sz="2400" dirty="0"/>
                  <a:t>”)</a:t>
                </a:r>
              </a:p>
              <a:p>
                <a:pPr lvl="1" eaLnBrk="1" hangingPunct="1"/>
                <a:r>
                  <a:rPr lang="en-US" altLang="en-US" sz="2400" dirty="0"/>
                  <a:t>H: X belongs to class C</a:t>
                </a:r>
              </a:p>
            </p:txBody>
          </p:sp>
        </mc:Choice>
        <mc:Fallback xmlns="">
          <p:sp>
            <p:nvSpPr>
              <p:cNvPr id="3482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1500" y="1143001"/>
                <a:ext cx="10972800" cy="5410200"/>
              </a:xfrm>
              <a:blipFill rotWithShape="1">
                <a:blip r:embed="rId3"/>
                <a:stretch>
                  <a:fillRect l="-444" t="-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3582955" y="3041780"/>
            <a:ext cx="1035699" cy="5131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66871" y="3041780"/>
            <a:ext cx="661309" cy="5131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85992" y="3041780"/>
            <a:ext cx="886408" cy="5131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388307" y="4100027"/>
            <a:ext cx="2360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/>
              <a:t>posteriori probability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005238" y="4100027"/>
            <a:ext cx="18662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dirty="0"/>
              <a:t>prior probability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996415" y="4095577"/>
            <a:ext cx="1197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dirty="0"/>
              <a:t>likelihood</a:t>
            </a:r>
            <a:endParaRPr lang="en-US" dirty="0"/>
          </a:p>
        </p:txBody>
      </p:sp>
      <p:cxnSp>
        <p:nvCxnSpPr>
          <p:cNvPr id="9" name="Straight Connector 8"/>
          <p:cNvCxnSpPr>
            <a:stCxn id="2" idx="2"/>
            <a:endCxn id="3" idx="0"/>
          </p:cNvCxnSpPr>
          <p:nvPr/>
        </p:nvCxnSpPr>
        <p:spPr>
          <a:xfrm flipH="1">
            <a:off x="3568629" y="3554963"/>
            <a:ext cx="532176" cy="545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8" idx="2"/>
            <a:endCxn id="5" idx="0"/>
          </p:cNvCxnSpPr>
          <p:nvPr/>
        </p:nvCxnSpPr>
        <p:spPr>
          <a:xfrm flipH="1">
            <a:off x="6595169" y="3554963"/>
            <a:ext cx="734027" cy="5406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2"/>
            <a:endCxn id="4" idx="0"/>
          </p:cNvCxnSpPr>
          <p:nvPr/>
        </p:nvCxnSpPr>
        <p:spPr>
          <a:xfrm>
            <a:off x="8197526" y="3554963"/>
            <a:ext cx="740821" cy="545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234186" y="4671753"/>
            <a:ext cx="2668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/>
              <a:t>What we should choose</a:t>
            </a:r>
            <a:endParaRPr lang="en-US" sz="2000" dirty="0"/>
          </a:p>
        </p:txBody>
      </p:sp>
      <p:sp>
        <p:nvSpPr>
          <p:cNvPr id="32" name="Rectangle 31"/>
          <p:cNvSpPr/>
          <p:nvPr/>
        </p:nvSpPr>
        <p:spPr>
          <a:xfrm>
            <a:off x="7772400" y="4671753"/>
            <a:ext cx="28655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dirty="0"/>
              <a:t>What we knew previously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5578693" y="4671753"/>
            <a:ext cx="19741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dirty="0"/>
              <a:t>What we just see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540332" y="5453742"/>
            <a:ext cx="5369093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en-US" sz="2000" dirty="0"/>
              <a:t>Prediction can be done based on Bayes’ Theorem:</a:t>
            </a:r>
            <a:endParaRPr lang="en-US" sz="1800" dirty="0"/>
          </a:p>
        </p:txBody>
      </p:sp>
      <p:sp>
        <p:nvSpPr>
          <p:cNvPr id="10" name="TextBox 9"/>
          <p:cNvSpPr txBox="1"/>
          <p:nvPr/>
        </p:nvSpPr>
        <p:spPr>
          <a:xfrm>
            <a:off x="5152554" y="5960322"/>
            <a:ext cx="6319319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Classification is to derive the maximum posteriori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9248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1815101" y="152400"/>
            <a:ext cx="8202202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/>
              <a:t>Bayes’ Theorem Example: Picnic Day</a:t>
            </a: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>
          <a:xfrm>
            <a:off x="804378" y="1169828"/>
            <a:ext cx="10373903" cy="2148725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The morning is cloudy </a:t>
            </a:r>
            <a:r>
              <a:rPr lang="en-US" altLang="en-US" sz="2400" dirty="0">
                <a:sym typeface="Wingdings"/>
              </a:rPr>
              <a:t></a:t>
            </a:r>
          </a:p>
          <a:p>
            <a:r>
              <a:rPr lang="en-US" altLang="en-US" sz="2400" dirty="0"/>
              <a:t>What is the chance of rain?</a:t>
            </a:r>
          </a:p>
          <a:p>
            <a:r>
              <a:rPr lang="en-US" altLang="en-US" sz="2400" dirty="0"/>
              <a:t>50% of all rainy days start off cloudy</a:t>
            </a:r>
          </a:p>
          <a:p>
            <a:r>
              <a:rPr lang="en-US" altLang="en-US" sz="2400" dirty="0"/>
              <a:t>Cloudy mornings are common (40% of days start cloudy)</a:t>
            </a:r>
          </a:p>
          <a:p>
            <a:r>
              <a:rPr lang="en-US" altLang="en-US" sz="2400" dirty="0"/>
              <a:t>This is usually a dry month (only 3 of 30 days tend to be rainy)</a:t>
            </a: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804378" y="4010610"/>
            <a:ext cx="10754048" cy="1655852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The chance of rain is probably not as high as expected </a:t>
            </a:r>
            <a:r>
              <a:rPr lang="en-US" altLang="en-US" sz="2400" dirty="0">
                <a:sym typeface="Wingdings"/>
              </a:rPr>
              <a:t></a:t>
            </a:r>
          </a:p>
          <a:p>
            <a:r>
              <a:rPr lang="en-US" altLang="en-US" sz="2400" dirty="0">
                <a:sym typeface="Wingdings"/>
              </a:rPr>
              <a:t>Bayes’ Theorem allows us to tell back and forth between posterior and likelihood</a:t>
            </a:r>
          </a:p>
          <a:p>
            <a:pPr marL="0" indent="0">
              <a:buNone/>
            </a:pPr>
            <a:r>
              <a:rPr lang="en-US" altLang="en-US" sz="2400" dirty="0">
                <a:sym typeface="Wingdings"/>
              </a:rPr>
              <a:t>(</a:t>
            </a:r>
            <a:r>
              <a:rPr lang="en-US" altLang="en-US" sz="2400" i="1" dirty="0">
                <a:sym typeface="Wingdings"/>
              </a:rPr>
              <a:t>e.g.</a:t>
            </a:r>
            <a:r>
              <a:rPr lang="en-US" altLang="en-US" sz="2400" dirty="0">
                <a:sym typeface="Wingdings"/>
              </a:rPr>
              <a:t>, P(Rain | Cloud) and P(Cloud | Rain)), tests the reality, which is the most important trick in Bayesian Inference</a:t>
            </a:r>
            <a:endParaRPr lang="en-US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404261" y="2504751"/>
            <a:ext cx="2424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P(Cloud) = 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93656" y="2912496"/>
            <a:ext cx="2364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P(Rain) = 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1329" y="2088103"/>
            <a:ext cx="3267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P(Cloud | Rain) = 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527" y="3354702"/>
            <a:ext cx="10534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en-US" sz="2400" dirty="0">
                <a:solidFill>
                  <a:srgbClr val="FF0000"/>
                </a:solidFill>
              </a:rPr>
              <a:t>P(Rain | Cloud) = P(Rain) P(Cloud | Rain) / P(Cloud) = 10% * 50% / 40% = 12.5%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0329" y="1608363"/>
            <a:ext cx="3267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P(Rain | Cloud) = ?</a:t>
            </a:r>
          </a:p>
        </p:txBody>
      </p:sp>
    </p:spTree>
    <p:extLst>
      <p:ext uri="{BB962C8B-B14F-4D97-AF65-F5344CB8AC3E}">
        <p14:creationId xmlns:p14="http://schemas.microsoft.com/office/powerpoint/2010/main" val="125923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2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895291"/>
          </a:xfrm>
        </p:spPr>
        <p:txBody>
          <a:bodyPr>
            <a:noAutofit/>
          </a:bodyPr>
          <a:lstStyle/>
          <a:p>
            <a:r>
              <a:rPr lang="en-US" altLang="en-US" sz="3600" dirty="0"/>
              <a:t>Naïve Bayes Classifier: Making a Naïve Bayes Assumption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2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755830" y="1291178"/>
                <a:ext cx="10926920" cy="5340791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altLang="en-US" dirty="0"/>
                  <a:t>Based on the Bayes’ Theorem, we can derive a Bayes Classifier to compute the posterior probability of classifying an object X to a class C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altLang="en-US" dirty="0"/>
                  <a:t>P (C|X)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altLang="en-US" dirty="0"/>
                  <a:t> P(X|C)P</a:t>
                </a:r>
                <a:r>
                  <a:rPr lang="de-DE" altLang="en-US" dirty="0"/>
                  <a:t>(C) = P(x1|C)P(x2|x1,C)...P(xn|x1,...,C)P(C)</a:t>
                </a:r>
              </a:p>
              <a:p>
                <a:pPr lvl="1">
                  <a:spcAft>
                    <a:spcPts val="600"/>
                  </a:spcAft>
                </a:pPr>
                <a:endParaRPr lang="en-US" altLang="en-US" dirty="0"/>
              </a:p>
              <a:p>
                <a:pPr>
                  <a:spcAft>
                    <a:spcPts val="600"/>
                  </a:spcAft>
                </a:pPr>
                <a:r>
                  <a:rPr lang="en-US" altLang="en-US" dirty="0"/>
                  <a:t>A naïve </a:t>
                </a:r>
                <a:r>
                  <a:rPr lang="en-US" altLang="en-US" dirty="0" err="1"/>
                  <a:t>bayes</a:t>
                </a:r>
                <a:r>
                  <a:rPr lang="en-US" altLang="en-US" dirty="0"/>
                  <a:t> assumption to simplify the complex dependencies: </a:t>
                </a:r>
                <a:r>
                  <a:rPr lang="en-US" altLang="en-US" i="1" dirty="0"/>
                  <a:t>features are </a:t>
                </a:r>
                <a:r>
                  <a:rPr lang="en-US" altLang="en-US" i="1" dirty="0">
                    <a:solidFill>
                      <a:srgbClr val="FF0000"/>
                    </a:solidFill>
                  </a:rPr>
                  <a:t>conditionally independent</a:t>
                </a:r>
                <a:r>
                  <a:rPr lang="en-US" altLang="en-US" i="1" dirty="0"/>
                  <a:t>, given the class label!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altLang="en-US" dirty="0"/>
                  <a:t>P (C|X)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altLang="en-US" dirty="0"/>
                  <a:t> P(X|C)P</a:t>
                </a:r>
                <a:r>
                  <a:rPr lang="de-DE" altLang="en-US" dirty="0"/>
                  <a:t>(C) ≈ P(x1|C)P(x2|C)...P(</a:t>
                </a:r>
                <a:r>
                  <a:rPr lang="de-DE" altLang="en-US" dirty="0" err="1"/>
                  <a:t>xn|C</a:t>
                </a:r>
                <a:r>
                  <a:rPr lang="de-DE" altLang="en-US" dirty="0"/>
                  <a:t>)P(C)</a:t>
                </a:r>
              </a:p>
              <a:p>
                <a:pPr lvl="1">
                  <a:spcAft>
                    <a:spcPts val="600"/>
                  </a:spcAft>
                </a:pPr>
                <a:endParaRPr lang="de-DE" altLang="en-US" dirty="0"/>
              </a:p>
              <a:p>
                <a:pPr>
                  <a:spcAft>
                    <a:spcPts val="600"/>
                  </a:spcAft>
                </a:pPr>
                <a:r>
                  <a:rPr lang="de-DE" altLang="en-US" dirty="0"/>
                  <a:t>Super </a:t>
                </a:r>
                <a:r>
                  <a:rPr lang="de-DE" altLang="en-US" dirty="0" err="1"/>
                  <a:t>efficient</a:t>
                </a:r>
                <a:r>
                  <a:rPr lang="de-DE" altLang="en-US" dirty="0"/>
                  <a:t>: </a:t>
                </a:r>
                <a:r>
                  <a:rPr lang="de-DE" altLang="en-US" dirty="0" err="1"/>
                  <a:t>each</a:t>
                </a:r>
                <a:r>
                  <a:rPr lang="de-DE" altLang="en-US" dirty="0"/>
                  <a:t> feature </a:t>
                </a:r>
                <a:r>
                  <a:rPr lang="de-DE" altLang="en-US" dirty="0" err="1"/>
                  <a:t>only</a:t>
                </a:r>
                <a:r>
                  <a:rPr lang="de-DE" altLang="en-US" dirty="0"/>
                  <a:t> </a:t>
                </a:r>
                <a:r>
                  <a:rPr lang="de-DE" altLang="en-US" dirty="0" err="1"/>
                  <a:t>conditions</a:t>
                </a:r>
                <a:r>
                  <a:rPr lang="de-DE" altLang="en-US" dirty="0"/>
                  <a:t> on </a:t>
                </a:r>
                <a:r>
                  <a:rPr lang="de-DE" altLang="en-US" dirty="0" err="1"/>
                  <a:t>the</a:t>
                </a:r>
                <a:r>
                  <a:rPr lang="de-DE" altLang="en-US" dirty="0"/>
                  <a:t> </a:t>
                </a:r>
                <a:r>
                  <a:rPr lang="de-DE" altLang="en-US" dirty="0" err="1"/>
                  <a:t>class</a:t>
                </a:r>
                <a:r>
                  <a:rPr lang="de-DE" altLang="en-US" dirty="0"/>
                  <a:t> (</a:t>
                </a:r>
                <a:r>
                  <a:rPr lang="de-DE" altLang="en-US" dirty="0" err="1"/>
                  <a:t>boils</a:t>
                </a:r>
                <a:r>
                  <a:rPr lang="de-DE" altLang="en-US" dirty="0"/>
                  <a:t> down </a:t>
                </a:r>
                <a:r>
                  <a:rPr lang="de-DE" altLang="en-US" dirty="0" err="1"/>
                  <a:t>to</a:t>
                </a:r>
                <a:r>
                  <a:rPr lang="de-DE" altLang="en-US" dirty="0"/>
                  <a:t> sample </a:t>
                </a:r>
                <a:r>
                  <a:rPr lang="de-DE" altLang="en-US" dirty="0" err="1"/>
                  <a:t>counting</a:t>
                </a:r>
                <a:r>
                  <a:rPr lang="de-DE" altLang="en-US" dirty="0"/>
                  <a:t>)</a:t>
                </a:r>
              </a:p>
              <a:p>
                <a:pPr>
                  <a:spcAft>
                    <a:spcPts val="600"/>
                  </a:spcAft>
                </a:pPr>
                <a:r>
                  <a:rPr lang="de-DE" altLang="en-US" dirty="0" err="1"/>
                  <a:t>Achieves</a:t>
                </a:r>
                <a:r>
                  <a:rPr lang="de-DE" altLang="en-US" dirty="0"/>
                  <a:t> </a:t>
                </a:r>
                <a:r>
                  <a:rPr lang="de-DE" altLang="en-US" dirty="0" err="1"/>
                  <a:t>surprisingly</a:t>
                </a:r>
                <a:r>
                  <a:rPr lang="de-DE" altLang="en-US" dirty="0"/>
                  <a:t> </a:t>
                </a:r>
                <a:r>
                  <a:rPr lang="de-DE" altLang="en-US" dirty="0" err="1"/>
                  <a:t>comparable</a:t>
                </a:r>
                <a:r>
                  <a:rPr lang="de-DE" altLang="en-US" dirty="0"/>
                  <a:t> </a:t>
                </a:r>
                <a:r>
                  <a:rPr lang="de-DE" altLang="en-US" dirty="0" err="1"/>
                  <a:t>performance</a:t>
                </a:r>
                <a:r>
                  <a:rPr lang="de-DE" altLang="en-US" dirty="0"/>
                  <a:t>  </a:t>
                </a:r>
                <a:endParaRPr lang="en-US" altLang="en-US" dirty="0"/>
              </a:p>
            </p:txBody>
          </p:sp>
        </mc:Choice>
        <mc:Fallback xmlns="">
          <p:sp>
            <p:nvSpPr>
              <p:cNvPr id="3789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755830" y="1291178"/>
                <a:ext cx="10926920" cy="5340791"/>
              </a:xfrm>
              <a:blipFill>
                <a:blip r:embed="rId3"/>
                <a:stretch>
                  <a:fillRect l="-446" t="-9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887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7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7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113813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Naïve Bayes Classifier: Categorical vs. Continuous Valued Features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2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571499" y="1295400"/>
                <a:ext cx="10887075" cy="5105400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altLang="en-US" dirty="0"/>
                  <a:t>If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altLang="en-US" dirty="0"/>
                  <a:t> is categorical,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is the # of tuples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en-US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altLang="en-US" dirty="0"/>
                  <a:t>, divided by |C</a:t>
                </a:r>
                <a:r>
                  <a:rPr lang="en-US" altLang="en-US" baseline="-25000" dirty="0"/>
                  <a:t>i, D</a:t>
                </a:r>
                <a:r>
                  <a:rPr lang="en-US" altLang="en-US" dirty="0"/>
                  <a:t>| (# of tuples of C</a:t>
                </a:r>
                <a:r>
                  <a:rPr lang="en-US" altLang="en-US" baseline="-25000" dirty="0"/>
                  <a:t>i</a:t>
                </a:r>
                <a:r>
                  <a:rPr lang="en-US" altLang="en-US" dirty="0"/>
                  <a:t> in D)</a:t>
                </a:r>
              </a:p>
              <a:p>
                <a:pPr eaLnBrk="1" hangingPunct="1">
                  <a:spcAft>
                    <a:spcPts val="600"/>
                  </a:spcAft>
                </a:pPr>
                <a:endParaRPr lang="en-US" altLang="en-US" dirty="0"/>
              </a:p>
              <a:p>
                <a:pPr eaLnBrk="1" hangingPunct="1">
                  <a:spcAft>
                    <a:spcPts val="600"/>
                  </a:spcAft>
                </a:pPr>
                <a:endParaRPr lang="en-US" altLang="en-US" dirty="0"/>
              </a:p>
              <a:p>
                <a:pPr>
                  <a:spcAft>
                    <a:spcPts val="600"/>
                  </a:spcAft>
                </a:pPr>
                <a:r>
                  <a:rPr lang="en-US" altLang="en-US" dirty="0"/>
                  <a:t>If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continuous-valued,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en-US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en-US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is usually computed based on Gaussian distribution with a mean </a:t>
                </a:r>
                <a:r>
                  <a:rPr lang="el-GR" altLang="en-US" dirty="0"/>
                  <a:t>μ</a:t>
                </a:r>
                <a:r>
                  <a:rPr lang="en-US" altLang="en-US" dirty="0"/>
                  <a:t> and standard deviation </a:t>
                </a:r>
                <a:r>
                  <a:rPr lang="el-GR" altLang="en-US" dirty="0"/>
                  <a:t>σ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altLang="en-US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 b="0" i="0" smtClean="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en-US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en-US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en-US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en-US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en-US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alt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altLang="en-US" b="0" i="0" smtClean="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en-US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en-US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altLang="en-US" b="0" dirty="0"/>
              </a:p>
              <a:p>
                <a:pPr marL="0" indent="0">
                  <a:spcAft>
                    <a:spcPts val="600"/>
                  </a:spcAft>
                  <a:buNone/>
                </a:pPr>
                <a:endParaRPr lang="en-US" altLang="en-US" dirty="0"/>
              </a:p>
              <a:p>
                <a:pPr eaLnBrk="1" hangingPunct="1">
                  <a:spcAft>
                    <a:spcPts val="600"/>
                  </a:spcAft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3789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571499" y="1295400"/>
                <a:ext cx="10887075" cy="5105400"/>
              </a:xfrm>
              <a:blipFill rotWithShape="0">
                <a:blip r:embed="rId3"/>
                <a:stretch>
                  <a:fillRect l="-448" t="-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050633" y="2418926"/>
                <a:ext cx="7488781" cy="4622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en-US" sz="24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en-US" sz="24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en-US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endChr m:val="|"/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US" sz="2400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en-US" sz="2400" b="0" i="0" smtClean="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24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2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en-US" sz="2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en-US" sz="2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i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24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en-US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400" i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24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en-US" sz="24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sz="24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en-US" sz="2400" i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24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en-US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400" i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24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en-US" sz="2400" i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sz="24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∙∙∙∙∙</m:t>
                    </m:r>
                    <m:r>
                      <m:rPr>
                        <m:sty m:val="p"/>
                      </m:rPr>
                      <a:rPr lang="en-US" altLang="en-US" sz="2400" i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24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24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400" i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24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633" y="2418926"/>
                <a:ext cx="7488781" cy="462242"/>
              </a:xfrm>
              <a:prstGeom prst="rect">
                <a:avLst/>
              </a:prstGeom>
              <a:blipFill rotWithShape="0">
                <a:blip r:embed="rId4"/>
                <a:stretch>
                  <a:fillRect l="-244" t="-130263" b="-194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23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542925" y="76200"/>
            <a:ext cx="11191875" cy="867384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/>
              <a:t>Naïve Bayes Classifier Example 1: Training Dataset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638175" y="1828800"/>
            <a:ext cx="4467225" cy="1697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Class: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play golf= ‘yes’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play golf = ‘no’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2AB074-FABC-804F-8990-7262D9F0D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312" y="1377950"/>
            <a:ext cx="6745288" cy="485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4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542925" y="76200"/>
            <a:ext cx="11191875" cy="86738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Naïve Bayes Classifier Example </a:t>
            </a:r>
            <a:r>
              <a:rPr lang="en-US" altLang="en-US" sz="4000" b="1" i="1" u="sng" dirty="0"/>
              <a:t>P(Yes | Sunny)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7D6C7E-945E-BF4F-9F69-7786CFE37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03" y="1099355"/>
            <a:ext cx="11670317" cy="523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2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542925" y="76200"/>
            <a:ext cx="11191875" cy="86738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Naïve Bayes Classifier Example: </a:t>
            </a:r>
            <a:r>
              <a:rPr lang="en-US" altLang="en-US" sz="4000" b="1" u="sng" dirty="0"/>
              <a:t>P(No | Sunny)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7CB58B-C5BE-214E-9CF1-3AE124E95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85" y="1347631"/>
            <a:ext cx="11715153" cy="526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14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542925" y="76200"/>
            <a:ext cx="11191875" cy="86738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Naïve Bayes Classifier Example: </a:t>
            </a:r>
            <a:r>
              <a:rPr lang="en-US" altLang="en-US" sz="4000" b="1" u="sng" dirty="0"/>
              <a:t>Likelihood Tables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D9E14B-6AB4-404F-85A1-572804BAA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219200"/>
            <a:ext cx="66548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96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542925" y="76200"/>
            <a:ext cx="11191875" cy="86738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Naïve Bayes Classifier Example: </a:t>
            </a:r>
            <a:r>
              <a:rPr lang="en-US" altLang="en-US" sz="4000" b="1" u="sng" dirty="0"/>
              <a:t>Likelihood Tables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A8EB14-1C47-9544-9DE7-CAC11BAF1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650" y="1619250"/>
            <a:ext cx="7785100" cy="3543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CBD9FD-BEB3-4AEE-977E-F72DDAF22590}"/>
              </a:ext>
            </a:extLst>
          </p:cNvPr>
          <p:cNvSpPr txBox="1"/>
          <p:nvPr/>
        </p:nvSpPr>
        <p:spPr>
          <a:xfrm>
            <a:off x="1974850" y="5453495"/>
            <a:ext cx="472648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P(x) = P( x | yes ) * P (yes) + P( x | no ) * P (no)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6950DE-69D5-4483-B5FC-ACF4E822E1BE}"/>
              </a:ext>
            </a:extLst>
          </p:cNvPr>
          <p:cNvSpPr/>
          <p:nvPr/>
        </p:nvSpPr>
        <p:spPr>
          <a:xfrm>
            <a:off x="9687020" y="2849290"/>
            <a:ext cx="768159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/ P(x)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80517A-3204-40F6-A8F3-6FA73F7EFEF2}"/>
              </a:ext>
            </a:extLst>
          </p:cNvPr>
          <p:cNvSpPr/>
          <p:nvPr/>
        </p:nvSpPr>
        <p:spPr>
          <a:xfrm>
            <a:off x="9540970" y="4017690"/>
            <a:ext cx="768159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/ P(x)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87048-D403-4B09-B1C2-ABFD55CAD69E}"/>
              </a:ext>
            </a:extLst>
          </p:cNvPr>
          <p:cNvSpPr/>
          <p:nvPr/>
        </p:nvSpPr>
        <p:spPr>
          <a:xfrm>
            <a:off x="7689850" y="4786040"/>
            <a:ext cx="1416050" cy="1987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EB4630D-CD43-4436-8F09-9B2DCDA41909}"/>
              </a:ext>
            </a:extLst>
          </p:cNvPr>
          <p:cNvCxnSpPr>
            <a:stCxn id="3" idx="3"/>
          </p:cNvCxnSpPr>
          <p:nvPr/>
        </p:nvCxnSpPr>
        <p:spPr>
          <a:xfrm flipV="1">
            <a:off x="6701337" y="5054600"/>
            <a:ext cx="988513" cy="5912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103D683-2120-447A-8F0F-6B3184F9F8CE}"/>
              </a:ext>
            </a:extLst>
          </p:cNvPr>
          <p:cNvSpPr/>
          <p:nvPr/>
        </p:nvSpPr>
        <p:spPr>
          <a:xfrm>
            <a:off x="3190779" y="3340582"/>
            <a:ext cx="2919389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 ______________________</a:t>
            </a:r>
          </a:p>
          <a:p>
            <a:pPr algn="ctr"/>
            <a:r>
              <a:rPr lang="en-US" i="1" dirty="0">
                <a:solidFill>
                  <a:srgbClr val="FF0000"/>
                </a:solidFill>
              </a:rPr>
              <a:t>P(x)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5A773B-5F2D-460E-87B8-9B4F57746A01}"/>
              </a:ext>
            </a:extLst>
          </p:cNvPr>
          <p:cNvSpPr/>
          <p:nvPr/>
        </p:nvSpPr>
        <p:spPr>
          <a:xfrm>
            <a:off x="3127898" y="4460186"/>
            <a:ext cx="2919389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 ______________________</a:t>
            </a:r>
          </a:p>
          <a:p>
            <a:pPr algn="ctr"/>
            <a:r>
              <a:rPr lang="en-US" i="1" dirty="0">
                <a:solidFill>
                  <a:srgbClr val="FF0000"/>
                </a:solidFill>
              </a:rPr>
              <a:t>P(x)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307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121920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Avoiding the Zero-Probability Problem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19200"/>
            <a:ext cx="10848975" cy="5486400"/>
          </a:xfrm>
        </p:spPr>
        <p:txBody>
          <a:bodyPr/>
          <a:lstStyle/>
          <a:p>
            <a:r>
              <a:rPr lang="en-US" altLang="en-US" dirty="0"/>
              <a:t>Naïve Bayesian prediction requires each conditional probability be </a:t>
            </a:r>
            <a:r>
              <a:rPr lang="en-US" altLang="en-US" b="1" dirty="0"/>
              <a:t>non-zero</a:t>
            </a:r>
            <a:endParaRPr lang="en-US" altLang="en-US" dirty="0"/>
          </a:p>
          <a:p>
            <a:pPr lvl="1"/>
            <a:r>
              <a:rPr lang="en-US" altLang="en-US" dirty="0"/>
              <a:t> Otherwise, the predicted probability will be zero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eaLnBrk="1" hangingPunct="1"/>
            <a:r>
              <a:rPr lang="en-US" altLang="en-US" dirty="0"/>
              <a:t>Example.  Suppose a dataset with 1,000 tuples:</a:t>
            </a:r>
          </a:p>
          <a:p>
            <a:pPr marL="622285" lvl="3" indent="0">
              <a:buNone/>
            </a:pPr>
            <a:r>
              <a:rPr lang="en-US" altLang="en-US" dirty="0"/>
              <a:t>income = low (0), income= medium (990), and income = high (10)</a:t>
            </a:r>
          </a:p>
          <a:p>
            <a:pPr eaLnBrk="1" hangingPunct="1"/>
            <a:r>
              <a:rPr lang="en-US" altLang="en-US" dirty="0"/>
              <a:t>Use </a:t>
            </a:r>
            <a:r>
              <a:rPr lang="en-US" altLang="en-US" b="1" dirty="0"/>
              <a:t>Laplacian correction</a:t>
            </a:r>
            <a:r>
              <a:rPr lang="en-US" altLang="en-US" dirty="0"/>
              <a:t> (or Laplacian estimator)</a:t>
            </a:r>
          </a:p>
          <a:p>
            <a:pPr lvl="1" eaLnBrk="1" hangingPunct="1"/>
            <a:r>
              <a:rPr lang="en-US" altLang="en-US" i="1" dirty="0"/>
              <a:t>Adding 1 (or a small integer) to each case  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dirty="0" err="1"/>
              <a:t>Prob</a:t>
            </a:r>
            <a:r>
              <a:rPr lang="en-US" altLang="en-US" dirty="0"/>
              <a:t>(income = low) = 1/(1000 + 3)</a:t>
            </a:r>
          </a:p>
          <a:p>
            <a:pPr lvl="3">
              <a:buNone/>
            </a:pPr>
            <a:r>
              <a:rPr lang="en-US" altLang="en-US" dirty="0" err="1"/>
              <a:t>Prob</a:t>
            </a:r>
            <a:r>
              <a:rPr lang="en-US" altLang="en-US" dirty="0"/>
              <a:t>(income = medium) = (990 + 1)/(1000 + 3)</a:t>
            </a:r>
          </a:p>
          <a:p>
            <a:pPr lvl="3">
              <a:buNone/>
            </a:pPr>
            <a:r>
              <a:rPr lang="en-US" altLang="en-US" dirty="0" err="1"/>
              <a:t>Prob</a:t>
            </a:r>
            <a:r>
              <a:rPr lang="en-US" altLang="en-US" dirty="0"/>
              <a:t>(income = high) = (10 + 1)/(1000 + 3)</a:t>
            </a:r>
          </a:p>
          <a:p>
            <a:pPr lvl="1"/>
            <a:r>
              <a:rPr lang="en-US" altLang="en-US" dirty="0"/>
              <a:t>The “corrected” probability estimates are close to their “uncorrected” counterparts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859984" y="2110833"/>
                <a:ext cx="636725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en-US" sz="20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endChr m:val="|"/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∙∙∙∙∙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984" y="2110833"/>
                <a:ext cx="6367256" cy="400110"/>
              </a:xfrm>
              <a:prstGeom prst="rect">
                <a:avLst/>
              </a:prstGeom>
              <a:blipFill rotWithShape="0">
                <a:blip r:embed="rId3"/>
                <a:stretch>
                  <a:fillRect t="-122727" b="-18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699" y="3513651"/>
            <a:ext cx="3296227" cy="211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77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0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9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09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09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09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09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09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581024" y="76199"/>
            <a:ext cx="10982325" cy="94297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Naïve Bayes Classifier: Strength vs. Weakness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48" y="1148521"/>
            <a:ext cx="10887076" cy="5514829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Strength </a:t>
            </a:r>
          </a:p>
          <a:p>
            <a:pPr lvl="1"/>
            <a:r>
              <a:rPr lang="en-US" altLang="en-US" sz="2400" u="sng" dirty="0"/>
              <a:t>Performance</a:t>
            </a:r>
            <a:r>
              <a:rPr lang="en-US" altLang="en-US" sz="2400" dirty="0"/>
              <a:t>:  A </a:t>
            </a:r>
            <a:r>
              <a:rPr lang="en-US" altLang="en-US" sz="2400" i="1" dirty="0"/>
              <a:t>naïve Bayesian classifier</a:t>
            </a:r>
            <a:r>
              <a:rPr lang="en-US" altLang="en-US" sz="2400" dirty="0"/>
              <a:t>, has comparable performance with decision tree and selected neural network classifiers</a:t>
            </a:r>
          </a:p>
          <a:p>
            <a:pPr lvl="1"/>
            <a:r>
              <a:rPr lang="en-US" altLang="en-US" sz="2400" u="sng" dirty="0"/>
              <a:t>Incremental</a:t>
            </a:r>
            <a:r>
              <a:rPr lang="en-US" altLang="en-US" sz="2400" dirty="0"/>
              <a:t>:   Each training example can incrementally increase/decrease the probability that a hypothesis is correct—prior knowledge can be combined with observed data</a:t>
            </a:r>
          </a:p>
        </p:txBody>
      </p:sp>
    </p:spTree>
    <p:extLst>
      <p:ext uri="{BB962C8B-B14F-4D97-AF65-F5344CB8AC3E}">
        <p14:creationId xmlns:p14="http://schemas.microsoft.com/office/powerpoint/2010/main" val="2451928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581024" y="76199"/>
            <a:ext cx="10982325" cy="94297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Naïve Bayes Classifier: Strength vs. Weakness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48" y="1148521"/>
            <a:ext cx="10887076" cy="5514829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Weakness</a:t>
            </a:r>
          </a:p>
          <a:p>
            <a:pPr lvl="1" eaLnBrk="1" hangingPunct="1"/>
            <a:r>
              <a:rPr lang="en-US" altLang="en-US" sz="2400" dirty="0"/>
              <a:t>Assumption: attributes conditional independence, therefore loss of accuracy</a:t>
            </a:r>
          </a:p>
          <a:p>
            <a:pPr lvl="2" eaLnBrk="1" hangingPunct="1"/>
            <a:r>
              <a:rPr lang="en-US" altLang="en-US" sz="2400" dirty="0"/>
              <a:t>E.g., Patient’s Profile: (age, family history)</a:t>
            </a:r>
          </a:p>
          <a:p>
            <a:pPr lvl="2" eaLnBrk="1" hangingPunct="1"/>
            <a:r>
              <a:rPr lang="en-US" altLang="en-US" sz="2400" dirty="0"/>
              <a:t>         Patient’s Symptoms:  (fever, cough)  </a:t>
            </a:r>
          </a:p>
          <a:p>
            <a:pPr lvl="2" eaLnBrk="1" hangingPunct="1"/>
            <a:r>
              <a:rPr lang="en-US" altLang="en-US" sz="2400" dirty="0"/>
              <a:t>         Patient’s Disease: (lung cancer, diabetes) </a:t>
            </a:r>
          </a:p>
          <a:p>
            <a:pPr lvl="2" eaLnBrk="1" hangingPunct="1"/>
            <a:r>
              <a:rPr lang="en-US" altLang="en-US" sz="2400" dirty="0"/>
              <a:t>Dependencies among these cannot be modeled by Naïve Bayes Classifier</a:t>
            </a:r>
          </a:p>
          <a:p>
            <a:pPr lvl="1"/>
            <a:r>
              <a:rPr lang="en-US" altLang="en-US" sz="2400" dirty="0"/>
              <a:t>How to deal with these dependencies? </a:t>
            </a:r>
          </a:p>
          <a:p>
            <a:pPr marL="384166" lvl="2" indent="0">
              <a:buNone/>
            </a:pPr>
            <a:r>
              <a:rPr lang="en-US" altLang="en-US" sz="2400" dirty="0"/>
              <a:t>      Use Bayesian Belief Networks (Chapter 7)</a:t>
            </a:r>
          </a:p>
          <a:p>
            <a:pPr marL="200021" lvl="1" indent="0"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9242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6. Classification: Basic Concepts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 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Lazy Learners (or learning from your neighbors)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Linear Classifiers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7022906" y="3065016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952375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Lazy vs. Eager Learning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371600"/>
            <a:ext cx="10877550" cy="501015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altLang="en-US" sz="2400" u="sng" dirty="0"/>
              <a:t>Lazy vs. eager learning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b="1" dirty="0"/>
              <a:t>Lazy learning</a:t>
            </a:r>
            <a:r>
              <a:rPr lang="en-US" altLang="en-US" sz="2400" dirty="0"/>
              <a:t> (e.g., instance-based learning): Simply stores training data (or only minor processing) and waits until it is given a test tuple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b="1" dirty="0"/>
              <a:t>Eager learning</a:t>
            </a:r>
            <a:r>
              <a:rPr lang="en-US" altLang="en-US" sz="2400" dirty="0"/>
              <a:t> (the above discussed methods): Given a set of training tuples, constructs a classification model before receiving new (e.g., test) data to classify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Lazy: less time in training but more time in predicting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Accuracy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Lazy method effectively uses a richer hypothesis space since it uses many local linear functions to form an implicit global approximation to the target function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Eager: must commit to a single hypothesis that covers the entire instance space</a:t>
            </a:r>
          </a:p>
        </p:txBody>
      </p:sp>
    </p:spTree>
    <p:extLst>
      <p:ext uri="{BB962C8B-B14F-4D97-AF65-F5344CB8AC3E}">
        <p14:creationId xmlns:p14="http://schemas.microsoft.com/office/powerpoint/2010/main" val="2309052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-1"/>
            <a:ext cx="11049000" cy="1076325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/>
              <a:t>Lazy Learner: Instance-Based Methods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9150" y="1371600"/>
            <a:ext cx="10610850" cy="50292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dirty="0"/>
              <a:t>Instance-based learning: </a:t>
            </a:r>
          </a:p>
          <a:p>
            <a:pPr lvl="1" eaLnBrk="1" hangingPunct="1"/>
            <a:r>
              <a:rPr lang="en-US" altLang="en-US" sz="2400" dirty="0"/>
              <a:t>Store training examples and delay the processing (“lazy evaluation”) until a new instance must be classified</a:t>
            </a:r>
          </a:p>
          <a:p>
            <a:pPr eaLnBrk="1" hangingPunct="1"/>
            <a:r>
              <a:rPr lang="en-US" altLang="en-US" sz="2400" dirty="0"/>
              <a:t>Typical approaches</a:t>
            </a:r>
            <a:endParaRPr lang="en-US" altLang="en-US" sz="2400" u="sng" dirty="0"/>
          </a:p>
          <a:p>
            <a:pPr lvl="1" eaLnBrk="1" hangingPunct="1"/>
            <a:r>
              <a:rPr lang="en-US" altLang="en-US" sz="2400" i="1" u="sng" dirty="0"/>
              <a:t>k</a:t>
            </a:r>
            <a:r>
              <a:rPr lang="en-US" altLang="en-US" sz="2400" u="sng" dirty="0"/>
              <a:t>-nearest neighbor approach</a:t>
            </a:r>
            <a:endParaRPr lang="en-US" altLang="en-US" sz="2400" dirty="0"/>
          </a:p>
          <a:p>
            <a:pPr lvl="2" eaLnBrk="1" hangingPunct="1"/>
            <a:r>
              <a:rPr lang="en-US" altLang="en-US" sz="2400" dirty="0"/>
              <a:t>Instances represented as points in a Euclidean space.</a:t>
            </a:r>
          </a:p>
          <a:p>
            <a:pPr lvl="1" eaLnBrk="1" hangingPunct="1"/>
            <a:r>
              <a:rPr lang="en-US" altLang="en-US" sz="2400" u="sng" dirty="0"/>
              <a:t>Locally weighted regression</a:t>
            </a:r>
            <a:endParaRPr lang="en-US" altLang="en-US" sz="2400" dirty="0"/>
          </a:p>
          <a:p>
            <a:pPr lvl="2" eaLnBrk="1" hangingPunct="1"/>
            <a:r>
              <a:rPr lang="en-US" altLang="en-US" sz="2400" dirty="0"/>
              <a:t>Constructs local approximation</a:t>
            </a:r>
          </a:p>
          <a:p>
            <a:pPr lvl="1" eaLnBrk="1" hangingPunct="1"/>
            <a:r>
              <a:rPr lang="en-US" altLang="en-US" sz="2400" u="sng" dirty="0"/>
              <a:t>Case-based reasoning</a:t>
            </a:r>
            <a:endParaRPr lang="en-US" altLang="en-US" sz="2400" dirty="0"/>
          </a:p>
          <a:p>
            <a:pPr lvl="2" eaLnBrk="1" hangingPunct="1"/>
            <a:r>
              <a:rPr lang="en-US" altLang="en-US" sz="2400" dirty="0"/>
              <a:t>Uses symbolic representations and knowledge-based inference</a:t>
            </a:r>
          </a:p>
        </p:txBody>
      </p:sp>
    </p:spTree>
    <p:extLst>
      <p:ext uri="{BB962C8B-B14F-4D97-AF65-F5344CB8AC3E}">
        <p14:creationId xmlns:p14="http://schemas.microsoft.com/office/powerpoint/2010/main" val="31105162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523875" y="0"/>
            <a:ext cx="11029950" cy="1014414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/>
              <a:t>The </a:t>
            </a:r>
            <a:r>
              <a:rPr lang="en-US" altLang="en-US" i="1" dirty="0"/>
              <a:t>k</a:t>
            </a:r>
            <a:r>
              <a:rPr lang="en-US" altLang="en-US" dirty="0"/>
              <a:t>-Nearest Neighbor Algorithm</a:t>
            </a:r>
            <a:endParaRPr lang="en-US" altLang="en-US" sz="3200" dirty="0"/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75" y="1243014"/>
            <a:ext cx="10677525" cy="300672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dirty="0"/>
              <a:t>All instances correspond to points in the n-D space</a:t>
            </a:r>
          </a:p>
          <a:p>
            <a:pPr eaLnBrk="1" hangingPunct="1"/>
            <a:r>
              <a:rPr lang="en-US" altLang="en-US" sz="2400" dirty="0"/>
              <a:t>The nearest neighbor are defined in terms of Euclidean distance, </a:t>
            </a:r>
            <a:r>
              <a:rPr lang="en-US" altLang="en-US" sz="2400" dirty="0" err="1"/>
              <a:t>dist</a:t>
            </a:r>
            <a:r>
              <a:rPr lang="en-US" altLang="en-US" sz="2400" dirty="0"/>
              <a:t>(</a:t>
            </a:r>
            <a:r>
              <a:rPr lang="en-US" altLang="en-US" sz="2400" b="1" dirty="0"/>
              <a:t>X</a:t>
            </a:r>
            <a:r>
              <a:rPr lang="en-US" altLang="en-US" sz="2400" b="1" baseline="-25000" dirty="0"/>
              <a:t>1</a:t>
            </a:r>
            <a:r>
              <a:rPr lang="en-US" altLang="en-US" sz="2400" dirty="0"/>
              <a:t>, </a:t>
            </a:r>
            <a:r>
              <a:rPr lang="en-US" altLang="en-US" sz="2400" b="1" dirty="0"/>
              <a:t>X</a:t>
            </a:r>
            <a:r>
              <a:rPr lang="en-US" altLang="en-US" sz="2400" b="1" baseline="-25000" dirty="0"/>
              <a:t>2</a:t>
            </a:r>
            <a:r>
              <a:rPr lang="en-US" altLang="en-US" sz="2400" dirty="0"/>
              <a:t>)</a:t>
            </a:r>
          </a:p>
          <a:p>
            <a:pPr eaLnBrk="1" hangingPunct="1"/>
            <a:r>
              <a:rPr lang="en-US" altLang="en-US" sz="2400" dirty="0"/>
              <a:t>Target function could be discrete- or real- valued</a:t>
            </a:r>
          </a:p>
          <a:p>
            <a:pPr eaLnBrk="1" hangingPunct="1"/>
            <a:r>
              <a:rPr lang="en-US" altLang="en-US" sz="2400" dirty="0"/>
              <a:t>For discrete-valued, </a:t>
            </a:r>
            <a:r>
              <a:rPr lang="en-US" altLang="en-US" sz="2400" i="1" dirty="0"/>
              <a:t>k</a:t>
            </a:r>
            <a:r>
              <a:rPr lang="en-US" altLang="en-US" sz="2400" dirty="0"/>
              <a:t>-NN returns the most common value among the </a:t>
            </a:r>
            <a:r>
              <a:rPr lang="en-US" altLang="en-US" sz="2400" i="1" dirty="0"/>
              <a:t>k</a:t>
            </a:r>
            <a:r>
              <a:rPr lang="en-US" altLang="en-US" sz="2400" dirty="0"/>
              <a:t> training examples nearest to </a:t>
            </a:r>
            <a:r>
              <a:rPr lang="en-US" altLang="en-US" sz="2400" i="1" dirty="0" err="1"/>
              <a:t>x</a:t>
            </a:r>
            <a:r>
              <a:rPr lang="en-US" altLang="en-US" sz="2400" i="1" baseline="-25000" dirty="0" err="1"/>
              <a:t>q</a:t>
            </a:r>
            <a:endParaRPr lang="en-US" altLang="en-US" sz="2400" dirty="0"/>
          </a:p>
          <a:p>
            <a:pPr eaLnBrk="1" hangingPunct="1"/>
            <a:r>
              <a:rPr lang="en-US" altLang="en-US" sz="2400" dirty="0" err="1"/>
              <a:t>Vonoroi</a:t>
            </a:r>
            <a:r>
              <a:rPr lang="en-US" altLang="en-US" sz="2400" dirty="0"/>
              <a:t> diagram: the decision surface induced by 1-NN for a typical set of training examples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997075" y="4419599"/>
            <a:ext cx="7356475" cy="2057401"/>
            <a:chOff x="2168525" y="4724400"/>
            <a:chExt cx="7356475" cy="2057401"/>
          </a:xfrm>
        </p:grpSpPr>
        <p:sp>
          <p:nvSpPr>
            <p:cNvPr id="54277" name="Rectangle 4"/>
            <p:cNvSpPr>
              <a:spLocks noChangeArrowheads="1"/>
            </p:cNvSpPr>
            <p:nvPr/>
          </p:nvSpPr>
          <p:spPr bwMode="auto">
            <a:xfrm>
              <a:off x="2168525" y="4762501"/>
              <a:ext cx="3581400" cy="1905000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78" name="Rectangle 5"/>
            <p:cNvSpPr>
              <a:spLocks noChangeArrowheads="1"/>
            </p:cNvSpPr>
            <p:nvPr/>
          </p:nvSpPr>
          <p:spPr bwMode="auto">
            <a:xfrm>
              <a:off x="6096000" y="4724400"/>
              <a:ext cx="3429000" cy="1905000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79" name="Oval 6"/>
            <p:cNvSpPr>
              <a:spLocks noChangeArrowheads="1"/>
            </p:cNvSpPr>
            <p:nvPr/>
          </p:nvSpPr>
          <p:spPr bwMode="auto">
            <a:xfrm>
              <a:off x="3276600" y="5029200"/>
              <a:ext cx="1371600" cy="1447800"/>
            </a:xfrm>
            <a:prstGeom prst="ellipse">
              <a:avLst/>
            </a:prstGeom>
            <a:solidFill>
              <a:srgbClr val="FF6699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  . </a:t>
              </a:r>
            </a:p>
          </p:txBody>
        </p:sp>
        <p:sp>
          <p:nvSpPr>
            <p:cNvPr id="54280" name="Text Box 7"/>
            <p:cNvSpPr txBox="1">
              <a:spLocks noChangeArrowheads="1"/>
            </p:cNvSpPr>
            <p:nvPr/>
          </p:nvSpPr>
          <p:spPr bwMode="auto">
            <a:xfrm>
              <a:off x="3505200" y="5257801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</a:p>
          </p:txBody>
        </p:sp>
        <p:sp>
          <p:nvSpPr>
            <p:cNvPr id="54281" name="Text Box 8"/>
            <p:cNvSpPr txBox="1">
              <a:spLocks noChangeArrowheads="1"/>
            </p:cNvSpPr>
            <p:nvPr/>
          </p:nvSpPr>
          <p:spPr bwMode="auto">
            <a:xfrm>
              <a:off x="4038600" y="5486401"/>
              <a:ext cx="312738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+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82" name="Text Box 9"/>
            <p:cNvSpPr txBox="1">
              <a:spLocks noChangeArrowheads="1"/>
            </p:cNvSpPr>
            <p:nvPr/>
          </p:nvSpPr>
          <p:spPr bwMode="auto">
            <a:xfrm>
              <a:off x="3352800" y="5715001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</a:p>
          </p:txBody>
        </p:sp>
        <p:sp>
          <p:nvSpPr>
            <p:cNvPr id="54283" name="Text Box 10"/>
            <p:cNvSpPr txBox="1">
              <a:spLocks noChangeArrowheads="1"/>
            </p:cNvSpPr>
            <p:nvPr/>
          </p:nvSpPr>
          <p:spPr bwMode="auto">
            <a:xfrm>
              <a:off x="3962400" y="5791201"/>
              <a:ext cx="3683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1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x</a:t>
              </a:r>
              <a:r>
                <a:rPr kumimoji="0" lang="en-US" altLang="en-US" sz="1600" b="1" i="1" u="none" strike="noStrike" kern="1200" cap="none" spc="0" normalizeH="0" baseline="-2500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q</a:t>
              </a:r>
              <a:endParaRPr kumimoji="0" lang="en-US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84" name="Text Box 11"/>
            <p:cNvSpPr txBox="1">
              <a:spLocks noChangeArrowheads="1"/>
            </p:cNvSpPr>
            <p:nvPr/>
          </p:nvSpPr>
          <p:spPr bwMode="auto">
            <a:xfrm>
              <a:off x="3810001" y="6248401"/>
              <a:ext cx="29686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+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85" name="Text Box 12"/>
            <p:cNvSpPr txBox="1">
              <a:spLocks noChangeArrowheads="1"/>
            </p:cNvSpPr>
            <p:nvPr/>
          </p:nvSpPr>
          <p:spPr bwMode="auto">
            <a:xfrm>
              <a:off x="4114800" y="5105401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86" name="Text Box 13"/>
            <p:cNvSpPr txBox="1">
              <a:spLocks noChangeArrowheads="1"/>
            </p:cNvSpPr>
            <p:nvPr/>
          </p:nvSpPr>
          <p:spPr bwMode="auto">
            <a:xfrm>
              <a:off x="4556125" y="5143501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87" name="Text Box 14"/>
            <p:cNvSpPr txBox="1">
              <a:spLocks noChangeArrowheads="1"/>
            </p:cNvSpPr>
            <p:nvPr/>
          </p:nvSpPr>
          <p:spPr bwMode="auto">
            <a:xfrm>
              <a:off x="2879725" y="5372101"/>
              <a:ext cx="312738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+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88" name="Text Box 15"/>
            <p:cNvSpPr txBox="1">
              <a:spLocks noChangeArrowheads="1"/>
            </p:cNvSpPr>
            <p:nvPr/>
          </p:nvSpPr>
          <p:spPr bwMode="auto">
            <a:xfrm>
              <a:off x="3108325" y="6134101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</a:p>
          </p:txBody>
        </p:sp>
        <p:sp>
          <p:nvSpPr>
            <p:cNvPr id="54289" name="Text Box 16"/>
            <p:cNvSpPr txBox="1">
              <a:spLocks noChangeArrowheads="1"/>
            </p:cNvSpPr>
            <p:nvPr/>
          </p:nvSpPr>
          <p:spPr bwMode="auto">
            <a:xfrm>
              <a:off x="3200400" y="4876801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90" name="Text Box 17"/>
            <p:cNvSpPr txBox="1">
              <a:spLocks noChangeArrowheads="1"/>
            </p:cNvSpPr>
            <p:nvPr/>
          </p:nvSpPr>
          <p:spPr bwMode="auto">
            <a:xfrm>
              <a:off x="4632325" y="5753101"/>
              <a:ext cx="312738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+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91" name="Text Box 18"/>
            <p:cNvSpPr txBox="1">
              <a:spLocks noChangeArrowheads="1"/>
            </p:cNvSpPr>
            <p:nvPr/>
          </p:nvSpPr>
          <p:spPr bwMode="auto">
            <a:xfrm>
              <a:off x="7315200" y="4759326"/>
              <a:ext cx="311150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.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92" name="Line 19"/>
            <p:cNvSpPr>
              <a:spLocks noChangeShapeType="1"/>
            </p:cNvSpPr>
            <p:nvPr/>
          </p:nvSpPr>
          <p:spPr bwMode="auto">
            <a:xfrm>
              <a:off x="6705600" y="5181600"/>
              <a:ext cx="609600" cy="60960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293" name="Line 20"/>
            <p:cNvSpPr>
              <a:spLocks noChangeShapeType="1"/>
            </p:cNvSpPr>
            <p:nvPr/>
          </p:nvSpPr>
          <p:spPr bwMode="auto">
            <a:xfrm flipV="1">
              <a:off x="7315200" y="5410200"/>
              <a:ext cx="1295400" cy="38100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294" name="Line 21"/>
            <p:cNvSpPr>
              <a:spLocks noChangeShapeType="1"/>
            </p:cNvSpPr>
            <p:nvPr/>
          </p:nvSpPr>
          <p:spPr bwMode="auto">
            <a:xfrm>
              <a:off x="7315200" y="5791200"/>
              <a:ext cx="0" cy="38100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295" name="Line 22"/>
            <p:cNvSpPr>
              <a:spLocks noChangeShapeType="1"/>
            </p:cNvSpPr>
            <p:nvPr/>
          </p:nvSpPr>
          <p:spPr bwMode="auto">
            <a:xfrm>
              <a:off x="7315200" y="6172200"/>
              <a:ext cx="1447800" cy="30480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296" name="Line 23"/>
            <p:cNvSpPr>
              <a:spLocks noChangeShapeType="1"/>
            </p:cNvSpPr>
            <p:nvPr/>
          </p:nvSpPr>
          <p:spPr bwMode="auto">
            <a:xfrm flipH="1">
              <a:off x="6477000" y="6172200"/>
              <a:ext cx="838200" cy="22860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297" name="Line 24"/>
            <p:cNvSpPr>
              <a:spLocks noChangeShapeType="1"/>
            </p:cNvSpPr>
            <p:nvPr/>
          </p:nvSpPr>
          <p:spPr bwMode="auto">
            <a:xfrm>
              <a:off x="8305800" y="5486400"/>
              <a:ext cx="228600" cy="91440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298" name="Rectangle 25"/>
            <p:cNvSpPr>
              <a:spLocks noChangeArrowheads="1"/>
            </p:cNvSpPr>
            <p:nvPr/>
          </p:nvSpPr>
          <p:spPr bwMode="auto">
            <a:xfrm>
              <a:off x="7772400" y="5521326"/>
              <a:ext cx="311150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.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99" name="Text Box 26"/>
            <p:cNvSpPr txBox="1">
              <a:spLocks noChangeArrowheads="1"/>
            </p:cNvSpPr>
            <p:nvPr/>
          </p:nvSpPr>
          <p:spPr bwMode="auto">
            <a:xfrm>
              <a:off x="7299325" y="6080126"/>
              <a:ext cx="311150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.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300" name="Text Box 27"/>
            <p:cNvSpPr txBox="1">
              <a:spLocks noChangeArrowheads="1"/>
            </p:cNvSpPr>
            <p:nvPr/>
          </p:nvSpPr>
          <p:spPr bwMode="auto">
            <a:xfrm>
              <a:off x="6623050" y="5334001"/>
              <a:ext cx="311150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.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301" name="Text Box 28"/>
            <p:cNvSpPr txBox="1">
              <a:spLocks noChangeArrowheads="1"/>
            </p:cNvSpPr>
            <p:nvPr/>
          </p:nvSpPr>
          <p:spPr bwMode="auto">
            <a:xfrm>
              <a:off x="8839200" y="5394326"/>
              <a:ext cx="311150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.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13777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8686800" cy="6858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/>
              <a:t>Discussion on the </a:t>
            </a:r>
            <a:r>
              <a:rPr lang="en-US" altLang="en-US" i="1"/>
              <a:t>k</a:t>
            </a:r>
            <a:r>
              <a:rPr lang="en-US" altLang="en-US"/>
              <a:t>-NN Algorithm</a:t>
            </a:r>
            <a:endParaRPr lang="en-US" altLang="en-US" sz="3200"/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447800"/>
            <a:ext cx="10610850" cy="50292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i="1" dirty="0"/>
              <a:t>k</a:t>
            </a:r>
            <a:r>
              <a:rPr lang="en-US" altLang="en-US" sz="2400" dirty="0"/>
              <a:t>-NN for </a:t>
            </a:r>
            <a:r>
              <a:rPr lang="en-US" altLang="en-US" sz="2400" u="sng" dirty="0"/>
              <a:t>real-valued prediction</a:t>
            </a:r>
            <a:r>
              <a:rPr lang="en-US" altLang="en-US" sz="2400" dirty="0"/>
              <a:t> for a given unknown tuple</a:t>
            </a:r>
          </a:p>
          <a:p>
            <a:pPr lvl="1" eaLnBrk="1" hangingPunct="1"/>
            <a:r>
              <a:rPr lang="en-US" altLang="en-US" sz="2400" dirty="0"/>
              <a:t>Returns the mean values of the</a:t>
            </a:r>
            <a:r>
              <a:rPr lang="en-US" altLang="en-US" sz="2400" i="1" dirty="0"/>
              <a:t> k</a:t>
            </a:r>
            <a:r>
              <a:rPr lang="en-US" altLang="en-US" sz="2400" dirty="0"/>
              <a:t> nearest neighbors</a:t>
            </a:r>
          </a:p>
          <a:p>
            <a:pPr eaLnBrk="1" hangingPunct="1"/>
            <a:r>
              <a:rPr lang="en-US" altLang="en-US" sz="2400" u="sng" dirty="0"/>
              <a:t>Distance-weighted</a:t>
            </a:r>
            <a:r>
              <a:rPr lang="en-US" altLang="en-US" sz="2400" dirty="0"/>
              <a:t> nearest neighbor algorithm</a:t>
            </a:r>
          </a:p>
          <a:p>
            <a:pPr lvl="1" eaLnBrk="1" hangingPunct="1"/>
            <a:r>
              <a:rPr lang="en-US" altLang="en-US" sz="2400" dirty="0"/>
              <a:t>Weight the contribution of each of the </a:t>
            </a:r>
            <a:r>
              <a:rPr lang="en-US" altLang="en-US" sz="2400" i="1" dirty="0"/>
              <a:t>k</a:t>
            </a:r>
            <a:r>
              <a:rPr lang="en-US" altLang="en-US" sz="2400" dirty="0"/>
              <a:t> neighbors according to their distance to the query </a:t>
            </a:r>
            <a:r>
              <a:rPr lang="en-US" altLang="en-US" sz="2400" i="1" dirty="0" err="1"/>
              <a:t>x</a:t>
            </a:r>
            <a:r>
              <a:rPr lang="en-US" altLang="en-US" sz="2400" i="1" baseline="-25000" dirty="0" err="1"/>
              <a:t>q</a:t>
            </a:r>
            <a:endParaRPr lang="en-US" altLang="en-US" sz="2400" dirty="0"/>
          </a:p>
          <a:p>
            <a:pPr lvl="2" eaLnBrk="1" hangingPunct="1"/>
            <a:r>
              <a:rPr lang="en-US" altLang="en-US" sz="2400" dirty="0"/>
              <a:t>Give greater weight to closer neighbors</a:t>
            </a:r>
          </a:p>
          <a:p>
            <a:pPr eaLnBrk="1" hangingPunct="1"/>
            <a:r>
              <a:rPr lang="en-US" altLang="en-US" sz="2400" u="sng" dirty="0"/>
              <a:t>Robust</a:t>
            </a:r>
            <a:r>
              <a:rPr lang="en-US" altLang="en-US" sz="2400" dirty="0"/>
              <a:t> to noisy data by averaging </a:t>
            </a:r>
            <a:r>
              <a:rPr lang="en-US" altLang="en-US" sz="2400" i="1" dirty="0"/>
              <a:t>k</a:t>
            </a:r>
            <a:r>
              <a:rPr lang="en-US" altLang="en-US" sz="2400" dirty="0"/>
              <a:t>-nearest neighbors</a:t>
            </a:r>
          </a:p>
          <a:p>
            <a:pPr eaLnBrk="1" hangingPunct="1"/>
            <a:r>
              <a:rPr lang="en-US" altLang="en-US" sz="2400" u="sng" dirty="0"/>
              <a:t>Curse of dimensionality</a:t>
            </a:r>
            <a:r>
              <a:rPr lang="en-US" altLang="en-US" sz="2400" dirty="0"/>
              <a:t>: distance between neighbors could be dominated by irrelevant attributes   </a:t>
            </a:r>
          </a:p>
          <a:p>
            <a:pPr lvl="1" eaLnBrk="1" hangingPunct="1"/>
            <a:r>
              <a:rPr lang="en-US" altLang="en-US" sz="2400" dirty="0"/>
              <a:t>To overcome it, axes stretch or elimination of the least relevant attributes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301" name="Object 4"/>
              <p:cNvSpPr txBox="1"/>
              <p:nvPr/>
            </p:nvSpPr>
            <p:spPr bwMode="auto">
              <a:xfrm>
                <a:off x="8975380" y="3352110"/>
                <a:ext cx="1976437" cy="9509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𝑤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sub>
                          </m:s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5301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75380" y="3352110"/>
                <a:ext cx="1976437" cy="950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98167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069CC-5E72-4E8F-A494-C7A88265E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of k for </a:t>
            </a:r>
            <a:r>
              <a:rPr lang="en-US" dirty="0" err="1"/>
              <a:t>kNN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F0D66-1F55-4492-B2DA-14DEA124B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neighbors k </a:t>
            </a:r>
          </a:p>
          <a:p>
            <a:pPr lvl="1"/>
            <a:r>
              <a:rPr lang="en-US" dirty="0"/>
              <a:t>Small k: overfitting (high var., low bias) </a:t>
            </a:r>
          </a:p>
          <a:p>
            <a:pPr lvl="1"/>
            <a:r>
              <a:rPr lang="en-US" dirty="0"/>
              <a:t>Big k: bringing too many irrelevant points (high bias, low var.)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A8C198-FF22-423E-B017-F10EEFBE4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49" y="2758445"/>
            <a:ext cx="11207599" cy="36855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73441E-0523-41FF-9E11-65E80B88F014}"/>
              </a:ext>
            </a:extLst>
          </p:cNvPr>
          <p:cNvSpPr/>
          <p:nvPr/>
        </p:nvSpPr>
        <p:spPr>
          <a:xfrm>
            <a:off x="6361695" y="6443963"/>
            <a:ext cx="5624232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http://scott.fortmann-roe.com/docs/BiasVariance.html</a:t>
            </a:r>
          </a:p>
        </p:txBody>
      </p:sp>
    </p:spTree>
    <p:extLst>
      <p:ext uri="{BB962C8B-B14F-4D97-AF65-F5344CB8AC3E}">
        <p14:creationId xmlns:p14="http://schemas.microsoft.com/office/powerpoint/2010/main" val="41239326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0"/>
            <a:ext cx="10086975" cy="1085849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Case-Based Reasoning (CBR)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887" y="1171575"/>
            <a:ext cx="11015663" cy="55626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b="1" dirty="0"/>
              <a:t>CBR</a:t>
            </a:r>
            <a:r>
              <a:rPr lang="en-US" altLang="en-US" sz="2400" dirty="0"/>
              <a:t>: Uses a database of problem solutions to solve new problems</a:t>
            </a:r>
          </a:p>
          <a:p>
            <a:pPr eaLnBrk="1" hangingPunct="1"/>
            <a:r>
              <a:rPr lang="en-US" altLang="en-US" sz="2400" dirty="0"/>
              <a:t>Store </a:t>
            </a:r>
            <a:r>
              <a:rPr lang="en-US" altLang="en-US" sz="2400" u="sng" dirty="0"/>
              <a:t>symbolic description</a:t>
            </a:r>
            <a:r>
              <a:rPr lang="en-US" altLang="en-US" sz="2400" dirty="0"/>
              <a:t> (tuples or cases)—not points in a Euclidean space</a:t>
            </a:r>
          </a:p>
          <a:p>
            <a:pPr eaLnBrk="1" hangingPunct="1"/>
            <a:r>
              <a:rPr lang="en-US" altLang="en-US" sz="2400" u="sng" dirty="0"/>
              <a:t>Applications:</a:t>
            </a:r>
            <a:r>
              <a:rPr lang="en-US" altLang="en-US" sz="2400" dirty="0"/>
              <a:t> Customer-service (product-related diagnosis), legal ruling</a:t>
            </a:r>
          </a:p>
          <a:p>
            <a:pPr eaLnBrk="1" hangingPunct="1"/>
            <a:r>
              <a:rPr lang="en-US" altLang="en-US" sz="2400" u="sng" dirty="0"/>
              <a:t>Methodology</a:t>
            </a:r>
          </a:p>
          <a:p>
            <a:pPr lvl="1" eaLnBrk="1" hangingPunct="1"/>
            <a:r>
              <a:rPr lang="en-US" altLang="en-US" sz="2400" dirty="0"/>
              <a:t>Instances represented by rich symbolic descriptions (e.g., function graphs)</a:t>
            </a:r>
          </a:p>
          <a:p>
            <a:pPr lvl="1" eaLnBrk="1" hangingPunct="1"/>
            <a:r>
              <a:rPr lang="en-US" altLang="en-US" sz="2400" dirty="0"/>
              <a:t>Search for similar cases, multiple retrieved cases may be combined</a:t>
            </a:r>
          </a:p>
          <a:p>
            <a:pPr lvl="1" eaLnBrk="1" hangingPunct="1"/>
            <a:r>
              <a:rPr lang="en-US" altLang="en-US" sz="2400" dirty="0"/>
              <a:t>Tight coupling between case retrieval, knowledge-based reasoning, and problem solving</a:t>
            </a:r>
          </a:p>
          <a:p>
            <a:pPr eaLnBrk="1" hangingPunct="1"/>
            <a:r>
              <a:rPr lang="en-US" altLang="en-US" sz="2400" u="sng" dirty="0"/>
              <a:t>Challenges</a:t>
            </a:r>
            <a:endParaRPr lang="en-US" altLang="en-US" sz="2400" dirty="0"/>
          </a:p>
          <a:p>
            <a:pPr lvl="1" eaLnBrk="1" hangingPunct="1"/>
            <a:r>
              <a:rPr lang="en-US" altLang="en-US" sz="2400" dirty="0"/>
              <a:t>Find a good similarity metric </a:t>
            </a:r>
          </a:p>
          <a:p>
            <a:pPr lvl="1" eaLnBrk="1" hangingPunct="1"/>
            <a:r>
              <a:rPr lang="en-US" altLang="en-US" sz="2400" dirty="0"/>
              <a:t>Indexing based on syntactic similarity measure,  and when failure, backtracking, and adapting to additional cases</a:t>
            </a:r>
          </a:p>
        </p:txBody>
      </p:sp>
    </p:spTree>
    <p:extLst>
      <p:ext uri="{BB962C8B-B14F-4D97-AF65-F5344CB8AC3E}">
        <p14:creationId xmlns:p14="http://schemas.microsoft.com/office/powerpoint/2010/main" val="19094430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6. Classification: Basic Concepts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 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Lazy Learners (or learning from your neighbors)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Linear Classifiers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3348528" y="3719357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8446770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8B984-5FB4-4943-8EA5-74E9A9FC2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Linear Regression Problem: Example</a:t>
            </a:r>
            <a:endParaRPr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3F572-8CE9-4DB4-9BBD-859AFC055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399" y="1371600"/>
            <a:ext cx="11120877" cy="5105400"/>
          </a:xfrm>
        </p:spPr>
        <p:txBody>
          <a:bodyPr/>
          <a:lstStyle/>
          <a:p>
            <a:r>
              <a:rPr lang="en-US" altLang="zh-CN" dirty="0"/>
              <a:t>Mapping from independent attributes to </a:t>
            </a:r>
            <a:r>
              <a:rPr lang="en-US" altLang="zh-CN" b="1" dirty="0"/>
              <a:t>continuous value</a:t>
            </a:r>
            <a:r>
              <a:rPr lang="en-US" altLang="zh-CN" dirty="0"/>
              <a:t>: x =&gt; y</a:t>
            </a:r>
          </a:p>
          <a:p>
            <a:r>
              <a:rPr lang="en-US" altLang="zh-CN" dirty="0"/>
              <a:t>{living area} =&gt; Price of the house</a:t>
            </a:r>
          </a:p>
          <a:p>
            <a:r>
              <a:rPr lang="en-US" altLang="zh-CN" dirty="0"/>
              <a:t>{college; major; GPA} =&gt; Future Income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4DAAD83-30D4-4E49-A7CB-4A26CD8FC98A}"/>
              </a:ext>
            </a:extLst>
          </p:cNvPr>
          <p:cNvGrpSpPr/>
          <p:nvPr/>
        </p:nvGrpSpPr>
        <p:grpSpPr>
          <a:xfrm>
            <a:off x="6993320" y="3457935"/>
            <a:ext cx="4440676" cy="3113458"/>
            <a:chOff x="2106038" y="2236753"/>
            <a:chExt cx="5967919" cy="4475939"/>
          </a:xfrm>
        </p:grpSpPr>
        <p:pic>
          <p:nvPicPr>
            <p:cNvPr id="112642" name="Picture 2" descr="Related image">
              <a:extLst>
                <a:ext uri="{FF2B5EF4-FFF2-40B4-BE49-F238E27FC236}">
                  <a16:creationId xmlns:a16="http://schemas.microsoft.com/office/drawing/2014/main" id="{3D1051BF-8137-4806-8E48-809AA08930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6038" y="2236753"/>
              <a:ext cx="5967919" cy="44759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8213C53-BF53-4D10-BCD6-1A96155C6BD0}"/>
                </a:ext>
              </a:extLst>
            </p:cNvPr>
            <p:cNvSpPr/>
            <p:nvPr/>
          </p:nvSpPr>
          <p:spPr>
            <a:xfrm>
              <a:off x="2334639" y="4187756"/>
              <a:ext cx="243192" cy="5739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9D31AB4-1A97-4710-A534-027CBD76368D}"/>
                </a:ext>
              </a:extLst>
            </p:cNvPr>
            <p:cNvSpPr/>
            <p:nvPr/>
          </p:nvSpPr>
          <p:spPr>
            <a:xfrm>
              <a:off x="3325776" y="6325028"/>
              <a:ext cx="734980" cy="3039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55E2E29-2D91-45B6-9C74-DF900F6E5B11}"/>
                </a:ext>
              </a:extLst>
            </p:cNvPr>
            <p:cNvSpPr/>
            <p:nvPr/>
          </p:nvSpPr>
          <p:spPr>
            <a:xfrm>
              <a:off x="6096000" y="6389045"/>
              <a:ext cx="1093821" cy="2431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A45DB78-CD8E-476B-8C58-587EF3BD2F95}"/>
              </a:ext>
            </a:extLst>
          </p:cNvPr>
          <p:cNvGrpSpPr/>
          <p:nvPr/>
        </p:nvGrpSpPr>
        <p:grpSpPr>
          <a:xfrm>
            <a:off x="725899" y="3551208"/>
            <a:ext cx="4564096" cy="3056320"/>
            <a:chOff x="725899" y="3551208"/>
            <a:chExt cx="4564096" cy="3056320"/>
          </a:xfrm>
        </p:grpSpPr>
        <p:pic>
          <p:nvPicPr>
            <p:cNvPr id="112648" name="Picture 8" descr="https://www.statcrunch.com/grabimageforreport.php?reportid=5647&amp;image_id=386301">
              <a:extLst>
                <a:ext uri="{FF2B5EF4-FFF2-40B4-BE49-F238E27FC236}">
                  <a16:creationId xmlns:a16="http://schemas.microsoft.com/office/drawing/2014/main" id="{E990B976-FA3B-445C-9DB6-42362A2047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355" y="3594061"/>
              <a:ext cx="4544640" cy="2923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5697B98-CF2E-4BA0-9DAE-84915614AB45}"/>
                </a:ext>
              </a:extLst>
            </p:cNvPr>
            <p:cNvSpPr/>
            <p:nvPr/>
          </p:nvSpPr>
          <p:spPr>
            <a:xfrm rot="16200000">
              <a:off x="-141613" y="4481029"/>
              <a:ext cx="2315440" cy="58041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Price of houses</a:t>
              </a:r>
              <a:endParaRPr lang="zh-CN" altLang="en-US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83297EC-4402-424A-B3EF-98E7C1B1CD37}"/>
                </a:ext>
              </a:extLst>
            </p:cNvPr>
            <p:cNvSpPr/>
            <p:nvPr/>
          </p:nvSpPr>
          <p:spPr>
            <a:xfrm>
              <a:off x="2258169" y="6160056"/>
              <a:ext cx="2286000" cy="44747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Living Area</a:t>
              </a:r>
              <a:endParaRPr lang="zh-CN" altLang="en-US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F8EC8F0-1226-49F7-8791-167C36EC2C18}"/>
                </a:ext>
              </a:extLst>
            </p:cNvPr>
            <p:cNvSpPr/>
            <p:nvPr/>
          </p:nvSpPr>
          <p:spPr>
            <a:xfrm>
              <a:off x="745355" y="3706238"/>
              <a:ext cx="899916" cy="2529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D23D33B-5BC2-432A-B58B-1754FD912A03}"/>
                </a:ext>
              </a:extLst>
            </p:cNvPr>
            <p:cNvSpPr/>
            <p:nvPr/>
          </p:nvSpPr>
          <p:spPr>
            <a:xfrm>
              <a:off x="2448680" y="3551208"/>
              <a:ext cx="1481293" cy="2529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475057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552261" y="104775"/>
            <a:ext cx="11001564" cy="885825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/>
            <a:r>
              <a:rPr lang="en-US" altLang="en-US" sz="4000" dirty="0"/>
              <a:t>Linear Regression Problem: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8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61975" y="1215450"/>
                <a:ext cx="10157906" cy="5181600"/>
              </a:xfrm>
              <a:noFill/>
            </p:spPr>
            <p:txBody>
              <a:bodyPr vert="horz" lIns="92075" tIns="46038" rIns="92075" bIns="46038" rtlCol="0"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en-US" sz="2400" dirty="0"/>
                  <a:t>Linear regression</a:t>
                </a:r>
              </a:p>
              <a:p>
                <a:pPr lvl="1"/>
                <a:r>
                  <a:rPr lang="en-US" altLang="en-US" sz="2400" dirty="0"/>
                  <a:t>Data: n independent objects</a:t>
                </a:r>
              </a:p>
              <a:p>
                <a:pPr lvl="2"/>
                <a:r>
                  <a:rPr lang="en-US" altLang="en-US" sz="2400" b="0" dirty="0"/>
                  <a:t>Observed Value: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=1,2,3,⋯,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en-US" sz="2400" b="0" dirty="0"/>
              </a:p>
              <a:p>
                <a:pPr lvl="2"/>
                <a:r>
                  <a:rPr lang="en-US" altLang="en-US" sz="2400" b="0" dirty="0"/>
                  <a:t>p-dimensional attributes: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,⋯, </m:t>
                            </m:r>
                            <m:sSub>
                              <m:sSubPr>
                                <m:ctrlP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𝑖𝑝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=1,2,3⋯,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en-US" sz="2400" dirty="0"/>
              </a:p>
              <a:p>
                <a:pPr lvl="2"/>
                <a:endParaRPr lang="en-US" altLang="en-US" sz="2400" dirty="0"/>
              </a:p>
              <a:p>
                <a:pPr lvl="1"/>
                <a:r>
                  <a:rPr lang="en-US" altLang="en-US" sz="2400" dirty="0"/>
                  <a:t>Model:</a:t>
                </a:r>
              </a:p>
              <a:p>
                <a:pPr lvl="2"/>
                <a:r>
                  <a:rPr lang="en-US" altLang="en-US" sz="2400" dirty="0"/>
                  <a:t>Weight vector: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sz="2400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en-US" sz="2400" dirty="0"/>
              </a:p>
              <a:p>
                <a:pPr lvl="1"/>
                <a:r>
                  <a:rPr lang="en-US" altLang="en-US" sz="2400" dirty="0"/>
                  <a:t>The weight vector w and bias b are the model parameter learnt by data</a:t>
                </a:r>
              </a:p>
              <a:p>
                <a:pPr marL="200021" lvl="1" indent="0">
                  <a:buNone/>
                </a:pPr>
                <a:r>
                  <a:rPr lang="en-US" altLang="en-US" sz="2400" dirty="0"/>
                  <a:t> </a:t>
                </a:r>
              </a:p>
            </p:txBody>
          </p:sp>
        </mc:Choice>
        <mc:Fallback xmlns="">
          <p:sp>
            <p:nvSpPr>
              <p:cNvPr id="614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61975" y="1215450"/>
                <a:ext cx="10157906" cy="5181600"/>
              </a:xfrm>
              <a:blipFill>
                <a:blip r:embed="rId3"/>
                <a:stretch>
                  <a:fillRect l="-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18843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72B11A-BF6B-4EC3-97D7-65B08AAC2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Linear Regression Model: Solution</a:t>
            </a:r>
            <a:endParaRPr lang="zh-CN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3E93A5-836B-4BE0-B776-B66473A35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Least Square Method</a:t>
                </a:r>
              </a:p>
              <a:p>
                <a:pPr lvl="1"/>
                <a:r>
                  <a:rPr lang="en-US" altLang="zh-CN" dirty="0"/>
                  <a:t>Cost / Loss Function:  L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lvl="1"/>
                <a:r>
                  <a:rPr lang="en-US" altLang="zh-CN" dirty="0"/>
                  <a:t>Optimization Goal:       argmin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en-US" altLang="zh-CN" dirty="0"/>
                  <a:t>Closed-form solution: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b="0" i="0" smtClean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3E93A5-836B-4BE0-B776-B66473A35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56" t="-1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AF8983B1-6499-4F71-BADA-9D35BB081BB4}"/>
              </a:ext>
            </a:extLst>
          </p:cNvPr>
          <p:cNvSpPr txBox="1"/>
          <p:nvPr/>
        </p:nvSpPr>
        <p:spPr>
          <a:xfrm>
            <a:off x="4576863" y="2757791"/>
            <a:ext cx="9144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</a:t>
            </a:r>
            <a:r>
              <a:rPr lang="en-US" altLang="zh-CN" dirty="0" err="1"/>
              <a:t>w,b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94985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Logistic Regression: General Ideas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35106" y="1219200"/>
                <a:ext cx="9449754" cy="3164541"/>
              </a:xfrm>
            </p:spPr>
            <p:txBody>
              <a:bodyPr/>
              <a:lstStyle/>
              <a:p>
                <a:r>
                  <a:rPr lang="en-US" sz="2400" dirty="0"/>
                  <a:t>How to solve “classification” problems by regression?</a:t>
                </a:r>
              </a:p>
              <a:p>
                <a:r>
                  <a:rPr lang="en-US" sz="2400" dirty="0"/>
                  <a:t>Key idea of Logistic Regression</a:t>
                </a:r>
              </a:p>
              <a:p>
                <a:pPr lvl="1"/>
                <a:r>
                  <a:rPr lang="en-US" sz="2400" dirty="0"/>
                  <a:t>We need to transform the real value Y into a probability value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∈</m:t>
                    </m:r>
                  </m:oMath>
                </a14:m>
                <a:r>
                  <a:rPr lang="en-US" sz="2400" dirty="0"/>
                  <a:t> [0,1]</a:t>
                </a:r>
              </a:p>
              <a:p>
                <a:r>
                  <a:rPr lang="en-US" sz="2400" dirty="0"/>
                  <a:t>Sigmoid function (differentiable function) 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Projects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(−∞, +∞)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[0, 1]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Not only LR uses this function, but also </a:t>
                </a:r>
                <a:br>
                  <a:rPr lang="en-US" sz="2400" dirty="0"/>
                </a:br>
                <a:r>
                  <a:rPr lang="en-US" sz="2400" dirty="0"/>
                  <a:t>neural network, deep learning</a:t>
                </a:r>
              </a:p>
              <a:p>
                <a:r>
                  <a:rPr lang="en-US" sz="2400" dirty="0"/>
                  <a:t>The projected value changes sharply </a:t>
                </a:r>
              </a:p>
              <a:p>
                <a:pPr marL="0" indent="0">
                  <a:buNone/>
                </a:pPr>
                <a:r>
                  <a:rPr lang="en-US" altLang="zh-CN" sz="2400" dirty="0"/>
                  <a:t>       around zero point</a:t>
                </a:r>
                <a:endParaRPr lang="en-US" sz="2400" dirty="0"/>
              </a:p>
              <a:p>
                <a:r>
                  <a:rPr lang="en-US" sz="2400" dirty="0"/>
                  <a:t>Notice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5106" y="1219200"/>
                <a:ext cx="9449754" cy="3164541"/>
              </a:xfrm>
              <a:blipFill>
                <a:blip r:embed="rId2"/>
                <a:stretch>
                  <a:fillRect l="-403" t="-1606" r="-537" b="-63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894" y="3832305"/>
            <a:ext cx="4064000" cy="2705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54813" y="4138478"/>
            <a:ext cx="14494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Sigmoid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085847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Logistic Regression: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Suppose we only consider the year as feature</a:t>
            </a:r>
          </a:p>
          <a:p>
            <a:pPr lvl="1"/>
            <a:r>
              <a:rPr lang="en-US" sz="2400" dirty="0"/>
              <a:t>Data points are converted by sigmoid function (“activation” function)</a:t>
            </a: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1" name="Group 50"/>
          <p:cNvGrpSpPr/>
          <p:nvPr/>
        </p:nvGrpSpPr>
        <p:grpSpPr>
          <a:xfrm>
            <a:off x="2554545" y="2827176"/>
            <a:ext cx="6962842" cy="3128172"/>
            <a:chOff x="2071396" y="2341984"/>
            <a:chExt cx="6962842" cy="3128172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3782654" y="2341984"/>
              <a:ext cx="0" cy="305082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 flipV="1">
              <a:off x="3504748" y="5016192"/>
              <a:ext cx="4808828" cy="4492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Multiply 6"/>
            <p:cNvSpPr/>
            <p:nvPr/>
          </p:nvSpPr>
          <p:spPr>
            <a:xfrm>
              <a:off x="3825449" y="4713561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Multiply 7"/>
            <p:cNvSpPr/>
            <p:nvPr/>
          </p:nvSpPr>
          <p:spPr>
            <a:xfrm>
              <a:off x="4721928" y="4716386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Multiply 8"/>
            <p:cNvSpPr/>
            <p:nvPr/>
          </p:nvSpPr>
          <p:spPr>
            <a:xfrm>
              <a:off x="5091731" y="4709090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Multiply 9"/>
            <p:cNvSpPr/>
            <p:nvPr/>
          </p:nvSpPr>
          <p:spPr>
            <a:xfrm>
              <a:off x="4195252" y="4709090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6113540" y="2528173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5715932" y="2528173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6522023" y="2530958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4769099" y="2528173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418107" y="4846295"/>
              <a:ext cx="616131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year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83908" y="5085435"/>
              <a:ext cx="308098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5681319" y="2528173"/>
              <a:ext cx="0" cy="2510482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/>
            <p:nvPr/>
          </p:nvSpPr>
          <p:spPr>
            <a:xfrm>
              <a:off x="7072620" y="2528173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7807384" y="2532093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2071396" y="2519265"/>
              <a:ext cx="6662057" cy="2463282"/>
            </a:xfrm>
            <a:custGeom>
              <a:avLst/>
              <a:gdLst>
                <a:gd name="connsiteX0" fmla="*/ 0 w 6662057"/>
                <a:gd name="connsiteY0" fmla="*/ 2463282 h 2463282"/>
                <a:gd name="connsiteX1" fmla="*/ 2939143 w 6662057"/>
                <a:gd name="connsiteY1" fmla="*/ 2080727 h 2463282"/>
                <a:gd name="connsiteX2" fmla="*/ 4282751 w 6662057"/>
                <a:gd name="connsiteY2" fmla="*/ 363894 h 2463282"/>
                <a:gd name="connsiteX3" fmla="*/ 6662057 w 6662057"/>
                <a:gd name="connsiteY3" fmla="*/ 0 h 2463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2057" h="2463282">
                  <a:moveTo>
                    <a:pt x="0" y="2463282"/>
                  </a:moveTo>
                  <a:cubicBezTo>
                    <a:pt x="1112675" y="2446953"/>
                    <a:pt x="2225351" y="2430625"/>
                    <a:pt x="2939143" y="2080727"/>
                  </a:cubicBezTo>
                  <a:cubicBezTo>
                    <a:pt x="3652935" y="1730829"/>
                    <a:pt x="3662265" y="710682"/>
                    <a:pt x="4282751" y="363894"/>
                  </a:cubicBezTo>
                  <a:cubicBezTo>
                    <a:pt x="4903237" y="17106"/>
                    <a:pt x="5782647" y="8553"/>
                    <a:pt x="6662057" y="0"/>
                  </a:cubicBezTo>
                </a:path>
              </a:pathLst>
            </a:cu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475036" y="2463559"/>
              <a:ext cx="1317155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 (Tenured)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72807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Logistic Regression: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The prediction function to learn</a:t>
                </a:r>
              </a:p>
              <a:p>
                <a:r>
                  <a:rPr lang="en-US" sz="2400" dirty="0"/>
                  <a:t>Probability that Y=1: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=1 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400" i="1" dirty="0">
                        <a:latin typeface="Cambria Math" charset="0"/>
                      </a:rPr>
                      <m:t>) = </m:t>
                    </m:r>
                    <m:r>
                      <a:rPr lang="en-US" sz="2400" i="1" dirty="0">
                        <a:latin typeface="Cambria Math" charset="0"/>
                      </a:rPr>
                      <m:t>𝑆𝑖𝑔𝑚𝑜𝑖𝑑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are the parameters</a:t>
                </a:r>
              </a:p>
              <a:p>
                <a:pPr lvl="1"/>
                <a:endParaRPr lang="en-US" sz="2400" dirty="0"/>
              </a:p>
              <a:p>
                <a:r>
                  <a:rPr lang="en-US" sz="2400" dirty="0"/>
                  <a:t>A single data object with attributes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and class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Suppose the probability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bSup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r>
                  <a:rPr lang="en-US" sz="2400" dirty="0"/>
                  <a:t>Maximum Likelihood Estimation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bSup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CN" sz="24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unc>
                                  <m:func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den>
                            </m:f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unc>
                                  <m:func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4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749" y="781678"/>
            <a:ext cx="40640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5051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Logistic Regression: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Maximum Likelihood Estimation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b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unc>
                                  <m:func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den>
                            </m:f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b="0" i="0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unc>
                                  <m:func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Log likelihood: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622284" lvl="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2400" b="1" i="1" dirty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⁡(1+</m:t>
                          </m:r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622284" lvl="3" indent="0">
                  <a:buNone/>
                </a:pPr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There’s no closed form solution</a:t>
                </a:r>
              </a:p>
              <a:p>
                <a:pPr lvl="1"/>
                <a:r>
                  <a:rPr lang="en-US" sz="2400" dirty="0"/>
                  <a:t>Gradient Descent/Ascent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4" t="-943" b="-4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28556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171" y="3819636"/>
            <a:ext cx="4702628" cy="29260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bg1">
                    <a:lumMod val="85000"/>
                  </a:schemeClr>
                </a:solidFill>
              </a:rPr>
              <a:t>Gradient</a:t>
            </a:r>
            <a:r>
              <a:rPr kumimoji="1" lang="zh-CN" alt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85000"/>
                  </a:schemeClr>
                </a:solidFill>
              </a:rPr>
              <a:t>Descent</a:t>
            </a:r>
            <a:endParaRPr kumimoji="1"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6493" y="1219200"/>
            <a:ext cx="10497671" cy="5384800"/>
          </a:xfrm>
        </p:spPr>
        <p:txBody>
          <a:bodyPr/>
          <a:lstStyle/>
          <a:p>
            <a:r>
              <a:rPr lang="en-US" altLang="zh-CN" sz="2400" dirty="0"/>
              <a:t>Gradient</a:t>
            </a:r>
            <a:r>
              <a:rPr lang="zh-CN" altLang="en-US" sz="2400" dirty="0"/>
              <a:t> </a:t>
            </a:r>
            <a:r>
              <a:rPr lang="en-US" altLang="zh-CN" sz="2400" dirty="0"/>
              <a:t>Descent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an</a:t>
            </a:r>
            <a:r>
              <a:rPr lang="zh-CN" altLang="en-US" sz="2400" dirty="0"/>
              <a:t> </a:t>
            </a:r>
            <a:r>
              <a:rPr lang="en-US" altLang="zh-CN" sz="2400" dirty="0"/>
              <a:t>iterative</a:t>
            </a:r>
            <a:r>
              <a:rPr lang="zh-CN" altLang="en-US" sz="2400" dirty="0"/>
              <a:t> </a:t>
            </a:r>
            <a:r>
              <a:rPr lang="en-US" altLang="zh-CN" sz="2400" dirty="0"/>
              <a:t>optimization</a:t>
            </a:r>
            <a:r>
              <a:rPr lang="zh-CN" altLang="en-US" sz="2400" dirty="0"/>
              <a:t> </a:t>
            </a:r>
            <a:r>
              <a:rPr lang="en-US" altLang="zh-CN" sz="2400" dirty="0"/>
              <a:t>algorithm for finding the minimum of a function</a:t>
            </a:r>
            <a:r>
              <a:rPr lang="zh-CN" altLang="en-US" sz="2400" dirty="0"/>
              <a:t> </a:t>
            </a:r>
            <a:r>
              <a:rPr lang="en-US" altLang="zh-CN" sz="2400" dirty="0"/>
              <a:t>(e.g.,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negative</a:t>
            </a:r>
            <a:r>
              <a:rPr lang="zh-CN" altLang="en-US" sz="2400" dirty="0"/>
              <a:t> </a:t>
            </a:r>
            <a:r>
              <a:rPr lang="en-US" altLang="zh-CN" sz="2400" dirty="0"/>
              <a:t>log</a:t>
            </a:r>
            <a:r>
              <a:rPr lang="zh-CN" altLang="en-US" sz="2400" dirty="0"/>
              <a:t> </a:t>
            </a:r>
            <a:r>
              <a:rPr lang="en-US" altLang="zh-CN" sz="2400" dirty="0"/>
              <a:t>likelihood)</a:t>
            </a:r>
          </a:p>
          <a:p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function</a:t>
            </a:r>
            <a:r>
              <a:rPr lang="zh-CN" altLang="en-US" sz="2400" dirty="0"/>
              <a:t> </a:t>
            </a:r>
            <a:r>
              <a:rPr lang="en-US" altLang="zh-CN" sz="2400" dirty="0"/>
              <a:t>F(x)</a:t>
            </a:r>
            <a:r>
              <a:rPr lang="zh-CN" altLang="en-US" sz="2400" dirty="0"/>
              <a:t> </a:t>
            </a:r>
            <a:r>
              <a:rPr lang="en-US" altLang="zh-CN" sz="2400" dirty="0"/>
              <a:t>at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point</a:t>
            </a:r>
            <a:r>
              <a:rPr lang="zh-CN" altLang="en-US" sz="2400" dirty="0"/>
              <a:t> </a:t>
            </a:r>
            <a:r>
              <a:rPr lang="en-US" altLang="zh-CN" sz="2400" b="1" dirty="0"/>
              <a:t>a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/>
              <a:t>F(x)</a:t>
            </a:r>
            <a:r>
              <a:rPr lang="zh-CN" altLang="en-US" sz="2400" dirty="0"/>
              <a:t> </a:t>
            </a:r>
            <a:r>
              <a:rPr lang="en-US" altLang="zh-CN" sz="2400" i="1" dirty="0"/>
              <a:t>decreases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fastest</a:t>
            </a:r>
            <a:r>
              <a:rPr lang="zh-CN" altLang="en-US" sz="2400" i="1" dirty="0"/>
              <a:t> </a:t>
            </a:r>
            <a:r>
              <a:rPr lang="en-US" altLang="zh-CN" sz="2400" dirty="0"/>
              <a:t>if</a:t>
            </a:r>
            <a:r>
              <a:rPr lang="zh-CN" altLang="en-US" sz="2400" dirty="0"/>
              <a:t> </a:t>
            </a:r>
            <a:r>
              <a:rPr lang="en-US" altLang="zh-CN" sz="2400" dirty="0"/>
              <a:t>we</a:t>
            </a:r>
            <a:r>
              <a:rPr lang="zh-CN" altLang="en-US" sz="2400" dirty="0"/>
              <a:t> </a:t>
            </a:r>
            <a:r>
              <a:rPr lang="en-US" altLang="zh-CN" sz="2400" dirty="0"/>
              <a:t>go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direction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negative</a:t>
            </a:r>
            <a:r>
              <a:rPr lang="zh-CN" altLang="en-US" sz="2400" dirty="0"/>
              <a:t> </a:t>
            </a:r>
            <a:r>
              <a:rPr lang="en-US" altLang="zh-CN" sz="2400" dirty="0"/>
              <a:t>gradient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b="1" dirty="0"/>
              <a:t>a</a:t>
            </a:r>
          </a:p>
          <a:p>
            <a:endParaRPr lang="en-US" altLang="zh-CN" sz="2400" dirty="0"/>
          </a:p>
          <a:p>
            <a:endParaRPr kumimoji="1" lang="en-US" altLang="zh-CN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301" y="2829933"/>
            <a:ext cx="4015741" cy="84201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93169" y="5175099"/>
            <a:ext cx="3896002" cy="83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When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gradient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zero,</a:t>
            </a:r>
            <a:r>
              <a:rPr lang="zh-CN" altLang="en-US" sz="2400" dirty="0"/>
              <a:t> </a:t>
            </a:r>
            <a:r>
              <a:rPr lang="en-US" altLang="zh-CN" sz="2400" dirty="0"/>
              <a:t>we</a:t>
            </a:r>
            <a:r>
              <a:rPr lang="zh-CN" altLang="en-US" sz="2400" dirty="0"/>
              <a:t> </a:t>
            </a:r>
            <a:r>
              <a:rPr lang="en-US" altLang="zh-CN" sz="2400" dirty="0"/>
              <a:t>arrive</a:t>
            </a:r>
            <a:r>
              <a:rPr lang="zh-CN" altLang="en-US" sz="2400" dirty="0"/>
              <a:t> </a:t>
            </a:r>
            <a:r>
              <a:rPr lang="en-US" altLang="zh-CN" sz="2400" dirty="0"/>
              <a:t>at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local</a:t>
            </a:r>
            <a:r>
              <a:rPr lang="zh-CN" altLang="en-US" sz="2400" dirty="0"/>
              <a:t> </a:t>
            </a:r>
            <a:r>
              <a:rPr lang="en-US" altLang="zh-CN" sz="2400" dirty="0"/>
              <a:t>minimum</a:t>
            </a:r>
            <a:endParaRPr lang="zh-CN" altLang="en-US" sz="24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321D3F7-A325-4370-9F1B-5563062AF217}"/>
              </a:ext>
            </a:extLst>
          </p:cNvPr>
          <p:cNvCxnSpPr>
            <a:cxnSpLocks/>
          </p:cNvCxnSpPr>
          <p:nvPr/>
        </p:nvCxnSpPr>
        <p:spPr>
          <a:xfrm flipH="1">
            <a:off x="5345723" y="2753248"/>
            <a:ext cx="954593" cy="391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F496597-614F-4A30-94E8-0CDD3A9B8D39}"/>
              </a:ext>
            </a:extLst>
          </p:cNvPr>
          <p:cNvSpPr txBox="1"/>
          <p:nvPr/>
        </p:nvSpPr>
        <p:spPr>
          <a:xfrm>
            <a:off x="6345698" y="2523868"/>
            <a:ext cx="1989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Step size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764A5B4-5063-466B-A5F3-108C11438779}"/>
              </a:ext>
            </a:extLst>
          </p:cNvPr>
          <p:cNvSpPr/>
          <p:nvPr/>
        </p:nvSpPr>
        <p:spPr>
          <a:xfrm>
            <a:off x="5154804" y="3145134"/>
            <a:ext cx="311499" cy="415887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1D033BB-9AD0-483D-A48C-0D7A452EC393}"/>
                  </a:ext>
                </a:extLst>
              </p14:cNvPr>
              <p14:cNvContentPartPr/>
              <p14:nvPr/>
            </p14:nvContentPartPr>
            <p14:xfrm>
              <a:off x="7244280" y="5886360"/>
              <a:ext cx="20880" cy="9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1D033BB-9AD0-483D-A48C-0D7A452EC3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34920" y="5877000"/>
                <a:ext cx="39600" cy="2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59378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endParaRPr lang="en-US" altLang="en-US">
              <a:solidFill>
                <a:srgbClr val="000000"/>
              </a:solidFill>
              <a:latin typeface="Arial"/>
            </a:endParaRPr>
          </a:p>
          <a:p>
            <a:pPr defTabSz="914400"/>
            <a:endParaRPr lang="en-US" altLang="en-US">
              <a:solidFill>
                <a:srgbClr val="000000"/>
              </a:solidFill>
              <a:latin typeface="Arial"/>
            </a:endParaRPr>
          </a:p>
          <a:p>
            <a:pPr defTabSz="914400"/>
            <a:endParaRPr lang="en-US" altLang="en-US">
              <a:solidFill>
                <a:srgbClr val="000000"/>
              </a:solidFill>
              <a:latin typeface="Arial"/>
            </a:endParaRPr>
          </a:p>
          <a:p>
            <a:pPr defTabSz="914400"/>
            <a:fld id="{ABB39991-57EF-4F47-A772-02D2698DE9A8}" type="slidenum">
              <a:rPr lang="en-US" altLang="en-US" sz="1000">
                <a:solidFill>
                  <a:srgbClr val="000000"/>
                </a:solidFill>
                <a:latin typeface="Arial"/>
              </a:rPr>
              <a:pPr defTabSz="914400"/>
              <a:t>48</a:t>
            </a:fld>
            <a:endParaRPr lang="en-US" altLang="en-US" sz="1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11887200" cy="1143000"/>
          </a:xfrm>
        </p:spPr>
        <p:txBody>
          <a:bodyPr/>
          <a:lstStyle/>
          <a:p>
            <a:pPr algn="ctr"/>
            <a:r>
              <a:rPr kumimoji="1" lang="en-US" altLang="zh-CN" sz="3200" dirty="0">
                <a:solidFill>
                  <a:schemeClr val="bg1">
                    <a:lumMod val="75000"/>
                  </a:schemeClr>
                </a:solidFill>
              </a:rPr>
              <a:t>Gradient</a:t>
            </a:r>
            <a:r>
              <a:rPr kumimoji="1" lang="zh-CN" altLang="en-US" sz="3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sz="3200" dirty="0">
                <a:solidFill>
                  <a:schemeClr val="bg1">
                    <a:lumMod val="75000"/>
                  </a:schemeClr>
                </a:solidFill>
              </a:rPr>
              <a:t>Descent </a:t>
            </a:r>
            <a:br>
              <a:rPr kumimoji="1" lang="en-US" altLang="zh-CN" sz="3200" dirty="0"/>
            </a:br>
            <a:r>
              <a:rPr kumimoji="1" lang="en-US" altLang="zh-CN" sz="3200" b="0" dirty="0"/>
              <a:t>[footnote: It is </a:t>
            </a:r>
            <a:r>
              <a:rPr lang="en-US" sz="3200" b="0" dirty="0"/>
              <a:t>gradient ascent for maximizing log likelihood]</a:t>
            </a: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725" y="1371601"/>
            <a:ext cx="8170863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 bwMode="auto">
          <a:xfrm>
            <a:off x="8915400" y="1382840"/>
            <a:ext cx="762000" cy="685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6A6EB6-1225-4DA2-A7A8-F9B6D3A20B43}"/>
              </a:ext>
            </a:extLst>
          </p:cNvPr>
          <p:cNvSpPr/>
          <p:nvPr/>
        </p:nvSpPr>
        <p:spPr bwMode="auto">
          <a:xfrm>
            <a:off x="0" y="6451600"/>
            <a:ext cx="10890250" cy="40005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Note we have switched the index </a:t>
            </a:r>
            <a:r>
              <a:rPr lang="en-US" sz="1400" i="1" dirty="0" err="1">
                <a:solidFill>
                  <a:schemeClr val="bg1"/>
                </a:solidFill>
                <a:latin typeface="Arial" charset="0"/>
              </a:rPr>
              <a:t>i</a:t>
            </a:r>
            <a:r>
              <a:rPr lang="en-US" sz="1400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kumimoji="0" 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in the previous slides to </a:t>
            </a:r>
            <a:r>
              <a:rPr kumimoji="0" lang="en-US" sz="1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l, and use </a:t>
            </a:r>
            <a:r>
              <a:rPr kumimoji="0" lang="en-US" sz="1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i</a:t>
            </a:r>
            <a:r>
              <a:rPr kumimoji="0" lang="en-US" sz="1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 to refer to different components of weight vector w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73BD0A0-B076-49B8-B982-C8FC5BDAB0AA}"/>
              </a:ext>
            </a:extLst>
          </p:cNvPr>
          <p:cNvSpPr/>
          <p:nvPr/>
        </p:nvSpPr>
        <p:spPr bwMode="auto">
          <a:xfrm>
            <a:off x="9321800" y="5384800"/>
            <a:ext cx="839788" cy="8636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5881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endParaRPr lang="en-US" altLang="en-US">
              <a:solidFill>
                <a:srgbClr val="000000"/>
              </a:solidFill>
              <a:latin typeface="Arial"/>
            </a:endParaRPr>
          </a:p>
          <a:p>
            <a:pPr defTabSz="914400"/>
            <a:endParaRPr lang="en-US" altLang="en-US">
              <a:solidFill>
                <a:srgbClr val="000000"/>
              </a:solidFill>
              <a:latin typeface="Arial"/>
            </a:endParaRPr>
          </a:p>
          <a:p>
            <a:pPr defTabSz="914400"/>
            <a:endParaRPr lang="en-US" altLang="en-US">
              <a:solidFill>
                <a:srgbClr val="000000"/>
              </a:solidFill>
              <a:latin typeface="Arial"/>
            </a:endParaRPr>
          </a:p>
          <a:p>
            <a:pPr defTabSz="914400"/>
            <a:fld id="{ABB39991-57EF-4F47-A772-02D2698DE9A8}" type="slidenum">
              <a:rPr lang="en-US" altLang="en-US" sz="1000">
                <a:solidFill>
                  <a:srgbClr val="000000"/>
                </a:solidFill>
                <a:latin typeface="Arial"/>
              </a:rPr>
              <a:pPr defTabSz="914400"/>
              <a:t>49</a:t>
            </a:fld>
            <a:endParaRPr lang="en-US" altLang="en-US" sz="1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8915400" y="1143000"/>
            <a:ext cx="762000" cy="685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399587" y="5305425"/>
            <a:ext cx="762000" cy="685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539" y="1504950"/>
            <a:ext cx="8161337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 bwMode="auto">
          <a:xfrm>
            <a:off x="8915400" y="1219200"/>
            <a:ext cx="762000" cy="685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9677400" y="5715000"/>
            <a:ext cx="762000" cy="685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57E2548-02FE-4266-8FFB-243A9A92FE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11887200" cy="1143000"/>
          </a:xfrm>
        </p:spPr>
        <p:txBody>
          <a:bodyPr/>
          <a:lstStyle/>
          <a:p>
            <a:pPr algn="ctr"/>
            <a:r>
              <a:rPr kumimoji="1" lang="en-US" altLang="zh-CN" sz="3200" dirty="0">
                <a:solidFill>
                  <a:schemeClr val="bg1">
                    <a:lumMod val="75000"/>
                  </a:schemeClr>
                </a:solidFill>
              </a:rPr>
              <a:t>Gradient</a:t>
            </a:r>
            <a:r>
              <a:rPr kumimoji="1" lang="zh-CN" altLang="en-US" sz="3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sz="3200" dirty="0">
                <a:solidFill>
                  <a:schemeClr val="bg1">
                    <a:lumMod val="75000"/>
                  </a:schemeClr>
                </a:solidFill>
              </a:rPr>
              <a:t>Descent </a:t>
            </a:r>
            <a:br>
              <a:rPr kumimoji="1" lang="en-US" altLang="zh-CN" sz="3200" dirty="0"/>
            </a:br>
            <a:r>
              <a:rPr kumimoji="1" lang="en-US" altLang="zh-CN" sz="3200" b="0" dirty="0"/>
              <a:t>[footnote: It is </a:t>
            </a:r>
            <a:r>
              <a:rPr lang="en-US" sz="3200" b="0" dirty="0"/>
              <a:t>gradient ascent for maximizing log likelihood]</a:t>
            </a:r>
          </a:p>
        </p:txBody>
      </p:sp>
    </p:spTree>
    <p:extLst>
      <p:ext uri="{BB962C8B-B14F-4D97-AF65-F5344CB8AC3E}">
        <p14:creationId xmlns:p14="http://schemas.microsoft.com/office/powerpoint/2010/main" val="12846294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endParaRPr lang="en-US" altLang="en-US">
              <a:solidFill>
                <a:srgbClr val="000000"/>
              </a:solidFill>
              <a:latin typeface="Arial"/>
            </a:endParaRPr>
          </a:p>
          <a:p>
            <a:pPr defTabSz="914400"/>
            <a:endParaRPr lang="en-US" altLang="en-US">
              <a:solidFill>
                <a:srgbClr val="000000"/>
              </a:solidFill>
              <a:latin typeface="Arial"/>
            </a:endParaRPr>
          </a:p>
          <a:p>
            <a:pPr defTabSz="914400"/>
            <a:endParaRPr lang="en-US" altLang="en-US">
              <a:solidFill>
                <a:srgbClr val="000000"/>
              </a:solidFill>
              <a:latin typeface="Arial"/>
            </a:endParaRPr>
          </a:p>
          <a:p>
            <a:pPr defTabSz="914400"/>
            <a:fld id="{ABB39991-57EF-4F47-A772-02D2698DE9A8}" type="slidenum">
              <a:rPr lang="en-US" altLang="en-US" sz="1000">
                <a:solidFill>
                  <a:srgbClr val="000000"/>
                </a:solidFill>
                <a:latin typeface="Arial"/>
              </a:rPr>
              <a:pPr defTabSz="914400"/>
              <a:t>50</a:t>
            </a:fld>
            <a:endParaRPr lang="en-US" altLang="en-US" sz="1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8915400" y="1143000"/>
            <a:ext cx="762000" cy="685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399587" y="5305425"/>
            <a:ext cx="762000" cy="685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1" y="1600201"/>
            <a:ext cx="8189913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 bwMode="auto">
          <a:xfrm>
            <a:off x="8915400" y="1219200"/>
            <a:ext cx="762000" cy="685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8231730-4D4D-45E3-AB10-1481EED3A2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11887200" cy="1143000"/>
          </a:xfrm>
        </p:spPr>
        <p:txBody>
          <a:bodyPr/>
          <a:lstStyle/>
          <a:p>
            <a:pPr algn="ctr"/>
            <a:r>
              <a:rPr kumimoji="1" lang="en-US" altLang="zh-CN" sz="3200" dirty="0">
                <a:solidFill>
                  <a:schemeClr val="bg1">
                    <a:lumMod val="75000"/>
                  </a:schemeClr>
                </a:solidFill>
              </a:rPr>
              <a:t>Gradient</a:t>
            </a:r>
            <a:r>
              <a:rPr kumimoji="1" lang="zh-CN" altLang="en-US" sz="3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sz="3200" dirty="0">
                <a:solidFill>
                  <a:schemeClr val="bg1">
                    <a:lumMod val="75000"/>
                  </a:schemeClr>
                </a:solidFill>
              </a:rPr>
              <a:t>Descent </a:t>
            </a:r>
            <a:br>
              <a:rPr kumimoji="1" lang="en-US" altLang="zh-CN" sz="3200" dirty="0"/>
            </a:br>
            <a:r>
              <a:rPr kumimoji="1" lang="en-US" altLang="zh-CN" sz="3200" b="0" dirty="0"/>
              <a:t>[footnote: It is </a:t>
            </a:r>
            <a:r>
              <a:rPr lang="en-US" sz="3200" b="0" dirty="0"/>
              <a:t>gradient ascent for maximizing log likelihood]</a:t>
            </a:r>
          </a:p>
        </p:txBody>
      </p:sp>
    </p:spTree>
    <p:extLst>
      <p:ext uri="{BB962C8B-B14F-4D97-AF65-F5344CB8AC3E}">
        <p14:creationId xmlns:p14="http://schemas.microsoft.com/office/powerpoint/2010/main" val="9975644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6. Classification: Basic Concepts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 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Lazy Learners (or learning from your neighbors)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Linear Classifiers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4967603" y="4239474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8496840"/>
      </p:ext>
    </p:extLst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Model Evaluation and Selection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4992" y="1180290"/>
            <a:ext cx="11406908" cy="53848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 dirty="0"/>
              <a:t>Evaluation metrics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How can we measure accuracy?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Other metrics to consider?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Use </a:t>
            </a:r>
            <a:r>
              <a:rPr lang="en-US" altLang="en-US" sz="2400" b="1" dirty="0"/>
              <a:t>validation test set</a:t>
            </a:r>
            <a:r>
              <a:rPr lang="en-US" altLang="en-US" sz="2400" dirty="0"/>
              <a:t> of class-labeled tuples instead of training set when assessing accuracy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Methods for estimating a classifier’s accuracy 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Holdout method 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Cross-validation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Bootstrap (not covered)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Comparing classifiers: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ROC Curves</a:t>
            </a:r>
          </a:p>
        </p:txBody>
      </p:sp>
    </p:spTree>
    <p:extLst>
      <p:ext uri="{BB962C8B-B14F-4D97-AF65-F5344CB8AC3E}">
        <p14:creationId xmlns:p14="http://schemas.microsoft.com/office/powerpoint/2010/main" val="1279884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906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Classifier Evaluation Metrics: Confusion Matrix</a:t>
            </a:r>
          </a:p>
        </p:txBody>
      </p:sp>
      <p:graphicFrame>
        <p:nvGraphicFramePr>
          <p:cNvPr id="61519" name="Group 79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22006358"/>
              </p:ext>
            </p:extLst>
          </p:nvPr>
        </p:nvGraphicFramePr>
        <p:xfrm>
          <a:off x="1361872" y="4874143"/>
          <a:ext cx="8629447" cy="1585024"/>
        </p:xfrm>
        <a:graphic>
          <a:graphicData uri="http://schemas.openxmlformats.org/drawingml/2006/table">
            <a:tbl>
              <a:tblPr/>
              <a:tblGrid>
                <a:gridCol w="3058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3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play_golf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 =  yes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play_golf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 = no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play_golf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 = yes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6954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7000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play_golf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 = no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412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2588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7366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2634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254" name="Rectangle 63"/>
          <p:cNvSpPr>
            <a:spLocks noGrp="1" noChangeArrowheads="1"/>
          </p:cNvSpPr>
          <p:nvPr>
            <p:ph type="body" sz="half" idx="2"/>
          </p:nvPr>
        </p:nvSpPr>
        <p:spPr>
          <a:xfrm>
            <a:off x="676277" y="1104900"/>
            <a:ext cx="9664226" cy="425504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Confusion Matrix: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In a confusion matrix w. </a:t>
            </a:r>
            <a:r>
              <a:rPr lang="en-US" altLang="en-US" i="1" dirty="0"/>
              <a:t>m</a:t>
            </a:r>
            <a:r>
              <a:rPr lang="en-US" altLang="en-US" dirty="0"/>
              <a:t> classes, </a:t>
            </a:r>
            <a:r>
              <a:rPr lang="en-US" altLang="en-US" i="1" dirty="0" err="1"/>
              <a:t>CM</a:t>
            </a:r>
            <a:r>
              <a:rPr lang="en-US" altLang="en-US" i="1" baseline="-25000" dirty="0" err="1"/>
              <a:t>i,j</a:t>
            </a:r>
            <a:r>
              <a:rPr lang="en-US" altLang="en-US" baseline="-25000" dirty="0"/>
              <a:t> </a:t>
            </a:r>
            <a:r>
              <a:rPr lang="en-US" altLang="en-US" dirty="0"/>
              <a:t>indicates # of tuples in class </a:t>
            </a:r>
            <a:r>
              <a:rPr lang="en-US" altLang="en-US" i="1" dirty="0" err="1"/>
              <a:t>i</a:t>
            </a:r>
            <a:r>
              <a:rPr lang="en-US" altLang="en-US" dirty="0"/>
              <a:t>  that were labeled by the classifier as class </a:t>
            </a:r>
            <a:r>
              <a:rPr lang="en-US" altLang="en-US" i="1" dirty="0"/>
              <a:t>j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May have extra rows/columns to provide totals</a:t>
            </a:r>
          </a:p>
          <a:p>
            <a:pPr>
              <a:lnSpc>
                <a:spcPct val="90000"/>
              </a:lnSpc>
            </a:pPr>
            <a:r>
              <a:rPr lang="en-US" altLang="en-US" b="1" dirty="0"/>
              <a:t>Example of Confusion Matrix:</a:t>
            </a:r>
          </a:p>
        </p:txBody>
      </p:sp>
      <p:graphicFrame>
        <p:nvGraphicFramePr>
          <p:cNvPr id="61517" name="Group 77"/>
          <p:cNvGraphicFramePr>
            <a:graphicFrameLocks noGrp="1"/>
          </p:cNvGraphicFramePr>
          <p:nvPr/>
        </p:nvGraphicFramePr>
        <p:xfrm>
          <a:off x="1361872" y="1617922"/>
          <a:ext cx="9299645" cy="1371600"/>
        </p:xfrm>
        <a:graphic>
          <a:graphicData uri="http://schemas.openxmlformats.org/drawingml/2006/table">
            <a:tbl>
              <a:tblPr/>
              <a:tblGrid>
                <a:gridCol w="3570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7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 C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Positives (TP)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Negatives (FN)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 C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Positives (FP)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Negatives (TN)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15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Classifier Evaluation Metrics: Accuracy, Error Rate, Sensitivity and Specificity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3649604"/>
            <a:ext cx="4739802" cy="3081335"/>
          </a:xfrm>
        </p:spPr>
        <p:txBody>
          <a:bodyPr/>
          <a:lstStyle/>
          <a:p>
            <a:r>
              <a:rPr lang="en-US" altLang="en-US" sz="2400" b="1" dirty="0"/>
              <a:t>Classifier accuracy, </a:t>
            </a:r>
            <a:r>
              <a:rPr lang="en-US" altLang="en-US" sz="2400" dirty="0"/>
              <a:t>or recognition rate</a:t>
            </a:r>
          </a:p>
          <a:p>
            <a:pPr lvl="1"/>
            <a:r>
              <a:rPr lang="en-US" altLang="en-US" sz="2400" dirty="0"/>
              <a:t>Percentage of test set tuples that are correctly classified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sz="2400" b="1" dirty="0"/>
              <a:t>Accuracy = (TP + TN)/All</a:t>
            </a:r>
            <a:endParaRPr lang="en-US" altLang="en-US" sz="2400" dirty="0"/>
          </a:p>
          <a:p>
            <a:r>
              <a:rPr lang="en-US" altLang="en-US" sz="2400" b="1" dirty="0"/>
              <a:t>Error rate:</a:t>
            </a:r>
            <a:r>
              <a:rPr lang="en-US" altLang="en-US" sz="2400" dirty="0"/>
              <a:t> </a:t>
            </a:r>
            <a:r>
              <a:rPr lang="en-US" altLang="en-US" sz="2400" i="1" dirty="0"/>
              <a:t>1 –</a:t>
            </a:r>
            <a:r>
              <a:rPr lang="en-US" altLang="en-US" sz="2400" dirty="0"/>
              <a:t> </a:t>
            </a:r>
            <a:r>
              <a:rPr lang="en-US" altLang="en-US" sz="2400" i="1" dirty="0"/>
              <a:t>accuracy</a:t>
            </a:r>
            <a:r>
              <a:rPr lang="en-US" altLang="en-US" sz="2400" dirty="0"/>
              <a:t>, or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sz="2400" b="1" dirty="0"/>
              <a:t>Error rate = (FP + FN)/All</a:t>
            </a:r>
          </a:p>
        </p:txBody>
      </p:sp>
      <p:graphicFrame>
        <p:nvGraphicFramePr>
          <p:cNvPr id="62595" name="Group 1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520360"/>
              </p:ext>
            </p:extLst>
          </p:nvPr>
        </p:nvGraphicFramePr>
        <p:xfrm>
          <a:off x="927418" y="1236628"/>
          <a:ext cx="2351313" cy="1673000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A\P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All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967590" y="1538285"/>
            <a:ext cx="6647236" cy="4761254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b="1" dirty="0"/>
              <a:t>Class imbalance problem</a:t>
            </a:r>
            <a:endParaRPr lang="en-US" altLang="en-US" sz="2400" dirty="0"/>
          </a:p>
          <a:p>
            <a:pPr lvl="1"/>
            <a:r>
              <a:rPr lang="en-US" altLang="en-US" sz="2400" dirty="0"/>
              <a:t>One class may be </a:t>
            </a:r>
            <a:r>
              <a:rPr lang="en-US" altLang="en-US" sz="2400" i="1" dirty="0"/>
              <a:t>rare</a:t>
            </a:r>
            <a:endParaRPr lang="en-US" altLang="en-US" sz="2400" dirty="0"/>
          </a:p>
          <a:p>
            <a:pPr lvl="2"/>
            <a:r>
              <a:rPr lang="en-US" altLang="en-US" sz="2400" dirty="0"/>
              <a:t>E.g., fraud, or HIV-positive</a:t>
            </a:r>
          </a:p>
          <a:p>
            <a:pPr lvl="1"/>
            <a:r>
              <a:rPr lang="en-US" altLang="en-US" sz="2400" dirty="0"/>
              <a:t>Significant </a:t>
            </a:r>
            <a:r>
              <a:rPr lang="en-US" altLang="en-US" sz="2400" i="1" dirty="0"/>
              <a:t>majority of the negative class</a:t>
            </a:r>
            <a:r>
              <a:rPr lang="en-US" altLang="en-US" sz="2400" dirty="0"/>
              <a:t> and minority of the positive class</a:t>
            </a:r>
          </a:p>
          <a:p>
            <a:pPr lvl="1"/>
            <a:r>
              <a:rPr lang="en-US" altLang="en-US" sz="2400" dirty="0"/>
              <a:t>Measures handle the class imbalance problem</a:t>
            </a:r>
          </a:p>
          <a:p>
            <a:pPr lvl="2"/>
            <a:r>
              <a:rPr lang="en-US" altLang="en-US" sz="2400" b="1" dirty="0"/>
              <a:t>Sensitivity </a:t>
            </a:r>
            <a:r>
              <a:rPr lang="en-US" altLang="en-US" sz="2400" dirty="0"/>
              <a:t>(recall): True positive recognition rate</a:t>
            </a:r>
          </a:p>
          <a:p>
            <a:pPr lvl="3"/>
            <a:r>
              <a:rPr lang="en-US" altLang="en-US" sz="2400" b="1" dirty="0"/>
              <a:t>Sensitivity = TP/P</a:t>
            </a:r>
          </a:p>
          <a:p>
            <a:pPr lvl="2"/>
            <a:r>
              <a:rPr lang="en-US" altLang="en-US" sz="2400" b="1" dirty="0"/>
              <a:t>Specificity</a:t>
            </a:r>
            <a:r>
              <a:rPr lang="en-US" altLang="en-US" sz="2400" dirty="0"/>
              <a:t>: True negative recognition rate</a:t>
            </a:r>
          </a:p>
          <a:p>
            <a:pPr lvl="3"/>
            <a:r>
              <a:rPr lang="en-US" altLang="en-US" sz="2400" b="1" dirty="0"/>
              <a:t>Specificity = TN/N</a:t>
            </a:r>
          </a:p>
        </p:txBody>
      </p:sp>
      <p:sp>
        <p:nvSpPr>
          <p:cNvPr id="2" name="Right Brace 1"/>
          <p:cNvSpPr/>
          <p:nvPr/>
        </p:nvSpPr>
        <p:spPr>
          <a:xfrm>
            <a:off x="3412503" y="1762812"/>
            <a:ext cx="245097" cy="565609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/>
          <p:cNvSpPr/>
          <p:nvPr/>
        </p:nvSpPr>
        <p:spPr>
          <a:xfrm rot="5400000">
            <a:off x="2055940" y="2777654"/>
            <a:ext cx="245097" cy="565609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440784" y="1734531"/>
            <a:ext cx="1555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Real-world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0008" y="3131128"/>
            <a:ext cx="155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Predictions</a:t>
            </a:r>
          </a:p>
        </p:txBody>
      </p:sp>
    </p:spTree>
    <p:extLst>
      <p:ext uri="{BB962C8B-B14F-4D97-AF65-F5344CB8AC3E}">
        <p14:creationId xmlns:p14="http://schemas.microsoft.com/office/powerpoint/2010/main" val="27390747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Classifier Evaluation Metrics: </a:t>
            </a:r>
            <a:br>
              <a:rPr lang="en-US" altLang="en-US" dirty="0"/>
            </a:br>
            <a:r>
              <a:rPr lang="en-US" altLang="en-US" dirty="0"/>
              <a:t>Precision and Recall, and F-measures</a:t>
            </a:r>
          </a:p>
        </p:txBody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51" y="1204605"/>
            <a:ext cx="7360190" cy="550261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endParaRPr lang="en-US" altLang="en-US" sz="2400" b="1" dirty="0"/>
          </a:p>
          <a:p>
            <a:pPr>
              <a:lnSpc>
                <a:spcPct val="90000"/>
              </a:lnSpc>
              <a:defRPr/>
            </a:pPr>
            <a:endParaRPr lang="en-US" altLang="en-US" sz="2400" b="1" dirty="0"/>
          </a:p>
          <a:p>
            <a:pPr>
              <a:lnSpc>
                <a:spcPct val="90000"/>
              </a:lnSpc>
              <a:defRPr/>
            </a:pPr>
            <a:endParaRPr lang="en-US" altLang="en-US" sz="2400" b="1" dirty="0"/>
          </a:p>
          <a:p>
            <a:pPr>
              <a:lnSpc>
                <a:spcPct val="90000"/>
              </a:lnSpc>
              <a:defRPr/>
            </a:pPr>
            <a:endParaRPr lang="en-US" altLang="en-US" sz="2400" b="1" dirty="0"/>
          </a:p>
          <a:p>
            <a:pPr>
              <a:lnSpc>
                <a:spcPct val="90000"/>
              </a:lnSpc>
              <a:defRPr/>
            </a:pPr>
            <a:r>
              <a:rPr lang="en-US" altLang="en-US" sz="2400" b="1" dirty="0"/>
              <a:t>Precision</a:t>
            </a:r>
            <a:r>
              <a:rPr lang="en-US" altLang="en-US" sz="2400" dirty="0"/>
              <a:t>: Exactness: what % of tuples that the classifier labeled as positive are actually positive?</a:t>
            </a:r>
          </a:p>
          <a:p>
            <a:pPr>
              <a:lnSpc>
                <a:spcPct val="90000"/>
              </a:lnSpc>
              <a:defRPr/>
            </a:pPr>
            <a:endParaRPr lang="en-US" altLang="en-US" sz="2400" b="1" dirty="0"/>
          </a:p>
          <a:p>
            <a:pPr>
              <a:lnSpc>
                <a:spcPct val="90000"/>
              </a:lnSpc>
              <a:defRPr/>
            </a:pPr>
            <a:endParaRPr lang="en-US" altLang="en-US" sz="2400" b="1" dirty="0"/>
          </a:p>
          <a:p>
            <a:pPr>
              <a:lnSpc>
                <a:spcPct val="90000"/>
              </a:lnSpc>
              <a:defRPr/>
            </a:pPr>
            <a:r>
              <a:rPr lang="en-US" altLang="en-US" sz="2400" b="1" dirty="0"/>
              <a:t>Recall: </a:t>
            </a:r>
            <a:r>
              <a:rPr lang="en-US" altLang="en-US" sz="2400" dirty="0"/>
              <a:t>Completeness: what % of positive tuples did the classifier label as positive?</a:t>
            </a:r>
          </a:p>
          <a:p>
            <a:pPr lvl="1">
              <a:lnSpc>
                <a:spcPct val="90000"/>
              </a:lnSpc>
              <a:defRPr/>
            </a:pPr>
            <a:endParaRPr lang="en-US" altLang="en-US" sz="2400" dirty="0"/>
          </a:p>
          <a:p>
            <a:pPr lvl="1">
              <a:lnSpc>
                <a:spcPct val="90000"/>
              </a:lnSpc>
              <a:defRPr/>
            </a:pPr>
            <a:endParaRPr lang="en-US" altLang="en-US" sz="2400" dirty="0"/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Range: [0, 1]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altLang="en-US" sz="24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106112" y="3569477"/>
                <a:ext cx="2838726" cy="5813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recision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FP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112" y="3569477"/>
                <a:ext cx="2838726" cy="5813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106112" y="5170434"/>
                <a:ext cx="2519729" cy="5813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Recall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FN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112" y="5170434"/>
                <a:ext cx="2519729" cy="5813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742" y="1110664"/>
            <a:ext cx="3918660" cy="50538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62484" y="6386890"/>
            <a:ext cx="389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https://en.wikipedia.org/wiki/Precision_and_recall</a:t>
            </a:r>
          </a:p>
        </p:txBody>
      </p:sp>
      <p:graphicFrame>
        <p:nvGraphicFramePr>
          <p:cNvPr id="12" name="Group 131"/>
          <p:cNvGraphicFramePr>
            <a:graphicFrameLocks noGrp="1"/>
          </p:cNvGraphicFramePr>
          <p:nvPr/>
        </p:nvGraphicFramePr>
        <p:xfrm>
          <a:off x="2998154" y="1143000"/>
          <a:ext cx="2351313" cy="1673000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A\P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All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669" b="19115"/>
          <a:stretch/>
        </p:blipFill>
        <p:spPr>
          <a:xfrm>
            <a:off x="5096357" y="3479744"/>
            <a:ext cx="1693967" cy="981060"/>
          </a:xfrm>
          <a:prstGeom prst="rect">
            <a:avLst/>
          </a:prstGeom>
        </p:spPr>
      </p:pic>
      <p:pic>
        <p:nvPicPr>
          <p:cNvPr id="13" name="Picture 12" descr="Screen Clippin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43"/>
          <a:stretch/>
        </p:blipFill>
        <p:spPr>
          <a:xfrm>
            <a:off x="5420879" y="4931816"/>
            <a:ext cx="1543406" cy="121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8406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Classifier Evaluation Metrics: </a:t>
            </a:r>
            <a:br>
              <a:rPr lang="en-US" altLang="en-US" dirty="0"/>
            </a:br>
            <a:r>
              <a:rPr lang="en-US" altLang="en-US" dirty="0"/>
              <a:t>Precision and Recall, and F-measures</a:t>
            </a:r>
          </a:p>
        </p:txBody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50" y="1204605"/>
            <a:ext cx="11115675" cy="5502613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The “inverse” relationship between precision &amp; recall</a:t>
            </a:r>
            <a:endParaRPr lang="en-US" altLang="en-US" sz="2400" b="1" i="1"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en-US" sz="2400" b="1" i="1" dirty="0"/>
              <a:t>We want one number to say if a classifier is good or not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400" b="1" i="1" dirty="0"/>
              <a:t>F</a:t>
            </a:r>
            <a:r>
              <a:rPr lang="en-US" altLang="en-US" sz="2400" b="1" dirty="0"/>
              <a:t> measure (</a:t>
            </a:r>
            <a:r>
              <a:rPr lang="en-US" altLang="en-US" sz="2400" dirty="0"/>
              <a:t>or </a:t>
            </a:r>
            <a:r>
              <a:rPr lang="en-US" altLang="en-US" sz="2400" b="1" i="1" dirty="0"/>
              <a:t>F</a:t>
            </a:r>
            <a:r>
              <a:rPr lang="en-US" altLang="en-US" sz="2400" b="1" dirty="0"/>
              <a:t>-score): </a:t>
            </a:r>
            <a:r>
              <a:rPr lang="en-US" altLang="en-US" sz="2400" u="sng" dirty="0"/>
              <a:t>harmonic</a:t>
            </a:r>
            <a:r>
              <a:rPr lang="en-US" altLang="en-US" sz="2400" dirty="0"/>
              <a:t> mean of precision and recall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en-US" sz="2400" dirty="0"/>
              <a:t>In general, it is the weighted measure of precision &amp; recall</a:t>
            </a:r>
            <a:endParaRPr lang="en-US" altLang="en-US" sz="2400" b="1" i="1" dirty="0"/>
          </a:p>
          <a:p>
            <a:pPr>
              <a:lnSpc>
                <a:spcPct val="80000"/>
              </a:lnSpc>
              <a:defRPr/>
            </a:pPr>
            <a:endParaRPr lang="en-US" altLang="en-US" sz="2400" b="1" i="1" dirty="0"/>
          </a:p>
          <a:p>
            <a:pPr marL="0" indent="0">
              <a:lnSpc>
                <a:spcPct val="80000"/>
              </a:lnSpc>
              <a:buNone/>
              <a:defRPr/>
            </a:pPr>
            <a:endParaRPr lang="en-US" altLang="en-US" sz="2400" b="1" i="1" dirty="0"/>
          </a:p>
          <a:p>
            <a:pPr>
              <a:lnSpc>
                <a:spcPct val="80000"/>
              </a:lnSpc>
              <a:defRPr/>
            </a:pPr>
            <a:endParaRPr lang="en-US" altLang="en-US" sz="2400" b="1" i="1" dirty="0"/>
          </a:p>
          <a:p>
            <a:pPr lvl="1">
              <a:lnSpc>
                <a:spcPct val="80000"/>
              </a:lnSpc>
              <a:defRPr/>
            </a:pPr>
            <a:endParaRPr lang="en-US" altLang="en-US" sz="2400" b="1" i="1" dirty="0"/>
          </a:p>
          <a:p>
            <a:pPr lvl="1">
              <a:lnSpc>
                <a:spcPct val="80000"/>
              </a:lnSpc>
              <a:defRPr/>
            </a:pPr>
            <a:r>
              <a:rPr lang="en-US" altLang="en-US" sz="2400" b="1" i="1" dirty="0"/>
              <a:t>F1-measure (balanced F-measure) </a:t>
            </a:r>
          </a:p>
          <a:p>
            <a:pPr lvl="4">
              <a:lnSpc>
                <a:spcPct val="80000"/>
              </a:lnSpc>
              <a:defRPr/>
            </a:pPr>
            <a:r>
              <a:rPr lang="en-US" altLang="en-US" sz="2400" dirty="0"/>
              <a:t>That is,  when </a:t>
            </a:r>
            <a:r>
              <a:rPr lang="el-GR" altLang="en-US" sz="2400" dirty="0">
                <a:cs typeface="Tahoma" pitchFamily="34" charset="0"/>
              </a:rPr>
              <a:t>β</a:t>
            </a:r>
            <a:r>
              <a:rPr lang="en-US" altLang="en-US" sz="2400" dirty="0">
                <a:cs typeface="Tahoma" pitchFamily="34" charset="0"/>
              </a:rPr>
              <a:t> = 1,</a:t>
            </a:r>
          </a:p>
        </p:txBody>
      </p:sp>
      <p:sp>
        <p:nvSpPr>
          <p:cNvPr id="54280" name="TextBox 3"/>
          <p:cNvSpPr txBox="1">
            <a:spLocks noChangeArrowheads="1"/>
          </p:cNvSpPr>
          <p:nvPr/>
        </p:nvSpPr>
        <p:spPr bwMode="auto">
          <a:xfrm>
            <a:off x="7801211" y="2950193"/>
            <a:ext cx="3489359" cy="590931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2000" dirty="0">
                <a:latin typeface="Calibri" panose="020F0502020204030204" pitchFamily="34" charset="0"/>
                <a:cs typeface="Tahoma" panose="020B0604030504040204" pitchFamily="34" charset="0"/>
              </a:rPr>
              <a:t>Assigning </a:t>
            </a:r>
            <a:r>
              <a:rPr lang="el-GR" altLang="en-US" sz="2000" dirty="0">
                <a:latin typeface="Calibri" panose="020F0502020204030204" pitchFamily="34" charset="0"/>
                <a:cs typeface="Tahoma" panose="020B0604030504040204" pitchFamily="34" charset="0"/>
              </a:rPr>
              <a:t>β</a:t>
            </a:r>
            <a:r>
              <a:rPr lang="en-US" altLang="en-US" sz="2000" dirty="0">
                <a:latin typeface="Calibri" panose="020F0502020204030204" pitchFamily="34" charset="0"/>
                <a:cs typeface="Tahoma" panose="020B0604030504040204" pitchFamily="34" charset="0"/>
              </a:rPr>
              <a:t> times as much weight to recall as </a:t>
            </a:r>
            <a:r>
              <a:rPr lang="en-US" altLang="en-US" sz="2000">
                <a:latin typeface="Calibri" panose="020F0502020204030204" pitchFamily="34" charset="0"/>
                <a:cs typeface="Tahoma" panose="020B0604030504040204" pitchFamily="34" charset="0"/>
              </a:rPr>
              <a:t>to precision</a:t>
            </a:r>
            <a:endParaRPr lang="en-US" altLang="en-US" sz="20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162994" y="2724234"/>
                <a:ext cx="5374869" cy="10366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den>
                          </m:f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den>
                          </m:f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p>
                                  <m: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p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994" y="2724234"/>
                <a:ext cx="5374869" cy="10366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520507" y="4964934"/>
                <a:ext cx="1766979" cy="7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507" y="4964934"/>
                <a:ext cx="1766979" cy="7923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95602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762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Classifier Evaluation Metrics: Example</a:t>
            </a:r>
          </a:p>
        </p:txBody>
      </p:sp>
      <p:sp>
        <p:nvSpPr>
          <p:cNvPr id="55299" name="Rectangle 35"/>
          <p:cNvSpPr>
            <a:spLocks noChangeArrowheads="1"/>
          </p:cNvSpPr>
          <p:nvPr/>
        </p:nvSpPr>
        <p:spPr bwMode="auto">
          <a:xfrm>
            <a:off x="1752600" y="4572000"/>
            <a:ext cx="8610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graphicFrame>
        <p:nvGraphicFramePr>
          <p:cNvPr id="7" name="Group 54"/>
          <p:cNvGraphicFramePr>
            <a:graphicFrameLocks noGrp="1"/>
          </p:cNvGraphicFramePr>
          <p:nvPr/>
        </p:nvGraphicFramePr>
        <p:xfrm>
          <a:off x="1676400" y="1789889"/>
          <a:ext cx="7000875" cy="1465939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14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yes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no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yes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210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no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140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9560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9700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230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9770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51" y="1204605"/>
            <a:ext cx="9662402" cy="5312927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Use the same confusion matrix, calculate the measure just introduced</a:t>
            </a: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sz="2400" dirty="0"/>
          </a:p>
          <a:p>
            <a:pPr marL="0" indent="0">
              <a:buNone/>
              <a:defRPr/>
            </a:pPr>
            <a:endParaRPr lang="en-US" altLang="en-US" sz="2400" dirty="0"/>
          </a:p>
          <a:p>
            <a:pPr>
              <a:defRPr/>
            </a:pPr>
            <a:endParaRPr lang="en-US" altLang="en-US" dirty="0"/>
          </a:p>
          <a:p>
            <a:pPr lvl="2">
              <a:defRPr/>
            </a:pPr>
            <a:r>
              <a:rPr lang="en-US" altLang="en-US" dirty="0"/>
              <a:t>Sensitivity =</a:t>
            </a:r>
          </a:p>
          <a:p>
            <a:pPr lvl="2">
              <a:defRPr/>
            </a:pPr>
            <a:r>
              <a:rPr lang="en-US" altLang="en-US" dirty="0"/>
              <a:t>Specificity =</a:t>
            </a:r>
          </a:p>
          <a:p>
            <a:pPr lvl="2">
              <a:defRPr/>
            </a:pPr>
            <a:r>
              <a:rPr lang="en-US" altLang="en-US" dirty="0"/>
              <a:t>Accuracy = </a:t>
            </a:r>
          </a:p>
          <a:p>
            <a:pPr lvl="2">
              <a:defRPr/>
            </a:pPr>
            <a:r>
              <a:rPr lang="en-US" altLang="en-US" dirty="0"/>
              <a:t>Error rate = </a:t>
            </a:r>
          </a:p>
          <a:p>
            <a:pPr lvl="2">
              <a:defRPr/>
            </a:pPr>
            <a:r>
              <a:rPr lang="en-US" altLang="en-US" dirty="0"/>
              <a:t>Precision =         </a:t>
            </a:r>
          </a:p>
          <a:p>
            <a:pPr lvl="2">
              <a:defRPr/>
            </a:pPr>
            <a:r>
              <a:rPr lang="en-US" altLang="en-US" dirty="0"/>
              <a:t>Recall = </a:t>
            </a:r>
          </a:p>
          <a:p>
            <a:pPr lvl="2">
              <a:defRPr/>
            </a:pPr>
            <a:r>
              <a:rPr lang="en-US" altLang="en-US" dirty="0"/>
              <a:t>F1 =  </a:t>
            </a:r>
          </a:p>
        </p:txBody>
      </p:sp>
    </p:spTree>
    <p:extLst>
      <p:ext uri="{BB962C8B-B14F-4D97-AF65-F5344CB8AC3E}">
        <p14:creationId xmlns:p14="http://schemas.microsoft.com/office/powerpoint/2010/main" val="280262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762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Classifier Evaluation Metrics: Example</a:t>
            </a:r>
          </a:p>
        </p:txBody>
      </p:sp>
      <p:sp>
        <p:nvSpPr>
          <p:cNvPr id="55299" name="Rectangle 35"/>
          <p:cNvSpPr>
            <a:spLocks noChangeArrowheads="1"/>
          </p:cNvSpPr>
          <p:nvPr/>
        </p:nvSpPr>
        <p:spPr bwMode="auto">
          <a:xfrm>
            <a:off x="1752600" y="4572000"/>
            <a:ext cx="8610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graphicFrame>
        <p:nvGraphicFramePr>
          <p:cNvPr id="7" name="Group 54"/>
          <p:cNvGraphicFramePr>
            <a:graphicFrameLocks noGrp="1"/>
          </p:cNvGraphicFramePr>
          <p:nvPr/>
        </p:nvGraphicFramePr>
        <p:xfrm>
          <a:off x="1676400" y="1789889"/>
          <a:ext cx="7000875" cy="1465939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14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yes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no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yes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210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no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140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9560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9700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230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9770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51" y="1204605"/>
            <a:ext cx="9662402" cy="5312927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Use the same confusion matrix, calculate the measure just introduced</a:t>
            </a: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sz="2400" dirty="0"/>
          </a:p>
          <a:p>
            <a:pPr marL="0" indent="0">
              <a:buNone/>
              <a:defRPr/>
            </a:pPr>
            <a:endParaRPr lang="en-US" altLang="en-US" sz="2400" dirty="0"/>
          </a:p>
          <a:p>
            <a:pPr>
              <a:defRPr/>
            </a:pPr>
            <a:endParaRPr lang="en-US" altLang="en-US" dirty="0"/>
          </a:p>
          <a:p>
            <a:pPr lvl="2">
              <a:defRPr/>
            </a:pPr>
            <a:r>
              <a:rPr lang="en-US" altLang="en-US" dirty="0"/>
              <a:t>Sensitivity = TP/P = 90/300 = 30%</a:t>
            </a:r>
          </a:p>
          <a:p>
            <a:pPr lvl="2">
              <a:defRPr/>
            </a:pPr>
            <a:r>
              <a:rPr lang="en-US" altLang="en-US" dirty="0"/>
              <a:t>Specificity = TN/N = 9560/9700 = 98.56%</a:t>
            </a:r>
          </a:p>
          <a:p>
            <a:pPr lvl="2">
              <a:defRPr/>
            </a:pPr>
            <a:r>
              <a:rPr lang="en-US" altLang="en-US" dirty="0"/>
              <a:t>Accuracy = (TP + TN)/All = (90+9560)/10000 = 96.50%</a:t>
            </a:r>
          </a:p>
          <a:p>
            <a:pPr lvl="2">
              <a:defRPr/>
            </a:pPr>
            <a:r>
              <a:rPr lang="en-US" altLang="en-US" dirty="0"/>
              <a:t>Error rate = (FP + FN)/All = (140 + 210)/10000 = 3.50%</a:t>
            </a:r>
          </a:p>
          <a:p>
            <a:pPr lvl="2">
              <a:defRPr/>
            </a:pPr>
            <a:r>
              <a:rPr lang="en-US" altLang="en-US" dirty="0"/>
              <a:t>Precision = TP/(TP + FP) = 90/(90 + 140) = 90/230 = 39.13%          </a:t>
            </a:r>
          </a:p>
          <a:p>
            <a:pPr lvl="2">
              <a:defRPr/>
            </a:pPr>
            <a:r>
              <a:rPr lang="en-US" altLang="en-US" dirty="0"/>
              <a:t>Recall = TP/ (TP + FN) = 90/(90 + 210) = 90/300 = 30.00%</a:t>
            </a:r>
          </a:p>
          <a:p>
            <a:pPr lvl="2">
              <a:defRPr/>
            </a:pPr>
            <a:r>
              <a:rPr lang="en-US" altLang="en-US" dirty="0"/>
              <a:t>F1 = 2 P × R /(P + R) = 2 × 39.13% × 30.00%/(39.13% + 30%) = 33.96%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3825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Training Error VS Testing Error</a:t>
            </a:r>
          </a:p>
        </p:txBody>
      </p:sp>
      <p:pic>
        <p:nvPicPr>
          <p:cNvPr id="6" name="Content Placeholder 5" descr="Screen Clippi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096" b="96978" l="3433" r="99277">
                        <a14:foregroundMark x1="44986" y1="24704" x2="44986" y2="24704"/>
                        <a14:foregroundMark x1="56459" y1="28384" x2="56459" y2="28384"/>
                        <a14:foregroundMark x1="95393" y1="23127" x2="95393" y2="23127"/>
                        <a14:foregroundMark x1="90967" y1="7096" x2="90967" y2="7096"/>
                        <a14:foregroundMark x1="37489" y1="97240" x2="37489" y2="97240"/>
                        <a14:foregroundMark x1="47877" y1="96189" x2="47877" y2="96189"/>
                        <a14:foregroundMark x1="44083" y1="94218" x2="44083" y2="94218"/>
                        <a14:foregroundMark x1="3523" y1="61367" x2="3523" y2="61367"/>
                        <a14:foregroundMark x1="99277" y1="58870" x2="99277" y2="58870"/>
                        <a14:backgroundMark x1="19603" y1="7096" x2="18338" y2="22470"/>
                        <a14:backgroundMark x1="18609" y1="22339" x2="36676" y2="21813"/>
                        <a14:backgroundMark x1="36676" y1="21813" x2="37579" y2="7622"/>
                        <a14:backgroundMark x1="37579" y1="7490" x2="18609" y2="6439"/>
                        <a14:backgroundMark x1="26378" y1="13272" x2="26378" y2="13272"/>
                        <a14:backgroundMark x1="28726" y1="17608" x2="28726" y2="17608"/>
                        <a14:backgroundMark x1="73080" y1="7622" x2="73080" y2="24836"/>
                        <a14:backgroundMark x1="73442" y1="24836" x2="94490" y2="24836"/>
                        <a14:backgroundMark x1="94399" y1="24573" x2="93857" y2="5650"/>
                        <a14:backgroundMark x1="93948" y1="6965" x2="72900" y2="74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539820" y="1495301"/>
            <a:ext cx="7029811" cy="4832598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</p:spPr>
        <p:txBody>
          <a:bodyPr/>
          <a:lstStyle/>
          <a:p>
            <a:fld id="{E8B188AE-0E67-4EDB-ADA3-3959A28F2472}" type="slidenum">
              <a:rPr lang="en-US" altLang="en-US" smtClean="0"/>
              <a:pPr/>
              <a:t>59</a:t>
            </a:fld>
            <a:endParaRPr lang="en-US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381345" y="1738009"/>
            <a:ext cx="32425" cy="38002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81345" y="4500664"/>
            <a:ext cx="18288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overfitting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5475" y="3088383"/>
            <a:ext cx="18288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underfitting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1022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-204281" y="76200"/>
            <a:ext cx="12568135" cy="877111"/>
          </a:xfrm>
          <a:noFill/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sz="4000" dirty="0"/>
              <a:t>Classifier Evaluation: Holdout</a:t>
            </a:r>
            <a:endParaRPr lang="en-US" altLang="en-US" sz="3600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0822" y="1143000"/>
            <a:ext cx="10080693" cy="559117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600" b="1" dirty="0"/>
              <a:t>Holdout method</a:t>
            </a:r>
            <a:endParaRPr lang="en-US" altLang="en-US" sz="2600" dirty="0"/>
          </a:p>
          <a:p>
            <a:pPr lvl="1">
              <a:lnSpc>
                <a:spcPct val="150000"/>
              </a:lnSpc>
            </a:pPr>
            <a:r>
              <a:rPr lang="en-US" altLang="en-US" sz="2600" dirty="0"/>
              <a:t>Given data is randomly partitioned into two independent sets</a:t>
            </a:r>
          </a:p>
          <a:p>
            <a:pPr lvl="2">
              <a:lnSpc>
                <a:spcPct val="150000"/>
              </a:lnSpc>
            </a:pPr>
            <a:r>
              <a:rPr lang="en-US" altLang="en-US" sz="2600" dirty="0"/>
              <a:t>Training set (e.g., 2/3) for model construction</a:t>
            </a:r>
          </a:p>
          <a:p>
            <a:pPr lvl="2">
              <a:lnSpc>
                <a:spcPct val="150000"/>
              </a:lnSpc>
            </a:pPr>
            <a:r>
              <a:rPr lang="en-US" altLang="en-US" sz="2600" dirty="0"/>
              <a:t>Test set (e.g., 1/3) for accuracy estimation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Repeated random sub-sampling validation</a:t>
            </a:r>
            <a:r>
              <a:rPr lang="en-US" altLang="en-US" sz="2600" dirty="0"/>
              <a:t>: a variation of holdout</a:t>
            </a:r>
          </a:p>
          <a:p>
            <a:pPr lvl="2">
              <a:lnSpc>
                <a:spcPct val="150000"/>
              </a:lnSpc>
            </a:pPr>
            <a:r>
              <a:rPr lang="en-US" altLang="en-US" sz="2600" dirty="0"/>
              <a:t>Repeat holdout k times, accuracy = avg. of the accuracies obtained</a:t>
            </a:r>
          </a:p>
        </p:txBody>
      </p:sp>
    </p:spTree>
    <p:extLst>
      <p:ext uri="{BB962C8B-B14F-4D97-AF65-F5344CB8AC3E}">
        <p14:creationId xmlns:p14="http://schemas.microsoft.com/office/powerpoint/2010/main" val="7226129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-204281" y="76200"/>
            <a:ext cx="12568135" cy="877111"/>
          </a:xfrm>
          <a:noFill/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sz="4000" dirty="0"/>
              <a:t>Classifier Evaluation: Cross-Validation</a:t>
            </a:r>
            <a:endParaRPr lang="en-US" altLang="en-US" sz="3600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0822" y="1244338"/>
            <a:ext cx="10080693" cy="5489837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1200"/>
              </a:spcAft>
            </a:pPr>
            <a:r>
              <a:rPr lang="en-US" altLang="en-US" sz="2600" b="1" dirty="0"/>
              <a:t>Cross-validation</a:t>
            </a:r>
            <a:r>
              <a:rPr lang="en-US" altLang="en-US" sz="2600" dirty="0"/>
              <a:t> (</a:t>
            </a:r>
            <a:r>
              <a:rPr lang="en-US" altLang="en-US" sz="2600" i="1" dirty="0"/>
              <a:t>k</a:t>
            </a:r>
            <a:r>
              <a:rPr lang="en-US" altLang="en-US" sz="2600" dirty="0"/>
              <a:t>-fold, where k = 10 is most popular)</a:t>
            </a:r>
          </a:p>
          <a:p>
            <a:pPr lvl="1" eaLnBrk="1" hangingPunct="1">
              <a:spcAft>
                <a:spcPts val="1200"/>
              </a:spcAft>
            </a:pPr>
            <a:r>
              <a:rPr lang="en-US" altLang="en-US" sz="2600" dirty="0"/>
              <a:t>Randomly partition the data into </a:t>
            </a:r>
            <a:r>
              <a:rPr lang="en-US" altLang="en-US" sz="2600" i="1" dirty="0"/>
              <a:t>k</a:t>
            </a:r>
            <a:r>
              <a:rPr lang="en-US" altLang="en-US" sz="2600" dirty="0"/>
              <a:t> </a:t>
            </a:r>
            <a:r>
              <a:rPr lang="en-US" altLang="en-US" sz="2600" i="1" dirty="0"/>
              <a:t>mutually exclusive</a:t>
            </a:r>
            <a:r>
              <a:rPr lang="en-US" altLang="en-US" sz="2600" dirty="0"/>
              <a:t> subsets, each approximately equal size</a:t>
            </a:r>
          </a:p>
          <a:p>
            <a:pPr lvl="1" eaLnBrk="1" hangingPunct="1">
              <a:spcAft>
                <a:spcPts val="1200"/>
              </a:spcAft>
            </a:pPr>
            <a:r>
              <a:rPr lang="en-US" altLang="en-US" sz="2600" dirty="0"/>
              <a:t>At </a:t>
            </a:r>
            <a:r>
              <a:rPr lang="en-US" altLang="en-US" sz="2600" i="1" dirty="0" err="1"/>
              <a:t>i</a:t>
            </a:r>
            <a:r>
              <a:rPr lang="en-US" altLang="en-US" sz="2600" dirty="0" err="1"/>
              <a:t>-th</a:t>
            </a:r>
            <a:r>
              <a:rPr lang="en-US" altLang="en-US" sz="2600" dirty="0"/>
              <a:t> iteration, use D</a:t>
            </a:r>
            <a:r>
              <a:rPr lang="en-US" altLang="en-US" sz="2600" baseline="-25000" dirty="0"/>
              <a:t>i </a:t>
            </a:r>
            <a:r>
              <a:rPr lang="en-US" altLang="en-US" sz="2600" dirty="0"/>
              <a:t>as test set and others as training set</a:t>
            </a:r>
          </a:p>
          <a:p>
            <a:pPr lvl="1" eaLnBrk="1" hangingPunct="1">
              <a:spcAft>
                <a:spcPts val="1200"/>
              </a:spcAft>
            </a:pPr>
            <a:r>
              <a:rPr lang="en-US" altLang="en-US" sz="2600" u="sng" dirty="0"/>
              <a:t>Leave-one-out</a:t>
            </a:r>
            <a:r>
              <a:rPr lang="en-US" altLang="en-US" sz="2600" dirty="0"/>
              <a:t>: </a:t>
            </a:r>
            <a:r>
              <a:rPr lang="en-US" altLang="en-US" sz="2600" i="1" dirty="0"/>
              <a:t>k</a:t>
            </a:r>
            <a:r>
              <a:rPr lang="en-US" altLang="en-US" sz="2600" dirty="0"/>
              <a:t> folds where </a:t>
            </a:r>
            <a:r>
              <a:rPr lang="en-US" altLang="en-US" sz="2600" i="1" dirty="0"/>
              <a:t>k</a:t>
            </a:r>
            <a:r>
              <a:rPr lang="en-US" altLang="en-US" sz="2600" dirty="0"/>
              <a:t> = # of tuples, for small sized data</a:t>
            </a:r>
          </a:p>
          <a:p>
            <a:pPr lvl="1" eaLnBrk="1" hangingPunct="1">
              <a:spcAft>
                <a:spcPts val="1200"/>
              </a:spcAft>
            </a:pPr>
            <a:r>
              <a:rPr lang="en-US" altLang="en-US" sz="2600" b="1" u="sng" dirty="0"/>
              <a:t>*Stratified cross-validation*</a:t>
            </a:r>
            <a:r>
              <a:rPr lang="en-US" altLang="en-US" sz="2600" dirty="0"/>
              <a:t>: folds are stratified so that class distribution, in each fold is approximately the same as that in the initial data</a:t>
            </a:r>
          </a:p>
        </p:txBody>
      </p:sp>
    </p:spTree>
    <p:extLst>
      <p:ext uri="{BB962C8B-B14F-4D97-AF65-F5344CB8AC3E}">
        <p14:creationId xmlns:p14="http://schemas.microsoft.com/office/powerpoint/2010/main" val="38169270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253" y="552450"/>
            <a:ext cx="3429000" cy="324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7315200" cy="8953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Model Selection: ROC Curves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63912" y="1276056"/>
            <a:ext cx="6762750" cy="4876800"/>
          </a:xfrm>
        </p:spPr>
        <p:txBody>
          <a:bodyPr/>
          <a:lstStyle/>
          <a:p>
            <a:pPr marL="457200" indent="-457200"/>
            <a:r>
              <a:rPr lang="en-US" altLang="en-US" b="1" dirty="0"/>
              <a:t>ROC</a:t>
            </a:r>
            <a:r>
              <a:rPr lang="en-US" altLang="en-US" dirty="0"/>
              <a:t> (Receiver Operating Characteristics) curves: for visual comparison of classification models</a:t>
            </a:r>
          </a:p>
          <a:p>
            <a:pPr marL="457200" indent="-457200"/>
            <a:r>
              <a:rPr lang="en-US" altLang="en-US" dirty="0"/>
              <a:t>Originated from signal detection theory</a:t>
            </a:r>
          </a:p>
          <a:p>
            <a:pPr marL="457200" indent="-457200"/>
            <a:r>
              <a:rPr lang="en-US" altLang="en-US" dirty="0"/>
              <a:t>Shows the trade-off between the true positive rate and the false positive rate</a:t>
            </a:r>
          </a:p>
          <a:p>
            <a:pPr marL="457200" indent="-457200"/>
            <a:r>
              <a:rPr lang="en-US" altLang="en-US" dirty="0"/>
              <a:t>The area under the ROC curve (</a:t>
            </a:r>
            <a:r>
              <a:rPr lang="en-US" altLang="en-US" b="1" dirty="0"/>
              <a:t>AUC</a:t>
            </a:r>
            <a:r>
              <a:rPr lang="en-US" altLang="en-US" dirty="0"/>
              <a:t>: Area Under Curve) is a measure of the accuracy of the model</a:t>
            </a:r>
          </a:p>
          <a:p>
            <a:pPr marL="457200" indent="-457200"/>
            <a:r>
              <a:rPr lang="en-US" altLang="en-US" dirty="0"/>
              <a:t>Rank the test tuples in decreasing order: the one that is most likely to belong to the positive class appears at the top of the list</a:t>
            </a:r>
          </a:p>
          <a:p>
            <a:pPr marL="457200" indent="-457200"/>
            <a:r>
              <a:rPr lang="en-US" altLang="en-US" dirty="0"/>
              <a:t>The closer to the diagonal line (i.e., the closer the area is to 0.5), the less accurate is the model</a:t>
            </a:r>
          </a:p>
        </p:txBody>
      </p:sp>
      <p:sp>
        <p:nvSpPr>
          <p:cNvPr id="63493" name="Rectangle 7"/>
          <p:cNvSpPr>
            <a:spLocks noChangeArrowheads="1"/>
          </p:cNvSpPr>
          <p:nvPr/>
        </p:nvSpPr>
        <p:spPr bwMode="auto">
          <a:xfrm>
            <a:off x="7409469" y="3867737"/>
            <a:ext cx="4448175" cy="2787585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/>
              <a:t>Vertical axis represents the true positive rate (TP/P)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/>
              <a:t>Horizontal axis rep. the false positive rate (FP/N)</a:t>
            </a:r>
          </a:p>
          <a:p>
            <a:pPr eaLnBrk="1" hangingPunct="1">
              <a:lnSpc>
                <a:spcPct val="80000"/>
              </a:lnSpc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/>
              <a:t>The plot also shows a diagonal line</a:t>
            </a:r>
          </a:p>
          <a:p>
            <a:pPr eaLnBrk="1" hangingPunct="1">
              <a:lnSpc>
                <a:spcPct val="80000"/>
              </a:lnSpc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/>
              <a:t>A model with perfect accuracy will have an area of 1.0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D1ABF-A5FF-4FA5-81EB-9B1B49380906}"/>
              </a:ext>
            </a:extLst>
          </p:cNvPr>
          <p:cNvSpPr/>
          <p:nvPr/>
        </p:nvSpPr>
        <p:spPr>
          <a:xfrm>
            <a:off x="10052050" y="3581400"/>
            <a:ext cx="1016203" cy="214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20693-7E8F-4711-A8A2-C9B10AE04918}"/>
              </a:ext>
            </a:extLst>
          </p:cNvPr>
          <p:cNvSpPr txBox="1"/>
          <p:nvPr/>
        </p:nvSpPr>
        <p:spPr>
          <a:xfrm>
            <a:off x="9696450" y="3483016"/>
            <a:ext cx="195963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False positive rate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7FA4C2-CCF7-4C6D-85DE-58DF3FCAA896}"/>
              </a:ext>
            </a:extLst>
          </p:cNvPr>
          <p:cNvSpPr/>
          <p:nvPr/>
        </p:nvSpPr>
        <p:spPr>
          <a:xfrm>
            <a:off x="7609536" y="1562100"/>
            <a:ext cx="251764" cy="1054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3786EA-5151-452E-B742-71917CA519CE}"/>
              </a:ext>
            </a:extLst>
          </p:cNvPr>
          <p:cNvSpPr txBox="1"/>
          <p:nvPr/>
        </p:nvSpPr>
        <p:spPr>
          <a:xfrm rot="16200000">
            <a:off x="6787818" y="1235665"/>
            <a:ext cx="189519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True positive rate</a:t>
            </a:r>
          </a:p>
        </p:txBody>
      </p:sp>
    </p:spTree>
    <p:extLst>
      <p:ext uri="{BB962C8B-B14F-4D97-AF65-F5344CB8AC3E}">
        <p14:creationId xmlns:p14="http://schemas.microsoft.com/office/powerpoint/2010/main" val="412851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6. Classification: Basic Concepts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 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Lazy Learners (or learning from your neighbors)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Linear Classifiers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6796403" y="4960927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776297"/>
      </p:ext>
    </p:extLst>
  </p:cSld>
  <p:clrMapOvr>
    <a:masterClrMapping/>
  </p:clrMapOvr>
  <p:transition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Techniques to Improve Classification Accuracy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Introducing Ensemble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Bagging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Boosting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Random Forests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Imbalanced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362618985"/>
      </p:ext>
    </p:extLst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-1" y="-1"/>
            <a:ext cx="12087225" cy="10001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Ensemble Methods: Increasing the Accuracy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9125" y="1304925"/>
            <a:ext cx="7709087" cy="5293301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Ensemble methods</a:t>
            </a:r>
          </a:p>
          <a:p>
            <a:pPr lvl="1" eaLnBrk="1" hangingPunct="1"/>
            <a:r>
              <a:rPr lang="en-US" altLang="en-US" sz="2400" dirty="0"/>
              <a:t>Use a combination of models to increase accuracy</a:t>
            </a:r>
          </a:p>
          <a:p>
            <a:pPr lvl="1" eaLnBrk="1" hangingPunct="1"/>
            <a:r>
              <a:rPr lang="en-US" altLang="en-US" sz="2400" dirty="0"/>
              <a:t>Combine a series of </a:t>
            </a:r>
            <a:r>
              <a:rPr lang="en-US" altLang="en-US" sz="2400" i="1" dirty="0"/>
              <a:t>k</a:t>
            </a:r>
            <a:r>
              <a:rPr lang="en-US" altLang="en-US" sz="2400" dirty="0"/>
              <a:t> learned models, M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M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M</a:t>
            </a:r>
            <a:r>
              <a:rPr lang="en-US" altLang="en-US" sz="2400" baseline="-25000" dirty="0"/>
              <a:t>k</a:t>
            </a:r>
            <a:r>
              <a:rPr lang="en-US" altLang="en-US" sz="2400" dirty="0"/>
              <a:t>, with the aim of creating an </a:t>
            </a:r>
            <a:r>
              <a:rPr lang="en-US" altLang="en-US" sz="2400" b="1" dirty="0"/>
              <a:t>improved</a:t>
            </a:r>
            <a:r>
              <a:rPr lang="en-US" altLang="en-US" sz="2400" dirty="0"/>
              <a:t> model M*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EABAD9-871A-1C44-8F91-66676AD81FE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0910" y="3356141"/>
            <a:ext cx="6437134" cy="286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537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-1" y="-1"/>
            <a:ext cx="12087225" cy="10001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Ensemble Methods: Increasing the Accuracy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9125" y="1304925"/>
            <a:ext cx="8567264" cy="5293301"/>
          </a:xfrm>
        </p:spPr>
        <p:txBody>
          <a:bodyPr/>
          <a:lstStyle/>
          <a:p>
            <a:r>
              <a:rPr lang="en-US" altLang="en-US" sz="2400" dirty="0"/>
              <a:t>What are the requirements</a:t>
            </a:r>
            <a:r>
              <a:rPr lang="zh-CN" altLang="en-US" sz="2400" dirty="0"/>
              <a:t> </a:t>
            </a:r>
            <a:r>
              <a:rPr lang="en-US" altLang="zh-CN" sz="2400" dirty="0"/>
              <a:t>to generate an improved model</a:t>
            </a:r>
            <a:r>
              <a:rPr lang="en-US" altLang="en-US" sz="2400" dirty="0"/>
              <a:t>?</a:t>
            </a:r>
          </a:p>
          <a:p>
            <a:pPr lvl="1"/>
            <a:r>
              <a:rPr lang="en-US" altLang="en-US" sz="2400" dirty="0"/>
              <a:t>Example: majority voting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0C1B1DF-6AC8-4849-823D-8F1E539BEDAF}"/>
              </a:ext>
            </a:extLst>
          </p:cNvPr>
          <p:cNvGraphicFramePr>
            <a:graphicFrameLocks noGrp="1"/>
          </p:cNvGraphicFramePr>
          <p:nvPr/>
        </p:nvGraphicFramePr>
        <p:xfrm>
          <a:off x="2353618" y="2262393"/>
          <a:ext cx="2492098" cy="2071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2322">
                  <a:extLst>
                    <a:ext uri="{9D8B030D-6E8A-4147-A177-3AD203B41FA5}">
                      <a16:colId xmlns:a16="http://schemas.microsoft.com/office/drawing/2014/main" val="2115795409"/>
                    </a:ext>
                  </a:extLst>
                </a:gridCol>
                <a:gridCol w="448085">
                  <a:extLst>
                    <a:ext uri="{9D8B030D-6E8A-4147-A177-3AD203B41FA5}">
                      <a16:colId xmlns:a16="http://schemas.microsoft.com/office/drawing/2014/main" val="24160456"/>
                    </a:ext>
                  </a:extLst>
                </a:gridCol>
                <a:gridCol w="415299">
                  <a:extLst>
                    <a:ext uri="{9D8B030D-6E8A-4147-A177-3AD203B41FA5}">
                      <a16:colId xmlns:a16="http://schemas.microsoft.com/office/drawing/2014/main" val="3959848074"/>
                    </a:ext>
                  </a:extLst>
                </a:gridCol>
                <a:gridCol w="416392">
                  <a:extLst>
                    <a:ext uri="{9D8B030D-6E8A-4147-A177-3AD203B41FA5}">
                      <a16:colId xmlns:a16="http://schemas.microsoft.com/office/drawing/2014/main" val="93191508"/>
                    </a:ext>
                  </a:extLst>
                </a:gridCol>
              </a:tblGrid>
              <a:tr h="359552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x</a:t>
                      </a:r>
                      <a:r>
                        <a:rPr lang="en-US" sz="1600" baseline="-25000" dirty="0"/>
                        <a:t>1</a:t>
                      </a:r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x</a:t>
                      </a:r>
                      <a:r>
                        <a:rPr lang="en-US" sz="1600" baseline="-25000" dirty="0"/>
                        <a:t>2</a:t>
                      </a:r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x</a:t>
                      </a:r>
                      <a:r>
                        <a:rPr lang="en-US" sz="1600" baseline="-25000" dirty="0"/>
                        <a:t>3</a:t>
                      </a:r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042353"/>
                  </a:ext>
                </a:extLst>
              </a:tr>
              <a:tr h="359552"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  <a:r>
                        <a:rPr lang="en-US" sz="1600" baseline="-25000" dirty="0"/>
                        <a:t>1</a:t>
                      </a:r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97461599"/>
                  </a:ext>
                </a:extLst>
              </a:tr>
              <a:tr h="359552"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  <a:r>
                        <a:rPr lang="en-US" sz="1600" baseline="-25000" dirty="0"/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65345751"/>
                  </a:ext>
                </a:extLst>
              </a:tr>
              <a:tr h="359552"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  <a:r>
                        <a:rPr lang="en-US" sz="1600" baseline="-25000" dirty="0"/>
                        <a:t>3</a:t>
                      </a:r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302060"/>
                  </a:ext>
                </a:extLst>
              </a:tr>
              <a:tr h="632812">
                <a:tc>
                  <a:txBody>
                    <a:bodyPr/>
                    <a:lstStyle/>
                    <a:p>
                      <a:r>
                        <a:rPr lang="en-US" sz="1600" dirty="0"/>
                        <a:t>Voting Ensemble</a:t>
                      </a:r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36709537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A75955C-898F-7E46-AA6F-3ADDDC3FCA93}"/>
              </a:ext>
            </a:extLst>
          </p:cNvPr>
          <p:cNvGraphicFramePr>
            <a:graphicFrameLocks noGrp="1"/>
          </p:cNvGraphicFramePr>
          <p:nvPr/>
        </p:nvGraphicFramePr>
        <p:xfrm>
          <a:off x="5595687" y="2253932"/>
          <a:ext cx="2492098" cy="2071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2322">
                  <a:extLst>
                    <a:ext uri="{9D8B030D-6E8A-4147-A177-3AD203B41FA5}">
                      <a16:colId xmlns:a16="http://schemas.microsoft.com/office/drawing/2014/main" val="2115795409"/>
                    </a:ext>
                  </a:extLst>
                </a:gridCol>
                <a:gridCol w="448085">
                  <a:extLst>
                    <a:ext uri="{9D8B030D-6E8A-4147-A177-3AD203B41FA5}">
                      <a16:colId xmlns:a16="http://schemas.microsoft.com/office/drawing/2014/main" val="24160456"/>
                    </a:ext>
                  </a:extLst>
                </a:gridCol>
                <a:gridCol w="415299">
                  <a:extLst>
                    <a:ext uri="{9D8B030D-6E8A-4147-A177-3AD203B41FA5}">
                      <a16:colId xmlns:a16="http://schemas.microsoft.com/office/drawing/2014/main" val="3959848074"/>
                    </a:ext>
                  </a:extLst>
                </a:gridCol>
                <a:gridCol w="416392">
                  <a:extLst>
                    <a:ext uri="{9D8B030D-6E8A-4147-A177-3AD203B41FA5}">
                      <a16:colId xmlns:a16="http://schemas.microsoft.com/office/drawing/2014/main" val="93191508"/>
                    </a:ext>
                  </a:extLst>
                </a:gridCol>
              </a:tblGrid>
              <a:tr h="359552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x</a:t>
                      </a:r>
                      <a:r>
                        <a:rPr lang="en-US" sz="1600" baseline="-25000" dirty="0"/>
                        <a:t>1</a:t>
                      </a:r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x</a:t>
                      </a:r>
                      <a:r>
                        <a:rPr lang="en-US" sz="1600" baseline="-25000" dirty="0"/>
                        <a:t>2</a:t>
                      </a:r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x</a:t>
                      </a:r>
                      <a:r>
                        <a:rPr lang="en-US" sz="1600" baseline="-25000" dirty="0"/>
                        <a:t>3</a:t>
                      </a:r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042353"/>
                  </a:ext>
                </a:extLst>
              </a:tr>
              <a:tr h="359552"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  <a:r>
                        <a:rPr lang="en-US" sz="1600" baseline="-25000" dirty="0"/>
                        <a:t>1</a:t>
                      </a:r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97461599"/>
                  </a:ext>
                </a:extLst>
              </a:tr>
              <a:tr h="359552"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  <a:r>
                        <a:rPr lang="en-US" sz="1600" baseline="-25000" dirty="0"/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65345751"/>
                  </a:ext>
                </a:extLst>
              </a:tr>
              <a:tr h="359552"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  <a:r>
                        <a:rPr lang="en-US" sz="1600" baseline="-25000" dirty="0"/>
                        <a:t>3</a:t>
                      </a:r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302060"/>
                  </a:ext>
                </a:extLst>
              </a:tr>
              <a:tr h="632812">
                <a:tc>
                  <a:txBody>
                    <a:bodyPr/>
                    <a:lstStyle/>
                    <a:p>
                      <a:r>
                        <a:rPr lang="en-US" sz="1600" dirty="0"/>
                        <a:t>Voting Ensemble</a:t>
                      </a:r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36709537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B7035C97-D044-8546-854A-744020BABD7C}"/>
              </a:ext>
            </a:extLst>
          </p:cNvPr>
          <p:cNvGraphicFramePr>
            <a:graphicFrameLocks noGrp="1"/>
          </p:cNvGraphicFramePr>
          <p:nvPr/>
        </p:nvGraphicFramePr>
        <p:xfrm>
          <a:off x="8920105" y="2247877"/>
          <a:ext cx="2492098" cy="2071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2322">
                  <a:extLst>
                    <a:ext uri="{9D8B030D-6E8A-4147-A177-3AD203B41FA5}">
                      <a16:colId xmlns:a16="http://schemas.microsoft.com/office/drawing/2014/main" val="2115795409"/>
                    </a:ext>
                  </a:extLst>
                </a:gridCol>
                <a:gridCol w="448085">
                  <a:extLst>
                    <a:ext uri="{9D8B030D-6E8A-4147-A177-3AD203B41FA5}">
                      <a16:colId xmlns:a16="http://schemas.microsoft.com/office/drawing/2014/main" val="24160456"/>
                    </a:ext>
                  </a:extLst>
                </a:gridCol>
                <a:gridCol w="415299">
                  <a:extLst>
                    <a:ext uri="{9D8B030D-6E8A-4147-A177-3AD203B41FA5}">
                      <a16:colId xmlns:a16="http://schemas.microsoft.com/office/drawing/2014/main" val="3959848074"/>
                    </a:ext>
                  </a:extLst>
                </a:gridCol>
                <a:gridCol w="416392">
                  <a:extLst>
                    <a:ext uri="{9D8B030D-6E8A-4147-A177-3AD203B41FA5}">
                      <a16:colId xmlns:a16="http://schemas.microsoft.com/office/drawing/2014/main" val="93191508"/>
                    </a:ext>
                  </a:extLst>
                </a:gridCol>
              </a:tblGrid>
              <a:tr h="359552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x</a:t>
                      </a:r>
                      <a:r>
                        <a:rPr lang="en-US" sz="1600" baseline="-25000" dirty="0"/>
                        <a:t>1</a:t>
                      </a:r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x</a:t>
                      </a:r>
                      <a:r>
                        <a:rPr lang="en-US" sz="1600" baseline="-25000" dirty="0"/>
                        <a:t>2</a:t>
                      </a:r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x</a:t>
                      </a:r>
                      <a:r>
                        <a:rPr lang="en-US" sz="1600" baseline="-25000" dirty="0"/>
                        <a:t>3</a:t>
                      </a:r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042353"/>
                  </a:ext>
                </a:extLst>
              </a:tr>
              <a:tr h="359552"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  <a:r>
                        <a:rPr lang="en-US" sz="1600" baseline="-25000" dirty="0"/>
                        <a:t>1</a:t>
                      </a:r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97461599"/>
                  </a:ext>
                </a:extLst>
              </a:tr>
              <a:tr h="359552"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  <a:r>
                        <a:rPr lang="en-US" sz="1600" baseline="-25000" dirty="0"/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65345751"/>
                  </a:ext>
                </a:extLst>
              </a:tr>
              <a:tr h="359552"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  <a:r>
                        <a:rPr lang="en-US" sz="1600" baseline="-25000" dirty="0"/>
                        <a:t>3</a:t>
                      </a:r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600" dirty="0"/>
                    </a:p>
                  </a:txBody>
                  <a:tcPr marL="0" marR="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302060"/>
                  </a:ext>
                </a:extLst>
              </a:tr>
              <a:tr h="632812">
                <a:tc>
                  <a:txBody>
                    <a:bodyPr/>
                    <a:lstStyle/>
                    <a:p>
                      <a:r>
                        <a:rPr lang="en-US" sz="1600" dirty="0"/>
                        <a:t>Voting Ensemble</a:t>
                      </a:r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  <a:p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  <a:p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US" sz="1600" dirty="0"/>
                    </a:p>
                  </a:txBody>
                  <a:tcPr marL="0" marR="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36709537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8114CCBE-B9DE-3245-BAFD-63577FCF12D9}"/>
              </a:ext>
            </a:extLst>
          </p:cNvPr>
          <p:cNvSpPr txBox="1"/>
          <p:nvPr/>
        </p:nvSpPr>
        <p:spPr>
          <a:xfrm>
            <a:off x="236241" y="2705119"/>
            <a:ext cx="146401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 model performance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6C0193-2B51-BC49-962E-B0997EC86757}"/>
              </a:ext>
            </a:extLst>
          </p:cNvPr>
          <p:cNvSpPr txBox="1"/>
          <p:nvPr/>
        </p:nvSpPr>
        <p:spPr>
          <a:xfrm>
            <a:off x="243676" y="3656305"/>
            <a:ext cx="146401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Ensemble performance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B18E95E-C165-3D4D-8E9F-7E231B40127B}"/>
              </a:ext>
            </a:extLst>
          </p:cNvPr>
          <p:cNvCxnSpPr>
            <a:stCxn id="37" idx="3"/>
          </p:cNvCxnSpPr>
          <p:nvPr/>
        </p:nvCxnSpPr>
        <p:spPr>
          <a:xfrm>
            <a:off x="1700252" y="3028285"/>
            <a:ext cx="491886" cy="54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99FC73B-9A32-0448-8D19-DFC73B6720D8}"/>
              </a:ext>
            </a:extLst>
          </p:cNvPr>
          <p:cNvCxnSpPr>
            <a:stCxn id="44" idx="3"/>
          </p:cNvCxnSpPr>
          <p:nvPr/>
        </p:nvCxnSpPr>
        <p:spPr>
          <a:xfrm flipV="1">
            <a:off x="1707687" y="3942207"/>
            <a:ext cx="466773" cy="52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6006874-67C0-C24A-A321-049AE8A12F57}"/>
              </a:ext>
            </a:extLst>
          </p:cNvPr>
          <p:cNvSpPr txBox="1"/>
          <p:nvPr/>
        </p:nvSpPr>
        <p:spPr>
          <a:xfrm>
            <a:off x="2124283" y="4202451"/>
            <a:ext cx="30298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Case 1:</a:t>
            </a:r>
          </a:p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Ensemble has positive effect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AC2826-96E6-0E4A-AB54-1CF6596AFA1E}"/>
              </a:ext>
            </a:extLst>
          </p:cNvPr>
          <p:cNvSpPr txBox="1"/>
          <p:nvPr/>
        </p:nvSpPr>
        <p:spPr>
          <a:xfrm>
            <a:off x="5394485" y="4193990"/>
            <a:ext cx="30298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Case 2:</a:t>
            </a:r>
          </a:p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Ensemble has no effect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4D7F0D-2FBC-1F49-9F3C-DBE185255A9E}"/>
              </a:ext>
            </a:extLst>
          </p:cNvPr>
          <p:cNvSpPr txBox="1"/>
          <p:nvPr/>
        </p:nvSpPr>
        <p:spPr>
          <a:xfrm>
            <a:off x="8801101" y="4187935"/>
            <a:ext cx="310764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Case 3:</a:t>
            </a:r>
          </a:p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Ensemble has negative effect</a:t>
            </a:r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219DE211-8A89-CB44-B0DD-73A071F1ECEB}"/>
              </a:ext>
            </a:extLst>
          </p:cNvPr>
          <p:cNvSpPr txBox="1">
            <a:spLocks noChangeArrowheads="1"/>
          </p:cNvSpPr>
          <p:nvPr/>
        </p:nvSpPr>
        <p:spPr>
          <a:xfrm>
            <a:off x="619125" y="5020015"/>
            <a:ext cx="8567264" cy="1719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951" marR="0" lvl="0" indent="-461951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 models should be </a:t>
            </a:r>
          </a:p>
          <a:p>
            <a:pPr marL="738170" marR="0" lvl="1" indent="-538149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Accurate</a:t>
            </a:r>
          </a:p>
          <a:p>
            <a:pPr marL="738170" marR="0" lvl="1" indent="-538149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Diverse</a:t>
            </a:r>
          </a:p>
        </p:txBody>
      </p:sp>
    </p:spTree>
    <p:extLst>
      <p:ext uri="{BB962C8B-B14F-4D97-AF65-F5344CB8AC3E}">
        <p14:creationId xmlns:p14="http://schemas.microsoft.com/office/powerpoint/2010/main" val="6010095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-1" y="-1"/>
            <a:ext cx="12087225" cy="10001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Ensemble Methods: Increasing the Accuracy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9125" y="1304925"/>
            <a:ext cx="10789680" cy="5293301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Popular ensemble methods</a:t>
            </a:r>
          </a:p>
          <a:p>
            <a:pPr lvl="1" eaLnBrk="1" hangingPunct="1"/>
            <a:r>
              <a:rPr lang="en-US" altLang="en-US" sz="2400" dirty="0"/>
              <a:t>Bagging: </a:t>
            </a:r>
            <a:r>
              <a:rPr lang="en-US" altLang="zh-CN" sz="2400" dirty="0"/>
              <a:t> Trains</a:t>
            </a:r>
            <a:r>
              <a:rPr lang="zh-CN" altLang="en-US" sz="2400" dirty="0"/>
              <a:t> </a:t>
            </a:r>
            <a:r>
              <a:rPr lang="en-US" altLang="zh-CN" sz="2400" dirty="0"/>
              <a:t>each</a:t>
            </a:r>
            <a:r>
              <a:rPr lang="zh-CN" altLang="en-US" sz="2400" dirty="0"/>
              <a:t> </a:t>
            </a:r>
            <a:r>
              <a:rPr lang="en-US" altLang="zh-CN" sz="2400" dirty="0"/>
              <a:t>model</a:t>
            </a:r>
            <a:r>
              <a:rPr lang="zh-CN" altLang="en-US" sz="2400" dirty="0"/>
              <a:t> </a:t>
            </a:r>
            <a:r>
              <a:rPr lang="en-US" altLang="zh-CN" sz="2400" dirty="0"/>
              <a:t>using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subset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training</a:t>
            </a:r>
            <a:r>
              <a:rPr lang="zh-CN" altLang="en-US" sz="2400" dirty="0"/>
              <a:t> </a:t>
            </a:r>
            <a:r>
              <a:rPr lang="en-US" altLang="zh-CN" sz="2400" dirty="0"/>
              <a:t>set,</a:t>
            </a:r>
            <a:r>
              <a:rPr lang="zh-CN" altLang="en-US" sz="2400" dirty="0"/>
              <a:t> </a:t>
            </a:r>
            <a:r>
              <a:rPr lang="en-US" altLang="zh-CN" sz="2400" dirty="0"/>
              <a:t>and models</a:t>
            </a:r>
            <a:r>
              <a:rPr lang="zh-CN" altLang="en-US" sz="2400" dirty="0"/>
              <a:t> </a:t>
            </a:r>
            <a:r>
              <a:rPr lang="en-US" altLang="zh-CN" sz="2400" dirty="0"/>
              <a:t>learned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parallel</a:t>
            </a:r>
          </a:p>
          <a:p>
            <a:pPr lvl="1"/>
            <a:r>
              <a:rPr lang="en-US" altLang="en-US" sz="2400" dirty="0"/>
              <a:t>Boosting:  </a:t>
            </a:r>
            <a:r>
              <a:rPr lang="en-US" altLang="zh-CN" sz="2400" dirty="0"/>
              <a:t>Trains each new model instance to emphasize the training instances that previous models </a:t>
            </a:r>
            <a:r>
              <a:rPr lang="en-US" altLang="zh-CN" sz="2400" dirty="0" err="1"/>
              <a:t>mis</a:t>
            </a:r>
            <a:r>
              <a:rPr lang="en-US" altLang="zh-CN" sz="2400" dirty="0"/>
              <a:t>-classified,</a:t>
            </a:r>
            <a:r>
              <a:rPr lang="zh-CN" altLang="en-US" sz="2400" dirty="0"/>
              <a:t> </a:t>
            </a:r>
            <a:r>
              <a:rPr lang="en-US" altLang="zh-CN" sz="2400" dirty="0"/>
              <a:t>and models</a:t>
            </a:r>
            <a:r>
              <a:rPr lang="zh-CN" altLang="en-US" sz="2400" dirty="0"/>
              <a:t> </a:t>
            </a:r>
            <a:r>
              <a:rPr lang="en-US" altLang="zh-CN" sz="2400" dirty="0"/>
              <a:t>learned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order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0A6858-2622-8D4D-BCD6-23AB670CF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94" y="3502926"/>
            <a:ext cx="4086262" cy="26253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944E91-76B3-7647-ADA4-4BDD925E8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307" y="4309695"/>
            <a:ext cx="4712540" cy="14476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3766C8-C6B7-4F4E-964C-56B5F32EC2CA}"/>
              </a:ext>
            </a:extLst>
          </p:cNvPr>
          <p:cNvSpPr txBox="1"/>
          <p:nvPr/>
        </p:nvSpPr>
        <p:spPr>
          <a:xfrm>
            <a:off x="1653186" y="6116186"/>
            <a:ext cx="26887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Bagging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5BC1ED-9FC3-3C45-A948-D4F4AB1C8B28}"/>
              </a:ext>
            </a:extLst>
          </p:cNvPr>
          <p:cNvSpPr txBox="1"/>
          <p:nvPr/>
        </p:nvSpPr>
        <p:spPr>
          <a:xfrm>
            <a:off x="7446227" y="6116185"/>
            <a:ext cx="26887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12617011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533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Bagging: Boo</a:t>
            </a:r>
            <a:r>
              <a:rPr lang="en-US" altLang="zh-CN" sz="4000" dirty="0"/>
              <a:t>t</a:t>
            </a:r>
            <a:r>
              <a:rPr lang="en-US" altLang="en-US" sz="4000" dirty="0"/>
              <a:t>strap Aggregation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5471" y="1125630"/>
            <a:ext cx="10991850" cy="5591175"/>
          </a:xfrm>
        </p:spPr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en-US" altLang="en-US" sz="2400" dirty="0"/>
              <a:t>Analogy: Diagnosis based on multiple doctors’ majority vote</a:t>
            </a:r>
          </a:p>
          <a:p>
            <a:pPr eaLnBrk="1" hangingPunct="1">
              <a:spcBef>
                <a:spcPts val="300"/>
              </a:spcBef>
            </a:pPr>
            <a:endParaRPr lang="en-US" altLang="en-US" sz="2400" dirty="0"/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/>
              <a:t>Training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For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= 1 to k</a:t>
            </a:r>
          </a:p>
          <a:p>
            <a:pPr lvl="2">
              <a:spcBef>
                <a:spcPts val="300"/>
              </a:spcBef>
            </a:pPr>
            <a:r>
              <a:rPr lang="en-US" altLang="en-US" sz="2400" dirty="0"/>
              <a:t>create bootstrap sample, D</a:t>
            </a:r>
            <a:r>
              <a:rPr lang="en-US" altLang="en-US" sz="2400" baseline="-25000" dirty="0"/>
              <a:t>i</a:t>
            </a:r>
            <a:r>
              <a:rPr lang="en-US" altLang="en-US" sz="2400" dirty="0"/>
              <a:t>, by sampling D with replacement;</a:t>
            </a:r>
          </a:p>
          <a:p>
            <a:pPr lvl="2">
              <a:spcBef>
                <a:spcPts val="300"/>
              </a:spcBef>
            </a:pPr>
            <a:r>
              <a:rPr lang="en-US" altLang="en-US" sz="2400" dirty="0"/>
              <a:t>use D</a:t>
            </a:r>
            <a:r>
              <a:rPr lang="en-US" altLang="en-US" sz="2400" baseline="-25000" dirty="0"/>
              <a:t>i</a:t>
            </a:r>
            <a:r>
              <a:rPr lang="en-US" altLang="en-US" sz="2400" dirty="0"/>
              <a:t> and the learning scheme to derive a model, M</a:t>
            </a:r>
            <a:r>
              <a:rPr lang="en-US" altLang="en-US" sz="2400" baseline="-25000" dirty="0"/>
              <a:t>i</a:t>
            </a:r>
            <a:r>
              <a:rPr lang="en-US" altLang="en-US" sz="2400" dirty="0"/>
              <a:t> ;</a:t>
            </a:r>
          </a:p>
          <a:p>
            <a:pPr eaLnBrk="1" hangingPunct="1">
              <a:spcBef>
                <a:spcPts val="300"/>
              </a:spcBef>
            </a:pPr>
            <a:endParaRPr lang="en-US" altLang="en-US" sz="2400" dirty="0"/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/>
              <a:t>Classification: classify an unknown sample</a:t>
            </a:r>
            <a:r>
              <a:rPr lang="en-US" altLang="en-US" sz="2400" b="1" dirty="0"/>
              <a:t> X</a:t>
            </a:r>
            <a:r>
              <a:rPr lang="en-US" altLang="en-US" sz="2400" dirty="0"/>
              <a:t> </a:t>
            </a:r>
          </a:p>
          <a:p>
            <a:pPr lvl="1">
              <a:spcBef>
                <a:spcPts val="300"/>
              </a:spcBef>
            </a:pPr>
            <a:r>
              <a:rPr lang="en-US" altLang="en-US" sz="2400" dirty="0"/>
              <a:t>let each of the k models classify X and return the majority vote</a:t>
            </a:r>
          </a:p>
          <a:p>
            <a:pPr eaLnBrk="1" hangingPunct="1">
              <a:spcBef>
                <a:spcPts val="300"/>
              </a:spcBef>
            </a:pPr>
            <a:endParaRPr lang="en-US" altLang="en-US" sz="2400" dirty="0"/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/>
              <a:t>Prediction:</a:t>
            </a:r>
          </a:p>
          <a:p>
            <a:pPr lvl="1">
              <a:spcBef>
                <a:spcPts val="300"/>
              </a:spcBef>
            </a:pPr>
            <a:r>
              <a:rPr lang="en-US" altLang="en-US" sz="2400" dirty="0"/>
              <a:t>To predict continuous variables, use average prediction instead of vote</a:t>
            </a:r>
          </a:p>
        </p:txBody>
      </p:sp>
    </p:spTree>
    <p:extLst>
      <p:ext uri="{BB962C8B-B14F-4D97-AF65-F5344CB8AC3E}">
        <p14:creationId xmlns:p14="http://schemas.microsoft.com/office/powerpoint/2010/main" val="3968032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1" y="-1"/>
            <a:ext cx="12125325" cy="10382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Boosting</a:t>
            </a:r>
            <a:endParaRPr lang="en-US" altLang="en-US" sz="2400" dirty="0"/>
          </a:p>
        </p:txBody>
      </p:sp>
      <p:sp>
        <p:nvSpPr>
          <p:cNvPr id="686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52450" y="1219200"/>
            <a:ext cx="10972800" cy="5486400"/>
          </a:xfrm>
        </p:spPr>
        <p:txBody>
          <a:bodyPr/>
          <a:lstStyle/>
          <a:p>
            <a:pPr marL="457200" indent="-457200"/>
            <a:r>
              <a:rPr lang="en-US" altLang="en-US" sz="2400" dirty="0"/>
              <a:t>Analogy: Consult several doctors, based on a combination of weighted diagnoses—weight assigned based on the previous diagnosis accuracy</a:t>
            </a:r>
          </a:p>
          <a:p>
            <a:pPr marL="457200" indent="-457200"/>
            <a:r>
              <a:rPr lang="en-US" altLang="en-US" sz="2400" dirty="0"/>
              <a:t>How boosting works?</a:t>
            </a:r>
          </a:p>
          <a:p>
            <a:pPr marL="914400" lvl="1" indent="-457200"/>
            <a:r>
              <a:rPr lang="en-US" altLang="en-US" sz="2400" dirty="0"/>
              <a:t>A series of k classifiers are iteratively learned</a:t>
            </a:r>
          </a:p>
          <a:p>
            <a:pPr marL="914400" lvl="1" indent="-457200"/>
            <a:r>
              <a:rPr lang="en-US" altLang="en-US" sz="2400" dirty="0"/>
              <a:t>After a classifier M</a:t>
            </a:r>
            <a:r>
              <a:rPr lang="en-US" altLang="en-US" sz="2400" baseline="-25000" dirty="0"/>
              <a:t>i</a:t>
            </a:r>
            <a:r>
              <a:rPr lang="en-US" altLang="en-US" sz="2400" dirty="0"/>
              <a:t> is learned, set the subsequent classifier, M</a:t>
            </a:r>
            <a:r>
              <a:rPr lang="en-US" altLang="en-US" sz="2400" baseline="-25000" dirty="0"/>
              <a:t>i+1</a:t>
            </a:r>
            <a:r>
              <a:rPr lang="en-US" altLang="en-US" sz="2400" dirty="0"/>
              <a:t>, to </a:t>
            </a:r>
            <a:r>
              <a:rPr lang="en-US" altLang="en-US" sz="2400" b="1" dirty="0"/>
              <a:t>pay more attention to the training tuples that were misclassified</a:t>
            </a:r>
            <a:r>
              <a:rPr lang="en-US" altLang="en-US" sz="2400" dirty="0"/>
              <a:t> by M</a:t>
            </a:r>
            <a:r>
              <a:rPr lang="en-US" altLang="en-US" sz="2400" baseline="-25000" dirty="0"/>
              <a:t>i</a:t>
            </a:r>
            <a:endParaRPr lang="en-US" altLang="en-US" sz="2400" dirty="0"/>
          </a:p>
          <a:p>
            <a:pPr marL="914400" lvl="1" indent="-457200"/>
            <a:r>
              <a:rPr lang="en-US" altLang="en-US" sz="2400" dirty="0"/>
              <a:t>The final </a:t>
            </a:r>
            <a:r>
              <a:rPr lang="en-US" altLang="en-US" sz="2400" b="1" dirty="0"/>
              <a:t>M* combines the votes</a:t>
            </a:r>
            <a:r>
              <a:rPr lang="en-US" altLang="en-US" sz="2400" dirty="0"/>
              <a:t> of each individual classifier, where the weight of each classifier's vote is a function of its accuracy</a:t>
            </a:r>
          </a:p>
          <a:p>
            <a:pPr marL="457200" indent="-457200"/>
            <a:r>
              <a:rPr lang="en-US" altLang="en-US" sz="2400" dirty="0"/>
              <a:t>Boosting algorithm can be extended for numeric prediction</a:t>
            </a:r>
          </a:p>
        </p:txBody>
      </p:sp>
    </p:spTree>
    <p:extLst>
      <p:ext uri="{BB962C8B-B14F-4D97-AF65-F5344CB8AC3E}">
        <p14:creationId xmlns:p14="http://schemas.microsoft.com/office/powerpoint/2010/main" val="31209860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1" y="-1"/>
            <a:ext cx="12125325" cy="1038225"/>
          </a:xfrm>
        </p:spPr>
        <p:txBody>
          <a:bodyPr>
            <a:normAutofit/>
          </a:bodyPr>
          <a:lstStyle/>
          <a:p>
            <a:r>
              <a:rPr lang="en-US" altLang="en-US" sz="4000" dirty="0" err="1"/>
              <a:t>Adaboost</a:t>
            </a:r>
            <a:r>
              <a:rPr lang="en-US" altLang="en-US" sz="4000" dirty="0"/>
              <a:t> (Freund and </a:t>
            </a:r>
            <a:r>
              <a:rPr lang="en-US" altLang="en-US" sz="4000" dirty="0" err="1"/>
              <a:t>Schapire</a:t>
            </a:r>
            <a:r>
              <a:rPr lang="en-US" altLang="en-US" sz="4000" dirty="0"/>
              <a:t>, 1997)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D35B4F7-E773-A145-80B4-16D87896F686}"/>
              </a:ext>
            </a:extLst>
          </p:cNvPr>
          <p:cNvGrpSpPr/>
          <p:nvPr/>
        </p:nvGrpSpPr>
        <p:grpSpPr>
          <a:xfrm>
            <a:off x="3223997" y="2772695"/>
            <a:ext cx="5644699" cy="3281877"/>
            <a:chOff x="2634061" y="2330243"/>
            <a:chExt cx="5644699" cy="328187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BD872D0-EF3E-0E47-B7E5-5B777BCA1797}"/>
                </a:ext>
              </a:extLst>
            </p:cNvPr>
            <p:cNvSpPr/>
            <p:nvPr/>
          </p:nvSpPr>
          <p:spPr>
            <a:xfrm>
              <a:off x="2672407" y="2330244"/>
              <a:ext cx="1114978" cy="61353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{</a:t>
              </a:r>
              <a:r>
                <a:rPr kumimoji="0" lang="en-US" sz="1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</a:t>
              </a:r>
              <a:r>
                <a:rPr kumimoji="0" lang="en-US" sz="19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</a:t>
              </a:r>
              <a:r>
                <a:rPr kumimoji="0" lang="en-US" sz="19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(1)</a:t>
              </a: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}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0D551FF-A04B-CB48-9040-39A91165D6A5}"/>
                </a:ext>
              </a:extLst>
            </p:cNvPr>
            <p:cNvSpPr/>
            <p:nvPr/>
          </p:nvSpPr>
          <p:spPr>
            <a:xfrm>
              <a:off x="4140364" y="2330244"/>
              <a:ext cx="1114978" cy="61353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{</a:t>
              </a:r>
              <a:r>
                <a:rPr kumimoji="0" lang="en-US" sz="1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</a:t>
              </a:r>
              <a:r>
                <a:rPr kumimoji="0" lang="en-US" sz="19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</a:t>
              </a:r>
              <a:r>
                <a:rPr kumimoji="0" lang="en-US" sz="19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(2)</a:t>
              </a: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}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0A66E9-893B-A640-BD06-B16A2A99081C}"/>
                </a:ext>
              </a:extLst>
            </p:cNvPr>
            <p:cNvSpPr/>
            <p:nvPr/>
          </p:nvSpPr>
          <p:spPr>
            <a:xfrm>
              <a:off x="7125437" y="2330243"/>
              <a:ext cx="1114978" cy="61353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{</a:t>
              </a:r>
              <a:r>
                <a:rPr kumimoji="0" lang="en-US" sz="1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</a:t>
              </a:r>
              <a:r>
                <a:rPr kumimoji="0" lang="en-US" sz="19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</a:t>
              </a:r>
              <a:r>
                <a:rPr kumimoji="0" lang="en-US" sz="19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(k)</a:t>
              </a: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}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53E26F-423A-E944-A195-707279BF835A}"/>
                </a:ext>
              </a:extLst>
            </p:cNvPr>
            <p:cNvSpPr txBox="1"/>
            <p:nvPr/>
          </p:nvSpPr>
          <p:spPr>
            <a:xfrm>
              <a:off x="2634061" y="3516015"/>
              <a:ext cx="1191669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</a:t>
              </a:r>
              <a:r>
                <a:rPr kumimoji="0" lang="en-US" sz="19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024567-4A9E-3A45-94C7-2D1375555D8E}"/>
                </a:ext>
              </a:extLst>
            </p:cNvPr>
            <p:cNvSpPr txBox="1"/>
            <p:nvPr/>
          </p:nvSpPr>
          <p:spPr>
            <a:xfrm>
              <a:off x="4100542" y="3516013"/>
              <a:ext cx="1191669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</a:t>
              </a:r>
              <a:r>
                <a:rPr kumimoji="0" lang="en-US" sz="19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3ADC00A-F7F5-9D4E-B6A6-932F1796E843}"/>
                </a:ext>
              </a:extLst>
            </p:cNvPr>
            <p:cNvSpPr txBox="1"/>
            <p:nvPr/>
          </p:nvSpPr>
          <p:spPr>
            <a:xfrm>
              <a:off x="7087091" y="3516014"/>
              <a:ext cx="1191669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</a:t>
              </a:r>
              <a:r>
                <a:rPr kumimoji="0" lang="en-US" sz="19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k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FF76F62-ED42-6841-A9C6-ECC4A19C951A}"/>
                </a:ext>
              </a:extLst>
            </p:cNvPr>
            <p:cNvSpPr txBox="1"/>
            <p:nvPr/>
          </p:nvSpPr>
          <p:spPr>
            <a:xfrm>
              <a:off x="5715489" y="2548872"/>
              <a:ext cx="943897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F8A268-BB16-E447-8828-9C26A2F57B35}"/>
                </a:ext>
              </a:extLst>
            </p:cNvPr>
            <p:cNvSpPr txBox="1"/>
            <p:nvPr/>
          </p:nvSpPr>
          <p:spPr>
            <a:xfrm>
              <a:off x="5715490" y="3516013"/>
              <a:ext cx="943897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54F8B63-A92C-7D42-9761-A15DC522E917}"/>
                    </a:ext>
                  </a:extLst>
                </p:cNvPr>
                <p:cNvSpPr txBox="1"/>
                <p:nvPr/>
              </p:nvSpPr>
              <p:spPr>
                <a:xfrm>
                  <a:off x="2853412" y="4691675"/>
                  <a:ext cx="5232728" cy="9204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0" lang="en-US" sz="1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𝑀</m:t>
                            </m:r>
                          </m:e>
                          <m:sup>
                            <m:r>
                              <a:rPr kumimoji="0" lang="en-US" sz="1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kumimoji="0" lang="en-US" sz="1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  <m:r>
                          <a:rPr kumimoji="0" lang="en-US" sz="19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0" lang="en-US" sz="19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sign</m:t>
                        </m:r>
                        <m:d>
                          <m:dPr>
                            <m:ctrlPr>
                              <a:rPr kumimoji="0" lang="en-US" sz="1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kumimoji="0" lang="en-US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naryPr>
                              <m:sub>
                                <m:r>
                                  <a:rPr kumimoji="0" lang="en-US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US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kumimoji="0" lang="en-US" sz="19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kumimoji="0" lang="en-US" sz="1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nary>
                          </m:e>
                        </m:d>
                      </m:oMath>
                    </m:oMathPara>
                  </a14:m>
                  <a:endParaRPr kumimoji="0" 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54F8B63-A92C-7D42-9761-A15DC522E9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3412" y="4691675"/>
                  <a:ext cx="5232728" cy="920445"/>
                </a:xfrm>
                <a:prstGeom prst="rect">
                  <a:avLst/>
                </a:prstGeom>
                <a:blipFill>
                  <a:blip r:embed="rId3"/>
                  <a:stretch>
                    <a:fillRect t="-94595" b="-1472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9C09086-6D19-4A44-9D4C-7B9B8DC0B779}"/>
                </a:ext>
              </a:extLst>
            </p:cNvPr>
            <p:cNvCxnSpPr>
              <a:stCxn id="5" idx="4"/>
              <a:endCxn id="6" idx="0"/>
            </p:cNvCxnSpPr>
            <p:nvPr/>
          </p:nvCxnSpPr>
          <p:spPr>
            <a:xfrm>
              <a:off x="3229896" y="2943777"/>
              <a:ext cx="0" cy="5722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5D6F9ED-13C8-5B48-87D6-E2B9DA59801B}"/>
                </a:ext>
              </a:extLst>
            </p:cNvPr>
            <p:cNvCxnSpPr>
              <a:endCxn id="8" idx="3"/>
            </p:cNvCxnSpPr>
            <p:nvPr/>
          </p:nvCxnSpPr>
          <p:spPr>
            <a:xfrm flipV="1">
              <a:off x="3586808" y="2853927"/>
              <a:ext cx="716841" cy="662086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0960885-9716-184C-A0A3-AC3037202D70}"/>
                </a:ext>
              </a:extLst>
            </p:cNvPr>
            <p:cNvCxnSpPr>
              <a:stCxn id="8" idx="4"/>
              <a:endCxn id="11" idx="0"/>
            </p:cNvCxnSpPr>
            <p:nvPr/>
          </p:nvCxnSpPr>
          <p:spPr>
            <a:xfrm flipH="1">
              <a:off x="4696377" y="2943777"/>
              <a:ext cx="1476" cy="5722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DA6D7A8-F96F-4840-B5E3-38F638B95292}"/>
                </a:ext>
              </a:extLst>
            </p:cNvPr>
            <p:cNvCxnSpPr/>
            <p:nvPr/>
          </p:nvCxnSpPr>
          <p:spPr>
            <a:xfrm flipV="1">
              <a:off x="4925961" y="2853927"/>
              <a:ext cx="682360" cy="662086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8A8E5D4-83E7-7740-A273-EE9E8B1D3A44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V="1">
              <a:off x="6656402" y="2853926"/>
              <a:ext cx="632320" cy="662087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2540FF7-2938-0C4F-893A-158E31E86393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>
              <a:off x="7682926" y="2943776"/>
              <a:ext cx="0" cy="5722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1A4B482-5CDC-0C47-9D31-84D0347191FB}"/>
                </a:ext>
              </a:extLst>
            </p:cNvPr>
            <p:cNvCxnSpPr>
              <a:stCxn id="6" idx="2"/>
            </p:cNvCxnSpPr>
            <p:nvPr/>
          </p:nvCxnSpPr>
          <p:spPr>
            <a:xfrm>
              <a:off x="3229896" y="3900736"/>
              <a:ext cx="1601676" cy="8003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8893236-ADD2-B14C-B503-71430C535310}"/>
                </a:ext>
              </a:extLst>
            </p:cNvPr>
            <p:cNvCxnSpPr>
              <a:stCxn id="11" idx="2"/>
            </p:cNvCxnSpPr>
            <p:nvPr/>
          </p:nvCxnSpPr>
          <p:spPr>
            <a:xfrm>
              <a:off x="4696377" y="3900734"/>
              <a:ext cx="446385" cy="7909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71155C0-2A7F-E646-B312-6CCA13116EBF}"/>
                </a:ext>
              </a:extLst>
            </p:cNvPr>
            <p:cNvCxnSpPr>
              <a:stCxn id="12" idx="2"/>
            </p:cNvCxnSpPr>
            <p:nvPr/>
          </p:nvCxnSpPr>
          <p:spPr>
            <a:xfrm flipH="1">
              <a:off x="5950575" y="3900735"/>
              <a:ext cx="1732351" cy="7909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1376BB5-C5A7-E14E-A640-CF910A5E55CC}"/>
              </a:ext>
            </a:extLst>
          </p:cNvPr>
          <p:cNvSpPr txBox="1"/>
          <p:nvPr/>
        </p:nvSpPr>
        <p:spPr>
          <a:xfrm>
            <a:off x="1045168" y="2111050"/>
            <a:ext cx="1899593" cy="10215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Assign initial weights to each training tuple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CC41F4-858D-6945-B052-35F1304699B5}"/>
              </a:ext>
            </a:extLst>
          </p:cNvPr>
          <p:cNvSpPr txBox="1"/>
          <p:nvPr/>
        </p:nvSpPr>
        <p:spPr>
          <a:xfrm>
            <a:off x="1459665" y="3832408"/>
            <a:ext cx="1965963" cy="102155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Train base classifier on weighted dataset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6D500D-9AD4-474B-8DF8-004827407D67}"/>
              </a:ext>
            </a:extLst>
          </p:cNvPr>
          <p:cNvSpPr txBox="1"/>
          <p:nvPr/>
        </p:nvSpPr>
        <p:spPr>
          <a:xfrm>
            <a:off x="5435314" y="1565083"/>
            <a:ext cx="1965963" cy="1021556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Update weights based on current model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C2A4DC-FE85-F042-9022-C32F16D7968B}"/>
              </a:ext>
            </a:extLst>
          </p:cNvPr>
          <p:cNvSpPr txBox="1"/>
          <p:nvPr/>
        </p:nvSpPr>
        <p:spPr>
          <a:xfrm>
            <a:off x="8312570" y="4738655"/>
            <a:ext cx="2630639" cy="1328023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4. After base classifiers are trained, they are combined to give the final classifier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697166-F786-2E41-8CEF-EE3350561680}"/>
              </a:ext>
            </a:extLst>
          </p:cNvPr>
          <p:cNvSpPr txBox="1"/>
          <p:nvPr/>
        </p:nvSpPr>
        <p:spPr>
          <a:xfrm>
            <a:off x="323690" y="4980023"/>
            <a:ext cx="3949688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 ‘weighting’ strategy:</a:t>
            </a:r>
          </a:p>
          <a:p>
            <a:pPr marL="457200" marR="0" lvl="0" indent="-45720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Assign weights to each training example</a:t>
            </a:r>
          </a:p>
          <a:p>
            <a:pPr marL="457200" marR="0" lvl="0" indent="-45720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Sample dataset based on weight distribution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2FC9396-0F42-FF40-869C-3D8DE436A301}"/>
              </a:ext>
            </a:extLst>
          </p:cNvPr>
          <p:cNvCxnSpPr/>
          <p:nvPr/>
        </p:nvCxnSpPr>
        <p:spPr>
          <a:xfrm flipH="1">
            <a:off x="1103179" y="4738655"/>
            <a:ext cx="300867" cy="241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5" b="1"/>
          <a:stretch/>
        </p:blipFill>
        <p:spPr>
          <a:xfrm>
            <a:off x="9119417" y="1253718"/>
            <a:ext cx="2645806" cy="228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7860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92412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Adaboost</a:t>
            </a:r>
            <a:r>
              <a:rPr lang="en-US" altLang="en-US" sz="4000" dirty="0"/>
              <a:t> (Freund and </a:t>
            </a:r>
            <a:r>
              <a:rPr lang="en-US" altLang="en-US" sz="4000" dirty="0" err="1"/>
              <a:t>Schapire</a:t>
            </a:r>
            <a:r>
              <a:rPr lang="en-US" altLang="en-US" sz="4000" dirty="0"/>
              <a:t>, 1997)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36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628650" y="1190625"/>
                <a:ext cx="10567886" cy="5286375"/>
              </a:xfrm>
            </p:spPr>
            <p:txBody>
              <a:bodyPr/>
              <a:lstStyle/>
              <a:p>
                <a:pPr marL="457200" indent="-457200">
                  <a:lnSpc>
                    <a:spcPct val="90000"/>
                  </a:lnSpc>
                </a:pPr>
                <a:r>
                  <a:rPr lang="en-US" altLang="en-US" b="1" dirty="0"/>
                  <a:t>Input</a:t>
                </a:r>
                <a:r>
                  <a:rPr lang="en-US" altLang="en-US" dirty="0"/>
                  <a:t>: Training set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d>
                          <m:d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en-US" dirty="0"/>
              </a:p>
              <a:p>
                <a:pPr marL="457200" indent="-457200">
                  <a:lnSpc>
                    <a:spcPct val="90000"/>
                  </a:lnSpc>
                </a:pPr>
                <a:r>
                  <a:rPr lang="en-US" altLang="en-US" dirty="0"/>
                  <a:t>Initialize all weights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en-US" dirty="0"/>
                  <a:t> to 1/N</a:t>
                </a:r>
              </a:p>
              <a:p>
                <a:pPr marL="457200" indent="-457200">
                  <a:lnSpc>
                    <a:spcPct val="90000"/>
                  </a:lnSpc>
                </a:pPr>
                <a:r>
                  <a:rPr lang="en-US" altLang="en-US" dirty="0"/>
                  <a:t>For round </a:t>
                </a:r>
                <a:r>
                  <a:rPr lang="en-US" altLang="en-US" dirty="0" err="1"/>
                  <a:t>i</a:t>
                </a:r>
                <a:r>
                  <a:rPr lang="en-US" altLang="en-US" dirty="0"/>
                  <a:t> = 1 to k,</a:t>
                </a:r>
              </a:p>
              <a:p>
                <a:pPr marL="914400" lvl="1" indent="-457200"/>
                <a:r>
                  <a:rPr lang="en-US" altLang="en-US" dirty="0"/>
                  <a:t>Fit a classifier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/>
                  <a:t> based on weighted error function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en-US" dirty="0"/>
              </a:p>
              <a:p>
                <a:pPr marL="800100" lvl="1" indent="-342900"/>
                <a:r>
                  <a:rPr lang="en-US" altLang="en-US" dirty="0"/>
                  <a:t>Evaluate error rate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</m:e>
                    </m:nary>
                  </m:oMath>
                </a14:m>
                <a:r>
                  <a:rPr lang="zh-CN" altLang="en-US" dirty="0"/>
                  <a:t>        </a:t>
                </a:r>
                <a:r>
                  <a:rPr lang="en-US" altLang="zh-CN" dirty="0"/>
                  <a:t>(stop iteration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&lt; threshold)</a:t>
                </a:r>
                <a:endParaRPr lang="en-US" altLang="en-US" dirty="0"/>
              </a:p>
              <a:p>
                <a:pPr marL="457200" lvl="1" indent="0">
                  <a:buNone/>
                </a:pPr>
                <a:r>
                  <a:rPr lang="en-US" altLang="en-US" dirty="0"/>
                  <a:t>	and the base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/>
                  <a:t>’s vote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altLang="en-US" dirty="0"/>
              </a:p>
              <a:p>
                <a:pPr marL="914400" lvl="1" indent="-457200"/>
                <a:r>
                  <a:rPr lang="en-US" altLang="en-US" dirty="0"/>
                  <a:t>Update weights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bSup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func>
                        <m:func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altLang="en-US" dirty="0"/>
              </a:p>
              <a:p>
                <a:pPr marL="568331" indent="-342900">
                  <a:lnSpc>
                    <a:spcPct val="90000"/>
                  </a:lnSpc>
                </a:pPr>
                <a:endParaRPr lang="en-US" altLang="en-US" dirty="0"/>
              </a:p>
              <a:p>
                <a:pPr marL="568331" indent="-342900">
                  <a:lnSpc>
                    <a:spcPct val="90000"/>
                  </a:lnSpc>
                </a:pPr>
                <a:r>
                  <a:rPr lang="en-US" altLang="en-US" dirty="0"/>
                  <a:t>The final model is given by voting based on 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6963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628650" y="1190625"/>
                <a:ext cx="10567886" cy="5286375"/>
              </a:xfrm>
              <a:blipFill>
                <a:blip r:embed="rId3"/>
                <a:stretch>
                  <a:fillRect l="-360" t="-1439" b="-5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383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92412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Gradient Boosting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28650" y="1190625"/>
            <a:ext cx="10567886" cy="5286375"/>
          </a:xfrm>
        </p:spPr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en-US" altLang="en-US" dirty="0"/>
              <a:t>Operates on:</a:t>
            </a:r>
          </a:p>
          <a:p>
            <a:pPr lvl="1" fontAlgn="base"/>
            <a:r>
              <a:rPr lang="en-US" dirty="0"/>
              <a:t>A differentiable loss function</a:t>
            </a:r>
          </a:p>
          <a:p>
            <a:pPr lvl="1" fontAlgn="base"/>
            <a:r>
              <a:rPr lang="en-US" dirty="0"/>
              <a:t>A weak learner to make predictions (usually trees)</a:t>
            </a:r>
          </a:p>
          <a:p>
            <a:pPr lvl="1" fontAlgn="base"/>
            <a:r>
              <a:rPr lang="en-US" dirty="0"/>
              <a:t>An additive model to add weak learners to minimize the loss function</a:t>
            </a:r>
          </a:p>
          <a:p>
            <a:pPr fontAlgn="base"/>
            <a:r>
              <a:rPr lang="en-US" dirty="0"/>
              <a:t>Each time adds an additional weak learner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dirty="0"/>
              <a:t>Scalable implementation: </a:t>
            </a:r>
            <a:r>
              <a:rPr lang="en-US" dirty="0" err="1"/>
              <a:t>XGBoost</a:t>
            </a:r>
            <a:endParaRPr lang="en-US" dirty="0"/>
          </a:p>
          <a:p>
            <a:pPr lvl="1" fontAlgn="base"/>
            <a:endParaRPr lang="en-US" dirty="0"/>
          </a:p>
          <a:p>
            <a:pPr marL="688969" lvl="1" indent="-457200">
              <a:lnSpc>
                <a:spcPct val="90000"/>
              </a:lnSpc>
            </a:pPr>
            <a:endParaRPr lang="en-US" altLang="en-US" dirty="0"/>
          </a:p>
        </p:txBody>
      </p:sp>
      <p:pic>
        <p:nvPicPr>
          <p:cNvPr id="95233" name="Picture 1" descr="page20image3118148496">
            <a:extLst>
              <a:ext uri="{FF2B5EF4-FFF2-40B4-BE49-F238E27FC236}">
                <a16:creationId xmlns:a16="http://schemas.microsoft.com/office/drawing/2014/main" id="{34FB2B11-B446-7449-9D3F-7D5E218C7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429000"/>
            <a:ext cx="47244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5C647F-8B74-8D43-B9E9-BA3900BD8961}"/>
              </a:ext>
            </a:extLst>
          </p:cNvPr>
          <p:cNvSpPr txBox="1"/>
          <p:nvPr/>
        </p:nvSpPr>
        <p:spPr>
          <a:xfrm>
            <a:off x="6239058" y="4400550"/>
            <a:ext cx="174031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Previous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69361-BF71-4D48-8709-861F40A61811}"/>
              </a:ext>
            </a:extLst>
          </p:cNvPr>
          <p:cNvSpPr txBox="1"/>
          <p:nvPr/>
        </p:nvSpPr>
        <p:spPr>
          <a:xfrm>
            <a:off x="8024103" y="4746572"/>
            <a:ext cx="201856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New weak learner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5771FB1-79FB-5B46-99BC-21CF7882D64C}"/>
              </a:ext>
            </a:extLst>
          </p:cNvPr>
          <p:cNvCxnSpPr/>
          <p:nvPr/>
        </p:nvCxnSpPr>
        <p:spPr>
          <a:xfrm flipH="1">
            <a:off x="5108841" y="4684088"/>
            <a:ext cx="1085482" cy="259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8A4CF9-570A-F34A-A8C4-2285BDB6AC3C}"/>
              </a:ext>
            </a:extLst>
          </p:cNvPr>
          <p:cNvCxnSpPr/>
          <p:nvPr/>
        </p:nvCxnSpPr>
        <p:spPr>
          <a:xfrm flipH="1">
            <a:off x="6096000" y="4961357"/>
            <a:ext cx="1939929" cy="18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053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Random Forest: Basic Concepts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143000"/>
            <a:ext cx="10670241" cy="5715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Random Forest (first proposed by L. </a:t>
            </a:r>
            <a:r>
              <a:rPr lang="en-US" altLang="en-US" sz="2400" dirty="0" err="1"/>
              <a:t>Breiman</a:t>
            </a:r>
            <a:r>
              <a:rPr lang="en-US" altLang="en-US" sz="2400" dirty="0"/>
              <a:t> in 2001) </a:t>
            </a:r>
          </a:p>
          <a:p>
            <a:pPr lvl="1">
              <a:spcAft>
                <a:spcPts val="600"/>
              </a:spcAft>
            </a:pPr>
            <a:r>
              <a:rPr lang="en-US" altLang="zh-CN" sz="2400" dirty="0"/>
              <a:t>Bagging with </a:t>
            </a:r>
            <a:r>
              <a:rPr lang="en-US" altLang="zh-CN" sz="2400" b="1" dirty="0"/>
              <a:t>decision trees </a:t>
            </a:r>
            <a:r>
              <a:rPr lang="en-US" altLang="zh-CN" sz="2400" dirty="0"/>
              <a:t>as base models</a:t>
            </a:r>
            <a:endParaRPr lang="en-US" altLang="zh-CN" sz="2400" i="1" dirty="0"/>
          </a:p>
          <a:p>
            <a:pPr lvl="1">
              <a:spcAft>
                <a:spcPts val="600"/>
              </a:spcAft>
            </a:pPr>
            <a:r>
              <a:rPr lang="en-US" altLang="zh-CN" sz="2400" i="1" dirty="0"/>
              <a:t>Data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bagging</a:t>
            </a:r>
            <a:endParaRPr lang="en-US" altLang="zh-CN" sz="2400" dirty="0"/>
          </a:p>
          <a:p>
            <a:pPr lvl="2">
              <a:spcAft>
                <a:spcPts val="600"/>
              </a:spcAft>
            </a:pPr>
            <a:r>
              <a:rPr lang="en-US" altLang="zh-CN" sz="2400" dirty="0"/>
              <a:t>Use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b="1" dirty="0"/>
              <a:t>subset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of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training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data</a:t>
            </a:r>
            <a:r>
              <a:rPr lang="zh-CN" altLang="en-US" sz="2400" b="1" dirty="0"/>
              <a:t> </a:t>
            </a:r>
            <a:r>
              <a:rPr lang="en-US" altLang="zh-CN" sz="2400" dirty="0"/>
              <a:t>by</a:t>
            </a:r>
            <a:r>
              <a:rPr lang="zh-CN" altLang="en-US" sz="2400" dirty="0"/>
              <a:t> </a:t>
            </a:r>
            <a:r>
              <a:rPr lang="en-US" altLang="zh-CN" sz="2400" dirty="0"/>
              <a:t>sampling</a:t>
            </a:r>
            <a:r>
              <a:rPr lang="zh-CN" altLang="en-US" sz="2400" dirty="0"/>
              <a:t> </a:t>
            </a:r>
            <a:r>
              <a:rPr lang="en-US" altLang="zh-CN" sz="2400" dirty="0"/>
              <a:t>with</a:t>
            </a:r>
            <a:r>
              <a:rPr lang="zh-CN" altLang="en-US" sz="2400" dirty="0"/>
              <a:t> </a:t>
            </a:r>
            <a:r>
              <a:rPr lang="en-US" altLang="zh-CN" sz="2400" dirty="0"/>
              <a:t>replacement</a:t>
            </a:r>
            <a:r>
              <a:rPr lang="zh-CN" altLang="en-US" sz="2400" dirty="0"/>
              <a:t> </a:t>
            </a:r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each</a:t>
            </a:r>
            <a:r>
              <a:rPr lang="zh-CN" altLang="en-US" sz="2400" dirty="0"/>
              <a:t> </a:t>
            </a:r>
            <a:r>
              <a:rPr lang="en-US" altLang="zh-CN" sz="2400" dirty="0"/>
              <a:t>tree</a:t>
            </a:r>
            <a:endParaRPr lang="en-US" altLang="en-US" sz="2400" dirty="0"/>
          </a:p>
          <a:p>
            <a:pPr lvl="1">
              <a:spcAft>
                <a:spcPts val="600"/>
              </a:spcAft>
            </a:pPr>
            <a:r>
              <a:rPr lang="en-US" altLang="zh-CN" sz="2400" i="1" dirty="0"/>
              <a:t>Feature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bagging</a:t>
            </a:r>
            <a:endParaRPr lang="en-US" altLang="zh-CN" sz="2400" dirty="0"/>
          </a:p>
          <a:p>
            <a:pPr lvl="2">
              <a:spcAft>
                <a:spcPts val="600"/>
              </a:spcAft>
            </a:pPr>
            <a:r>
              <a:rPr lang="en-US" altLang="zh-CN" sz="2400" dirty="0"/>
              <a:t>At</a:t>
            </a:r>
            <a:r>
              <a:rPr lang="zh-CN" altLang="en-US" sz="2400" dirty="0"/>
              <a:t> </a:t>
            </a:r>
            <a:r>
              <a:rPr lang="en-US" altLang="zh-CN" sz="2400" dirty="0"/>
              <a:t>each</a:t>
            </a:r>
            <a:r>
              <a:rPr lang="zh-CN" altLang="en-US" sz="2400" dirty="0"/>
              <a:t> </a:t>
            </a:r>
            <a:r>
              <a:rPr lang="en-US" altLang="zh-CN" sz="2400" dirty="0"/>
              <a:t>node</a:t>
            </a:r>
            <a:r>
              <a:rPr lang="zh-CN" altLang="en-US" sz="2400" dirty="0"/>
              <a:t> </a:t>
            </a:r>
            <a:r>
              <a:rPr lang="en-US" altLang="en-US" sz="2400" dirty="0"/>
              <a:t>us</a:t>
            </a:r>
            <a:r>
              <a:rPr lang="en-US" altLang="zh-CN" sz="2400" dirty="0"/>
              <a:t>e</a:t>
            </a:r>
            <a:r>
              <a:rPr lang="en-US" altLang="en-US" sz="2400" dirty="0"/>
              <a:t> a </a:t>
            </a:r>
            <a:r>
              <a:rPr lang="en-US" altLang="en-US" sz="2400" b="1" dirty="0"/>
              <a:t>random selection of attributes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candidates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split</a:t>
            </a:r>
            <a:r>
              <a:rPr lang="zh-CN" altLang="en-US" sz="2400" dirty="0"/>
              <a:t> </a:t>
            </a:r>
            <a:r>
              <a:rPr lang="en-US" altLang="zh-CN" sz="2400" dirty="0"/>
              <a:t>by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best</a:t>
            </a:r>
            <a:r>
              <a:rPr lang="zh-CN" altLang="en-US" sz="2400" dirty="0"/>
              <a:t> </a:t>
            </a:r>
            <a:r>
              <a:rPr lang="en-US" altLang="zh-CN" sz="2400" dirty="0"/>
              <a:t>attribute</a:t>
            </a:r>
            <a:r>
              <a:rPr lang="zh-CN" altLang="en-US" sz="2400" dirty="0"/>
              <a:t> </a:t>
            </a:r>
            <a:r>
              <a:rPr lang="en-US" altLang="zh-CN" sz="2400" dirty="0"/>
              <a:t>among</a:t>
            </a:r>
            <a:r>
              <a:rPr lang="zh-CN" altLang="en-US" sz="2400" dirty="0"/>
              <a:t> </a:t>
            </a:r>
            <a:r>
              <a:rPr lang="en-US" altLang="zh-CN" sz="2400" dirty="0"/>
              <a:t>them</a:t>
            </a:r>
          </a:p>
          <a:p>
            <a:pPr marL="200021" lvl="1" indent="0">
              <a:spcAft>
                <a:spcPts val="600"/>
              </a:spcAft>
              <a:buNone/>
            </a:pPr>
            <a:endParaRPr lang="en-US" altLang="zh-CN" sz="2400" dirty="0"/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During classification, each tree votes and the most popular class is returned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F4186A-1658-DE40-B258-89082FB738C9}"/>
              </a:ext>
            </a:extLst>
          </p:cNvPr>
          <p:cNvSpPr txBox="1"/>
          <p:nvPr/>
        </p:nvSpPr>
        <p:spPr>
          <a:xfrm>
            <a:off x="4759724" y="3285084"/>
            <a:ext cx="4590167" cy="3847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Advantage of decision trees – more diversity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A14117E-4835-2E46-B9C0-7841ECAE4EC0}"/>
              </a:ext>
            </a:extLst>
          </p:cNvPr>
          <p:cNvCxnSpPr/>
          <p:nvPr/>
        </p:nvCxnSpPr>
        <p:spPr>
          <a:xfrm flipH="1">
            <a:off x="3990660" y="3512265"/>
            <a:ext cx="6297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9480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Random Forest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143000"/>
            <a:ext cx="10972800" cy="508115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Two Methods to construct Random Forest: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Forest-RI (</a:t>
            </a:r>
            <a:r>
              <a:rPr lang="en-US" altLang="en-US" sz="2400" i="1" dirty="0"/>
              <a:t>random input selection</a:t>
            </a:r>
            <a:r>
              <a:rPr lang="en-US" altLang="en-US" sz="2400" dirty="0"/>
              <a:t>):  Randomly select, at each node, F attributes as candidates for the split at the node. The CART methodology is used to grow the trees to maximum size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Forest-RC (</a:t>
            </a:r>
            <a:r>
              <a:rPr lang="en-US" altLang="en-US" sz="2400" i="1" dirty="0"/>
              <a:t>random linear combinations</a:t>
            </a:r>
            <a:r>
              <a:rPr lang="en-US" altLang="en-US" sz="2400" dirty="0"/>
              <a:t>)</a:t>
            </a:r>
            <a:r>
              <a:rPr lang="en-US" altLang="en-US" sz="2400" i="1" dirty="0"/>
              <a:t>: </a:t>
            </a:r>
            <a:r>
              <a:rPr lang="en-US" altLang="en-US" sz="2400" dirty="0"/>
              <a:t> Creates new attributes (or features) that are a linear combination of the existing attributes (reduces the correlation between individual classifiers)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Comparable in accuracy to </a:t>
            </a:r>
            <a:r>
              <a:rPr lang="en-US" altLang="en-US" sz="2400" dirty="0" err="1"/>
              <a:t>Adaboost</a:t>
            </a:r>
            <a:r>
              <a:rPr lang="en-US" altLang="en-US" sz="2400" dirty="0"/>
              <a:t>, but more robust to errors and outliers 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Insensitive to the number of attributes selected for consideration at each split, and faster than typical bagging or boosting</a:t>
            </a:r>
          </a:p>
        </p:txBody>
      </p:sp>
    </p:spTree>
    <p:extLst>
      <p:ext uri="{BB962C8B-B14F-4D97-AF65-F5344CB8AC3E}">
        <p14:creationId xmlns:p14="http://schemas.microsoft.com/office/powerpoint/2010/main" val="12046590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92412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Ensemble Methods Recap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28650" y="1190625"/>
            <a:ext cx="11232610" cy="5286375"/>
          </a:xfrm>
        </p:spPr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en-US" altLang="en-US" dirty="0"/>
              <a:t>Random forest and </a:t>
            </a:r>
            <a:r>
              <a:rPr lang="en-US" altLang="en-US" dirty="0" err="1"/>
              <a:t>XGBoost</a:t>
            </a:r>
            <a:r>
              <a:rPr lang="en-US" altLang="en-US" dirty="0"/>
              <a:t> are the most commonly used algorithms for tabular data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en-US" dirty="0"/>
              <a:t>Pros</a:t>
            </a:r>
          </a:p>
          <a:p>
            <a:pPr marL="688969" lvl="1" indent="-457200">
              <a:lnSpc>
                <a:spcPct val="90000"/>
              </a:lnSpc>
            </a:pPr>
            <a:r>
              <a:rPr lang="en-US" altLang="en-US" dirty="0"/>
              <a:t>Good performance for tabular data, requires no data scaling</a:t>
            </a:r>
          </a:p>
          <a:p>
            <a:pPr marL="688969" lvl="1" indent="-457200">
              <a:lnSpc>
                <a:spcPct val="90000"/>
              </a:lnSpc>
            </a:pPr>
            <a:r>
              <a:rPr lang="en-US" altLang="en-US" dirty="0"/>
              <a:t>Can scale to large datasets</a:t>
            </a:r>
          </a:p>
          <a:p>
            <a:pPr marL="688969" lvl="1" indent="-457200">
              <a:lnSpc>
                <a:spcPct val="90000"/>
              </a:lnSpc>
            </a:pPr>
            <a:r>
              <a:rPr lang="en-US" altLang="en-US" dirty="0"/>
              <a:t>Can handle missing data to some extent 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en-US" dirty="0"/>
              <a:t>Cons</a:t>
            </a:r>
          </a:p>
          <a:p>
            <a:pPr marL="688969" lvl="1" indent="-457200">
              <a:lnSpc>
                <a:spcPct val="90000"/>
              </a:lnSpc>
            </a:pPr>
            <a:r>
              <a:rPr lang="en-US" altLang="en-US" dirty="0"/>
              <a:t>Can overfit to training data if not tuned properly</a:t>
            </a:r>
          </a:p>
          <a:p>
            <a:pPr marL="688969" lvl="1" indent="-457200">
              <a:lnSpc>
                <a:spcPct val="90000"/>
              </a:lnSpc>
            </a:pPr>
            <a:r>
              <a:rPr lang="en-US" altLang="en-US" dirty="0"/>
              <a:t>Lack of interpretability (compared to decision trees)</a:t>
            </a:r>
          </a:p>
        </p:txBody>
      </p:sp>
    </p:spTree>
    <p:extLst>
      <p:ext uri="{BB962C8B-B14F-4D97-AF65-F5344CB8AC3E}">
        <p14:creationId xmlns:p14="http://schemas.microsoft.com/office/powerpoint/2010/main" val="380874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906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Classification of Class-Imbalanced Data Sets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49" y="1133814"/>
            <a:ext cx="10963275" cy="4936246"/>
          </a:xfrm>
        </p:spPr>
        <p:txBody>
          <a:bodyPr/>
          <a:lstStyle/>
          <a:p>
            <a:r>
              <a:rPr lang="en-US" altLang="en-US" sz="2400" dirty="0"/>
              <a:t>Traditional methods assume a balanced distribution of classes and equal error costs. But in real world situations, we may face imbalanced data sets, which has rare positive example</a:t>
            </a:r>
            <a:r>
              <a:rPr lang="en-US" altLang="zh-CN" sz="2400" dirty="0"/>
              <a:t>s</a:t>
            </a:r>
            <a:r>
              <a:rPr lang="en-US" altLang="en-US" sz="2400" dirty="0"/>
              <a:t> but numerous negative ones.</a:t>
            </a:r>
          </a:p>
          <a:p>
            <a:pPr lvl="1"/>
            <a:endParaRPr lang="en-US" altLang="en-US" sz="2400" dirty="0"/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Medical diagnosis: Medical screening for a condition</a:t>
            </a:r>
          </a:p>
          <a:p>
            <a:pPr marL="200021" lvl="1" indent="0">
              <a:spcAft>
                <a:spcPts val="600"/>
              </a:spcAft>
              <a:buNone/>
            </a:pPr>
            <a:r>
              <a:rPr lang="en-US" altLang="en-US" sz="2400" dirty="0"/>
              <a:t>        is usually performed on a large population of people</a:t>
            </a:r>
          </a:p>
          <a:p>
            <a:pPr marL="200021" lvl="1" indent="0">
              <a:spcAft>
                <a:spcPts val="600"/>
              </a:spcAft>
              <a:buNone/>
            </a:pPr>
            <a:r>
              <a:rPr lang="en-US" altLang="en-US" sz="2400" dirty="0"/>
              <a:t>        without the condition, to detect a small minority </a:t>
            </a:r>
          </a:p>
          <a:p>
            <a:pPr marL="200021" lvl="1" indent="0">
              <a:spcAft>
                <a:spcPts val="600"/>
              </a:spcAft>
              <a:buNone/>
            </a:pPr>
            <a:r>
              <a:rPr lang="en-US" altLang="en-US" sz="2400" dirty="0"/>
              <a:t>        with it (e.g., HIV prevalence in the USA is ~0.4%)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Fraud detection: About 2% of credit card accounts </a:t>
            </a:r>
          </a:p>
          <a:p>
            <a:pPr marL="200021" lvl="1" indent="0">
              <a:spcAft>
                <a:spcPts val="600"/>
              </a:spcAft>
              <a:buNone/>
            </a:pPr>
            <a:r>
              <a:rPr lang="en-US" altLang="en-US" sz="2400" dirty="0"/>
              <a:t>        are defrauded per year. (Most fraud detection domains are heavily imbalanced.)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Product defect, accident (oil-spill), disk drive failures, etc.</a:t>
            </a:r>
          </a:p>
        </p:txBody>
      </p:sp>
      <p:pic>
        <p:nvPicPr>
          <p:cNvPr id="113666" name="Picture 2" descr="Related image">
            <a:extLst>
              <a:ext uri="{FF2B5EF4-FFF2-40B4-BE49-F238E27FC236}">
                <a16:creationId xmlns:a16="http://schemas.microsoft.com/office/drawing/2014/main" id="{DF5ECE2A-4B9B-4BD2-99EC-7434DBEE52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6"/>
          <a:stretch/>
        </p:blipFill>
        <p:spPr bwMode="auto">
          <a:xfrm>
            <a:off x="7953375" y="1895880"/>
            <a:ext cx="4238625" cy="3066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3505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906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Classification of Class-Imbalanced Data Sets</a:t>
            </a:r>
          </a:p>
        </p:txBody>
      </p:sp>
      <p:sp>
        <p:nvSpPr>
          <p:cNvPr id="50" name="Rectangle 3"/>
          <p:cNvSpPr txBox="1">
            <a:spLocks noChangeArrowheads="1"/>
          </p:cNvSpPr>
          <p:nvPr/>
        </p:nvSpPr>
        <p:spPr bwMode="auto">
          <a:xfrm>
            <a:off x="1804988" y="6248400"/>
            <a:ext cx="863441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457178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8C8C8C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41" name="Rectangle 3"/>
          <p:cNvSpPr txBox="1">
            <a:spLocks noChangeArrowheads="1"/>
          </p:cNvSpPr>
          <p:nvPr/>
        </p:nvSpPr>
        <p:spPr>
          <a:xfrm>
            <a:off x="494436" y="1503140"/>
            <a:ext cx="10935564" cy="5072754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951" marR="0" lvl="0" indent="-461951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Typical methods on imbalanced data (Balance the training set)</a:t>
            </a:r>
          </a:p>
          <a:p>
            <a:pPr marL="858817" marR="0" lvl="2" indent="-474651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Oversampling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Oversample the minority class.</a:t>
            </a:r>
          </a:p>
          <a:p>
            <a:pPr marL="858817" marR="0" lvl="2" indent="-474651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Under-sampling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Randomly eliminate tuples from majority class</a:t>
            </a:r>
          </a:p>
          <a:p>
            <a:pPr marL="858817" marR="0" lvl="2" indent="-474651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Synthesizing: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Synthesize new minority classes</a:t>
            </a:r>
          </a:p>
        </p:txBody>
      </p:sp>
      <p:pic>
        <p:nvPicPr>
          <p:cNvPr id="115714" name="Picture 2" descr="Related image">
            <a:extLst>
              <a:ext uri="{FF2B5EF4-FFF2-40B4-BE49-F238E27FC236}">
                <a16:creationId xmlns:a16="http://schemas.microsoft.com/office/drawing/2014/main" id="{40066B61-D51F-41C3-ACCE-599378E1D3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6" t="7457" r="16605" b="46667"/>
          <a:stretch/>
        </p:blipFill>
        <p:spPr bwMode="auto">
          <a:xfrm>
            <a:off x="1319753" y="3519635"/>
            <a:ext cx="4343400" cy="286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lated image">
            <a:extLst>
              <a:ext uri="{FF2B5EF4-FFF2-40B4-BE49-F238E27FC236}">
                <a16:creationId xmlns:a16="http://schemas.microsoft.com/office/drawing/2014/main" id="{193D2AE0-71F3-4847-AB3E-D6CFAEAA6D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05" t="55388" r="19808" b="319"/>
          <a:stretch/>
        </p:blipFill>
        <p:spPr bwMode="auto">
          <a:xfrm>
            <a:off x="6231116" y="3487918"/>
            <a:ext cx="4343400" cy="2928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70017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906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Classification of Class-Imbalanced Data Sets</a:t>
            </a:r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 bwMode="auto">
          <a:xfrm>
            <a:off x="602389" y="3936485"/>
            <a:ext cx="689133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457178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8C8C8C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50" name="Rectangle 3"/>
          <p:cNvSpPr txBox="1">
            <a:spLocks noChangeArrowheads="1"/>
          </p:cNvSpPr>
          <p:nvPr/>
        </p:nvSpPr>
        <p:spPr bwMode="auto">
          <a:xfrm>
            <a:off x="1804988" y="6248400"/>
            <a:ext cx="863441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457178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8C8C8C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41" name="Rectangle 3"/>
          <p:cNvSpPr txBox="1">
            <a:spLocks noChangeArrowheads="1"/>
          </p:cNvSpPr>
          <p:nvPr/>
        </p:nvSpPr>
        <p:spPr>
          <a:xfrm>
            <a:off x="533347" y="1175646"/>
            <a:ext cx="10935564" cy="5072754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951" marR="0" lvl="0" indent="-461951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Typical methods on imbalanced data (At the algorithm level)</a:t>
            </a:r>
          </a:p>
          <a:p>
            <a:pPr marL="858817" marR="0" lvl="2" indent="-474651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Threshold-moving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Move the decision threshold, t, so that the rare class tuples are easier to classify, and hence, less chance of costly false negative errors</a:t>
            </a:r>
          </a:p>
          <a:p>
            <a:pPr marL="858817" marR="0" lvl="2" indent="-474651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Class weight adjusting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Since false negative costs more than false positive, we can give larger weight to false negative </a:t>
            </a:r>
          </a:p>
          <a:p>
            <a:pPr marL="738170" marR="0" lvl="1" indent="-538149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Ensemble techniques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Ensemble multiple classifiers introduced in the following chapter</a:t>
            </a:r>
          </a:p>
        </p:txBody>
      </p:sp>
      <p:pic>
        <p:nvPicPr>
          <p:cNvPr id="115718" name="Picture 6" descr="Standard deviation imbalanced classes">
            <a:extLst>
              <a:ext uri="{FF2B5EF4-FFF2-40B4-BE49-F238E27FC236}">
                <a16:creationId xmlns:a16="http://schemas.microsoft.com/office/drawing/2014/main" id="{229D5C2D-A092-4023-A6BE-0FD198501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234" y="4095557"/>
            <a:ext cx="3320678" cy="276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720" name="Picture 8" descr="shifted separation line imbalanced classes">
            <a:extLst>
              <a:ext uri="{FF2B5EF4-FFF2-40B4-BE49-F238E27FC236}">
                <a16:creationId xmlns:a16="http://schemas.microsoft.com/office/drawing/2014/main" id="{90AA0EF8-0770-449C-8896-1D9973685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084" y="4130858"/>
            <a:ext cx="3221964" cy="2678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46125B3-C3A4-4712-BFE5-32056DC0B73A}"/>
              </a:ext>
            </a:extLst>
          </p:cNvPr>
          <p:cNvCxnSpPr/>
          <p:nvPr/>
        </p:nvCxnSpPr>
        <p:spPr>
          <a:xfrm>
            <a:off x="5282119" y="5703282"/>
            <a:ext cx="15758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87BC5A-F3C6-45ED-9DEA-ABB5A5F32CFD}"/>
              </a:ext>
            </a:extLst>
          </p:cNvPr>
          <p:cNvSpPr txBox="1"/>
          <p:nvPr/>
        </p:nvSpPr>
        <p:spPr>
          <a:xfrm>
            <a:off x="5291847" y="5048657"/>
            <a:ext cx="150648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Threshold-moving</a:t>
            </a:r>
            <a:endParaRPr kumimoji="0" lang="zh-CN" altLang="en-US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2" name="Picture 6" descr="Standard deviation imbalanced classes">
            <a:extLst>
              <a:ext uri="{FF2B5EF4-FFF2-40B4-BE49-F238E27FC236}">
                <a16:creationId xmlns:a16="http://schemas.microsoft.com/office/drawing/2014/main" id="{FAED5744-C3B4-42BB-BF0C-95203E02EC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30" t="3039" r="2344" b="88650"/>
          <a:stretch/>
        </p:blipFill>
        <p:spPr bwMode="auto">
          <a:xfrm>
            <a:off x="3672145" y="4130859"/>
            <a:ext cx="1626612" cy="494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6" descr="Standard deviation imbalanced classes">
            <a:extLst>
              <a:ext uri="{FF2B5EF4-FFF2-40B4-BE49-F238E27FC236}">
                <a16:creationId xmlns:a16="http://schemas.microsoft.com/office/drawing/2014/main" id="{2123FF02-5BA3-466A-971E-A4D81645DF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30" t="3039" r="2344" b="88650"/>
          <a:stretch/>
        </p:blipFill>
        <p:spPr bwMode="auto">
          <a:xfrm>
            <a:off x="9551161" y="4130859"/>
            <a:ext cx="1626612" cy="494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8301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1E3AE-2CCE-48F0-B81C-AA8318A91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Evaluate imbalanced data classifier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C82C79-D763-4F68-9BBF-CC10EEE8D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/>
          <a:p>
            <a:r>
              <a:rPr lang="en-US" altLang="zh-CN" dirty="0"/>
              <a:t>Can we use Accuracy to evaluate imbalanced data classifier?</a:t>
            </a:r>
          </a:p>
          <a:p>
            <a:r>
              <a:rPr lang="en-US" altLang="zh-CN" dirty="0"/>
              <a:t>Accuracy simply counts the number of errors</a:t>
            </a:r>
          </a:p>
          <a:p>
            <a:pPr lvl="1"/>
            <a:r>
              <a:rPr lang="en-US" altLang="zh-CN" dirty="0"/>
              <a:t>If a data set has 2% positive labels and 98% negative labels, a classifier that map all inputs to negative class will get an accuracy of 98%!</a:t>
            </a:r>
          </a:p>
          <a:p>
            <a:r>
              <a:rPr lang="en-US" altLang="zh-CN" dirty="0"/>
              <a:t>ROC Curve</a:t>
            </a:r>
          </a:p>
          <a:p>
            <a:endParaRPr lang="zh-CN" altLang="en-US" dirty="0"/>
          </a:p>
        </p:txBody>
      </p:sp>
      <p:pic>
        <p:nvPicPr>
          <p:cNvPr id="121858" name="Picture 2" descr="Image result for roc curve">
            <a:extLst>
              <a:ext uri="{FF2B5EF4-FFF2-40B4-BE49-F238E27FC236}">
                <a16:creationId xmlns:a16="http://schemas.microsoft.com/office/drawing/2014/main" id="{CD1D60BC-5F34-440B-A2A0-688BD88DE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195" y="2772384"/>
            <a:ext cx="5649198" cy="4004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83747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81000"/>
            <a:ext cx="84582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Summary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0202" y="1153885"/>
            <a:ext cx="11371273" cy="551905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Classification: Model construction from a set of training data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Effective and scalable methods  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/>
              <a:t>Decision tree induction, Bayes classification methods, lazy learners, linear classifier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/>
              <a:t>No single method has been found to be superior over all others for all data sets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Evaluation metrics: Accuracy, sensitivity, specificity, precision, recall, </a:t>
            </a:r>
            <a:r>
              <a:rPr lang="en-US" altLang="en-US" sz="2400" i="1" dirty="0"/>
              <a:t>F</a:t>
            </a:r>
            <a:r>
              <a:rPr lang="en-US" altLang="en-US" sz="2400" dirty="0"/>
              <a:t> measure 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evaluation: Holdout, cross-validation, boo</a:t>
            </a:r>
            <a:r>
              <a:rPr lang="en-US" altLang="zh-CN" sz="2400" dirty="0"/>
              <a:t>t</a:t>
            </a:r>
            <a:r>
              <a:rPr lang="en-US" altLang="en-US" sz="2400" dirty="0"/>
              <a:t>strapping, ROC curves (AUC)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accuracy: Ensemble Methods (bagging, boosting, random forests), imbalanced classification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n-US" sz="2400" dirty="0"/>
          </a:p>
          <a:p>
            <a:pPr eaLnBrk="1" hangingPunct="1">
              <a:lnSpc>
                <a:spcPct val="12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9899877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1" y="304800"/>
            <a:ext cx="8018463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References (1)</a:t>
            </a:r>
            <a:endParaRPr lang="en-US" altLang="en-US" sz="400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499" y="1133475"/>
            <a:ext cx="10848975" cy="5572125"/>
          </a:xfrm>
        </p:spPr>
        <p:txBody>
          <a:bodyPr/>
          <a:lstStyle/>
          <a:p>
            <a:pPr marL="533400" indent="-533400"/>
            <a:r>
              <a:rPr lang="en-US" altLang="en-US" sz="2200" dirty="0"/>
              <a:t>C. </a:t>
            </a:r>
            <a:r>
              <a:rPr lang="en-US" altLang="en-US" sz="2200" dirty="0" err="1"/>
              <a:t>Apte</a:t>
            </a:r>
            <a:r>
              <a:rPr lang="en-US" altLang="en-US" sz="2200" dirty="0"/>
              <a:t> and S. Weiss. </a:t>
            </a:r>
            <a:r>
              <a:rPr lang="en-US" altLang="en-US" sz="2200" b="1" dirty="0"/>
              <a:t>Data mining with decision trees and decision rules</a:t>
            </a:r>
            <a:r>
              <a:rPr lang="en-US" altLang="en-US" sz="2200" dirty="0"/>
              <a:t>. Future Generation Computer Systems, 13, 1997</a:t>
            </a:r>
          </a:p>
          <a:p>
            <a:pPr>
              <a:spcBef>
                <a:spcPts val="400"/>
              </a:spcBef>
            </a:pPr>
            <a:r>
              <a:rPr lang="en-US" altLang="en-US" sz="2200" dirty="0"/>
              <a:t>A. J. Dobson.  </a:t>
            </a:r>
            <a:r>
              <a:rPr lang="en-US" altLang="en-US" sz="2200" b="1" dirty="0"/>
              <a:t>An Introduction to Generalized Linear Models</a:t>
            </a:r>
            <a:r>
              <a:rPr lang="en-US" altLang="en-US" sz="2200" dirty="0"/>
              <a:t>.  Chapman &amp; Hall, 1990.</a:t>
            </a:r>
          </a:p>
          <a:p>
            <a:pPr>
              <a:spcBef>
                <a:spcPts val="400"/>
              </a:spcBef>
            </a:pPr>
            <a:r>
              <a:rPr lang="en-US" altLang="en-US" sz="2200" dirty="0"/>
              <a:t>R. O. </a:t>
            </a:r>
            <a:r>
              <a:rPr lang="en-US" altLang="en-US" sz="2200" dirty="0" err="1"/>
              <a:t>Duda</a:t>
            </a:r>
            <a:r>
              <a:rPr lang="en-US" altLang="en-US" sz="2200" dirty="0"/>
              <a:t>, P. E. Hart, and D. G. Stork. </a:t>
            </a:r>
            <a:r>
              <a:rPr lang="en-US" altLang="en-US" sz="2200" b="1" dirty="0"/>
              <a:t>Pattern Classification</a:t>
            </a:r>
            <a:r>
              <a:rPr lang="en-US" altLang="en-US" sz="2200" dirty="0"/>
              <a:t>, 2ed. John Wiley, 2001</a:t>
            </a:r>
          </a:p>
          <a:p>
            <a:pPr>
              <a:spcBef>
                <a:spcPts val="400"/>
              </a:spcBef>
            </a:pPr>
            <a:r>
              <a:rPr lang="en-US" altLang="en-US" sz="2200" dirty="0"/>
              <a:t>U. M. Fayyad. </a:t>
            </a:r>
            <a:r>
              <a:rPr lang="en-US" altLang="en-US" sz="2200" b="1" dirty="0"/>
              <a:t>Branching on attribute values in decision tree generation</a:t>
            </a:r>
            <a:r>
              <a:rPr lang="en-US" altLang="en-US" sz="2200" dirty="0"/>
              <a:t>. AAAI’94.</a:t>
            </a:r>
          </a:p>
          <a:p>
            <a:pPr>
              <a:spcBef>
                <a:spcPts val="400"/>
              </a:spcBef>
            </a:pPr>
            <a:r>
              <a:rPr lang="en-US" altLang="en-US" sz="2200" dirty="0"/>
              <a:t>Y. Freund and R. E. </a:t>
            </a:r>
            <a:r>
              <a:rPr lang="en-US" altLang="en-US" sz="2200" dirty="0" err="1"/>
              <a:t>Schapire</a:t>
            </a:r>
            <a:r>
              <a:rPr lang="en-US" altLang="en-US" sz="2200" dirty="0"/>
              <a:t>. </a:t>
            </a:r>
            <a:r>
              <a:rPr lang="en-US" altLang="en-US" sz="2200" b="1" dirty="0"/>
              <a:t>A decision-theoretic generalization of on-line learning and an  application to boosting</a:t>
            </a:r>
            <a:r>
              <a:rPr lang="en-US" altLang="en-US" sz="2200" dirty="0"/>
              <a:t>. J. Computer and System Sciences, 1997.</a:t>
            </a:r>
          </a:p>
          <a:p>
            <a:pPr>
              <a:spcBef>
                <a:spcPts val="400"/>
              </a:spcBef>
            </a:pPr>
            <a:r>
              <a:rPr lang="en-US" altLang="en-US" sz="2200" dirty="0"/>
              <a:t>J. </a:t>
            </a:r>
            <a:r>
              <a:rPr lang="en-US" altLang="en-US" sz="2200" dirty="0" err="1"/>
              <a:t>Gehrke</a:t>
            </a:r>
            <a:r>
              <a:rPr lang="en-US" altLang="en-US" sz="2200" dirty="0"/>
              <a:t>, R. Ramakrishnan, and V. </a:t>
            </a:r>
            <a:r>
              <a:rPr lang="en-US" altLang="en-US" sz="2200" dirty="0" err="1"/>
              <a:t>Ganti</a:t>
            </a:r>
            <a:r>
              <a:rPr lang="en-US" altLang="en-US" sz="2200" dirty="0"/>
              <a:t>. </a:t>
            </a:r>
            <a:r>
              <a:rPr lang="en-US" altLang="en-US" sz="2200" b="1" dirty="0"/>
              <a:t>Rainforest: A framework for fast decision tree construction of large datasets</a:t>
            </a:r>
            <a:r>
              <a:rPr lang="en-US" altLang="en-US" sz="2200" dirty="0"/>
              <a:t>. VLDB’98.</a:t>
            </a:r>
          </a:p>
          <a:p>
            <a:pPr>
              <a:spcBef>
                <a:spcPts val="400"/>
              </a:spcBef>
            </a:pPr>
            <a:r>
              <a:rPr lang="en-US" altLang="en-US" sz="2200" dirty="0"/>
              <a:t>J. </a:t>
            </a:r>
            <a:r>
              <a:rPr lang="en-US" altLang="en-US" sz="2200" dirty="0" err="1"/>
              <a:t>Gehrke</a:t>
            </a:r>
            <a:r>
              <a:rPr lang="en-US" altLang="en-US" sz="2200" dirty="0"/>
              <a:t>, V. Gant, R. Ramakrishnan, and W.-Y. </a:t>
            </a:r>
            <a:r>
              <a:rPr lang="en-US" altLang="en-US" sz="2200" dirty="0" err="1"/>
              <a:t>Loh</a:t>
            </a:r>
            <a:r>
              <a:rPr lang="en-US" altLang="en-US" sz="2200" dirty="0"/>
              <a:t>, </a:t>
            </a:r>
            <a:r>
              <a:rPr lang="en-US" altLang="en-US" sz="2200" b="1" dirty="0"/>
              <a:t>BOAT -- Optimistic Decision Tree Construction</a:t>
            </a:r>
            <a:r>
              <a:rPr lang="en-US" altLang="en-US" sz="2200" dirty="0"/>
              <a:t>. SIGMOD'99</a:t>
            </a:r>
            <a:r>
              <a:rPr lang="en-US" altLang="en-US" sz="2200" i="1" dirty="0"/>
              <a:t>.</a:t>
            </a:r>
          </a:p>
          <a:p>
            <a:pPr>
              <a:spcBef>
                <a:spcPts val="400"/>
              </a:spcBef>
            </a:pPr>
            <a:r>
              <a:rPr lang="en-US" altLang="en-US" sz="2200" dirty="0"/>
              <a:t>T. Hastie, R. </a:t>
            </a:r>
            <a:r>
              <a:rPr lang="en-US" altLang="en-US" sz="2200" dirty="0" err="1"/>
              <a:t>Tibshirani</a:t>
            </a:r>
            <a:r>
              <a:rPr lang="en-US" altLang="en-US" sz="2200" dirty="0"/>
              <a:t>, and J. Friedman. </a:t>
            </a:r>
            <a:r>
              <a:rPr lang="en-US" altLang="en-US" sz="2200" b="1" dirty="0"/>
              <a:t>The Elements of Statistical Learning: Data Mining, Inference,  and Prediction.</a:t>
            </a:r>
            <a:r>
              <a:rPr lang="en-US" altLang="en-US" sz="2200" dirty="0"/>
              <a:t> Springer-Verlag, 2001</a:t>
            </a:r>
          </a:p>
          <a:p>
            <a:pPr>
              <a:spcBef>
                <a:spcPts val="400"/>
              </a:spcBef>
            </a:pPr>
            <a:r>
              <a:rPr lang="en-US" altLang="en-US" sz="2200" dirty="0"/>
              <a:t>J. Pan and D. </a:t>
            </a:r>
            <a:r>
              <a:rPr lang="en-US" altLang="en-US" sz="2200" dirty="0" err="1"/>
              <a:t>Manocha</a:t>
            </a:r>
            <a:r>
              <a:rPr lang="en-US" altLang="en-US" sz="2200" dirty="0"/>
              <a:t>. </a:t>
            </a:r>
            <a:r>
              <a:rPr lang="en-US" altLang="en-US" sz="2200" b="1" dirty="0"/>
              <a:t>Bi-level locality sensitive hashing for k-nearest neighbor computation</a:t>
            </a:r>
            <a:r>
              <a:rPr lang="en-US" altLang="en-US" sz="2200" dirty="0"/>
              <a:t>. IEEE ICDE 2012</a:t>
            </a:r>
          </a:p>
          <a:p>
            <a:pPr>
              <a:spcBef>
                <a:spcPts val="400"/>
              </a:spcBef>
            </a:pPr>
            <a:endParaRPr lang="en-US" altLang="en-US" sz="2200" dirty="0"/>
          </a:p>
          <a:p>
            <a:pPr marL="533400" indent="-533400"/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7865617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7943850" cy="5540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References (2)</a:t>
            </a:r>
            <a:endParaRPr lang="en-US" altLang="en-US" sz="4000"/>
          </a:p>
        </p:txBody>
      </p:sp>
      <p:sp>
        <p:nvSpPr>
          <p:cNvPr id="7680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04825" y="1143000"/>
            <a:ext cx="11519940" cy="56007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200" dirty="0"/>
              <a:t>T.-S. Lim, W.-Y. </a:t>
            </a:r>
            <a:r>
              <a:rPr lang="en-US" altLang="en-US" sz="2200" dirty="0" err="1"/>
              <a:t>Loh</a:t>
            </a:r>
            <a:r>
              <a:rPr lang="en-US" altLang="en-US" sz="2200" dirty="0"/>
              <a:t>, and Y.-S. Shih. </a:t>
            </a:r>
            <a:r>
              <a:rPr lang="en-US" altLang="en-US" sz="2200" b="1" dirty="0"/>
              <a:t>A comparison of prediction accuracy, complexity, and training time of  thirty-three old and new classification algorithms.</a:t>
            </a:r>
            <a:r>
              <a:rPr lang="en-US" altLang="en-US" sz="2200" dirty="0"/>
              <a:t>  Machine Learning, 2000 </a:t>
            </a:r>
          </a:p>
          <a:p>
            <a:pPr>
              <a:lnSpc>
                <a:spcPct val="110000"/>
              </a:lnSpc>
            </a:pPr>
            <a:r>
              <a:rPr lang="en-US" altLang="en-US" sz="2200" dirty="0"/>
              <a:t>J. </a:t>
            </a:r>
            <a:r>
              <a:rPr lang="en-US" altLang="en-US" sz="2200" dirty="0" err="1"/>
              <a:t>Magidson</a:t>
            </a:r>
            <a:r>
              <a:rPr lang="en-US" altLang="en-US" sz="2200" dirty="0"/>
              <a:t>.  </a:t>
            </a:r>
            <a:r>
              <a:rPr lang="en-US" altLang="en-US" sz="2200" b="1" dirty="0"/>
              <a:t>The </a:t>
            </a:r>
            <a:r>
              <a:rPr lang="en-US" altLang="en-US" sz="2200" b="1" dirty="0" err="1"/>
              <a:t>Chaid</a:t>
            </a:r>
            <a:r>
              <a:rPr lang="en-US" altLang="en-US" sz="2200" b="1" dirty="0"/>
              <a:t> approach to segmentation modeling:  Chi-squared automatic interaction detection</a:t>
            </a:r>
            <a:r>
              <a:rPr lang="en-US" altLang="en-US" sz="2200" dirty="0"/>
              <a:t>. In R. P. </a:t>
            </a:r>
            <a:r>
              <a:rPr lang="en-US" altLang="en-US" sz="2200" dirty="0" err="1"/>
              <a:t>Bagozzi</a:t>
            </a:r>
            <a:r>
              <a:rPr lang="en-US" altLang="en-US" sz="2200" dirty="0"/>
              <a:t>, editor, Advanced Methods of Marketing Research, Blackwell Business, 1994</a:t>
            </a:r>
          </a:p>
          <a:p>
            <a:pPr>
              <a:lnSpc>
                <a:spcPct val="110000"/>
              </a:lnSpc>
            </a:pPr>
            <a:r>
              <a:rPr lang="en-US" altLang="en-US" sz="2200" dirty="0"/>
              <a:t>M. Mehta, R. Agrawal, and J. </a:t>
            </a:r>
            <a:r>
              <a:rPr lang="en-US" altLang="en-US" sz="2200" dirty="0" err="1"/>
              <a:t>Rissanen</a:t>
            </a:r>
            <a:r>
              <a:rPr lang="en-US" altLang="en-US" sz="2200" dirty="0"/>
              <a:t>. </a:t>
            </a:r>
            <a:r>
              <a:rPr lang="en-US" altLang="en-US" sz="2200" b="1" dirty="0"/>
              <a:t>SLIQ : A fast scalable classifier for data mining</a:t>
            </a:r>
            <a:r>
              <a:rPr lang="en-US" altLang="en-US" sz="2200" dirty="0"/>
              <a:t>. EDBT'96</a:t>
            </a:r>
          </a:p>
          <a:p>
            <a:pPr>
              <a:lnSpc>
                <a:spcPct val="110000"/>
              </a:lnSpc>
            </a:pPr>
            <a:r>
              <a:rPr lang="en-US" altLang="en-US" sz="2200" dirty="0"/>
              <a:t>T. M. Mitchell. </a:t>
            </a:r>
            <a:r>
              <a:rPr lang="en-US" altLang="en-US" sz="2200" b="1" dirty="0"/>
              <a:t>Machine Learning</a:t>
            </a:r>
            <a:r>
              <a:rPr lang="en-US" altLang="en-US" sz="2200" dirty="0"/>
              <a:t>. McGraw Hill, 1997</a:t>
            </a:r>
          </a:p>
          <a:p>
            <a:pPr>
              <a:lnSpc>
                <a:spcPct val="110000"/>
              </a:lnSpc>
            </a:pPr>
            <a:r>
              <a:rPr lang="en-US" altLang="en-US" sz="2200" dirty="0"/>
              <a:t>S. K. Murthy, </a:t>
            </a:r>
            <a:r>
              <a:rPr lang="en-US" altLang="en-US" sz="2200" b="1" dirty="0"/>
              <a:t>Automatic Construction of Decision Trees from Data: A Multi-Disciplinary Survey</a:t>
            </a:r>
            <a:r>
              <a:rPr lang="en-US" altLang="en-US" sz="2200" dirty="0"/>
              <a:t>, Data Mining and Knowledge Discovery 2(4): 345-389, 1998</a:t>
            </a:r>
          </a:p>
          <a:p>
            <a:pPr>
              <a:lnSpc>
                <a:spcPct val="110000"/>
              </a:lnSpc>
            </a:pPr>
            <a:r>
              <a:rPr lang="en-US" altLang="en-US" sz="2200" dirty="0"/>
              <a:t>J. R. Quinlan. </a:t>
            </a:r>
            <a:r>
              <a:rPr lang="en-US" altLang="en-US" sz="2200" b="1" dirty="0"/>
              <a:t>Induction of decision trees</a:t>
            </a:r>
            <a:r>
              <a:rPr lang="en-US" altLang="en-US" sz="2200" dirty="0"/>
              <a:t>. </a:t>
            </a:r>
            <a:r>
              <a:rPr lang="en-US" altLang="en-US" sz="2200" i="1" dirty="0"/>
              <a:t>Machine Learning</a:t>
            </a:r>
            <a:r>
              <a:rPr lang="en-US" altLang="en-US" sz="2200" dirty="0"/>
              <a:t>, 1:81-106, 1986 </a:t>
            </a:r>
          </a:p>
          <a:p>
            <a:pPr>
              <a:lnSpc>
                <a:spcPct val="110000"/>
              </a:lnSpc>
            </a:pPr>
            <a:r>
              <a:rPr lang="en-US" altLang="en-US" sz="2200" dirty="0"/>
              <a:t>J. R. Quinlan. </a:t>
            </a:r>
            <a:r>
              <a:rPr lang="en-US" altLang="en-US" sz="2200" b="1" dirty="0"/>
              <a:t>C4.5: Programs for Machine Learning</a:t>
            </a:r>
            <a:r>
              <a:rPr lang="en-US" altLang="en-US" sz="2200" dirty="0"/>
              <a:t>. Morgan Kaufmann, 1993</a:t>
            </a:r>
          </a:p>
          <a:p>
            <a:pPr>
              <a:lnSpc>
                <a:spcPct val="110000"/>
              </a:lnSpc>
            </a:pPr>
            <a:r>
              <a:rPr lang="en-US" altLang="en-US" sz="2200" dirty="0"/>
              <a:t>J. R. Quinlan.  </a:t>
            </a:r>
            <a:r>
              <a:rPr lang="en-US" altLang="en-US" sz="2200" b="1" dirty="0"/>
              <a:t>Bagging, boosting, and c4.5</a:t>
            </a:r>
            <a:r>
              <a:rPr lang="en-US" altLang="en-US" sz="2200" dirty="0"/>
              <a:t>. AAAI’96</a:t>
            </a:r>
          </a:p>
          <a:p>
            <a:pPr>
              <a:lnSpc>
                <a:spcPct val="110000"/>
              </a:lnSpc>
            </a:pPr>
            <a:r>
              <a:rPr lang="en-US" altLang="en-US" sz="2200" dirty="0"/>
              <a:t>E. </a:t>
            </a:r>
            <a:r>
              <a:rPr lang="en-US" altLang="en-US" sz="2200" dirty="0" err="1"/>
              <a:t>Alpaydin</a:t>
            </a:r>
            <a:r>
              <a:rPr lang="en-US" altLang="en-US" sz="2200" dirty="0"/>
              <a:t>. </a:t>
            </a:r>
            <a:r>
              <a:rPr lang="en-US" altLang="en-US" sz="2200" b="1" dirty="0"/>
              <a:t>Introduction to Machine Learning (2nd ed.)</a:t>
            </a:r>
            <a:r>
              <a:rPr lang="en-US" altLang="en-US" sz="2200" dirty="0"/>
              <a:t>. MIT Press, 2011</a:t>
            </a:r>
          </a:p>
        </p:txBody>
      </p:sp>
    </p:spTree>
    <p:extLst>
      <p:ext uri="{BB962C8B-B14F-4D97-AF65-F5344CB8AC3E}">
        <p14:creationId xmlns:p14="http://schemas.microsoft.com/office/powerpoint/2010/main" val="13943146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7943850" cy="5540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References (3)</a:t>
            </a:r>
            <a:endParaRPr lang="en-US" altLang="en-US" sz="4000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8162" y="1200150"/>
            <a:ext cx="10829925" cy="5257800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R. </a:t>
            </a:r>
            <a:r>
              <a:rPr lang="en-US" altLang="en-US" sz="2200" dirty="0" err="1"/>
              <a:t>Rastogi</a:t>
            </a:r>
            <a:r>
              <a:rPr lang="en-US" altLang="en-US" sz="2200" dirty="0"/>
              <a:t> and K. Shim. </a:t>
            </a:r>
            <a:r>
              <a:rPr lang="en-US" altLang="en-US" sz="2200" b="1" dirty="0"/>
              <a:t>Public: A decision tree classifier that integrates building and pruning</a:t>
            </a:r>
            <a:r>
              <a:rPr lang="en-US" altLang="en-US" sz="2200" dirty="0"/>
              <a:t>. VLDB’98</a:t>
            </a:r>
          </a:p>
          <a:p>
            <a:pPr eaLnBrk="1" hangingPunct="1"/>
            <a:r>
              <a:rPr lang="en-US" altLang="en-US" sz="2200" dirty="0"/>
              <a:t>J. Shafer, R. Agrawal, and M. Mehta. </a:t>
            </a:r>
            <a:r>
              <a:rPr lang="en-US" altLang="en-US" sz="2200" b="1" dirty="0"/>
              <a:t>SPRINT : A scalable parallel classifier for data mining</a:t>
            </a:r>
            <a:r>
              <a:rPr lang="en-US" altLang="en-US" sz="2200" dirty="0"/>
              <a:t>. VLDB’96</a:t>
            </a:r>
          </a:p>
          <a:p>
            <a:pPr eaLnBrk="1" hangingPunct="1"/>
            <a:r>
              <a:rPr lang="en-US" altLang="en-US" sz="2200" dirty="0"/>
              <a:t>J. W. Shavlik and T. G. </a:t>
            </a:r>
            <a:r>
              <a:rPr lang="en-US" altLang="en-US" sz="2200" dirty="0" err="1"/>
              <a:t>Dietterich</a:t>
            </a:r>
            <a:r>
              <a:rPr lang="en-US" altLang="en-US" sz="2200" dirty="0"/>
              <a:t>. </a:t>
            </a:r>
            <a:r>
              <a:rPr lang="en-US" altLang="en-US" sz="2200" b="1" dirty="0"/>
              <a:t>Readings in Machine Learning</a:t>
            </a:r>
            <a:r>
              <a:rPr lang="en-US" altLang="en-US" sz="2200" dirty="0"/>
              <a:t>. Morgan Kaufmann, 1990</a:t>
            </a:r>
          </a:p>
          <a:p>
            <a:pPr eaLnBrk="1" hangingPunct="1"/>
            <a:r>
              <a:rPr lang="en-US" altLang="en-US" sz="2200" dirty="0"/>
              <a:t>P. Tan, M. Steinbach, and V. Kumar. </a:t>
            </a:r>
            <a:r>
              <a:rPr lang="en-US" altLang="en-US" sz="2200" b="1" dirty="0"/>
              <a:t>Introduction to Data Mining</a:t>
            </a:r>
            <a:r>
              <a:rPr lang="en-US" altLang="en-US" sz="2200" dirty="0"/>
              <a:t>. Addison Wesley, 2005</a:t>
            </a:r>
          </a:p>
          <a:p>
            <a:pPr eaLnBrk="1" hangingPunct="1"/>
            <a:r>
              <a:rPr lang="en-US" altLang="en-US" sz="2200" dirty="0"/>
              <a:t>S. M. Weiss and C. A. </a:t>
            </a:r>
            <a:r>
              <a:rPr lang="en-US" altLang="en-US" sz="2200" dirty="0" err="1"/>
              <a:t>Kulikowski</a:t>
            </a:r>
            <a:r>
              <a:rPr lang="en-US" altLang="en-US" sz="2200" dirty="0"/>
              <a:t>.  </a:t>
            </a:r>
            <a:r>
              <a:rPr lang="en-US" altLang="en-US" sz="2200" b="1" dirty="0"/>
              <a:t>Computer Systems that Learn:  Classification and Prediction Methods from Statistics, Neural Nets, Machine Learning, and Expert Systems</a:t>
            </a:r>
            <a:r>
              <a:rPr lang="en-US" altLang="en-US" sz="2200" dirty="0"/>
              <a:t>.  Morgan Kaufman, 1991</a:t>
            </a:r>
          </a:p>
          <a:p>
            <a:pPr eaLnBrk="1" hangingPunct="1"/>
            <a:r>
              <a:rPr lang="en-US" altLang="en-US" sz="2200" dirty="0"/>
              <a:t>S. M. Weiss and N. </a:t>
            </a:r>
            <a:r>
              <a:rPr lang="en-US" altLang="en-US" sz="2200" dirty="0" err="1"/>
              <a:t>Indurkhya</a:t>
            </a:r>
            <a:r>
              <a:rPr lang="en-US" altLang="en-US" sz="2200" dirty="0"/>
              <a:t>. </a:t>
            </a:r>
            <a:r>
              <a:rPr lang="en-US" altLang="en-US" sz="2200" b="1" dirty="0"/>
              <a:t>Predictive Data Mining</a:t>
            </a:r>
            <a:r>
              <a:rPr lang="en-US" altLang="en-US" sz="2200" dirty="0"/>
              <a:t>. Morgan Kaufmann, 1997</a:t>
            </a:r>
          </a:p>
          <a:p>
            <a:pPr eaLnBrk="1" hangingPunct="1"/>
            <a:r>
              <a:rPr lang="en-US" altLang="en-US" sz="2200" dirty="0"/>
              <a:t>I. H. Witten and E. Frank. </a:t>
            </a:r>
            <a:r>
              <a:rPr lang="en-US" altLang="en-US" sz="2200" b="1" dirty="0"/>
              <a:t>Data Mining: Practical Machine Learning Tools and Techniques</a:t>
            </a:r>
            <a:r>
              <a:rPr lang="en-US" altLang="en-US" sz="2200" dirty="0"/>
              <a:t>,  2ed.  Morgan Kaufmann, 2005</a:t>
            </a:r>
          </a:p>
          <a:p>
            <a:pPr eaLnBrk="1" hangingPunct="1"/>
            <a:r>
              <a:rPr lang="en-US" altLang="en-US" sz="2200" dirty="0"/>
              <a:t>T. Chen and C. </a:t>
            </a:r>
            <a:r>
              <a:rPr lang="en-US" altLang="en-US" sz="2200" dirty="0" err="1"/>
              <a:t>Guestrin</a:t>
            </a:r>
            <a:r>
              <a:rPr lang="en-US" altLang="en-US" sz="2200" dirty="0"/>
              <a:t>. </a:t>
            </a:r>
            <a:r>
              <a:rPr lang="en-US" altLang="en-US" sz="2200" b="1" dirty="0" err="1"/>
              <a:t>Xgboost</a:t>
            </a:r>
            <a:r>
              <a:rPr lang="en-US" altLang="en-US" sz="2200" b="1" dirty="0"/>
              <a:t>: A Scalable Tree Boosting System</a:t>
            </a:r>
            <a:r>
              <a:rPr lang="en-US" altLang="en-US" sz="2200" dirty="0"/>
              <a:t>. ACM SIGKDD 2016</a:t>
            </a:r>
          </a:p>
          <a:p>
            <a:pPr eaLnBrk="1" hangingPunct="1"/>
            <a:r>
              <a:rPr lang="it-IT" altLang="en-US" sz="2200" dirty="0"/>
              <a:t>C. Aggarwal. </a:t>
            </a:r>
            <a:r>
              <a:rPr lang="it-IT" altLang="en-US" sz="2200" b="1" dirty="0"/>
              <a:t>Data Classication</a:t>
            </a:r>
            <a:r>
              <a:rPr lang="it-IT" altLang="en-US" sz="2200" dirty="0"/>
              <a:t>. Morgan Springer, 2015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2456372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26753</TotalTime>
  <Words>7007</Words>
  <Application>Microsoft Office PowerPoint</Application>
  <PresentationFormat>寬螢幕</PresentationFormat>
  <Paragraphs>1296</Paragraphs>
  <Slides>83</Slides>
  <Notes>73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83</vt:i4>
      </vt:variant>
    </vt:vector>
  </HeadingPairs>
  <TitlesOfParts>
    <vt:vector size="94" baseType="lpstr">
      <vt:lpstr>Arial</vt:lpstr>
      <vt:lpstr>Berlin Sans FB Demi</vt:lpstr>
      <vt:lpstr>Calibri</vt:lpstr>
      <vt:lpstr>Cambria Math</vt:lpstr>
      <vt:lpstr>Tahoma</vt:lpstr>
      <vt:lpstr>Times New Roman</vt:lpstr>
      <vt:lpstr>Wingdings</vt:lpstr>
      <vt:lpstr>Wingdings 2</vt:lpstr>
      <vt:lpstr>Retrospect</vt:lpstr>
      <vt:lpstr>1_Network</vt:lpstr>
      <vt:lpstr>Equation</vt:lpstr>
      <vt:lpstr>Chapter 6. Classification: Basic Concepts</vt:lpstr>
      <vt:lpstr>Supervised vs. Unsupervised Learning (1)</vt:lpstr>
      <vt:lpstr>Supervised vs. Unsupervised Learning (2)</vt:lpstr>
      <vt:lpstr>Prediction Problems: Classification vs. Numeric Prediction</vt:lpstr>
      <vt:lpstr>Classification—Model Construction, Validation and Testing</vt:lpstr>
      <vt:lpstr>Classification—Model Construction, Validation and Testing</vt:lpstr>
      <vt:lpstr>Chapter 6. Classification: Basic Concepts</vt:lpstr>
      <vt:lpstr>Decision Tree Induction: An Example</vt:lpstr>
      <vt:lpstr>Decision Tree Induction: Algorithm</vt:lpstr>
      <vt:lpstr>Decision Tree Induction: Algorithm</vt:lpstr>
      <vt:lpstr>How to Handle Continuous-Valued Attributes?</vt:lpstr>
      <vt:lpstr>Pro’s and Con’s</vt:lpstr>
      <vt:lpstr>Con’s</vt:lpstr>
      <vt:lpstr>Splitting Measures: Information Gain</vt:lpstr>
      <vt:lpstr>PowerPoint 簡報</vt:lpstr>
      <vt:lpstr>Example: Attribute Selection with Information Gain</vt:lpstr>
      <vt:lpstr>Example: Attribute Selection with Information Gain</vt:lpstr>
      <vt:lpstr>Gain Ratio: A Refined Measure for Attribute Selection</vt:lpstr>
      <vt:lpstr>Chapter 6. Classification: Basic Concepts</vt:lpstr>
      <vt:lpstr>Bayes’ Theorem: Basics</vt:lpstr>
      <vt:lpstr>Bayes’ Theorem Example: Picnic Day</vt:lpstr>
      <vt:lpstr>Naïve Bayes Classifier: Making a Naïve Bayes Assumption</vt:lpstr>
      <vt:lpstr>Naïve Bayes Classifier: Categorical vs. Continuous Valued Features </vt:lpstr>
      <vt:lpstr>Naïve Bayes Classifier Example 1: Training Dataset</vt:lpstr>
      <vt:lpstr>Naïve Bayes Classifier Example P(Yes | Sunny)</vt:lpstr>
      <vt:lpstr>Naïve Bayes Classifier Example: P(No | Sunny)</vt:lpstr>
      <vt:lpstr>Naïve Bayes Classifier Example: Likelihood Tables</vt:lpstr>
      <vt:lpstr>Naïve Bayes Classifier Example: Likelihood Tables</vt:lpstr>
      <vt:lpstr>Avoiding the Zero-Probability Problem</vt:lpstr>
      <vt:lpstr>Naïve Bayes Classifier: Strength vs. Weakness</vt:lpstr>
      <vt:lpstr>Naïve Bayes Classifier: Strength vs. Weakness</vt:lpstr>
      <vt:lpstr>Chapter 6. Classification: Basic Concepts</vt:lpstr>
      <vt:lpstr>Lazy vs. Eager Learning</vt:lpstr>
      <vt:lpstr>Lazy Learner: Instance-Based Methods</vt:lpstr>
      <vt:lpstr>The k-Nearest Neighbor Algorithm</vt:lpstr>
      <vt:lpstr>Discussion on the k-NN Algorithm</vt:lpstr>
      <vt:lpstr>Selection of k for kNN</vt:lpstr>
      <vt:lpstr>Case-Based Reasoning (CBR)</vt:lpstr>
      <vt:lpstr>Chapter 6. Classification: Basic Concepts</vt:lpstr>
      <vt:lpstr>Linear Regression Problem: Example</vt:lpstr>
      <vt:lpstr>Linear Regression Problem: Model</vt:lpstr>
      <vt:lpstr>Linear Regression Model: Solution</vt:lpstr>
      <vt:lpstr>Logistic Regression: General Ideas</vt:lpstr>
      <vt:lpstr>Logistic Regression: An Example</vt:lpstr>
      <vt:lpstr>Logistic Regression: Model</vt:lpstr>
      <vt:lpstr>Logistic Regression: Optimization</vt:lpstr>
      <vt:lpstr>Gradient Descent</vt:lpstr>
      <vt:lpstr>Gradient Descent  [footnote: It is gradient ascent for maximizing log likelihood]</vt:lpstr>
      <vt:lpstr>Gradient Descent  [footnote: It is gradient ascent for maximizing log likelihood]</vt:lpstr>
      <vt:lpstr>Gradient Descent  [footnote: It is gradient ascent for maximizing log likelihood]</vt:lpstr>
      <vt:lpstr>Chapter 6. Classification: Basic Concepts</vt:lpstr>
      <vt:lpstr>Model Evaluation and Selection</vt:lpstr>
      <vt:lpstr>Classifier Evaluation Metrics: Confusion Matrix</vt:lpstr>
      <vt:lpstr>Classifier Evaluation Metrics: Accuracy, Error Rate, Sensitivity and Specificity</vt:lpstr>
      <vt:lpstr>Classifier Evaluation Metrics:  Precision and Recall, and F-measures</vt:lpstr>
      <vt:lpstr>Classifier Evaluation Metrics:  Precision and Recall, and F-measures</vt:lpstr>
      <vt:lpstr>Classifier Evaluation Metrics: Example</vt:lpstr>
      <vt:lpstr>Classifier Evaluation Metrics: Example</vt:lpstr>
      <vt:lpstr>Training Error VS Testing Error</vt:lpstr>
      <vt:lpstr>Classifier Evaluation: Holdout</vt:lpstr>
      <vt:lpstr>Classifier Evaluation: Cross-Validation</vt:lpstr>
      <vt:lpstr>Model Selection: ROC Curves</vt:lpstr>
      <vt:lpstr>Chapter 6. Classification: Basic Concepts</vt:lpstr>
      <vt:lpstr>Techniques to Improve Classification Accuracy</vt:lpstr>
      <vt:lpstr>Ensemble Methods: Increasing the Accuracy</vt:lpstr>
      <vt:lpstr>Ensemble Methods: Increasing the Accuracy</vt:lpstr>
      <vt:lpstr>Ensemble Methods: Increasing the Accuracy</vt:lpstr>
      <vt:lpstr>Bagging: Bootstrap Aggregation</vt:lpstr>
      <vt:lpstr>Boosting</vt:lpstr>
      <vt:lpstr>Adaboost (Freund and Schapire, 1997)</vt:lpstr>
      <vt:lpstr>Adaboost (Freund and Schapire, 1997)</vt:lpstr>
      <vt:lpstr>Gradient Boosting</vt:lpstr>
      <vt:lpstr>Random Forest: Basic Concepts</vt:lpstr>
      <vt:lpstr>Random Forest</vt:lpstr>
      <vt:lpstr>Ensemble Methods Recap</vt:lpstr>
      <vt:lpstr>Classification of Class-Imbalanced Data Sets</vt:lpstr>
      <vt:lpstr>Classification of Class-Imbalanced Data Sets</vt:lpstr>
      <vt:lpstr>Classification of Class-Imbalanced Data Sets</vt:lpstr>
      <vt:lpstr>Evaluate imbalanced data classifier</vt:lpstr>
      <vt:lpstr>Summary</vt:lpstr>
      <vt:lpstr>References (1)</vt:lpstr>
      <vt:lpstr>References (2)</vt:lpstr>
      <vt:lpstr>References (3)</vt:lpstr>
    </vt:vector>
  </TitlesOfParts>
  <Company>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Jiawei Han</dc:creator>
  <cp:lastModifiedBy>王正豪</cp:lastModifiedBy>
  <cp:revision>1261</cp:revision>
  <cp:lastPrinted>2016-10-20T15:02:17Z</cp:lastPrinted>
  <dcterms:created xsi:type="dcterms:W3CDTF">2014-06-02T15:06:14Z</dcterms:created>
  <dcterms:modified xsi:type="dcterms:W3CDTF">2026-10-19T02:03:04Z</dcterms:modified>
</cp:coreProperties>
</file>