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263" r:id="rId3"/>
    <p:sldId id="281" r:id="rId4"/>
    <p:sldId id="283" r:id="rId5"/>
    <p:sldId id="286" r:id="rId6"/>
    <p:sldId id="287" r:id="rId7"/>
    <p:sldId id="285" r:id="rId8"/>
    <p:sldId id="264" r:id="rId9"/>
    <p:sldId id="296" r:id="rId10"/>
    <p:sldId id="270" r:id="rId11"/>
    <p:sldId id="299" r:id="rId12"/>
    <p:sldId id="268" r:id="rId13"/>
    <p:sldId id="309" r:id="rId14"/>
    <p:sldId id="298" r:id="rId15"/>
    <p:sldId id="271" r:id="rId16"/>
    <p:sldId id="289" r:id="rId17"/>
    <p:sldId id="290" r:id="rId18"/>
    <p:sldId id="291" r:id="rId19"/>
    <p:sldId id="292" r:id="rId20"/>
    <p:sldId id="293" r:id="rId21"/>
    <p:sldId id="294" r:id="rId22"/>
    <p:sldId id="272" r:id="rId23"/>
    <p:sldId id="295" r:id="rId24"/>
    <p:sldId id="304" r:id="rId25"/>
    <p:sldId id="303" r:id="rId26"/>
    <p:sldId id="301" r:id="rId27"/>
    <p:sldId id="302" r:id="rId28"/>
    <p:sldId id="305" r:id="rId29"/>
    <p:sldId id="306" r:id="rId30"/>
    <p:sldId id="308" r:id="rId31"/>
    <p:sldId id="307" r:id="rId32"/>
    <p:sldId id="273" r:id="rId33"/>
    <p:sldId id="310" r:id="rId34"/>
    <p:sldId id="311" r:id="rId35"/>
    <p:sldId id="282" r:id="rId36"/>
    <p:sldId id="279" r:id="rId37"/>
    <p:sldId id="280" r:id="rId38"/>
    <p:sldId id="297" r:id="rId39"/>
    <p:sldId id="288" r:id="rId40"/>
  </p:sldIdLst>
  <p:sldSz cx="12192000" cy="6858000"/>
  <p:notesSz cx="6648450" cy="98504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0995" cy="4942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765916" y="0"/>
            <a:ext cx="2880995" cy="4942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8AB6CE-CE31-4FC7-8557-3932745726D8}" type="datetimeFigureOut">
              <a:rPr lang="zh-TW" altLang="en-US" smtClean="0"/>
              <a:t>2026/9/27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356207"/>
            <a:ext cx="2880995" cy="4942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765916" y="9356207"/>
            <a:ext cx="2880995" cy="4942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33EAE-3193-4E27-87BC-F58F869569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0338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0995" cy="4942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765916" y="0"/>
            <a:ext cx="2880995" cy="4942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76803C-FB85-4950-83A3-179C4E383B40}" type="datetimeFigureOut">
              <a:rPr lang="zh-TW" altLang="en-US" smtClean="0"/>
              <a:t>2026/9/27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69888" y="1231900"/>
            <a:ext cx="5908675" cy="33242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64845" y="4740523"/>
            <a:ext cx="5318760" cy="387861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356207"/>
            <a:ext cx="2880995" cy="4942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765916" y="9356207"/>
            <a:ext cx="2880995" cy="4942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107BE-2580-4FBF-B701-B75ED553B5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8195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165A72D-D34D-43EB-97AF-FB8F8746ACD1}" type="slidenum">
              <a:rPr lang="en-US" altLang="zh-TW" sz="1200"/>
              <a:pPr eaLnBrk="1" hangingPunct="1"/>
              <a:t>11</a:t>
            </a:fld>
            <a:endParaRPr lang="en-US" altLang="zh-TW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861362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8AB4BCC-C9DD-4303-AB5A-5CA2DABCB804}" type="slidenum">
              <a:rPr lang="en-US" altLang="zh-TW" sz="1200"/>
              <a:pPr eaLnBrk="1" hangingPunct="1"/>
              <a:t>14</a:t>
            </a:fld>
            <a:endParaRPr lang="en-US" altLang="zh-TW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697897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107BE-2580-4FBF-B701-B75ED553B54D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9845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CD02AE6-303D-49B7-98BA-13ACEBE24B6A}" type="slidenum">
              <a:rPr lang="en-US" altLang="zh-TW" sz="1200"/>
              <a:pPr eaLnBrk="1" hangingPunct="1"/>
              <a:t>24</a:t>
            </a:fld>
            <a:endParaRPr lang="en-US" altLang="zh-TW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116636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ADAA177-ED33-4B9C-8904-71AC57F5C7EC}" type="slidenum">
              <a:rPr lang="en-US" altLang="zh-TW" sz="1200"/>
              <a:pPr eaLnBrk="1" hangingPunct="1"/>
              <a:t>25</a:t>
            </a:fld>
            <a:endParaRPr lang="en-US" altLang="zh-TW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331948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42EF2E9-233C-4207-A63B-45E07E6C6F43}" type="slidenum">
              <a:rPr lang="en-US" altLang="zh-TW" sz="1200"/>
              <a:pPr eaLnBrk="1" hangingPunct="1"/>
              <a:t>26</a:t>
            </a:fld>
            <a:endParaRPr lang="en-US" altLang="zh-TW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323457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088993D-289C-4991-BC4B-615B85BE80F1}" type="slidenum">
              <a:rPr lang="en-US" altLang="zh-TW" sz="1200"/>
              <a:pPr eaLnBrk="1" hangingPunct="1"/>
              <a:t>27</a:t>
            </a:fld>
            <a:endParaRPr lang="en-US" altLang="zh-TW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731162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9173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1259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0102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918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1681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6597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4935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1106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646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79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664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1BFE9-2C33-4333-8A4D-756F9CC872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2722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26/science.1248506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Introduction to Big Data Analytics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By J. H. Wang</a:t>
            </a:r>
          </a:p>
          <a:p>
            <a:r>
              <a:rPr lang="en-US" altLang="zh-TW" dirty="0"/>
              <a:t>Sep. 29, 2026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7879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What is Big Data?</a:t>
            </a:r>
          </a:p>
          <a:p>
            <a:r>
              <a:rPr lang="en-US" altLang="zh-TW" dirty="0"/>
              <a:t>What makes Big Data different from other related “buzzwords”?</a:t>
            </a:r>
          </a:p>
          <a:p>
            <a:r>
              <a:rPr lang="en-US" altLang="zh-TW" dirty="0"/>
              <a:t>What are we going to focus in this course?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0994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52600" y="274638"/>
            <a:ext cx="86868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TW" sz="3600" dirty="0"/>
              <a:t>An Example Scenario: </a:t>
            </a:r>
            <a:br>
              <a:rPr lang="en-US" altLang="zh-TW" sz="3600" dirty="0"/>
            </a:br>
            <a:r>
              <a:rPr lang="en-US" altLang="zh-TW" sz="3600" dirty="0"/>
              <a:t>Ten Predictions for the First Hour of 2020 </a:t>
            </a:r>
            <a:r>
              <a:rPr lang="en-US" altLang="zh-TW" sz="3600" dirty="0">
                <a:solidFill>
                  <a:schemeClr val="bg1">
                    <a:lumMod val="75000"/>
                  </a:schemeClr>
                </a:solidFill>
              </a:rPr>
              <a:t>[Siegel, 2013]</a:t>
            </a:r>
            <a:endParaRPr lang="zh-TW" altLang="en-US" sz="3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81200" y="1719263"/>
            <a:ext cx="8229600" cy="4525962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zh-TW" dirty="0"/>
              <a:t>Antitheft: identity recognition</a:t>
            </a:r>
          </a:p>
          <a:p>
            <a:pPr>
              <a:defRPr/>
            </a:pPr>
            <a:r>
              <a:rPr lang="en-US" altLang="zh-TW" dirty="0"/>
              <a:t>Entertainment: music playing</a:t>
            </a:r>
          </a:p>
          <a:p>
            <a:pPr>
              <a:defRPr/>
            </a:pPr>
            <a:r>
              <a:rPr lang="en-US" altLang="zh-TW" dirty="0"/>
              <a:t>Traffic: navigating and routing prediction</a:t>
            </a:r>
          </a:p>
          <a:p>
            <a:pPr>
              <a:defRPr/>
            </a:pPr>
            <a:r>
              <a:rPr lang="en-US" altLang="zh-TW" dirty="0"/>
              <a:t>Breakfast: recommendation system</a:t>
            </a:r>
          </a:p>
          <a:p>
            <a:pPr>
              <a:defRPr/>
            </a:pPr>
            <a:r>
              <a:rPr lang="en-US" altLang="zh-TW" dirty="0"/>
              <a:t>Social: feeds selection and filtering</a:t>
            </a:r>
          </a:p>
          <a:p>
            <a:pPr>
              <a:defRPr/>
            </a:pPr>
            <a:r>
              <a:rPr lang="en-US" altLang="zh-TW" dirty="0"/>
              <a:t>Deals: sales discount</a:t>
            </a:r>
          </a:p>
          <a:p>
            <a:pPr>
              <a:defRPr/>
            </a:pPr>
            <a:r>
              <a:rPr lang="en-US" altLang="zh-TW" dirty="0"/>
              <a:t>Internet search: store, speech recognition</a:t>
            </a:r>
          </a:p>
          <a:p>
            <a:pPr>
              <a:defRPr/>
            </a:pPr>
            <a:r>
              <a:rPr lang="en-US" altLang="zh-TW" dirty="0"/>
              <a:t>Drive inattention: sensors</a:t>
            </a:r>
          </a:p>
          <a:p>
            <a:pPr>
              <a:defRPr/>
            </a:pPr>
            <a:r>
              <a:rPr lang="en-US" altLang="zh-TW" dirty="0"/>
              <a:t>Collision avoidance: sensors, vision</a:t>
            </a:r>
          </a:p>
          <a:p>
            <a:pPr>
              <a:defRPr/>
            </a:pPr>
            <a:r>
              <a:rPr lang="en-US" altLang="zh-TW" dirty="0"/>
              <a:t>Reliability: predictive maintenance</a:t>
            </a:r>
          </a:p>
          <a:p>
            <a:pPr>
              <a:defRPr/>
            </a:pPr>
            <a:endParaRPr lang="zh-TW" altLang="en-US" dirty="0"/>
          </a:p>
        </p:txBody>
      </p:sp>
      <p:sp>
        <p:nvSpPr>
          <p:cNvPr id="2765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Analytics, Fall 2026</a:t>
            </a:r>
          </a:p>
        </p:txBody>
      </p:sp>
      <p:sp>
        <p:nvSpPr>
          <p:cNvPr id="2765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</a:t>
            </a:r>
          </a:p>
        </p:txBody>
      </p:sp>
      <p:sp>
        <p:nvSpPr>
          <p:cNvPr id="2765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D6A27A-500B-4A82-8CC9-49894CF8306A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31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 is Big Data?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“Big data is data whose </a:t>
            </a:r>
            <a:r>
              <a:rPr lang="en-US" altLang="zh-TW" dirty="0">
                <a:solidFill>
                  <a:srgbClr val="0000FF"/>
                </a:solidFill>
              </a:rPr>
              <a:t>scale, distribution, diversity, and/or timeliness </a:t>
            </a:r>
            <a:r>
              <a:rPr lang="en-US" altLang="zh-TW" dirty="0"/>
              <a:t>require the use of new technical architectures and analytics to enable insights that unlock new sources of business value.”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[source: C.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</a:rPr>
              <a:t>Manyika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, Big Data: The next frontier for innovation, competition, and productivity, McKinsey Global Institute, 2011]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975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Characteristics of Big Data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dirty="0"/>
              <a:t>Five V’s:</a:t>
            </a:r>
          </a:p>
          <a:p>
            <a:pPr lvl="1">
              <a:defRPr/>
            </a:pPr>
            <a:r>
              <a:rPr lang="en-US" altLang="zh-TW" dirty="0"/>
              <a:t>Volume: </a:t>
            </a:r>
            <a:r>
              <a:rPr lang="en-US" altLang="zh-TW" dirty="0">
                <a:solidFill>
                  <a:srgbClr val="0000FF"/>
                </a:solidFill>
              </a:rPr>
              <a:t>scale</a:t>
            </a:r>
          </a:p>
          <a:p>
            <a:pPr lvl="1">
              <a:defRPr/>
            </a:pPr>
            <a:r>
              <a:rPr lang="en-US" altLang="zh-TW" dirty="0"/>
              <a:t>Velocity: </a:t>
            </a:r>
            <a:r>
              <a:rPr lang="en-US" altLang="zh-TW" dirty="0">
                <a:solidFill>
                  <a:srgbClr val="0000FF"/>
                </a:solidFill>
              </a:rPr>
              <a:t>streaming</a:t>
            </a:r>
            <a:r>
              <a:rPr lang="en-US" altLang="zh-TW" dirty="0"/>
              <a:t> </a:t>
            </a:r>
          </a:p>
          <a:p>
            <a:pPr lvl="1">
              <a:defRPr/>
            </a:pPr>
            <a:r>
              <a:rPr lang="en-US" altLang="zh-TW" dirty="0">
                <a:solidFill>
                  <a:srgbClr val="0000FF"/>
                </a:solidFill>
              </a:rPr>
              <a:t>Variety</a:t>
            </a:r>
            <a:r>
              <a:rPr lang="en-US" altLang="zh-TW" dirty="0"/>
              <a:t>: different forms</a:t>
            </a:r>
          </a:p>
          <a:p>
            <a:pPr lvl="1">
              <a:defRPr/>
            </a:pPr>
            <a:r>
              <a:rPr lang="en-US" altLang="zh-TW" dirty="0"/>
              <a:t>Veracity: </a:t>
            </a:r>
            <a:r>
              <a:rPr lang="en-US" altLang="zh-TW" dirty="0">
                <a:solidFill>
                  <a:srgbClr val="0000FF"/>
                </a:solidFill>
              </a:rPr>
              <a:t>uncertainty</a:t>
            </a:r>
          </a:p>
          <a:p>
            <a:pPr lvl="1">
              <a:defRPr/>
            </a:pPr>
            <a:r>
              <a:rPr lang="en-US" altLang="zh-TW" dirty="0">
                <a:solidFill>
                  <a:srgbClr val="0000FF"/>
                </a:solidFill>
              </a:rPr>
              <a:t>Value</a:t>
            </a:r>
          </a:p>
          <a:p>
            <a:pPr lvl="1">
              <a:defRPr/>
            </a:pPr>
            <a:endParaRPr lang="en-US" altLang="zh-TW" dirty="0">
              <a:solidFill>
                <a:srgbClr val="0000FF"/>
              </a:solidFill>
            </a:endParaRPr>
          </a:p>
        </p:txBody>
      </p:sp>
      <p:sp>
        <p:nvSpPr>
          <p:cNvPr id="3789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Analytics, Fall 2026</a:t>
            </a:r>
          </a:p>
        </p:txBody>
      </p:sp>
      <p:sp>
        <p:nvSpPr>
          <p:cNvPr id="3789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</a:t>
            </a:r>
          </a:p>
        </p:txBody>
      </p:sp>
      <p:sp>
        <p:nvSpPr>
          <p:cNvPr id="3789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338937-74FD-452E-80D7-82B205B83AC0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558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Structures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Variety: different forms</a:t>
            </a:r>
          </a:p>
          <a:p>
            <a:pPr lvl="1"/>
            <a:r>
              <a:rPr lang="en-US" altLang="zh-TW" dirty="0"/>
              <a:t>Structured: databases, spreadsheets, …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Semi-structured</a:t>
            </a:r>
            <a:r>
              <a:rPr lang="en-US" altLang="zh-TW" dirty="0"/>
              <a:t>: textual files such as Web pages, XML, …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Unstructured</a:t>
            </a:r>
            <a:r>
              <a:rPr lang="en-US" altLang="zh-TW" dirty="0"/>
              <a:t>: text documents, images, videos, …</a:t>
            </a:r>
          </a:p>
          <a:p>
            <a:r>
              <a:rPr lang="en-US" altLang="zh-TW" dirty="0"/>
              <a:t>Data growth is increasingly unstructured</a:t>
            </a:r>
          </a:p>
          <a:p>
            <a:pPr lvl="1"/>
            <a:r>
              <a:rPr lang="en-US" altLang="zh-TW" dirty="0"/>
              <a:t>Social media: Facebook, Twitter, …</a:t>
            </a:r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8722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Differences from traditional data analysis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Distinct requirements</a:t>
            </a:r>
          </a:p>
          <a:p>
            <a:pPr lvl="1"/>
            <a:r>
              <a:rPr lang="en-US" altLang="zh-TW" dirty="0"/>
              <a:t>Combining of </a:t>
            </a:r>
            <a:r>
              <a:rPr lang="en-US" altLang="zh-TW" dirty="0">
                <a:solidFill>
                  <a:srgbClr val="0000FF"/>
                </a:solidFill>
              </a:rPr>
              <a:t>multiple unrelated </a:t>
            </a:r>
            <a:r>
              <a:rPr lang="en-US" altLang="zh-TW" dirty="0"/>
              <a:t>datasets</a:t>
            </a:r>
          </a:p>
          <a:p>
            <a:pPr lvl="1"/>
            <a:r>
              <a:rPr lang="en-US" altLang="zh-TW" dirty="0"/>
              <a:t>Processing of large amounts of </a:t>
            </a:r>
            <a:r>
              <a:rPr lang="en-US" altLang="zh-TW" dirty="0">
                <a:solidFill>
                  <a:srgbClr val="0000FF"/>
                </a:solidFill>
              </a:rPr>
              <a:t>unstructured</a:t>
            </a:r>
            <a:r>
              <a:rPr lang="en-US" altLang="zh-TW" dirty="0"/>
              <a:t> data</a:t>
            </a:r>
          </a:p>
          <a:p>
            <a:pPr lvl="1"/>
            <a:r>
              <a:rPr lang="en-US" altLang="zh-TW" dirty="0"/>
              <a:t>Harvesting of </a:t>
            </a:r>
            <a:r>
              <a:rPr lang="en-US" altLang="zh-TW" dirty="0">
                <a:solidFill>
                  <a:srgbClr val="0000FF"/>
                </a:solidFill>
              </a:rPr>
              <a:t>hidden</a:t>
            </a:r>
            <a:r>
              <a:rPr lang="en-US" altLang="zh-TW" dirty="0"/>
              <a:t> information in a time-sensitive manner</a:t>
            </a:r>
          </a:p>
          <a:p>
            <a:r>
              <a:rPr lang="en-US" altLang="zh-TW" dirty="0"/>
              <a:t>Newer techniques that leverage computational resources</a:t>
            </a:r>
          </a:p>
          <a:p>
            <a:r>
              <a:rPr lang="en-US" altLang="zh-TW" dirty="0"/>
              <a:t>Interdisciplinary </a:t>
            </a:r>
          </a:p>
          <a:p>
            <a:pPr lvl="1"/>
            <a:r>
              <a:rPr lang="en-US" altLang="zh-TW" dirty="0"/>
              <a:t>Mathematics, statistics, computer science, subject matter expertise</a:t>
            </a:r>
          </a:p>
          <a:p>
            <a:r>
              <a:rPr lang="en-US" altLang="zh-TW" dirty="0"/>
              <a:t>Benefits</a:t>
            </a:r>
          </a:p>
          <a:p>
            <a:pPr lvl="1"/>
            <a:r>
              <a:rPr lang="en-US" altLang="zh-TW" dirty="0"/>
              <a:t>Optimization, predictions, fault or fraud detection, improved decision making, discoveries</a:t>
            </a:r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7410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What is Data Science?</a:t>
            </a:r>
            <a:endParaRPr lang="zh-TW" altLang="en-US"/>
          </a:p>
        </p:txBody>
      </p:sp>
      <p:pic>
        <p:nvPicPr>
          <p:cNvPr id="40963" name="內容版面配置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6564" y="1524001"/>
            <a:ext cx="6238875" cy="4678363"/>
          </a:xfrm>
        </p:spPr>
      </p:pic>
      <p:sp>
        <p:nvSpPr>
          <p:cNvPr id="4096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Big Data Analytics, Fall 2026</a:t>
            </a:r>
          </a:p>
        </p:txBody>
      </p:sp>
      <p:sp>
        <p:nvSpPr>
          <p:cNvPr id="4096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IFM</a:t>
            </a:r>
          </a:p>
        </p:txBody>
      </p:sp>
      <p:sp>
        <p:nvSpPr>
          <p:cNvPr id="4096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BED9A30D-5CC1-4C24-B6AE-0559742F4D95}" type="slidenum">
              <a:rPr kumimoji="0" lang="en-US" altLang="zh-TW" smtClean="0"/>
              <a:pPr/>
              <a:t>8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775843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Engineering vs. Data Analysis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Data engineering</a:t>
            </a:r>
            <a:r>
              <a:rPr lang="en-US" altLang="zh-TW" dirty="0"/>
              <a:t>: designing and building infrastructure for integrating and managing data from various resources</a:t>
            </a:r>
          </a:p>
          <a:p>
            <a:pPr lvl="1"/>
            <a:r>
              <a:rPr lang="en-US" altLang="zh-TW" dirty="0"/>
              <a:t>MySQL, NoSQL, Hadoop, MapReduce</a:t>
            </a:r>
          </a:p>
          <a:p>
            <a:r>
              <a:rPr lang="en-US" altLang="zh-TW" dirty="0"/>
              <a:t>Data analysis: querying and processing data, providing reports, summarizing and visualizing data</a:t>
            </a:r>
          </a:p>
          <a:p>
            <a:pPr lvl="1"/>
            <a:r>
              <a:rPr lang="en-US" altLang="zh-TW" dirty="0"/>
              <a:t>Statistics, visualization, Excel, SAS, SPSS, …</a:t>
            </a:r>
          </a:p>
          <a:p>
            <a:r>
              <a:rPr lang="en-US" altLang="zh-TW" dirty="0">
                <a:solidFill>
                  <a:srgbClr val="0000FF"/>
                </a:solidFill>
              </a:rPr>
              <a:t>Data science</a:t>
            </a:r>
            <a:r>
              <a:rPr lang="en-US" altLang="zh-TW" dirty="0"/>
              <a:t>: applying statistics, machine learning and analytic approaches to solve critical business problems, and turning data into valuable and actionable insights</a:t>
            </a:r>
          </a:p>
          <a:p>
            <a:pPr lvl="1"/>
            <a:r>
              <a:rPr lang="en-US" altLang="zh-TW" dirty="0"/>
              <a:t>Advanced data analysis</a:t>
            </a:r>
          </a:p>
          <a:p>
            <a:pPr lvl="1"/>
            <a:r>
              <a:rPr lang="en-US" altLang="zh-TW" dirty="0"/>
              <a:t>Data mining tools, machine learning, statistics, …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0260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Big Data vs. </a:t>
            </a:r>
            <a:r>
              <a:rPr lang="en-US" altLang="zh-TW" dirty="0">
                <a:solidFill>
                  <a:srgbClr val="0000FF"/>
                </a:solidFill>
              </a:rPr>
              <a:t>Data Mining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505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Data mining is the </a:t>
            </a:r>
            <a:r>
              <a:rPr lang="en-US" altLang="zh-TW" dirty="0">
                <a:solidFill>
                  <a:srgbClr val="0000FF"/>
                </a:solidFill>
              </a:rPr>
              <a:t>computational process of discovering patterns </a:t>
            </a:r>
            <a:r>
              <a:rPr lang="en-US" altLang="zh-TW" dirty="0"/>
              <a:t>in large data sets involving methods at the intersection of artificial intelligence, machine learning, statistics, and database systems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[source: Wikipedia]</a:t>
            </a:r>
            <a:endParaRPr lang="zh-TW" altLang="en-US" dirty="0"/>
          </a:p>
        </p:txBody>
      </p:sp>
      <p:sp>
        <p:nvSpPr>
          <p:cNvPr id="4506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Big Data Analytics, Fall 2026</a:t>
            </a:r>
          </a:p>
        </p:txBody>
      </p:sp>
      <p:sp>
        <p:nvSpPr>
          <p:cNvPr id="4506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IFM</a:t>
            </a:r>
          </a:p>
        </p:txBody>
      </p:sp>
      <p:sp>
        <p:nvSpPr>
          <p:cNvPr id="4506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5B9FFF1E-29FF-4E21-891C-B9A300745CBA}" type="slidenum">
              <a:rPr kumimoji="0" lang="en-US" altLang="zh-TW" smtClean="0"/>
              <a:pPr/>
              <a:t>10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2418571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A982827-EF93-422E-8220-088F59C18083}" type="slidenum">
              <a:rPr lang="en-US" altLang="zh-TW" sz="1400"/>
              <a:pPr eaLnBrk="1" hangingPunct="1"/>
              <a:t>11</a:t>
            </a:fld>
            <a:endParaRPr lang="en-US" altLang="zh-TW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81000"/>
            <a:ext cx="8686800" cy="5334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zh-TW" sz="3200">
                <a:ea typeface="新細明體" panose="02020500000000000000" pitchFamily="18" charset="-120"/>
              </a:rPr>
              <a:t>Data Mining in Business Intelligence</a:t>
            </a:r>
            <a:r>
              <a:rPr lang="en-US" altLang="zh-TW" sz="2800"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12292" name="AutoShape 3"/>
          <p:cNvSpPr>
            <a:spLocks noChangeArrowheads="1"/>
          </p:cNvSpPr>
          <p:nvPr/>
        </p:nvSpPr>
        <p:spPr bwMode="auto">
          <a:xfrm>
            <a:off x="2286000" y="1447800"/>
            <a:ext cx="7467600" cy="5029200"/>
          </a:xfrm>
          <a:prstGeom prst="flowChartExtra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12293" name="Line 4"/>
          <p:cNvSpPr>
            <a:spLocks noChangeShapeType="1"/>
          </p:cNvSpPr>
          <p:nvPr/>
        </p:nvSpPr>
        <p:spPr bwMode="auto">
          <a:xfrm>
            <a:off x="2743200" y="5867400"/>
            <a:ext cx="655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>
            <a:off x="3200400" y="5257800"/>
            <a:ext cx="563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295" name="Line 6"/>
          <p:cNvSpPr>
            <a:spLocks noChangeShapeType="1"/>
          </p:cNvSpPr>
          <p:nvPr/>
        </p:nvSpPr>
        <p:spPr bwMode="auto">
          <a:xfrm>
            <a:off x="3733800" y="4495800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296" name="Line 7"/>
          <p:cNvSpPr>
            <a:spLocks noChangeShapeType="1"/>
          </p:cNvSpPr>
          <p:nvPr/>
        </p:nvSpPr>
        <p:spPr bwMode="auto">
          <a:xfrm>
            <a:off x="4343400" y="37338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297" name="Line 8"/>
          <p:cNvSpPr>
            <a:spLocks noChangeShapeType="1"/>
          </p:cNvSpPr>
          <p:nvPr/>
        </p:nvSpPr>
        <p:spPr bwMode="auto">
          <a:xfrm>
            <a:off x="4953000" y="2895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298" name="Line 9"/>
          <p:cNvSpPr>
            <a:spLocks noChangeShapeType="1"/>
          </p:cNvSpPr>
          <p:nvPr/>
        </p:nvSpPr>
        <p:spPr bwMode="auto">
          <a:xfrm flipV="1">
            <a:off x="2057400" y="1447800"/>
            <a:ext cx="0" cy="502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299" name="Line 10"/>
          <p:cNvSpPr>
            <a:spLocks noChangeShapeType="1"/>
          </p:cNvSpPr>
          <p:nvPr/>
        </p:nvSpPr>
        <p:spPr bwMode="auto">
          <a:xfrm flipV="1">
            <a:off x="10363200" y="1447800"/>
            <a:ext cx="0" cy="502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00" name="Text Box 11"/>
          <p:cNvSpPr txBox="1">
            <a:spLocks noChangeArrowheads="1"/>
          </p:cNvSpPr>
          <p:nvPr/>
        </p:nvSpPr>
        <p:spPr bwMode="auto">
          <a:xfrm>
            <a:off x="2117726" y="1509713"/>
            <a:ext cx="19208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 sz="1600" b="1">
                <a:latin typeface="Times New Roman" panose="02020603050405020304" pitchFamily="18" charset="0"/>
                <a:ea typeface="新細明體" panose="02020500000000000000" pitchFamily="18" charset="-120"/>
              </a:rPr>
              <a:t>Increasing potential</a:t>
            </a:r>
          </a:p>
          <a:p>
            <a:r>
              <a:rPr lang="en-US" altLang="zh-TW" sz="1600" b="1">
                <a:latin typeface="Times New Roman" panose="02020603050405020304" pitchFamily="18" charset="0"/>
                <a:ea typeface="新細明體" panose="02020500000000000000" pitchFamily="18" charset="-120"/>
              </a:rPr>
              <a:t>to support</a:t>
            </a:r>
          </a:p>
          <a:p>
            <a:r>
              <a:rPr lang="en-US" altLang="zh-TW" sz="1600" b="1">
                <a:latin typeface="Times New Roman" panose="02020603050405020304" pitchFamily="18" charset="0"/>
                <a:ea typeface="新細明體" panose="02020500000000000000" pitchFamily="18" charset="-120"/>
              </a:rPr>
              <a:t>business decisions</a:t>
            </a:r>
          </a:p>
        </p:txBody>
      </p:sp>
      <p:sp>
        <p:nvSpPr>
          <p:cNvPr id="12301" name="Text Box 12"/>
          <p:cNvSpPr txBox="1">
            <a:spLocks noChangeArrowheads="1"/>
          </p:cNvSpPr>
          <p:nvPr/>
        </p:nvSpPr>
        <p:spPr bwMode="auto">
          <a:xfrm>
            <a:off x="9272588" y="1955800"/>
            <a:ext cx="1001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zh-TW" sz="1600" b="1">
                <a:latin typeface="Times New Roman" panose="02020603050405020304" pitchFamily="18" charset="0"/>
                <a:ea typeface="新細明體" panose="02020500000000000000" pitchFamily="18" charset="-120"/>
              </a:rPr>
              <a:t>End User</a:t>
            </a:r>
            <a:endParaRPr lang="en-US" altLang="zh-TW" sz="16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2302" name="Text Box 13"/>
          <p:cNvSpPr txBox="1">
            <a:spLocks noChangeArrowheads="1"/>
          </p:cNvSpPr>
          <p:nvPr/>
        </p:nvSpPr>
        <p:spPr bwMode="auto">
          <a:xfrm>
            <a:off x="9275763" y="2946401"/>
            <a:ext cx="9525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zh-TW" sz="1600" b="1">
                <a:latin typeface="Times New Roman" panose="02020603050405020304" pitchFamily="18" charset="0"/>
                <a:ea typeface="新細明體" panose="02020500000000000000" pitchFamily="18" charset="-120"/>
              </a:rPr>
              <a:t>Business</a:t>
            </a:r>
          </a:p>
          <a:p>
            <a:pPr algn="r"/>
            <a:r>
              <a:rPr lang="en-US" altLang="zh-TW" sz="1600" b="1">
                <a:latin typeface="Times New Roman" panose="02020603050405020304" pitchFamily="18" charset="0"/>
                <a:ea typeface="新細明體" panose="02020500000000000000" pitchFamily="18" charset="-120"/>
              </a:rPr>
              <a:t>  Analyst</a:t>
            </a:r>
          </a:p>
        </p:txBody>
      </p:sp>
      <p:sp>
        <p:nvSpPr>
          <p:cNvPr id="12303" name="Text Box 14"/>
          <p:cNvSpPr txBox="1">
            <a:spLocks noChangeArrowheads="1"/>
          </p:cNvSpPr>
          <p:nvPr/>
        </p:nvSpPr>
        <p:spPr bwMode="auto">
          <a:xfrm>
            <a:off x="9364663" y="3784601"/>
            <a:ext cx="8556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zh-TW" sz="1600" b="1">
                <a:latin typeface="Times New Roman" panose="02020603050405020304" pitchFamily="18" charset="0"/>
                <a:ea typeface="新細明體" panose="02020500000000000000" pitchFamily="18" charset="-120"/>
              </a:rPr>
              <a:t>     Data</a:t>
            </a:r>
          </a:p>
          <a:p>
            <a:pPr algn="r"/>
            <a:r>
              <a:rPr lang="en-US" altLang="zh-TW" sz="1600" b="1">
                <a:latin typeface="Times New Roman" panose="02020603050405020304" pitchFamily="18" charset="0"/>
                <a:ea typeface="新細明體" panose="02020500000000000000" pitchFamily="18" charset="-120"/>
              </a:rPr>
              <a:t>Analyst</a:t>
            </a:r>
          </a:p>
        </p:txBody>
      </p:sp>
      <p:sp>
        <p:nvSpPr>
          <p:cNvPr id="12304" name="Text Box 15"/>
          <p:cNvSpPr txBox="1">
            <a:spLocks noChangeArrowheads="1"/>
          </p:cNvSpPr>
          <p:nvPr/>
        </p:nvSpPr>
        <p:spPr bwMode="auto">
          <a:xfrm>
            <a:off x="9626600" y="5689600"/>
            <a:ext cx="6111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zh-TW" sz="1600" b="1">
                <a:latin typeface="Times New Roman" panose="02020603050405020304" pitchFamily="18" charset="0"/>
                <a:ea typeface="新細明體" panose="02020500000000000000" pitchFamily="18" charset="-120"/>
              </a:rPr>
              <a:t>DBA</a:t>
            </a:r>
          </a:p>
        </p:txBody>
      </p:sp>
      <p:sp>
        <p:nvSpPr>
          <p:cNvPr id="12305" name="Text Box 16"/>
          <p:cNvSpPr txBox="1">
            <a:spLocks noChangeArrowheads="1"/>
          </p:cNvSpPr>
          <p:nvPr/>
        </p:nvSpPr>
        <p:spPr bwMode="auto">
          <a:xfrm>
            <a:off x="5410200" y="2178050"/>
            <a:ext cx="1219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zh-TW" sz="1800" b="1">
                <a:ea typeface="新細明體" panose="02020500000000000000" pitchFamily="18" charset="-120"/>
              </a:rPr>
              <a:t>Decision</a:t>
            </a:r>
            <a:r>
              <a:rPr lang="en-US" altLang="zh-TW" sz="1800">
                <a:ea typeface="新細明體" panose="02020500000000000000" pitchFamily="18" charset="-120"/>
              </a:rPr>
              <a:t> </a:t>
            </a:r>
            <a:r>
              <a:rPr lang="en-US" altLang="zh-TW" sz="1800" b="1">
                <a:ea typeface="新細明體" panose="02020500000000000000" pitchFamily="18" charset="-120"/>
              </a:rPr>
              <a:t>Making</a:t>
            </a:r>
          </a:p>
        </p:txBody>
      </p:sp>
      <p:sp>
        <p:nvSpPr>
          <p:cNvPr id="12306" name="Text Box 17"/>
          <p:cNvSpPr txBox="1">
            <a:spLocks noChangeArrowheads="1"/>
          </p:cNvSpPr>
          <p:nvPr/>
        </p:nvSpPr>
        <p:spPr bwMode="auto">
          <a:xfrm>
            <a:off x="4876800" y="2992438"/>
            <a:ext cx="2260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 sz="1800" b="1">
                <a:ea typeface="新細明體" panose="02020500000000000000" pitchFamily="18" charset="-120"/>
              </a:rPr>
              <a:t>Data Presentation</a:t>
            </a:r>
          </a:p>
        </p:txBody>
      </p:sp>
      <p:sp>
        <p:nvSpPr>
          <p:cNvPr id="12307" name="Text Box 18"/>
          <p:cNvSpPr txBox="1">
            <a:spLocks noChangeArrowheads="1"/>
          </p:cNvSpPr>
          <p:nvPr/>
        </p:nvSpPr>
        <p:spPr bwMode="auto">
          <a:xfrm>
            <a:off x="4800600" y="3352801"/>
            <a:ext cx="2578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 sz="1800" b="1" i="1">
                <a:latin typeface="Times New Roman" panose="02020603050405020304" pitchFamily="18" charset="0"/>
                <a:ea typeface="新細明體" panose="02020500000000000000" pitchFamily="18" charset="-120"/>
              </a:rPr>
              <a:t>Visualization Techniques</a:t>
            </a:r>
          </a:p>
        </p:txBody>
      </p:sp>
      <p:sp>
        <p:nvSpPr>
          <p:cNvPr id="12308" name="Text Box 19"/>
          <p:cNvSpPr txBox="1">
            <a:spLocks noChangeArrowheads="1"/>
          </p:cNvSpPr>
          <p:nvPr/>
        </p:nvSpPr>
        <p:spPr bwMode="auto">
          <a:xfrm>
            <a:off x="5181601" y="3765551"/>
            <a:ext cx="1782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 sz="1800" b="1" dirty="0">
                <a:solidFill>
                  <a:srgbClr val="FF0000"/>
                </a:solidFill>
                <a:ea typeface="新細明體" panose="02020500000000000000" pitchFamily="18" charset="-120"/>
              </a:rPr>
              <a:t>Data Mining</a:t>
            </a:r>
          </a:p>
        </p:txBody>
      </p:sp>
      <p:sp>
        <p:nvSpPr>
          <p:cNvPr id="12309" name="Text Box 20"/>
          <p:cNvSpPr txBox="1">
            <a:spLocks noChangeArrowheads="1"/>
          </p:cNvSpPr>
          <p:nvPr/>
        </p:nvSpPr>
        <p:spPr bwMode="auto">
          <a:xfrm>
            <a:off x="5105400" y="4038601"/>
            <a:ext cx="2324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 sz="1800" b="1" i="1">
                <a:latin typeface="Times New Roman" panose="02020603050405020304" pitchFamily="18" charset="0"/>
                <a:ea typeface="新細明體" panose="02020500000000000000" pitchFamily="18" charset="-120"/>
              </a:rPr>
              <a:t>Information Discovery</a:t>
            </a:r>
          </a:p>
        </p:txBody>
      </p:sp>
      <p:sp>
        <p:nvSpPr>
          <p:cNvPr id="12310" name="Text Box 21"/>
          <p:cNvSpPr txBox="1">
            <a:spLocks noChangeArrowheads="1"/>
          </p:cNvSpPr>
          <p:nvPr/>
        </p:nvSpPr>
        <p:spPr bwMode="auto">
          <a:xfrm>
            <a:off x="4892676" y="4572001"/>
            <a:ext cx="2346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zh-TW" sz="1800" b="1">
                <a:ea typeface="新細明體" panose="02020500000000000000" pitchFamily="18" charset="-120"/>
              </a:rPr>
              <a:t>Data Exploration</a:t>
            </a:r>
          </a:p>
        </p:txBody>
      </p:sp>
      <p:sp>
        <p:nvSpPr>
          <p:cNvPr id="12311" name="Text Box 23"/>
          <p:cNvSpPr txBox="1">
            <a:spLocks noChangeArrowheads="1"/>
          </p:cNvSpPr>
          <p:nvPr/>
        </p:nvSpPr>
        <p:spPr bwMode="auto">
          <a:xfrm>
            <a:off x="3657600" y="4876801"/>
            <a:ext cx="457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 sz="1800" b="1" i="1">
                <a:latin typeface="Times New Roman" panose="02020603050405020304" pitchFamily="18" charset="0"/>
                <a:ea typeface="新細明體" panose="02020500000000000000" pitchFamily="18" charset="-120"/>
              </a:rPr>
              <a:t>Statistical Summary, Querying, and Reporting</a:t>
            </a:r>
            <a:endParaRPr lang="en-US" altLang="zh-TW" sz="1800" b="1" i="1">
              <a:solidFill>
                <a:schemeClr val="bg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2312" name="Text Box 24"/>
          <p:cNvSpPr txBox="1">
            <a:spLocks noChangeArrowheads="1"/>
          </p:cNvSpPr>
          <p:nvPr/>
        </p:nvSpPr>
        <p:spPr bwMode="auto">
          <a:xfrm>
            <a:off x="3124200" y="5410201"/>
            <a:ext cx="6021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 sz="1800" b="1">
                <a:ea typeface="新細明體" panose="02020500000000000000" pitchFamily="18" charset="-120"/>
              </a:rPr>
              <a:t>Data Preprocessing/Integration, Data Warehouses</a:t>
            </a:r>
          </a:p>
        </p:txBody>
      </p:sp>
      <p:sp>
        <p:nvSpPr>
          <p:cNvPr id="12313" name="Text Box 25"/>
          <p:cNvSpPr txBox="1">
            <a:spLocks noChangeArrowheads="1"/>
          </p:cNvSpPr>
          <p:nvPr/>
        </p:nvSpPr>
        <p:spPr bwMode="auto">
          <a:xfrm>
            <a:off x="5105400" y="5791201"/>
            <a:ext cx="1697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 sz="1800" b="1">
                <a:ea typeface="新細明體" panose="02020500000000000000" pitchFamily="18" charset="-120"/>
              </a:rPr>
              <a:t>Data Sources</a:t>
            </a:r>
            <a:endParaRPr lang="en-US" altLang="zh-TW" sz="1800" b="1">
              <a:solidFill>
                <a:schemeClr val="bg1"/>
              </a:solidFill>
              <a:ea typeface="新細明體" panose="02020500000000000000" pitchFamily="18" charset="-120"/>
            </a:endParaRPr>
          </a:p>
        </p:txBody>
      </p:sp>
      <p:sp>
        <p:nvSpPr>
          <p:cNvPr id="12314" name="Text Box 26"/>
          <p:cNvSpPr txBox="1">
            <a:spLocks noChangeArrowheads="1"/>
          </p:cNvSpPr>
          <p:nvPr/>
        </p:nvSpPr>
        <p:spPr bwMode="auto">
          <a:xfrm>
            <a:off x="2590800" y="6096001"/>
            <a:ext cx="7118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 sz="1800" b="1" i="1">
                <a:latin typeface="Times New Roman" panose="02020603050405020304" pitchFamily="18" charset="0"/>
                <a:ea typeface="新細明體" panose="02020500000000000000" pitchFamily="18" charset="-120"/>
              </a:rPr>
              <a:t>Paper, Files, Web documents, Scientific experiments, Database Systems</a:t>
            </a:r>
          </a:p>
        </p:txBody>
      </p:sp>
      <p:sp>
        <p:nvSpPr>
          <p:cNvPr id="12315" name="Line 27"/>
          <p:cNvSpPr>
            <a:spLocks noChangeShapeType="1"/>
          </p:cNvSpPr>
          <p:nvPr/>
        </p:nvSpPr>
        <p:spPr bwMode="auto">
          <a:xfrm>
            <a:off x="1981200" y="6477000"/>
            <a:ext cx="838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8" name="矩形 27"/>
          <p:cNvSpPr/>
          <p:nvPr/>
        </p:nvSpPr>
        <p:spPr>
          <a:xfrm>
            <a:off x="10439400" y="5606534"/>
            <a:ext cx="152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[source: Han 2011]</a:t>
            </a:r>
            <a:endParaRPr lang="zh-TW" altLang="en-US" dirty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9024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Big Data vs. Industry 4.0</a:t>
            </a:r>
            <a:endParaRPr lang="zh-TW" altLang="en-US" dirty="0"/>
          </a:p>
        </p:txBody>
      </p:sp>
      <p:pic>
        <p:nvPicPr>
          <p:cNvPr id="2" name="內容版面配置區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449" y="1600201"/>
            <a:ext cx="7171103" cy="4525963"/>
          </a:xfrm>
        </p:spPr>
      </p:pic>
      <p:sp>
        <p:nvSpPr>
          <p:cNvPr id="4403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Big Data Analytics, Fall 2026</a:t>
            </a:r>
          </a:p>
        </p:txBody>
      </p:sp>
      <p:sp>
        <p:nvSpPr>
          <p:cNvPr id="4403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IFM</a:t>
            </a:r>
          </a:p>
        </p:txBody>
      </p:sp>
      <p:sp>
        <p:nvSpPr>
          <p:cNvPr id="4403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1D97FABA-C7DE-4535-851D-256ADE66F158}" type="slidenum">
              <a:rPr kumimoji="0" lang="en-US" altLang="zh-TW" smtClean="0"/>
              <a:pPr/>
              <a:t>12</a:t>
            </a:fld>
            <a:endParaRPr kumimoji="0" lang="en-US" altLang="zh-TW"/>
          </a:p>
        </p:txBody>
      </p:sp>
      <p:sp>
        <p:nvSpPr>
          <p:cNvPr id="3" name="矩形 2"/>
          <p:cNvSpPr/>
          <p:nvPr/>
        </p:nvSpPr>
        <p:spPr>
          <a:xfrm>
            <a:off x="7924801" y="5875893"/>
            <a:ext cx="23868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[source: Roland Berger]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414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analytics in Cyber-Physical Systems</a:t>
            </a:r>
            <a:endParaRPr lang="zh-TW" altLang="en-US" dirty="0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202" y="1825625"/>
            <a:ext cx="5377596" cy="4351338"/>
          </a:xfrm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9441952" y="4705564"/>
            <a:ext cx="25068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[source: http://www.engineering.org.cn/en/10.1016/j.eng.2019.01.014]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73357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E60258E-18C6-4E2A-9602-3A267F64213F}" type="slidenum">
              <a:rPr lang="en-US" altLang="zh-TW" sz="1400"/>
              <a:pPr eaLnBrk="1" hangingPunct="1"/>
              <a:t>14</a:t>
            </a:fld>
            <a:endParaRPr lang="en-US" altLang="zh-TW" sz="1400"/>
          </a:p>
        </p:txBody>
      </p:sp>
      <p:sp>
        <p:nvSpPr>
          <p:cNvPr id="10243" name="Rectangle 2050"/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9144000" cy="9144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zh-TW" sz="3200" dirty="0">
                <a:ea typeface="新細明體" panose="02020500000000000000" pitchFamily="18" charset="-120"/>
              </a:rPr>
              <a:t>Knowledge Discovery (KDD) Process</a:t>
            </a:r>
          </a:p>
        </p:txBody>
      </p:sp>
      <p:sp>
        <p:nvSpPr>
          <p:cNvPr id="10244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676400" y="1295400"/>
            <a:ext cx="4419600" cy="17526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ea typeface="新細明體" panose="02020500000000000000" pitchFamily="18" charset="-120"/>
              </a:rPr>
              <a:t>This is a view from typical database systems and data warehousing communities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ea typeface="新細明體" panose="02020500000000000000" pitchFamily="18" charset="-120"/>
              </a:rPr>
              <a:t>Data mining plays an essential role in the knowledge discovery process</a:t>
            </a:r>
            <a:endParaRPr lang="en-US" altLang="zh-TW" sz="2000" b="1" dirty="0">
              <a:ea typeface="新細明體" panose="02020500000000000000" pitchFamily="18" charset="-120"/>
            </a:endParaRPr>
          </a:p>
        </p:txBody>
      </p:sp>
      <p:sp>
        <p:nvSpPr>
          <p:cNvPr id="10245" name="Line 2052"/>
          <p:cNvSpPr>
            <a:spLocks noChangeShapeType="1"/>
          </p:cNvSpPr>
          <p:nvPr/>
        </p:nvSpPr>
        <p:spPr bwMode="auto">
          <a:xfrm flipV="1">
            <a:off x="2743200" y="51054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246" name="Line 2053"/>
          <p:cNvSpPr>
            <a:spLocks noChangeShapeType="1"/>
          </p:cNvSpPr>
          <p:nvPr/>
        </p:nvSpPr>
        <p:spPr bwMode="auto">
          <a:xfrm flipV="1">
            <a:off x="8305800" y="16002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247" name="Line 2054"/>
          <p:cNvSpPr>
            <a:spLocks noChangeShapeType="1"/>
          </p:cNvSpPr>
          <p:nvPr/>
        </p:nvSpPr>
        <p:spPr bwMode="auto">
          <a:xfrm flipV="1">
            <a:off x="6629400" y="26670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248" name="Line 2055"/>
          <p:cNvSpPr>
            <a:spLocks noChangeShapeType="1"/>
          </p:cNvSpPr>
          <p:nvPr/>
        </p:nvSpPr>
        <p:spPr bwMode="auto">
          <a:xfrm flipV="1">
            <a:off x="4800600" y="37338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249" name="Oval 2056"/>
          <p:cNvSpPr>
            <a:spLocks noChangeArrowheads="1"/>
          </p:cNvSpPr>
          <p:nvPr/>
        </p:nvSpPr>
        <p:spPr bwMode="auto">
          <a:xfrm>
            <a:off x="1752600" y="5562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0250" name="Rectangle 2057"/>
          <p:cNvSpPr>
            <a:spLocks noChangeArrowheads="1"/>
          </p:cNvSpPr>
          <p:nvPr/>
        </p:nvSpPr>
        <p:spPr bwMode="auto">
          <a:xfrm>
            <a:off x="1752600" y="5638800"/>
            <a:ext cx="685800" cy="4064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0251" name="Oval 2058"/>
          <p:cNvSpPr>
            <a:spLocks noChangeArrowheads="1"/>
          </p:cNvSpPr>
          <p:nvPr/>
        </p:nvSpPr>
        <p:spPr bwMode="auto">
          <a:xfrm>
            <a:off x="1752600" y="5943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0252" name="Oval 2059"/>
          <p:cNvSpPr>
            <a:spLocks noChangeArrowheads="1"/>
          </p:cNvSpPr>
          <p:nvPr/>
        </p:nvSpPr>
        <p:spPr bwMode="auto">
          <a:xfrm>
            <a:off x="2133600" y="5943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0253" name="Rectangle 2060"/>
          <p:cNvSpPr>
            <a:spLocks noChangeArrowheads="1"/>
          </p:cNvSpPr>
          <p:nvPr/>
        </p:nvSpPr>
        <p:spPr bwMode="auto">
          <a:xfrm>
            <a:off x="2133600" y="6019800"/>
            <a:ext cx="685800" cy="4064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0254" name="Oval 2061"/>
          <p:cNvSpPr>
            <a:spLocks noChangeArrowheads="1"/>
          </p:cNvSpPr>
          <p:nvPr/>
        </p:nvSpPr>
        <p:spPr bwMode="auto">
          <a:xfrm>
            <a:off x="2133600" y="6324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0255" name="Oval 2062"/>
          <p:cNvSpPr>
            <a:spLocks noChangeArrowheads="1"/>
          </p:cNvSpPr>
          <p:nvPr/>
        </p:nvSpPr>
        <p:spPr bwMode="auto">
          <a:xfrm>
            <a:off x="2819400" y="57150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0256" name="Rectangle 2063"/>
          <p:cNvSpPr>
            <a:spLocks noChangeArrowheads="1"/>
          </p:cNvSpPr>
          <p:nvPr/>
        </p:nvSpPr>
        <p:spPr bwMode="auto">
          <a:xfrm>
            <a:off x="2819400" y="5791200"/>
            <a:ext cx="685800" cy="4064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0257" name="Oval 2064"/>
          <p:cNvSpPr>
            <a:spLocks noChangeArrowheads="1"/>
          </p:cNvSpPr>
          <p:nvPr/>
        </p:nvSpPr>
        <p:spPr bwMode="auto">
          <a:xfrm>
            <a:off x="2819400" y="60960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0258" name="Text Box 2065"/>
          <p:cNvSpPr txBox="1">
            <a:spLocks noChangeArrowheads="1"/>
          </p:cNvSpPr>
          <p:nvPr/>
        </p:nvSpPr>
        <p:spPr bwMode="auto">
          <a:xfrm>
            <a:off x="1828801" y="4876801"/>
            <a:ext cx="1743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zh-TW" sz="2000" b="1">
                <a:latin typeface="Times New Roman" panose="02020603050405020304" pitchFamily="18" charset="0"/>
                <a:ea typeface="新細明體" panose="02020500000000000000" pitchFamily="18" charset="-120"/>
              </a:rPr>
              <a:t>Data Cleaning</a:t>
            </a:r>
            <a:endParaRPr lang="en-US" altLang="zh-TW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0259" name="Text Box 2066"/>
          <p:cNvSpPr txBox="1">
            <a:spLocks noChangeArrowheads="1"/>
          </p:cNvSpPr>
          <p:nvPr/>
        </p:nvSpPr>
        <p:spPr bwMode="auto">
          <a:xfrm>
            <a:off x="3124200" y="5410201"/>
            <a:ext cx="1995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zh-TW" sz="2000" b="1">
                <a:latin typeface="Times New Roman" panose="02020603050405020304" pitchFamily="18" charset="0"/>
                <a:ea typeface="新細明體" panose="02020500000000000000" pitchFamily="18" charset="-120"/>
              </a:rPr>
              <a:t>Data Integration</a:t>
            </a:r>
            <a:endParaRPr lang="en-US" altLang="zh-TW" sz="18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0260" name="Text Box 2067"/>
          <p:cNvSpPr txBox="1">
            <a:spLocks noChangeArrowheads="1"/>
          </p:cNvSpPr>
          <p:nvPr/>
        </p:nvSpPr>
        <p:spPr bwMode="auto">
          <a:xfrm>
            <a:off x="2895600" y="6248401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zh-TW" sz="2000" b="1">
                <a:solidFill>
                  <a:srgbClr val="000099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Databases</a:t>
            </a:r>
          </a:p>
        </p:txBody>
      </p:sp>
      <p:sp>
        <p:nvSpPr>
          <p:cNvPr id="10261" name="Text Box 2068"/>
          <p:cNvSpPr txBox="1">
            <a:spLocks noChangeArrowheads="1"/>
          </p:cNvSpPr>
          <p:nvPr/>
        </p:nvSpPr>
        <p:spPr bwMode="auto">
          <a:xfrm>
            <a:off x="2590801" y="4114801"/>
            <a:ext cx="1997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zh-TW" sz="2000" b="1">
                <a:solidFill>
                  <a:srgbClr val="000099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Data Warehouse</a:t>
            </a:r>
          </a:p>
        </p:txBody>
      </p:sp>
      <p:sp>
        <p:nvSpPr>
          <p:cNvPr id="10262" name="Rectangle 2069"/>
          <p:cNvSpPr>
            <a:spLocks noChangeArrowheads="1"/>
          </p:cNvSpPr>
          <p:nvPr/>
        </p:nvSpPr>
        <p:spPr bwMode="auto">
          <a:xfrm>
            <a:off x="3886200" y="4572000"/>
            <a:ext cx="685800" cy="685800"/>
          </a:xfrm>
          <a:prstGeom prst="rect">
            <a:avLst/>
          </a:prstGeom>
          <a:solidFill>
            <a:srgbClr val="00CC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  <a:contourClr>
              <a:srgbClr val="00CC66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0263" name="Rectangle 2070"/>
          <p:cNvSpPr>
            <a:spLocks noChangeArrowheads="1"/>
          </p:cNvSpPr>
          <p:nvPr/>
        </p:nvSpPr>
        <p:spPr bwMode="auto">
          <a:xfrm>
            <a:off x="5943600" y="3429000"/>
            <a:ext cx="457200" cy="457200"/>
          </a:xfrm>
          <a:prstGeom prst="rect">
            <a:avLst/>
          </a:prstGeom>
          <a:solidFill>
            <a:srgbClr val="00CC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  <a:contourClr>
              <a:srgbClr val="00CC66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0264" name="Rectangle 2071"/>
          <p:cNvSpPr>
            <a:spLocks noChangeArrowheads="1"/>
          </p:cNvSpPr>
          <p:nvPr/>
        </p:nvSpPr>
        <p:spPr bwMode="auto">
          <a:xfrm>
            <a:off x="8001000" y="1981200"/>
            <a:ext cx="76200" cy="6096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0265" name="Rectangle 2072"/>
          <p:cNvSpPr>
            <a:spLocks noChangeArrowheads="1"/>
          </p:cNvSpPr>
          <p:nvPr/>
        </p:nvSpPr>
        <p:spPr bwMode="auto">
          <a:xfrm>
            <a:off x="8077200" y="2209800"/>
            <a:ext cx="76200" cy="381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0266" name="Rectangle 2073"/>
          <p:cNvSpPr>
            <a:spLocks noChangeArrowheads="1"/>
          </p:cNvSpPr>
          <p:nvPr/>
        </p:nvSpPr>
        <p:spPr bwMode="auto">
          <a:xfrm>
            <a:off x="7924800" y="2133600"/>
            <a:ext cx="7620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0267" name="Rectangle 2074"/>
          <p:cNvSpPr>
            <a:spLocks noChangeArrowheads="1"/>
          </p:cNvSpPr>
          <p:nvPr/>
        </p:nvSpPr>
        <p:spPr bwMode="auto">
          <a:xfrm>
            <a:off x="8153400" y="2362200"/>
            <a:ext cx="76200" cy="2286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0268" name="Rectangle 2075"/>
          <p:cNvSpPr>
            <a:spLocks noChangeArrowheads="1"/>
          </p:cNvSpPr>
          <p:nvPr/>
        </p:nvSpPr>
        <p:spPr bwMode="auto">
          <a:xfrm>
            <a:off x="7696200" y="2590800"/>
            <a:ext cx="685800" cy="76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0269" name="Rectangle 2076"/>
          <p:cNvSpPr>
            <a:spLocks noChangeArrowheads="1"/>
          </p:cNvSpPr>
          <p:nvPr/>
        </p:nvSpPr>
        <p:spPr bwMode="auto">
          <a:xfrm>
            <a:off x="7772400" y="2362200"/>
            <a:ext cx="152400" cy="228600"/>
          </a:xfrm>
          <a:prstGeom prst="rect">
            <a:avLst/>
          </a:prstGeom>
          <a:solidFill>
            <a:srgbClr val="FF99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0270" name="WordArt 2077"/>
          <p:cNvSpPr>
            <a:spLocks noChangeArrowheads="1" noChangeShapeType="1" noTextEdit="1"/>
          </p:cNvSpPr>
          <p:nvPr/>
        </p:nvSpPr>
        <p:spPr bwMode="auto">
          <a:xfrm>
            <a:off x="8610601" y="990601"/>
            <a:ext cx="1743075" cy="612775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0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en-US" altLang="zh-TW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panose="020B0806030902050204" pitchFamily="34" charset="0"/>
              </a:rPr>
              <a:t>Knowledge</a:t>
            </a:r>
            <a:endParaRPr lang="zh-TW" altLang="en-US" kern="1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10271" name="Text Box 2078"/>
          <p:cNvSpPr txBox="1">
            <a:spLocks noChangeArrowheads="1"/>
          </p:cNvSpPr>
          <p:nvPr/>
        </p:nvSpPr>
        <p:spPr bwMode="auto">
          <a:xfrm>
            <a:off x="4038601" y="3276601"/>
            <a:ext cx="2278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zh-TW" sz="2000" b="1" dirty="0">
                <a:solidFill>
                  <a:srgbClr val="000099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Task-relevant Data</a:t>
            </a:r>
          </a:p>
        </p:txBody>
      </p:sp>
      <p:sp>
        <p:nvSpPr>
          <p:cNvPr id="10272" name="Text Box 2079"/>
          <p:cNvSpPr txBox="1">
            <a:spLocks noChangeArrowheads="1"/>
          </p:cNvSpPr>
          <p:nvPr/>
        </p:nvSpPr>
        <p:spPr bwMode="auto">
          <a:xfrm>
            <a:off x="5165725" y="4052889"/>
            <a:ext cx="1155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zh-TW" sz="2000" b="1">
                <a:latin typeface="Times New Roman" panose="02020603050405020304" pitchFamily="18" charset="0"/>
                <a:ea typeface="新細明體" panose="02020500000000000000" pitchFamily="18" charset="-120"/>
              </a:rPr>
              <a:t>Selection</a:t>
            </a:r>
          </a:p>
        </p:txBody>
      </p:sp>
      <p:sp>
        <p:nvSpPr>
          <p:cNvPr id="10273" name="Text Box 2080"/>
          <p:cNvSpPr txBox="1">
            <a:spLocks noChangeArrowheads="1"/>
          </p:cNvSpPr>
          <p:nvPr/>
        </p:nvSpPr>
        <p:spPr bwMode="auto">
          <a:xfrm>
            <a:off x="5791201" y="2590801"/>
            <a:ext cx="1558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Data Mining</a:t>
            </a:r>
          </a:p>
        </p:txBody>
      </p:sp>
      <p:sp>
        <p:nvSpPr>
          <p:cNvPr id="10274" name="Text Box 2081"/>
          <p:cNvSpPr txBox="1">
            <a:spLocks noChangeArrowheads="1"/>
          </p:cNvSpPr>
          <p:nvPr/>
        </p:nvSpPr>
        <p:spPr bwMode="auto">
          <a:xfrm>
            <a:off x="6781800" y="1676401"/>
            <a:ext cx="2249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zh-TW" sz="2000" b="1">
                <a:latin typeface="Times New Roman" panose="02020603050405020304" pitchFamily="18" charset="0"/>
                <a:ea typeface="新細明體" panose="02020500000000000000" pitchFamily="18" charset="-120"/>
              </a:rPr>
              <a:t>Pattern Evaluation</a:t>
            </a:r>
          </a:p>
        </p:txBody>
      </p:sp>
      <p:sp>
        <p:nvSpPr>
          <p:cNvPr id="10275" name="Line 2082"/>
          <p:cNvSpPr>
            <a:spLocks noChangeShapeType="1"/>
          </p:cNvSpPr>
          <p:nvPr/>
        </p:nvSpPr>
        <p:spPr bwMode="auto">
          <a:xfrm>
            <a:off x="7162800" y="31242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276" name="Line 2083"/>
          <p:cNvSpPr>
            <a:spLocks noChangeShapeType="1"/>
          </p:cNvSpPr>
          <p:nvPr/>
        </p:nvSpPr>
        <p:spPr bwMode="auto">
          <a:xfrm>
            <a:off x="8839200" y="2057400"/>
            <a:ext cx="0" cy="320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277" name="Line 2084"/>
          <p:cNvSpPr>
            <a:spLocks noChangeShapeType="1"/>
          </p:cNvSpPr>
          <p:nvPr/>
        </p:nvSpPr>
        <p:spPr bwMode="auto">
          <a:xfrm flipH="1">
            <a:off x="5486400" y="52578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278" name="Line 2085"/>
          <p:cNvSpPr>
            <a:spLocks noChangeShapeType="1"/>
          </p:cNvSpPr>
          <p:nvPr/>
        </p:nvSpPr>
        <p:spPr bwMode="auto">
          <a:xfrm flipV="1">
            <a:off x="5486400" y="43434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279" name="Line 2086"/>
          <p:cNvSpPr>
            <a:spLocks noChangeShapeType="1"/>
          </p:cNvSpPr>
          <p:nvPr/>
        </p:nvSpPr>
        <p:spPr bwMode="auto">
          <a:xfrm>
            <a:off x="8839200" y="52578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280" name="Line 2087"/>
          <p:cNvSpPr>
            <a:spLocks noChangeShapeType="1"/>
          </p:cNvSpPr>
          <p:nvPr/>
        </p:nvSpPr>
        <p:spPr bwMode="auto">
          <a:xfrm flipH="1">
            <a:off x="3810000" y="6096000"/>
            <a:ext cx="50292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281" name="Line 2088"/>
          <p:cNvSpPr>
            <a:spLocks noChangeShapeType="1"/>
          </p:cNvSpPr>
          <p:nvPr/>
        </p:nvSpPr>
        <p:spPr bwMode="auto">
          <a:xfrm flipH="1" flipV="1">
            <a:off x="3429000" y="54102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282" name="Line 2089"/>
          <p:cNvSpPr>
            <a:spLocks noChangeShapeType="1"/>
          </p:cNvSpPr>
          <p:nvPr/>
        </p:nvSpPr>
        <p:spPr bwMode="auto">
          <a:xfrm>
            <a:off x="3581400" y="54102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0283" name="Line 2090"/>
          <p:cNvSpPr>
            <a:spLocks noChangeShapeType="1"/>
          </p:cNvSpPr>
          <p:nvPr/>
        </p:nvSpPr>
        <p:spPr bwMode="auto">
          <a:xfrm flipV="1">
            <a:off x="5181600" y="419100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9666860" y="5726668"/>
            <a:ext cx="19622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[source: Han 2011]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1767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Big Data vs. </a:t>
            </a:r>
            <a:r>
              <a:rPr lang="en-US" altLang="zh-TW" dirty="0">
                <a:solidFill>
                  <a:srgbClr val="0000FF"/>
                </a:solidFill>
              </a:rPr>
              <a:t>Data-Intensive Computing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608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Data-intensive computing is a class of parallel computing applications which use a data parallel approach to process large volumes of data typically terabytes or petabytes in size and typically referred to as big data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[source: Wikipedia]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608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Big Data Analytics, Fall 2026</a:t>
            </a:r>
          </a:p>
        </p:txBody>
      </p:sp>
      <p:sp>
        <p:nvSpPr>
          <p:cNvPr id="4608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IFM</a:t>
            </a:r>
          </a:p>
        </p:txBody>
      </p:sp>
      <p:sp>
        <p:nvSpPr>
          <p:cNvPr id="4608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76D40189-77B4-4471-A953-3F7FD4459A2D}" type="slidenum">
              <a:rPr kumimoji="0" lang="en-US" altLang="zh-TW" smtClean="0"/>
              <a:pPr/>
              <a:t>15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1470962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Analytics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Four general categories of analytics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Descriptive</a:t>
            </a:r>
            <a:r>
              <a:rPr lang="en-US" altLang="zh-TW" dirty="0"/>
              <a:t> analytics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Diagnostic</a:t>
            </a:r>
            <a:r>
              <a:rPr lang="en-US" altLang="zh-TW" dirty="0"/>
              <a:t> analytics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Predictive</a:t>
            </a:r>
            <a:r>
              <a:rPr lang="en-US" altLang="zh-TW" dirty="0"/>
              <a:t> analytics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Prescriptive</a:t>
            </a:r>
            <a:r>
              <a:rPr lang="en-US" altLang="zh-TW" dirty="0"/>
              <a:t> analytics</a:t>
            </a:r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Big Data Analytics, Fall 2026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IFM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03E7DD-5EEE-4CEC-ADCB-A00D730E1117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06350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Descriptive analytics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To answer questions about events that have already occurred</a:t>
            </a:r>
          </a:p>
          <a:p>
            <a:r>
              <a:rPr lang="en-US" altLang="zh-TW" dirty="0"/>
              <a:t>Sample questions:</a:t>
            </a:r>
          </a:p>
          <a:p>
            <a:pPr lvl="1"/>
            <a:r>
              <a:rPr lang="en-US" altLang="zh-TW" dirty="0"/>
              <a:t>What was the sales volume over the past 12 months?</a:t>
            </a:r>
          </a:p>
          <a:p>
            <a:pPr lvl="1"/>
            <a:r>
              <a:rPr lang="en-US" altLang="zh-TW" dirty="0"/>
              <a:t>What is the number of support calls received as categorized by severity and geographic location?</a:t>
            </a:r>
          </a:p>
          <a:p>
            <a:pPr lvl="1"/>
            <a:r>
              <a:rPr lang="en-US" altLang="zh-TW" dirty="0"/>
              <a:t>What is the monthly commission earned by each sales agent?</a:t>
            </a:r>
          </a:p>
          <a:p>
            <a:r>
              <a:rPr lang="zh-TW" altLang="en-US" dirty="0"/>
              <a:t>描述性分析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Big Data Analytics, Fall 2026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IFM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03E7DD-5EEE-4CEC-ADCB-A00D730E1117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16590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Diagnostic analytics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To determine the cause of a phenomenon that occurred in the past</a:t>
            </a:r>
          </a:p>
          <a:p>
            <a:r>
              <a:rPr lang="en-US" altLang="zh-TW" dirty="0"/>
              <a:t>Sample questions:</a:t>
            </a:r>
          </a:p>
          <a:p>
            <a:pPr lvl="1"/>
            <a:r>
              <a:rPr lang="en-US" altLang="zh-TW" dirty="0"/>
              <a:t>Why were Q2 sales less than Q1 sales?</a:t>
            </a:r>
          </a:p>
          <a:p>
            <a:pPr lvl="1"/>
            <a:r>
              <a:rPr lang="en-US" altLang="zh-TW" dirty="0"/>
              <a:t>Why have there been more support calls originating from the Eastern region than from the Western region?</a:t>
            </a:r>
          </a:p>
          <a:p>
            <a:pPr lvl="1"/>
            <a:r>
              <a:rPr lang="en-US" altLang="zh-TW" dirty="0"/>
              <a:t>Why was there an increase in patient re-admission rates over the past three months?</a:t>
            </a:r>
          </a:p>
          <a:p>
            <a:r>
              <a:rPr lang="zh-TW" altLang="en-US" dirty="0"/>
              <a:t>診斷性分析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Big Data Analytics, Fall 2026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IFM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03E7DD-5EEE-4CEC-ADCB-A00D730E1117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082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Predictive analytics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To determine the outcome of an event that might occur in the future</a:t>
            </a:r>
          </a:p>
          <a:p>
            <a:r>
              <a:rPr lang="en-US" altLang="zh-TW" dirty="0"/>
              <a:t>Sample questions:</a:t>
            </a:r>
          </a:p>
          <a:p>
            <a:pPr lvl="1"/>
            <a:r>
              <a:rPr lang="en-US" altLang="zh-TW" dirty="0"/>
              <a:t>What are the chances that a customer will default on a loan if they have missed a monthly payment?</a:t>
            </a:r>
          </a:p>
          <a:p>
            <a:pPr lvl="1"/>
            <a:r>
              <a:rPr lang="en-US" altLang="zh-TW" dirty="0"/>
              <a:t>What will be the patient survival rate if Drug B is administered instead of Drug A?</a:t>
            </a:r>
          </a:p>
          <a:p>
            <a:pPr lvl="1"/>
            <a:r>
              <a:rPr lang="en-US" altLang="zh-TW" dirty="0"/>
              <a:t>If a customer has purchased Products A and B, what are the chances that they will also purchase Product C?</a:t>
            </a:r>
          </a:p>
          <a:p>
            <a:r>
              <a:rPr lang="zh-TW" altLang="en-US" dirty="0"/>
              <a:t>預測性分析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Big Data Analytics, Fall 2026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IFM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03E7DD-5EEE-4CEC-ADCB-A00D730E1117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17831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Prescriptive analytics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To prescribe actions that should be taken</a:t>
            </a:r>
          </a:p>
          <a:p>
            <a:r>
              <a:rPr lang="en-US" altLang="zh-TW" dirty="0"/>
              <a:t>Sample questions:</a:t>
            </a:r>
          </a:p>
          <a:p>
            <a:pPr lvl="1"/>
            <a:r>
              <a:rPr lang="en-US" altLang="zh-TW" dirty="0"/>
              <a:t>Among three drugs, which one provide the best results?</a:t>
            </a:r>
          </a:p>
          <a:p>
            <a:pPr lvl="1"/>
            <a:r>
              <a:rPr lang="en-US" altLang="zh-TW" dirty="0"/>
              <a:t>When is the best time to trade a particular stock?</a:t>
            </a:r>
          </a:p>
          <a:p>
            <a:r>
              <a:rPr lang="zh-TW" altLang="en-US" dirty="0"/>
              <a:t>建議性分析</a:t>
            </a:r>
            <a:r>
              <a:rPr lang="en-US" altLang="zh-TW" dirty="0"/>
              <a:t>, (</a:t>
            </a:r>
            <a:r>
              <a:rPr lang="zh-TW" altLang="en-US" dirty="0"/>
              <a:t>指導性分析、處方分析、規範性分析、時效性分析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Big Data Analytics, Fall 2026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IFM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03E7DD-5EEE-4CEC-ADCB-A00D730E1117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90115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Limits of Predictions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Predictive analytics: technology that learns from experience (data) to predict the future behavior of individuals in order to drive better decisions</a:t>
            </a:r>
          </a:p>
          <a:p>
            <a:r>
              <a:rPr lang="en-US" altLang="zh-TW" dirty="0"/>
              <a:t>Accurate prediction is generally </a:t>
            </a:r>
            <a:r>
              <a:rPr lang="en-US" altLang="zh-TW" dirty="0">
                <a:solidFill>
                  <a:srgbClr val="0000FF"/>
                </a:solidFill>
              </a:rPr>
              <a:t>not</a:t>
            </a:r>
            <a:r>
              <a:rPr lang="en-US" altLang="zh-TW" dirty="0"/>
              <a:t> possible</a:t>
            </a:r>
          </a:p>
          <a:p>
            <a:r>
              <a:rPr lang="en-US" altLang="zh-TW" dirty="0"/>
              <a:t>But predictions need not be accurate to bring value</a:t>
            </a:r>
          </a:p>
          <a:p>
            <a:pPr lvl="1"/>
            <a:r>
              <a:rPr lang="en-US" altLang="zh-TW" dirty="0"/>
              <a:t>E.g. direct mail marketing</a:t>
            </a:r>
          </a:p>
          <a:p>
            <a:r>
              <a:rPr lang="en-US" altLang="zh-TW" dirty="0"/>
              <a:t>The prediction effect: predicting better than pure guess delivers value</a:t>
            </a:r>
          </a:p>
          <a:p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694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Be Cautious! It’s not almighty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Some challenges</a:t>
            </a:r>
          </a:p>
          <a:p>
            <a:pPr lvl="1"/>
            <a:r>
              <a:rPr lang="en-US" altLang="zh-TW" dirty="0"/>
              <a:t>Big data requires “big judgement”</a:t>
            </a:r>
          </a:p>
          <a:p>
            <a:pPr lvl="1"/>
            <a:r>
              <a:rPr lang="en-US" altLang="zh-TW" dirty="0"/>
              <a:t>If the systems dynamics of the future change, the past can say little about the future</a:t>
            </a:r>
          </a:p>
          <a:p>
            <a:pPr lvl="2"/>
            <a:r>
              <a:rPr lang="en-US" altLang="zh-TW" dirty="0"/>
              <a:t>e.g.: Google Flu Trends</a:t>
            </a:r>
          </a:p>
          <a:p>
            <a:pPr lvl="1"/>
            <a:r>
              <a:rPr lang="en-US" altLang="zh-TW" dirty="0"/>
              <a:t>Privacy</a:t>
            </a:r>
          </a:p>
          <a:p>
            <a:pPr lvl="1"/>
            <a:r>
              <a:rPr lang="en-US" altLang="zh-TW" dirty="0"/>
              <a:t>Bias, subjective, shallow</a:t>
            </a:r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Big Data Analytics, Fall 2026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IFM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7C6B03-E424-40B0-83C7-01898B958AC8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81427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 are we going to focus in this course?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Data mining</a:t>
            </a:r>
          </a:p>
          <a:p>
            <a:pPr lvl="1"/>
            <a:r>
              <a:rPr lang="en-US" altLang="zh-TW" dirty="0"/>
              <a:t>Frequent pattern mining</a:t>
            </a:r>
          </a:p>
          <a:p>
            <a:pPr lvl="1"/>
            <a:r>
              <a:rPr lang="en-US" altLang="zh-TW" dirty="0"/>
              <a:t>Classification</a:t>
            </a:r>
          </a:p>
          <a:p>
            <a:pPr lvl="1"/>
            <a:r>
              <a:rPr lang="en-US" altLang="zh-TW" dirty="0"/>
              <a:t>Clustering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Parallel programming in distributed platforms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Hadoop, Spark</a:t>
            </a:r>
          </a:p>
          <a:p>
            <a:pPr lvl="1"/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</a:rPr>
              <a:t>MapReduce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 programming</a:t>
            </a:r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42801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B53D6C9-4492-4EF6-ACFE-C066DEB599A4}" type="slidenum">
              <a:rPr lang="en-US" altLang="zh-TW" sz="1400"/>
              <a:pPr eaLnBrk="1" hangingPunct="1"/>
              <a:t>24</a:t>
            </a:fld>
            <a:endParaRPr lang="en-US" altLang="zh-TW" sz="14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9144000" cy="9144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zh-TW" sz="3200">
                <a:ea typeface="新細明體" panose="02020500000000000000" pitchFamily="18" charset="-120"/>
              </a:rPr>
              <a:t>KDD Process: A Typical View from ML and Statistics</a:t>
            </a:r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 flipV="1">
            <a:off x="3057525" y="23622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 flipV="1">
            <a:off x="8086725" y="23622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2" name="Text Box 17"/>
          <p:cNvSpPr txBox="1">
            <a:spLocks noChangeArrowheads="1"/>
          </p:cNvSpPr>
          <p:nvPr/>
        </p:nvSpPr>
        <p:spPr bwMode="auto">
          <a:xfrm>
            <a:off x="1609725" y="2151063"/>
            <a:ext cx="1435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zh-TW" sz="1800" b="1">
                <a:ea typeface="新細明體" panose="02020500000000000000" pitchFamily="18" charset="-120"/>
              </a:rPr>
              <a:t>Input Data</a:t>
            </a:r>
            <a:endParaRPr lang="en-US" altLang="zh-TW" sz="1600">
              <a:ea typeface="新細明體" panose="02020500000000000000" pitchFamily="18" charset="-120"/>
            </a:endParaRPr>
          </a:p>
        </p:txBody>
      </p:sp>
      <p:sp>
        <p:nvSpPr>
          <p:cNvPr id="14343" name="Rectangle 21"/>
          <p:cNvSpPr>
            <a:spLocks noChangeArrowheads="1"/>
          </p:cNvSpPr>
          <p:nvPr/>
        </p:nvSpPr>
        <p:spPr bwMode="auto">
          <a:xfrm>
            <a:off x="3514725" y="1981200"/>
            <a:ext cx="914400" cy="1066800"/>
          </a:xfrm>
          <a:prstGeom prst="rect">
            <a:avLst/>
          </a:prstGeom>
          <a:solidFill>
            <a:srgbClr val="FFFFC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FFFFCC"/>
            </a:extrusionClr>
            <a:contourClr>
              <a:srgbClr val="FFFFCC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4344" name="Rectangle 22"/>
          <p:cNvSpPr>
            <a:spLocks noChangeArrowheads="1"/>
          </p:cNvSpPr>
          <p:nvPr/>
        </p:nvSpPr>
        <p:spPr bwMode="auto">
          <a:xfrm>
            <a:off x="5191125" y="1981200"/>
            <a:ext cx="914400" cy="1066800"/>
          </a:xfrm>
          <a:prstGeom prst="rect">
            <a:avLst/>
          </a:prstGeom>
          <a:solidFill>
            <a:srgbClr val="FFFFC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FFFFCC"/>
            </a:extrusionClr>
            <a:contourClr>
              <a:srgbClr val="FFFFCC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4345" name="WordArt 29"/>
          <p:cNvSpPr>
            <a:spLocks noChangeArrowheads="1" noChangeShapeType="1" noTextEdit="1"/>
          </p:cNvSpPr>
          <p:nvPr/>
        </p:nvSpPr>
        <p:spPr bwMode="auto">
          <a:xfrm rot="823813">
            <a:off x="8620126" y="1676400"/>
            <a:ext cx="1743075" cy="12954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0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en-US" altLang="zh-TW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4560000" scaled="1"/>
                </a:gradFill>
                <a:latin typeface="Impact" panose="020B0806030902050204" pitchFamily="34" charset="0"/>
              </a:rPr>
              <a:t>Pattern</a:t>
            </a:r>
          </a:p>
          <a:p>
            <a:pPr algn="ctr"/>
            <a:r>
              <a:rPr lang="en-US" altLang="zh-TW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4560000" scaled="1"/>
                </a:gradFill>
                <a:latin typeface="Impact" panose="020B0806030902050204" pitchFamily="34" charset="0"/>
              </a:rPr>
              <a:t>Information</a:t>
            </a:r>
          </a:p>
          <a:p>
            <a:pPr algn="ctr"/>
            <a:r>
              <a:rPr lang="en-US" altLang="zh-TW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4560000" scaled="1"/>
                </a:gradFill>
                <a:latin typeface="Impact" panose="020B0806030902050204" pitchFamily="34" charset="0"/>
              </a:rPr>
              <a:t>Knowledge</a:t>
            </a:r>
            <a:endParaRPr lang="zh-TW" altLang="en-US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456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14346" name="Text Box 32"/>
          <p:cNvSpPr txBox="1">
            <a:spLocks noChangeArrowheads="1"/>
          </p:cNvSpPr>
          <p:nvPr/>
        </p:nvSpPr>
        <p:spPr bwMode="auto">
          <a:xfrm>
            <a:off x="5038725" y="2057401"/>
            <a:ext cx="1295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TW" sz="2000" b="1" dirty="0">
                <a:solidFill>
                  <a:srgbClr val="FF0000"/>
                </a:solidFill>
                <a:ea typeface="新細明體" panose="02020500000000000000" pitchFamily="18" charset="-120"/>
              </a:rPr>
              <a:t>Data Mining</a:t>
            </a:r>
          </a:p>
        </p:txBody>
      </p:sp>
      <p:sp>
        <p:nvSpPr>
          <p:cNvPr id="14347" name="Text Box 44"/>
          <p:cNvSpPr txBox="1">
            <a:spLocks noChangeArrowheads="1"/>
          </p:cNvSpPr>
          <p:nvPr/>
        </p:nvSpPr>
        <p:spPr bwMode="auto">
          <a:xfrm>
            <a:off x="3286125" y="2149475"/>
            <a:ext cx="1447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TW" sz="1400" b="1">
                <a:ea typeface="新細明體" panose="02020500000000000000" pitchFamily="18" charset="-120"/>
              </a:rPr>
              <a:t>Data Pre-Processing</a:t>
            </a:r>
          </a:p>
        </p:txBody>
      </p:sp>
      <p:sp>
        <p:nvSpPr>
          <p:cNvPr id="14348" name="Line 45"/>
          <p:cNvSpPr>
            <a:spLocks noChangeShapeType="1"/>
          </p:cNvSpPr>
          <p:nvPr/>
        </p:nvSpPr>
        <p:spPr bwMode="auto">
          <a:xfrm flipV="1">
            <a:off x="4657725" y="23622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9" name="Line 46"/>
          <p:cNvSpPr>
            <a:spLocks noChangeShapeType="1"/>
          </p:cNvSpPr>
          <p:nvPr/>
        </p:nvSpPr>
        <p:spPr bwMode="auto">
          <a:xfrm flipV="1">
            <a:off x="6410325" y="23622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50" name="Rectangle 47"/>
          <p:cNvSpPr>
            <a:spLocks noChangeArrowheads="1"/>
          </p:cNvSpPr>
          <p:nvPr/>
        </p:nvSpPr>
        <p:spPr bwMode="auto">
          <a:xfrm>
            <a:off x="6943725" y="1981200"/>
            <a:ext cx="990600" cy="1066800"/>
          </a:xfrm>
          <a:prstGeom prst="rect">
            <a:avLst/>
          </a:prstGeom>
          <a:solidFill>
            <a:srgbClr val="FFFFC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FFFFCC"/>
            </a:extrusionClr>
            <a:contourClr>
              <a:srgbClr val="FFFFCC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4351" name="Text Box 48"/>
          <p:cNvSpPr txBox="1">
            <a:spLocks noChangeArrowheads="1"/>
          </p:cNvSpPr>
          <p:nvPr/>
        </p:nvSpPr>
        <p:spPr bwMode="auto">
          <a:xfrm>
            <a:off x="6867525" y="2085976"/>
            <a:ext cx="1295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TW" sz="1600" b="1">
                <a:ea typeface="新細明體" panose="02020500000000000000" pitchFamily="18" charset="-120"/>
              </a:rPr>
              <a:t>Post-Processing</a:t>
            </a:r>
          </a:p>
        </p:txBody>
      </p:sp>
      <p:sp>
        <p:nvSpPr>
          <p:cNvPr id="14352" name="Rectangle 49"/>
          <p:cNvSpPr>
            <a:spLocks noGrp="1" noChangeArrowheads="1"/>
          </p:cNvSpPr>
          <p:nvPr>
            <p:ph type="body" idx="1"/>
          </p:nvPr>
        </p:nvSpPr>
        <p:spPr>
          <a:xfrm>
            <a:off x="1905000" y="5791200"/>
            <a:ext cx="8153400" cy="4572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TW" sz="1800">
                <a:ea typeface="新細明體" panose="02020500000000000000" pitchFamily="18" charset="-120"/>
              </a:rPr>
              <a:t>This is a view from typical machine learning and statistics communities</a:t>
            </a:r>
          </a:p>
        </p:txBody>
      </p:sp>
      <p:grpSp>
        <p:nvGrpSpPr>
          <p:cNvPr id="14353" name="Group 52"/>
          <p:cNvGrpSpPr>
            <a:grpSpLocks/>
          </p:cNvGrpSpPr>
          <p:nvPr/>
        </p:nvGrpSpPr>
        <p:grpSpPr bwMode="auto">
          <a:xfrm>
            <a:off x="2066925" y="3886200"/>
            <a:ext cx="2362200" cy="1143000"/>
            <a:chOff x="288" y="2880"/>
            <a:chExt cx="1488" cy="720"/>
          </a:xfrm>
        </p:grpSpPr>
        <p:sp>
          <p:nvSpPr>
            <p:cNvPr id="14362" name="Rectangle 50"/>
            <p:cNvSpPr>
              <a:spLocks noChangeArrowheads="1"/>
            </p:cNvSpPr>
            <p:nvPr/>
          </p:nvSpPr>
          <p:spPr bwMode="auto">
            <a:xfrm>
              <a:off x="288" y="2880"/>
              <a:ext cx="1344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zh-TW" altLang="zh-TW"/>
            </a:p>
          </p:txBody>
        </p:sp>
        <p:sp>
          <p:nvSpPr>
            <p:cNvPr id="14363" name="Text Box 51"/>
            <p:cNvSpPr txBox="1">
              <a:spLocks noChangeArrowheads="1"/>
            </p:cNvSpPr>
            <p:nvPr/>
          </p:nvSpPr>
          <p:spPr bwMode="auto">
            <a:xfrm>
              <a:off x="288" y="2943"/>
              <a:ext cx="1488" cy="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TW" sz="1600">
                  <a:ea typeface="新細明體" panose="02020500000000000000" pitchFamily="18" charset="-120"/>
                </a:rPr>
                <a:t>Data integration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TW" sz="1600">
                  <a:ea typeface="新細明體" panose="02020500000000000000" pitchFamily="18" charset="-120"/>
                </a:rPr>
                <a:t>Normalization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TW" sz="1600">
                  <a:ea typeface="新細明體" panose="02020500000000000000" pitchFamily="18" charset="-120"/>
                </a:rPr>
                <a:t>Feature selection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TW" sz="1600">
                  <a:ea typeface="新細明體" panose="02020500000000000000" pitchFamily="18" charset="-120"/>
                </a:rPr>
                <a:t>Dimension reduction</a:t>
              </a:r>
            </a:p>
          </p:txBody>
        </p:sp>
      </p:grpSp>
      <p:sp>
        <p:nvSpPr>
          <p:cNvPr id="14354" name="Rectangle 54"/>
          <p:cNvSpPr>
            <a:spLocks noChangeArrowheads="1"/>
          </p:cNvSpPr>
          <p:nvPr/>
        </p:nvSpPr>
        <p:spPr bwMode="auto">
          <a:xfrm>
            <a:off x="4581525" y="3886200"/>
            <a:ext cx="23622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4355" name="Text Box 55"/>
          <p:cNvSpPr txBox="1">
            <a:spLocks noChangeArrowheads="1"/>
          </p:cNvSpPr>
          <p:nvPr/>
        </p:nvSpPr>
        <p:spPr bwMode="auto">
          <a:xfrm>
            <a:off x="4581525" y="3962400"/>
            <a:ext cx="2438400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TW" sz="1600">
                <a:ea typeface="新細明體" panose="02020500000000000000" pitchFamily="18" charset="-120"/>
              </a:rPr>
              <a:t>Pattern discovery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TW" sz="1600">
                <a:ea typeface="新細明體" panose="02020500000000000000" pitchFamily="18" charset="-120"/>
              </a:rPr>
              <a:t>Association &amp; correlation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TW" sz="1600">
                <a:ea typeface="新細明體" panose="02020500000000000000" pitchFamily="18" charset="-120"/>
              </a:rPr>
              <a:t>Classification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TW" sz="1600">
                <a:ea typeface="新細明體" panose="02020500000000000000" pitchFamily="18" charset="-120"/>
              </a:rPr>
              <a:t>Clustering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TW" sz="1600">
                <a:ea typeface="新細明體" panose="02020500000000000000" pitchFamily="18" charset="-120"/>
              </a:rPr>
              <a:t>Outlier analysis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TW" sz="1600">
                <a:ea typeface="新細明體" panose="02020500000000000000" pitchFamily="18" charset="-120"/>
              </a:rPr>
              <a:t>… … … …</a:t>
            </a:r>
          </a:p>
        </p:txBody>
      </p:sp>
      <p:grpSp>
        <p:nvGrpSpPr>
          <p:cNvPr id="14356" name="Group 56"/>
          <p:cNvGrpSpPr>
            <a:grpSpLocks/>
          </p:cNvGrpSpPr>
          <p:nvPr/>
        </p:nvGrpSpPr>
        <p:grpSpPr bwMode="auto">
          <a:xfrm>
            <a:off x="7400925" y="3886200"/>
            <a:ext cx="2362200" cy="1143000"/>
            <a:chOff x="288" y="2880"/>
            <a:chExt cx="1488" cy="720"/>
          </a:xfrm>
        </p:grpSpPr>
        <p:sp>
          <p:nvSpPr>
            <p:cNvPr id="14360" name="Rectangle 57"/>
            <p:cNvSpPr>
              <a:spLocks noChangeArrowheads="1"/>
            </p:cNvSpPr>
            <p:nvPr/>
          </p:nvSpPr>
          <p:spPr bwMode="auto">
            <a:xfrm>
              <a:off x="288" y="2880"/>
              <a:ext cx="1344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zh-TW" altLang="zh-TW"/>
            </a:p>
          </p:txBody>
        </p:sp>
        <p:sp>
          <p:nvSpPr>
            <p:cNvPr id="14361" name="Text Box 58"/>
            <p:cNvSpPr txBox="1">
              <a:spLocks noChangeArrowheads="1"/>
            </p:cNvSpPr>
            <p:nvPr/>
          </p:nvSpPr>
          <p:spPr bwMode="auto">
            <a:xfrm>
              <a:off x="288" y="2943"/>
              <a:ext cx="1488" cy="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TW" sz="1600">
                  <a:ea typeface="新細明體" panose="02020500000000000000" pitchFamily="18" charset="-120"/>
                </a:rPr>
                <a:t>Pattern evaluation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TW" sz="1600">
                  <a:ea typeface="新細明體" panose="02020500000000000000" pitchFamily="18" charset="-120"/>
                </a:rPr>
                <a:t>Pattern selection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TW" sz="1600">
                  <a:ea typeface="新細明體" panose="02020500000000000000" pitchFamily="18" charset="-120"/>
                </a:rPr>
                <a:t>Pattern interpretation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TW" sz="1600">
                  <a:ea typeface="新細明體" panose="02020500000000000000" pitchFamily="18" charset="-120"/>
                </a:rPr>
                <a:t>Pattern visualization</a:t>
              </a:r>
            </a:p>
          </p:txBody>
        </p:sp>
      </p:grpSp>
      <p:sp>
        <p:nvSpPr>
          <p:cNvPr id="14357" name="AutoShape 62"/>
          <p:cNvSpPr>
            <a:spLocks noChangeArrowheads="1"/>
          </p:cNvSpPr>
          <p:nvPr/>
        </p:nvSpPr>
        <p:spPr bwMode="auto">
          <a:xfrm rot="-10256010">
            <a:off x="3362325" y="2819400"/>
            <a:ext cx="304800" cy="990600"/>
          </a:xfrm>
          <a:prstGeom prst="curvedLeftArrow">
            <a:avLst>
              <a:gd name="adj1" fmla="val 65000"/>
              <a:gd name="adj2" fmla="val 13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4358" name="AutoShape 63"/>
          <p:cNvSpPr>
            <a:spLocks noChangeArrowheads="1"/>
          </p:cNvSpPr>
          <p:nvPr/>
        </p:nvSpPr>
        <p:spPr bwMode="auto">
          <a:xfrm rot="-10256010">
            <a:off x="5191125" y="2819400"/>
            <a:ext cx="304800" cy="990600"/>
          </a:xfrm>
          <a:prstGeom prst="curvedLeftArrow">
            <a:avLst>
              <a:gd name="adj1" fmla="val 65000"/>
              <a:gd name="adj2" fmla="val 13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4359" name="AutoShape 64"/>
          <p:cNvSpPr>
            <a:spLocks noChangeArrowheads="1"/>
          </p:cNvSpPr>
          <p:nvPr/>
        </p:nvSpPr>
        <p:spPr bwMode="auto">
          <a:xfrm rot="-10256010">
            <a:off x="7324725" y="2819400"/>
            <a:ext cx="304800" cy="990600"/>
          </a:xfrm>
          <a:prstGeom prst="curvedLeftArrow">
            <a:avLst>
              <a:gd name="adj1" fmla="val 65000"/>
              <a:gd name="adj2" fmla="val 13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28" name="矩形 27"/>
          <p:cNvSpPr/>
          <p:nvPr/>
        </p:nvSpPr>
        <p:spPr>
          <a:xfrm>
            <a:off x="9666860" y="5726668"/>
            <a:ext cx="19622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[source: Han 2011]</a:t>
            </a:r>
            <a:endParaRPr lang="zh-TW" altLang="en-US" dirty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36723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19EE611-C70D-4511-B234-B9D4FC8615FF}" type="slidenum">
              <a:rPr lang="en-US" altLang="zh-TW" sz="1400"/>
              <a:pPr eaLnBrk="1" hangingPunct="1"/>
              <a:t>25</a:t>
            </a:fld>
            <a:endParaRPr lang="en-US" altLang="zh-TW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0"/>
            <a:ext cx="8763000" cy="9906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zh-TW" sz="3200" dirty="0">
                <a:ea typeface="新細明體" panose="02020500000000000000" pitchFamily="18" charset="-120"/>
              </a:rPr>
              <a:t>Data Mining Function: Association and Correlation Analysis</a:t>
            </a:r>
            <a:endParaRPr lang="en-US" altLang="zh-TW" sz="2800" dirty="0">
              <a:ea typeface="新細明體" panose="02020500000000000000" pitchFamily="18" charset="-120"/>
            </a:endParaRP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295400"/>
            <a:ext cx="8305800" cy="5105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400" dirty="0">
                <a:solidFill>
                  <a:srgbClr val="0000FF"/>
                </a:solidFill>
                <a:ea typeface="新細明體" panose="02020500000000000000" pitchFamily="18" charset="-120"/>
              </a:rPr>
              <a:t>Frequent patterns </a:t>
            </a:r>
            <a:r>
              <a:rPr lang="en-US" altLang="zh-TW" sz="2400" dirty="0">
                <a:ea typeface="新細明體" panose="02020500000000000000" pitchFamily="18" charset="-120"/>
              </a:rPr>
              <a:t>(or frequent </a:t>
            </a:r>
            <a:r>
              <a:rPr lang="en-US" altLang="zh-TW" sz="2400" dirty="0" err="1">
                <a:ea typeface="新細明體" panose="02020500000000000000" pitchFamily="18" charset="-120"/>
              </a:rPr>
              <a:t>itemsets</a:t>
            </a:r>
            <a:r>
              <a:rPr lang="en-US" altLang="zh-TW" sz="2400" dirty="0">
                <a:ea typeface="新細明體" panose="02020500000000000000" pitchFamily="18" charset="-120"/>
              </a:rPr>
              <a:t>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What items are frequently purchased together in your Walmart?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>
                <a:solidFill>
                  <a:srgbClr val="0000FF"/>
                </a:solidFill>
                <a:ea typeface="新細明體" panose="02020500000000000000" pitchFamily="18" charset="-120"/>
              </a:rPr>
              <a:t>Association</a:t>
            </a:r>
            <a:r>
              <a:rPr lang="en-US" altLang="zh-TW" sz="2400" dirty="0">
                <a:ea typeface="新細明體" panose="02020500000000000000" pitchFamily="18" charset="-120"/>
              </a:rPr>
              <a:t>, correlation vs. causality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A typical association rule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Diaper </a:t>
            </a:r>
            <a:r>
              <a:rPr lang="en-US" altLang="zh-TW" dirty="0">
                <a:ea typeface="新細明體" panose="02020500000000000000" pitchFamily="18" charset="-120"/>
                <a:sym typeface="Wingdings" panose="05000000000000000000" pitchFamily="2" charset="2"/>
              </a:rPr>
              <a:t></a:t>
            </a:r>
            <a:r>
              <a:rPr lang="en-US" altLang="zh-TW" dirty="0">
                <a:ea typeface="新細明體" panose="02020500000000000000" pitchFamily="18" charset="-120"/>
              </a:rPr>
              <a:t> Beer [0.5%, 75%]  (support, confidence)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Are strongly associated items also strongly correlated?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How to mine such patterns and rules efficiently in large datasets?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How to use such patterns for classification, clustering, and other applications?</a:t>
            </a: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1897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FDC14A3-39E8-48B7-884E-1212647D2666}" type="slidenum">
              <a:rPr lang="en-US" altLang="zh-TW" sz="1400"/>
              <a:pPr eaLnBrk="1" hangingPunct="1"/>
              <a:t>26</a:t>
            </a:fld>
            <a:endParaRPr lang="en-US" altLang="zh-TW" sz="14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0"/>
            <a:ext cx="8763000" cy="9144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zh-TW" sz="3200" dirty="0">
                <a:ea typeface="新細明體" panose="02020500000000000000" pitchFamily="18" charset="-120"/>
              </a:rPr>
              <a:t>Data Mining Function: Classification</a:t>
            </a:r>
            <a:endParaRPr lang="en-US" altLang="zh-TW" sz="2800" dirty="0">
              <a:ea typeface="新細明體" panose="02020500000000000000" pitchFamily="18" charset="-120"/>
            </a:endParaRP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371600"/>
            <a:ext cx="8458200" cy="51816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0000FF"/>
                </a:solidFill>
                <a:ea typeface="新細明體" panose="02020500000000000000" pitchFamily="18" charset="-120"/>
              </a:rPr>
              <a:t>Classification</a:t>
            </a:r>
            <a:r>
              <a:rPr lang="en-US" altLang="zh-TW" sz="2000" dirty="0">
                <a:ea typeface="新細明體" panose="02020500000000000000" pitchFamily="18" charset="-120"/>
              </a:rPr>
              <a:t> and label prediction 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000" dirty="0">
                <a:ea typeface="新細明體" panose="02020500000000000000" pitchFamily="18" charset="-120"/>
              </a:rPr>
              <a:t>Construct models (functions) based on some training examples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000" dirty="0">
                <a:ea typeface="新細明體" panose="02020500000000000000" pitchFamily="18" charset="-120"/>
              </a:rPr>
              <a:t>Describe and distinguish classes or concepts for future prediction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E.g., classify countries based on (climate), or classify cars based on (gas mileage)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000" dirty="0">
                <a:ea typeface="新細明體" panose="02020500000000000000" pitchFamily="18" charset="-120"/>
              </a:rPr>
              <a:t>Predict some unknown class labels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ea typeface="新細明體" panose="02020500000000000000" pitchFamily="18" charset="-120"/>
              </a:rPr>
              <a:t>Typical methods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000" dirty="0">
                <a:ea typeface="新細明體" panose="02020500000000000000" pitchFamily="18" charset="-120"/>
              </a:rPr>
              <a:t>Decision trees, naïve Bayesian classification, support vector machines, neural networks, rule-based classification, pattern-based classification, logistic regression, …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ea typeface="新細明體" panose="02020500000000000000" pitchFamily="18" charset="-120"/>
              </a:rPr>
              <a:t>Typical applications: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000" dirty="0">
                <a:ea typeface="新細明體" panose="02020500000000000000" pitchFamily="18" charset="-120"/>
              </a:rPr>
              <a:t>Credit card fraud detection, direct marketing, classifying stars, diseases,  web-pages, …</a:t>
            </a: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9579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76565E1-9702-440A-9B86-8294BBFE6C77}" type="slidenum">
              <a:rPr lang="en-US" altLang="zh-TW" sz="1400"/>
              <a:pPr eaLnBrk="1" hangingPunct="1"/>
              <a:t>27</a:t>
            </a:fld>
            <a:endParaRPr lang="en-US" altLang="zh-TW" sz="14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8991600" cy="6350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zh-TW" sz="3200" dirty="0">
                <a:ea typeface="新細明體" panose="02020500000000000000" pitchFamily="18" charset="-120"/>
              </a:rPr>
              <a:t>Data Mining Function: Cluster Analysis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534400" cy="52578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Unsupervised learning (i.e., Class label is unknown)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Group data to form new categories (i.e., clusters), e.g., cluster houses to find distribution patterns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Principle: </a:t>
            </a:r>
            <a:r>
              <a:rPr lang="en-US" altLang="zh-TW" sz="2400" dirty="0">
                <a:solidFill>
                  <a:srgbClr val="0000FF"/>
                </a:solidFill>
                <a:ea typeface="新細明體" panose="02020500000000000000" pitchFamily="18" charset="-120"/>
              </a:rPr>
              <a:t>Maximizing intra-class similarity &amp; minimizing interclass similarity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Many methods and applications</a:t>
            </a: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4785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Hadoop Architecture</a:t>
            </a:r>
            <a:endParaRPr lang="zh-TW" altLang="en-US"/>
          </a:p>
        </p:txBody>
      </p:sp>
      <p:pic>
        <p:nvPicPr>
          <p:cNvPr id="56323" name="內容版面配置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0" y="1671638"/>
            <a:ext cx="6096000" cy="4381500"/>
          </a:xfrm>
        </p:spPr>
      </p:pic>
      <p:sp>
        <p:nvSpPr>
          <p:cNvPr id="5632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Big Data Analytics, Fall 2026</a:t>
            </a:r>
          </a:p>
        </p:txBody>
      </p:sp>
      <p:sp>
        <p:nvSpPr>
          <p:cNvPr id="5632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IFM</a:t>
            </a:r>
          </a:p>
        </p:txBody>
      </p:sp>
      <p:sp>
        <p:nvSpPr>
          <p:cNvPr id="5632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C4245643-B962-4003-BFE5-86C60F61473C}" type="slidenum">
              <a:rPr kumimoji="0" lang="en-US" altLang="zh-TW" smtClean="0"/>
              <a:pPr/>
              <a:t>28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35868962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MapReduce</a:t>
            </a:r>
            <a:endParaRPr lang="zh-TW" altLang="en-US"/>
          </a:p>
        </p:txBody>
      </p:sp>
      <p:pic>
        <p:nvPicPr>
          <p:cNvPr id="57347" name="內容版面配置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2800" y="2109788"/>
            <a:ext cx="5486400" cy="3505200"/>
          </a:xfrm>
        </p:spPr>
      </p:pic>
      <p:sp>
        <p:nvSpPr>
          <p:cNvPr id="5734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Big Data Analytics, Fall 2026</a:t>
            </a:r>
          </a:p>
        </p:txBody>
      </p:sp>
      <p:sp>
        <p:nvSpPr>
          <p:cNvPr id="5734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IFM</a:t>
            </a:r>
          </a:p>
        </p:txBody>
      </p:sp>
      <p:sp>
        <p:nvSpPr>
          <p:cNvPr id="5735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DCE01299-4A3F-4E34-93E8-9D21E627B930}" type="slidenum">
              <a:rPr kumimoji="0" lang="en-US" altLang="zh-TW" smtClean="0"/>
              <a:pPr/>
              <a:t>29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38975270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Functional Programming</a:t>
            </a:r>
            <a:endParaRPr lang="zh-TW" altLang="en-US" dirty="0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956" y="1825625"/>
            <a:ext cx="6000087" cy="4351338"/>
          </a:xfrm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54428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Spark and Hadoop</a:t>
            </a:r>
            <a:endParaRPr lang="zh-TW" altLang="en-US"/>
          </a:p>
        </p:txBody>
      </p:sp>
      <p:pic>
        <p:nvPicPr>
          <p:cNvPr id="58371" name="內容版面配置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820864"/>
            <a:ext cx="8229600" cy="4084637"/>
          </a:xfrm>
        </p:spPr>
      </p:pic>
      <p:sp>
        <p:nvSpPr>
          <p:cNvPr id="5837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Big Data Analytics, Fall 2026</a:t>
            </a:r>
          </a:p>
        </p:txBody>
      </p:sp>
      <p:sp>
        <p:nvSpPr>
          <p:cNvPr id="5837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IFM</a:t>
            </a:r>
          </a:p>
        </p:txBody>
      </p:sp>
      <p:sp>
        <p:nvSpPr>
          <p:cNvPr id="5837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58A619FB-61C4-475A-ABFC-4F7C04686D3B}" type="slidenum">
              <a:rPr kumimoji="0" lang="en-US" altLang="zh-TW" smtClean="0"/>
              <a:pPr/>
              <a:t>31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19306720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Some Example Applications of Big Data Analytics</a:t>
            </a:r>
            <a:endParaRPr lang="zh-TW" altLang="en-US" dirty="0"/>
          </a:p>
        </p:txBody>
      </p:sp>
      <p:sp>
        <p:nvSpPr>
          <p:cNvPr id="4710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Web query analysis</a:t>
            </a:r>
          </a:p>
          <a:p>
            <a:r>
              <a:rPr lang="en-US" altLang="zh-TW" dirty="0"/>
              <a:t>Financial data analysis</a:t>
            </a:r>
          </a:p>
          <a:p>
            <a:r>
              <a:rPr lang="en-US" altLang="zh-TW" dirty="0"/>
              <a:t>Social network analysis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710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Big Data Analytics, Fall 2026</a:t>
            </a:r>
          </a:p>
        </p:txBody>
      </p:sp>
      <p:sp>
        <p:nvSpPr>
          <p:cNvPr id="4710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IFM</a:t>
            </a:r>
          </a:p>
        </p:txBody>
      </p:sp>
      <p:sp>
        <p:nvSpPr>
          <p:cNvPr id="4711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390315F8-ED82-4EDB-914A-1842373D5745}" type="slidenum">
              <a:rPr kumimoji="0" lang="en-US" altLang="zh-TW" smtClean="0"/>
              <a:pPr/>
              <a:t>32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31463568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>
          <a:xfrm>
            <a:off x="1828800" y="228600"/>
            <a:ext cx="8534400" cy="1143000"/>
          </a:xfrm>
        </p:spPr>
        <p:txBody>
          <a:bodyPr>
            <a:normAutofit/>
          </a:bodyPr>
          <a:lstStyle/>
          <a:p>
            <a:r>
              <a:rPr lang="en-US" altLang="zh-TW" dirty="0"/>
              <a:t>Example: Google </a:t>
            </a:r>
            <a:r>
              <a:rPr lang="en-US" altLang="zh-TW" dirty="0" err="1"/>
              <a:t>FluTrends</a:t>
            </a:r>
            <a:r>
              <a:rPr lang="en-US" altLang="zh-TW" dirty="0"/>
              <a:t> (GFT)</a:t>
            </a:r>
            <a:endParaRPr lang="zh-TW" altLang="en-US" dirty="0"/>
          </a:p>
        </p:txBody>
      </p:sp>
      <p:pic>
        <p:nvPicPr>
          <p:cNvPr id="9219" name="內容版面配置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17"/>
          <a:stretch>
            <a:fillRect/>
          </a:stretch>
        </p:blipFill>
        <p:spPr>
          <a:xfrm>
            <a:off x="2071689" y="1752600"/>
            <a:ext cx="8048625" cy="4267200"/>
          </a:xfrm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C8FB944-EC0E-4823-AEAE-035DE46B5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6CA9F11-683F-425B-AD93-EF2687D88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8EB499-9DB9-4BC5-BF4B-87F28E477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27153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“Traps in Big Data Analysis?”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altLang="zh-TW" dirty="0"/>
              <a:t>GFT failed missing at the peak of the 2013 flu season by 140 percent</a:t>
            </a:r>
          </a:p>
          <a:p>
            <a:pPr>
              <a:defRPr/>
            </a:pPr>
            <a:r>
              <a:rPr lang="en-US" altLang="zh-TW" dirty="0"/>
              <a:t>It’s dangerous to rely on Google Flu Trends for any decision-making</a:t>
            </a:r>
          </a:p>
          <a:p>
            <a:pPr>
              <a:defRPr/>
            </a:pPr>
            <a:r>
              <a:rPr lang="en-US" altLang="zh-TW" dirty="0"/>
              <a:t>For example, their algorithm is vulnerable to overfitting to seasonal terms unrelated to the flu, like “high school basketball.”</a:t>
            </a:r>
          </a:p>
          <a:p>
            <a:pPr>
              <a:defRPr/>
            </a:pPr>
            <a:r>
              <a:rPr lang="en-US" altLang="zh-TW" dirty="0"/>
              <a:t>Google also did not take into account changes in search behavior over time</a:t>
            </a:r>
          </a:p>
          <a:p>
            <a:pPr>
              <a:defRPr/>
            </a:pPr>
            <a:endParaRPr lang="en-US" altLang="zh-TW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defRPr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[Source: David </a:t>
            </a:r>
            <a:r>
              <a:rPr lang="en-US" altLang="zh-TW" dirty="0" err="1">
                <a:solidFill>
                  <a:schemeClr val="bg1">
                    <a:lumMod val="85000"/>
                  </a:schemeClr>
                </a:solidFill>
              </a:rPr>
              <a:t>Lazer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, Ryan Kennedy, Gary King, and Alessandro </a:t>
            </a:r>
            <a:r>
              <a:rPr lang="en-US" altLang="zh-TW" dirty="0" err="1">
                <a:solidFill>
                  <a:schemeClr val="bg1">
                    <a:lumMod val="85000"/>
                  </a:schemeClr>
                </a:solidFill>
              </a:rPr>
              <a:t>Vespignani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, The Parable of Google Flu: Traps in Big Data Analysis, </a:t>
            </a:r>
            <a:r>
              <a:rPr lang="en-US" altLang="zh-TW" b="1" i="1" cap="all" dirty="0">
                <a:solidFill>
                  <a:schemeClr val="bg1">
                    <a:lumMod val="85000"/>
                  </a:schemeClr>
                </a:solidFill>
              </a:rPr>
              <a:t>Science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, Vol 343, Issue 6176, pp. 1203-1205, 14 Mar 2014,</a:t>
            </a:r>
            <a:r>
              <a:rPr lang="en-US" altLang="zh-TW" u="sng" dirty="0">
                <a:solidFill>
                  <a:schemeClr val="bg1">
                    <a:lumMod val="85000"/>
                  </a:schemeClr>
                </a:solidFill>
                <a:hlinkClick r:id="rId2"/>
              </a:rPr>
              <a:t>DOI: 10.1126/science.1248506</a:t>
            </a:r>
            <a:r>
              <a:rPr lang="en-US" altLang="zh-TW" u="sng" dirty="0">
                <a:solidFill>
                  <a:schemeClr val="bg1">
                    <a:lumMod val="85000"/>
                  </a:schemeClr>
                </a:solidFill>
              </a:rPr>
              <a:t>]</a:t>
            </a:r>
            <a:endParaRPr lang="en-US" altLang="zh-TW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B263CD4-35FF-41C6-BE29-7D036FDC7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2FD9371-3CED-4E28-9CB7-9D27F7C7B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957102A-543F-4BAF-9276-4E923A68D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46904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Twitter Mood vs. Stock Market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712677" y="6173407"/>
            <a:ext cx="84868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[Source: Joshua </a:t>
            </a:r>
            <a:r>
              <a:rPr lang="en-US" altLang="zh-TW" dirty="0" err="1"/>
              <a:t>Bollen</a:t>
            </a:r>
            <a:r>
              <a:rPr lang="en-US" altLang="zh-TW" dirty="0"/>
              <a:t>, </a:t>
            </a:r>
            <a:r>
              <a:rPr lang="en-US" altLang="zh-TW" dirty="0" err="1"/>
              <a:t>Huina</a:t>
            </a:r>
            <a:r>
              <a:rPr lang="en-US" altLang="zh-TW" dirty="0"/>
              <a:t> Mao, and Xiao-Jun Zeng, </a:t>
            </a:r>
          </a:p>
          <a:p>
            <a:r>
              <a:rPr lang="en-US" altLang="zh-TW" dirty="0"/>
              <a:t>“Twitter Mood Predicts the Stock Market,” Journal of Computational Science, 2(1), 2011]</a:t>
            </a:r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84" y="2153179"/>
            <a:ext cx="6753225" cy="353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461" y="1625599"/>
            <a:ext cx="4130614" cy="4588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51913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dirty="0"/>
              <a:t>Example: Hot Topic Detection in Online Forums</a:t>
            </a:r>
            <a:endParaRPr lang="zh-TW" altLang="en-US" dirty="0"/>
          </a:p>
        </p:txBody>
      </p:sp>
      <p:pic>
        <p:nvPicPr>
          <p:cNvPr id="55299" name="內容版面配置區 6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3"/>
          <a:stretch/>
        </p:blipFill>
        <p:spPr>
          <a:xfrm>
            <a:off x="2071689" y="1600202"/>
            <a:ext cx="8048625" cy="4333460"/>
          </a:xfrm>
        </p:spPr>
      </p:pic>
      <p:sp>
        <p:nvSpPr>
          <p:cNvPr id="5530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Big Data Analytics, Fall 2026</a:t>
            </a:r>
            <a:endParaRPr kumimoji="0" lang="zh-TW" altLang="en-US"/>
          </a:p>
        </p:txBody>
      </p:sp>
      <p:sp>
        <p:nvSpPr>
          <p:cNvPr id="5530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IFM</a:t>
            </a:r>
            <a:endParaRPr kumimoji="0" lang="zh-TW" altLang="en-US"/>
          </a:p>
        </p:txBody>
      </p:sp>
      <p:sp>
        <p:nvSpPr>
          <p:cNvPr id="5530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307959FE-6EDE-4D2F-95B6-31F18C9138B5}" type="slidenum">
              <a:rPr kumimoji="0" lang="zh-TW" altLang="en-US" smtClean="0"/>
              <a:pPr/>
              <a:t>36</a:t>
            </a:fld>
            <a:endParaRPr kumimoji="0" lang="zh-TW" altLang="en-US"/>
          </a:p>
        </p:txBody>
      </p:sp>
    </p:spTree>
    <p:extLst>
      <p:ext uri="{BB962C8B-B14F-4D97-AF65-F5344CB8AC3E}">
        <p14:creationId xmlns:p14="http://schemas.microsoft.com/office/powerpoint/2010/main" val="14033110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Visualization of Crime Data Analysis Result</a:t>
            </a:r>
            <a:endParaRPr lang="zh-TW" altLang="en-US" dirty="0"/>
          </a:p>
        </p:txBody>
      </p:sp>
      <p:pic>
        <p:nvPicPr>
          <p:cNvPr id="56323" name="內容版面配置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4450" y="1600201"/>
            <a:ext cx="7023100" cy="4525963"/>
          </a:xfrm>
        </p:spPr>
      </p:pic>
      <p:sp>
        <p:nvSpPr>
          <p:cNvPr id="5632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Big Data Analytics, Fall 2026</a:t>
            </a:r>
            <a:endParaRPr kumimoji="0" lang="zh-TW" altLang="en-US"/>
          </a:p>
        </p:txBody>
      </p:sp>
      <p:sp>
        <p:nvSpPr>
          <p:cNvPr id="5632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/>
              <a:t>IFM</a:t>
            </a:r>
            <a:endParaRPr kumimoji="0" lang="zh-TW" altLang="en-US"/>
          </a:p>
        </p:txBody>
      </p:sp>
      <p:sp>
        <p:nvSpPr>
          <p:cNvPr id="5632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0197F3EC-29BE-4865-9229-E9C6940FD88B}" type="slidenum">
              <a:rPr kumimoji="0" lang="zh-TW" altLang="en-US" smtClean="0"/>
              <a:pPr/>
              <a:t>37</a:t>
            </a:fld>
            <a:endParaRPr kumimoji="0" lang="zh-TW" altLang="en-US"/>
          </a:p>
        </p:txBody>
      </p:sp>
      <p:sp>
        <p:nvSpPr>
          <p:cNvPr id="56327" name="矩形 7"/>
          <p:cNvSpPr>
            <a:spLocks noChangeArrowheads="1"/>
          </p:cNvSpPr>
          <p:nvPr/>
        </p:nvSpPr>
        <p:spPr bwMode="auto">
          <a:xfrm>
            <a:off x="6161088" y="1292225"/>
            <a:ext cx="45576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[Data source: US City Open Data Census] 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69182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Eric Siegel, Predictive Analytics: the power to predict who will click, buy, lie, or die, Wiley, 2013.</a:t>
            </a:r>
          </a:p>
          <a:p>
            <a:r>
              <a:rPr lang="en-US" altLang="zh-TW" dirty="0"/>
              <a:t>EMC Education services, Data Science and Big Data Analytics: discovering, analyzing, visualizing and presenting data, Wiley, 2015.</a:t>
            </a:r>
          </a:p>
          <a:p>
            <a:r>
              <a:rPr lang="en-US" altLang="zh-TW" dirty="0"/>
              <a:t>Jiawei Han, Micheline </a:t>
            </a:r>
            <a:r>
              <a:rPr lang="en-US" altLang="zh-TW" dirty="0" err="1"/>
              <a:t>Kamber</a:t>
            </a:r>
            <a:r>
              <a:rPr lang="en-US" altLang="zh-TW" dirty="0"/>
              <a:t> and Jian Pei, Data Mining: Concepts and Techniques, 3rd ed., Morgan Kaufmann Publishers, July 2011. (Chap. 1)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7024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Thanks for Your Attention!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Big Data Analytics, Fall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IFM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BFE9-2C33-4333-8A4D-756F9CC8721C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545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1180</TotalTime>
  <Words>1961</Words>
  <Application>Microsoft Office PowerPoint</Application>
  <PresentationFormat>寬螢幕</PresentationFormat>
  <Paragraphs>350</Paragraphs>
  <Slides>39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39</vt:i4>
      </vt:variant>
    </vt:vector>
  </HeadingPairs>
  <TitlesOfParts>
    <vt:vector size="46" baseType="lpstr">
      <vt:lpstr>新細明體</vt:lpstr>
      <vt:lpstr>Arial</vt:lpstr>
      <vt:lpstr>Calibri</vt:lpstr>
      <vt:lpstr>Calibri Light</vt:lpstr>
      <vt:lpstr>Impact</vt:lpstr>
      <vt:lpstr>Times New Roman</vt:lpstr>
      <vt:lpstr>Office 佈景主題</vt:lpstr>
      <vt:lpstr>Introduction to Big Data Analytics</vt:lpstr>
      <vt:lpstr>Outline</vt:lpstr>
      <vt:lpstr>An Example Scenario:  Ten Predictions for the First Hour of 2020 [Siegel, 2013]</vt:lpstr>
      <vt:lpstr>What is Big Data?</vt:lpstr>
      <vt:lpstr>Characteristics of Big Data</vt:lpstr>
      <vt:lpstr>Data Structures</vt:lpstr>
      <vt:lpstr>Differences from traditional data analysis</vt:lpstr>
      <vt:lpstr>What is Data Science?</vt:lpstr>
      <vt:lpstr>Data Engineering vs. Data Analysis</vt:lpstr>
      <vt:lpstr>Big Data vs. Data Mining</vt:lpstr>
      <vt:lpstr>Data Mining in Business Intelligence </vt:lpstr>
      <vt:lpstr>Big Data vs. Industry 4.0</vt:lpstr>
      <vt:lpstr>Data analytics in Cyber-Physical Systems</vt:lpstr>
      <vt:lpstr>Knowledge Discovery (KDD) Process</vt:lpstr>
      <vt:lpstr>Big Data vs. Data-Intensive Computing</vt:lpstr>
      <vt:lpstr>Data Analytics</vt:lpstr>
      <vt:lpstr>Descriptive analytics</vt:lpstr>
      <vt:lpstr>Diagnostic analytics </vt:lpstr>
      <vt:lpstr>Predictive analytics</vt:lpstr>
      <vt:lpstr>Prescriptive analytics</vt:lpstr>
      <vt:lpstr>Limits of Predictions</vt:lpstr>
      <vt:lpstr>Be Cautious! It’s not almighty</vt:lpstr>
      <vt:lpstr>What are we going to focus in this course?</vt:lpstr>
      <vt:lpstr>KDD Process: A Typical View from ML and Statistics</vt:lpstr>
      <vt:lpstr>Data Mining Function: Association and Correlation Analysis</vt:lpstr>
      <vt:lpstr>Data Mining Function: Classification</vt:lpstr>
      <vt:lpstr>Data Mining Function: Cluster Analysis</vt:lpstr>
      <vt:lpstr>Hadoop Architecture</vt:lpstr>
      <vt:lpstr>MapReduce</vt:lpstr>
      <vt:lpstr>Functional Programming</vt:lpstr>
      <vt:lpstr>Spark and Hadoop</vt:lpstr>
      <vt:lpstr>Some Example Applications of Big Data Analytics</vt:lpstr>
      <vt:lpstr>Example: Google FluTrends (GFT)</vt:lpstr>
      <vt:lpstr>“Traps in Big Data Analysis?”</vt:lpstr>
      <vt:lpstr>Example: Twitter Mood vs. Stock Market</vt:lpstr>
      <vt:lpstr>Example: Hot Topic Detection in Online Forums</vt:lpstr>
      <vt:lpstr>Example: Visualization of Crime Data Analysis Result</vt:lpstr>
      <vt:lpstr>References</vt:lpstr>
      <vt:lpstr>Thanks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Big Data Analytics</dc:title>
  <dc:creator>jhwang</dc:creator>
  <cp:lastModifiedBy>王正豪</cp:lastModifiedBy>
  <cp:revision>39</cp:revision>
  <cp:lastPrinted>2017-03-02T10:53:19Z</cp:lastPrinted>
  <dcterms:created xsi:type="dcterms:W3CDTF">2017-02-20T06:40:24Z</dcterms:created>
  <dcterms:modified xsi:type="dcterms:W3CDTF">2026-09-27T07:29:59Z</dcterms:modified>
</cp:coreProperties>
</file>