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7" r:id="rId8"/>
    <p:sldId id="268" r:id="rId9"/>
    <p:sldId id="262" r:id="rId10"/>
    <p:sldId id="261" r:id="rId1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B6AB852-8FF6-1C3E-648F-6A0866E739B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9416DC8-C11F-94C4-D794-8C405E96ACE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CD4D038-CCFE-55F9-AE3E-9F262C2F684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E66678C7-633F-2846-11F5-AEED806B43E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D3078DAE-1E7B-727E-FBE2-2E48864DDF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E37584CC-C22D-63C0-03CD-16A89CE13D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DB402E6B-BAF0-4F33-B922-95A319A7FEB4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3D706898-227B-27E0-9426-8C4EA10653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3211038-B419-44A0-A2C9-5F068872E8B9}" type="slidenum">
              <a:rPr lang="en-US" altLang="zh-TW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D09B30F0-06C1-65C2-D16C-3B917C6E3E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61D92F06-9082-7CB8-E965-E22C8EA6F1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5D8D42B-F315-98AF-A682-607AFA424F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D744E0-9400-45B9-B280-792528AB9BE6}" type="slidenum">
              <a:rPr lang="en-US" altLang="zh-TW"/>
              <a:pPr>
                <a:spcBef>
                  <a:spcPct val="0"/>
                </a:spcBef>
              </a:pPr>
              <a:t>2</a:t>
            </a:fld>
            <a:endParaRPr lang="en-US" altLang="zh-TW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B7DA861-4A1E-130D-1125-139F2F88D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2FCAECF-3B6A-8DDF-F08A-C09D961439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17F12F59-AED0-6D35-8271-4AA0956BA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1417E01-C408-4933-9680-7A03739B29E5}" type="slidenum">
              <a:rPr lang="en-US" altLang="zh-TW"/>
              <a:pPr>
                <a:spcBef>
                  <a:spcPct val="0"/>
                </a:spcBef>
              </a:pPr>
              <a:t>3</a:t>
            </a:fld>
            <a:endParaRPr lang="en-US" altLang="zh-TW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1B66CE4-F039-F1A8-3F80-AA73728EEB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325B9DA4-13A8-A035-B7B9-6A85B770B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42FE15D3-9D28-54E1-A935-9DD4B8794C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6F95559-9408-44C4-A505-B0A14CF3DA00}" type="slidenum">
              <a:rPr lang="en-US" altLang="zh-TW"/>
              <a:pPr>
                <a:spcBef>
                  <a:spcPct val="0"/>
                </a:spcBef>
              </a:pPr>
              <a:t>4</a:t>
            </a:fld>
            <a:endParaRPr lang="en-US" altLang="zh-TW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52009377-3449-ADB4-07E6-8559CDF4AB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A1702758-475A-5744-489D-1A400A529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85085040-EC09-2141-1E4A-4CFBB1B705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F93FB0-D7E8-4C92-A54C-934516B6020A}" type="slidenum">
              <a:rPr lang="en-US" altLang="zh-TW"/>
              <a:pPr>
                <a:spcBef>
                  <a:spcPct val="0"/>
                </a:spcBef>
              </a:pPr>
              <a:t>5</a:t>
            </a:fld>
            <a:endParaRPr lang="en-US" altLang="zh-TW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EE975803-CCD4-780D-2FC5-3C307B538D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DC03A574-6CAF-8696-7B5C-1692FF8654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DBA73F75-9168-CC11-1F7D-14341DFA82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FE2229-CBA3-4373-B78D-C2AAF7E26114}" type="slidenum">
              <a:rPr lang="en-US" altLang="zh-TW"/>
              <a:pPr>
                <a:spcBef>
                  <a:spcPct val="0"/>
                </a:spcBef>
              </a:pPr>
              <a:t>9</a:t>
            </a:fld>
            <a:endParaRPr lang="en-US" altLang="zh-TW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1533C59E-A914-FA09-9909-E5E7C77FB4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8A9F3294-7741-B40A-3173-7C5F46AB8D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F65062C4-FB19-9BFA-A4C4-DA6007D2CC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C24F4ED-D0A3-4223-98B2-AEC7284DE302}" type="slidenum">
              <a:rPr lang="en-US" altLang="zh-TW"/>
              <a:pPr>
                <a:spcBef>
                  <a:spcPct val="0"/>
                </a:spcBef>
              </a:pPr>
              <a:t>10</a:t>
            </a:fld>
            <a:endParaRPr lang="en-US" altLang="zh-TW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DF0EE279-06B4-DD07-2CDE-45D46C275D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12FDB665-F3CB-8C4F-C716-99EC2447F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AD98DB-2E58-960A-B2BF-AD78A24896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1BEDF7-F4CE-052E-6893-0C9DD33DDE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DC9C08-313C-01C8-E824-BAACD787E5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55168F-75DF-4D7F-A60D-76AA1A238E9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30006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BBAA6B-1B67-5FA6-5C53-4836DEBF26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453BFC-DB6C-FAAE-D55A-B5CEE7C0E8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963D5A-23BE-0BCC-B9D0-DE51AD043A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83F406-271E-491F-9DA2-EC03168CC31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39426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772EF4-A2BD-6CD0-612C-07C166091E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8F792AC-33E7-DE0E-0FB6-829A3385C4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66021BA-775E-7B74-591F-5C7F894836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22A47B-4779-41E4-9B18-765D064024C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55696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F3A13C-D5E9-BA6C-5EC3-B1E2628766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31E254-8BD0-4A6A-B559-228825941C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D5E6E4-4503-D422-5429-F6317DE980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8F0B1D-CBA4-4A3C-ABDF-7FB63AB65DC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428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CB07346-A289-041A-130E-C515596D17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6DDD6BE-8962-17F8-D97C-E9FAA28F1B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5AE248F-96F7-97D8-2E39-435E6EEC6B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15A5C2-A82C-4FA9-B897-AFC3F336904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73127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7A6BC84-055E-DC14-B007-DB79B3C0F1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F0ADEC4-3A5F-6E96-526D-F80E66AAED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400A25C-F682-5229-415A-C18E726FF3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7979CC-F0D0-487D-B72B-BC5986B3916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76987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5B35160-EDAC-D203-5CD4-10D4E6828B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AC2D84-136D-6AA2-7652-845747887F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3E447B2-FBC0-FC92-1EF7-CE1730593E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59DCE8-BA8C-4BFC-98F6-78811441A60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46620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A90B7-6C11-1722-ECF8-9B3CD2B0C6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163B0D-4BC0-75EC-8EB8-6C93EB8479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734312-7F45-E6E9-419B-8C8A69DED3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A41B45-23C9-4067-A942-5727991E831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1527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2DD4DF-17B4-BABF-6BB5-5F4D2C41B3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3E95C7-8714-992B-15C1-037C311E83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2AD6D3-660D-5C82-B0AB-513864BCF2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38032A-C3A3-440D-8D53-C1E1C60C9C1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666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89DAE9-1B62-EB58-9CC4-F473B11A38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1B76F6-F5A1-4DE6-EBDA-5AAF0E48B1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614978-447D-E9C3-5E6F-79C66DFB09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741F2E-99C1-4E65-9AD4-482E0393D3D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92439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B1C5580-47BC-7115-848F-426C04776E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125BE1-D106-6EBE-61DA-424895204B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6F4327-FE44-5E08-2391-42D12DEA07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FFE675-3305-47C5-8D2D-5E01D4CBEEA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87846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4E055ED-BB67-7F83-DEFD-0488EA57AE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00DD19A-DFFD-985A-3A42-A40812617F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8FEB164-3CB9-FDED-C62F-A1E7BB221F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A5F8292-2DA2-FD1B-6A19-25F2C85DE19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A7EE054-04CA-50B0-420F-6FED6FD5B00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新細明體" panose="02020500000000000000" pitchFamily="18" charset="-120"/>
              </a:defRPr>
            </a:lvl1pPr>
          </a:lstStyle>
          <a:p>
            <a:fld id="{6B4FCFC3-CEAF-47ED-B76F-432B5E2CEE4B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cup.tw/ai-cup-2026-competi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cup.tw/ai-cup-2026-competitio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EBF01F6-6F06-AE7A-B005-DE54B50320C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Proposal for Term Project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EF88A30-43A8-0130-FBD8-CD04BC65A91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J. H. Wang</a:t>
            </a:r>
          </a:p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Oct.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075329B-97A5-8FBB-89E2-F59E7E5CF9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Options and Schedule </a:t>
            </a:r>
            <a:br>
              <a:rPr lang="en-US" altLang="zh-TW">
                <a:ea typeface="新細明體" panose="02020500000000000000" pitchFamily="18" charset="-120"/>
              </a:rPr>
            </a:br>
            <a:r>
              <a:rPr lang="en-US" altLang="zh-TW">
                <a:ea typeface="新細明體" panose="02020500000000000000" pitchFamily="18" charset="-120"/>
              </a:rPr>
              <a:t>for Term Projects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F891A65-A533-8DE5-E7BD-EEFFF2959B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n-US" altLang="zh-TW" sz="2800" dirty="0">
                <a:ea typeface="新細明體" charset="-120"/>
              </a:rPr>
              <a:t>Options for term projects</a:t>
            </a:r>
          </a:p>
          <a:p>
            <a:pPr lvl="1" eaLnBrk="1" hangingPunct="1">
              <a:defRPr/>
            </a:pPr>
            <a:r>
              <a:rPr lang="en-US" altLang="zh-TW" sz="2400" dirty="0">
                <a:ea typeface="新細明體" charset="-120"/>
              </a:rPr>
              <a:t>Option 1: team-based system project </a:t>
            </a:r>
          </a:p>
          <a:p>
            <a:pPr lvl="2" eaLnBrk="1" hangingPunct="1">
              <a:defRPr/>
            </a:pPr>
            <a:r>
              <a:rPr lang="en-US" altLang="zh-TW" sz="2000" dirty="0">
                <a:ea typeface="新細明體" charset="-120"/>
              </a:rPr>
              <a:t>e.g., extension to homework exercises</a:t>
            </a:r>
          </a:p>
          <a:p>
            <a:pPr lvl="2" eaLnBrk="1" hangingPunct="1">
              <a:defRPr/>
            </a:pPr>
            <a:r>
              <a:rPr lang="en-US" altLang="zh-TW" sz="2000" dirty="0">
                <a:solidFill>
                  <a:srgbClr val="FF0000"/>
                </a:solidFill>
                <a:ea typeface="新細明體" charset="-120"/>
              </a:rPr>
              <a:t>At most two</a:t>
            </a:r>
            <a:r>
              <a:rPr lang="en-US" altLang="zh-TW" sz="2000" dirty="0">
                <a:ea typeface="新細明體" charset="-120"/>
              </a:rPr>
              <a:t> persons per team</a:t>
            </a:r>
          </a:p>
          <a:p>
            <a:pPr lvl="1" eaLnBrk="1" hangingPunct="1">
              <a:defRPr/>
            </a:pPr>
            <a:r>
              <a:rPr lang="en-US" altLang="zh-TW" sz="2400" dirty="0">
                <a:ea typeface="新細明體" charset="-120"/>
              </a:rPr>
              <a:t>Option 2: academic paper presentation</a:t>
            </a:r>
          </a:p>
          <a:p>
            <a:pPr lvl="2" eaLnBrk="1" hangingPunct="1">
              <a:defRPr/>
            </a:pPr>
            <a:r>
              <a:rPr lang="en-US" altLang="zh-TW" sz="2000" dirty="0">
                <a:ea typeface="新細明體" charset="-120"/>
              </a:rPr>
              <a:t>Only one person, </a:t>
            </a:r>
            <a:r>
              <a:rPr lang="en-US" altLang="zh-TW" sz="2000" i="1" dirty="0">
                <a:ea typeface="新細明體" charset="-120"/>
              </a:rPr>
              <a:t>NOT</a:t>
            </a:r>
            <a:r>
              <a:rPr lang="en-US" altLang="zh-TW" sz="2000" dirty="0">
                <a:ea typeface="新細明體" charset="-120"/>
              </a:rPr>
              <a:t> team-based</a:t>
            </a:r>
          </a:p>
          <a:p>
            <a:pPr eaLnBrk="1" hangingPunct="1">
              <a:defRPr/>
            </a:pPr>
            <a:r>
              <a:rPr lang="en-US" altLang="zh-TW" sz="2800" dirty="0">
                <a:ea typeface="新細明體" charset="-120"/>
              </a:rPr>
              <a:t>Tentative schedule for all teams:</a:t>
            </a:r>
          </a:p>
          <a:p>
            <a:pPr lvl="1" eaLnBrk="1" hangingPunct="1">
              <a:defRPr/>
            </a:pPr>
            <a:r>
              <a:rPr lang="en-US" altLang="zh-TW" sz="2400" b="1" dirty="0"/>
              <a:t>Proposal</a:t>
            </a:r>
            <a:r>
              <a:rPr lang="en-US" altLang="zh-TW" sz="2400" dirty="0"/>
              <a:t>: *required* one week after midterm (</a:t>
            </a:r>
            <a:r>
              <a:rPr lang="en-US" altLang="zh-TW" sz="2400" dirty="0">
                <a:solidFill>
                  <a:srgbClr val="FF0000"/>
                </a:solidFill>
              </a:rPr>
              <a:t>Nov. 18, 2026</a:t>
            </a:r>
            <a:r>
              <a:rPr lang="en-US" altLang="zh-TW" sz="2400" dirty="0"/>
              <a:t>)</a:t>
            </a:r>
          </a:p>
          <a:p>
            <a:pPr lvl="1" eaLnBrk="1" hangingPunct="1">
              <a:defRPr/>
            </a:pPr>
            <a:r>
              <a:rPr lang="en-US" altLang="zh-TW" sz="2400" b="1" dirty="0"/>
              <a:t>Presentations</a:t>
            </a:r>
            <a:r>
              <a:rPr lang="en-US" altLang="zh-TW" sz="2400" dirty="0"/>
              <a:t> (including demos): *required* in the last </a:t>
            </a:r>
            <a:r>
              <a:rPr lang="en-US" altLang="zh-TW" sz="2400" dirty="0">
                <a:solidFill>
                  <a:srgbClr val="0000FF"/>
                </a:solidFill>
              </a:rPr>
              <a:t>four</a:t>
            </a:r>
            <a:r>
              <a:rPr lang="en-US" altLang="zh-TW" sz="2400" dirty="0"/>
              <a:t> weeks (starting from </a:t>
            </a:r>
            <a:r>
              <a:rPr lang="en-US" altLang="zh-TW" sz="2400" dirty="0">
                <a:solidFill>
                  <a:srgbClr val="FF0000"/>
                </a:solidFill>
              </a:rPr>
              <a:t>Dec. 16, 2026</a:t>
            </a:r>
            <a:r>
              <a:rPr lang="en-US" altLang="zh-TW" sz="2400" dirty="0"/>
              <a:t>)</a:t>
            </a:r>
          </a:p>
          <a:p>
            <a:pPr lvl="1" eaLnBrk="1" hangingPunct="1">
              <a:defRPr/>
            </a:pPr>
            <a:r>
              <a:rPr lang="en-US" altLang="zh-TW" sz="2400" b="1" dirty="0"/>
              <a:t>Final report</a:t>
            </a:r>
            <a:r>
              <a:rPr lang="en-US" altLang="zh-TW" sz="2400" dirty="0"/>
              <a:t>: *required* before the end of the semester (</a:t>
            </a:r>
            <a:r>
              <a:rPr lang="en-US" altLang="zh-TW" sz="2400" dirty="0">
                <a:solidFill>
                  <a:srgbClr val="FF0000"/>
                </a:solidFill>
              </a:rPr>
              <a:t>Jan. 8, 2027</a:t>
            </a:r>
            <a:r>
              <a:rPr lang="en-US" altLang="zh-TW" sz="2400" dirty="0"/>
              <a:t>)</a:t>
            </a:r>
          </a:p>
          <a:p>
            <a:pPr lvl="2" eaLnBrk="1" hangingPunct="1">
              <a:defRPr/>
            </a:pPr>
            <a:r>
              <a:rPr lang="en-US" altLang="zh-TW" sz="2000" dirty="0"/>
              <a:t>Slides, source code, 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7784BB2-CFEC-8365-3B98-BD13F8712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>
                <a:ea typeface="新細明體" panose="02020500000000000000" pitchFamily="18" charset="-120"/>
              </a:rPr>
              <a:t>Proposal (for System Projects)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E9D0870-384F-5AD6-E610-0D040440D3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n-US" altLang="zh-TW" sz="2800" dirty="0">
                <a:ea typeface="新細明體" charset="-120"/>
              </a:rPr>
              <a:t>A one-page description of ideas about your system</a:t>
            </a:r>
          </a:p>
          <a:p>
            <a:pPr lvl="1" eaLnBrk="1" hangingPunct="1">
              <a:defRPr/>
            </a:pPr>
            <a:r>
              <a:rPr lang="en-US" altLang="zh-TW" sz="2400" i="1" dirty="0">
                <a:ea typeface="新細明體" charset="-120"/>
              </a:rPr>
              <a:t>Introduction</a:t>
            </a:r>
            <a:r>
              <a:rPr lang="en-US" altLang="zh-TW" sz="2400" dirty="0">
                <a:ea typeface="新細明體" charset="-120"/>
              </a:rPr>
              <a:t>: an overview of the problem that you</a:t>
            </a:r>
            <a:r>
              <a:rPr lang="en-US" altLang="zh-TW" sz="2400" dirty="0">
                <a:latin typeface="Arial"/>
                <a:ea typeface="新細明體" charset="-120"/>
              </a:rPr>
              <a:t>’</a:t>
            </a:r>
            <a:r>
              <a:rPr lang="en-US" altLang="zh-TW" sz="2400" dirty="0">
                <a:ea typeface="新細明體" charset="-120"/>
              </a:rPr>
              <a:t>re trying to deal with</a:t>
            </a:r>
          </a:p>
          <a:p>
            <a:pPr lvl="1" eaLnBrk="1" hangingPunct="1">
              <a:defRPr/>
            </a:pPr>
            <a:r>
              <a:rPr lang="en-US" altLang="zh-TW" sz="2400" i="1" dirty="0">
                <a:ea typeface="新細明體" charset="-120"/>
              </a:rPr>
              <a:t>Methods</a:t>
            </a:r>
            <a:r>
              <a:rPr lang="en-US" altLang="zh-TW" sz="2400" dirty="0">
                <a:ea typeface="新細明體" charset="-120"/>
              </a:rPr>
              <a:t>: possible issues, and the major ideas on your design or selected tools to solve the problem</a:t>
            </a:r>
          </a:p>
          <a:p>
            <a:pPr lvl="1" eaLnBrk="1" hangingPunct="1">
              <a:defRPr/>
            </a:pPr>
            <a:r>
              <a:rPr lang="en-US" altLang="zh-TW" sz="2400" b="1" i="1" dirty="0">
                <a:solidFill>
                  <a:srgbClr val="FF0000"/>
                </a:solidFill>
                <a:ea typeface="新細明體" charset="-120"/>
              </a:rPr>
              <a:t>Team members</a:t>
            </a:r>
            <a:r>
              <a:rPr lang="en-US" altLang="zh-TW" sz="2400" dirty="0">
                <a:solidFill>
                  <a:srgbClr val="0000FF"/>
                </a:solidFill>
                <a:ea typeface="新細明體" charset="-120"/>
              </a:rPr>
              <a:t>:</a:t>
            </a:r>
            <a:r>
              <a:rPr lang="en-US" altLang="zh-TW" sz="2400" dirty="0">
                <a:ea typeface="新細明體" charset="-120"/>
              </a:rPr>
              <a:t> the names and the responsibilities of each individual member *must* be clearly identified</a:t>
            </a:r>
          </a:p>
          <a:p>
            <a:pPr lvl="1" eaLnBrk="1" hangingPunct="1">
              <a:defRPr/>
            </a:pPr>
            <a:r>
              <a:rPr lang="en-US" altLang="zh-TW" sz="2400" b="1" i="1" dirty="0">
                <a:solidFill>
                  <a:srgbClr val="0000FF"/>
                </a:solidFill>
                <a:ea typeface="新細明體" charset="-120"/>
              </a:rPr>
              <a:t>Preferred time slots</a:t>
            </a:r>
            <a:r>
              <a:rPr lang="en-US" altLang="zh-TW" sz="2400" dirty="0">
                <a:solidFill>
                  <a:srgbClr val="0000FF"/>
                </a:solidFill>
                <a:ea typeface="新細明體" charset="-120"/>
              </a:rPr>
              <a:t>:</a:t>
            </a:r>
            <a:r>
              <a:rPr lang="en-US" altLang="zh-TW" sz="2400" dirty="0">
                <a:ea typeface="新細明體" charset="-120"/>
              </a:rPr>
              <a:t> your preferred time slots within the last four weeks</a:t>
            </a:r>
          </a:p>
          <a:p>
            <a:pPr eaLnBrk="1" hangingPunct="1">
              <a:defRPr/>
            </a:pPr>
            <a:r>
              <a:rPr lang="en-US" altLang="zh-TW" sz="2800" dirty="0">
                <a:ea typeface="新細明體" charset="-120"/>
              </a:rPr>
              <a:t>A 15</a:t>
            </a:r>
            <a:r>
              <a:rPr lang="en-US" altLang="zh-TW" sz="2800" dirty="0">
                <a:solidFill>
                  <a:srgbClr val="0000FF"/>
                </a:solidFill>
                <a:ea typeface="新細明體" charset="-120"/>
              </a:rPr>
              <a:t>-minute</a:t>
            </a:r>
            <a:r>
              <a:rPr lang="en-US" altLang="zh-TW" sz="2800" dirty="0">
                <a:ea typeface="新細明體" charset="-120"/>
              </a:rPr>
              <a:t> presentation that focuses on the ideas of your design including demo followed by Q&amp;A</a:t>
            </a:r>
          </a:p>
          <a:p>
            <a:pPr eaLnBrk="1" hangingPunct="1">
              <a:defRPr/>
            </a:pPr>
            <a:r>
              <a:rPr lang="en-US" altLang="zh-TW" sz="2800" dirty="0">
                <a:solidFill>
                  <a:srgbClr val="FF0000"/>
                </a:solidFill>
                <a:ea typeface="新細明體" charset="-120"/>
              </a:rPr>
              <a:t>System functionalities </a:t>
            </a:r>
            <a:r>
              <a:rPr lang="en-US" altLang="zh-TW" sz="2800" dirty="0">
                <a:solidFill>
                  <a:srgbClr val="0000FF"/>
                </a:solidFill>
                <a:ea typeface="新細明體" charset="-120"/>
              </a:rPr>
              <a:t>and presentations </a:t>
            </a:r>
            <a:r>
              <a:rPr lang="en-US" altLang="zh-TW" sz="2800" dirty="0">
                <a:ea typeface="新細明體" charset="-120"/>
              </a:rPr>
              <a:t>will be counted in the score</a:t>
            </a:r>
          </a:p>
          <a:p>
            <a:pPr eaLnBrk="1" hangingPunct="1">
              <a:defRPr/>
            </a:pPr>
            <a:endParaRPr lang="en-US" altLang="zh-TW" sz="2800" dirty="0">
              <a:ea typeface="新細明體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0BAA215-2705-B8C0-BBE2-2A752C45FE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Proposal (for Paper Presentation)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E5DD074-2741-CC4D-6E89-DD02E847B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A one-page description of your selected papers to present</a:t>
            </a:r>
          </a:p>
          <a:p>
            <a:pPr lvl="1" eaLnBrk="1" hangingPunct="1">
              <a:defRPr/>
            </a:pPr>
            <a:r>
              <a:rPr lang="en-US" altLang="zh-TW" i="1" dirty="0">
                <a:ea typeface="新細明體" charset="-120"/>
              </a:rPr>
              <a:t>Introduction</a:t>
            </a:r>
            <a:r>
              <a:rPr lang="en-US" altLang="zh-TW" dirty="0">
                <a:ea typeface="新細明體" charset="-120"/>
              </a:rPr>
              <a:t>: an overview of your selected paper which is related to information retrieval</a:t>
            </a:r>
          </a:p>
          <a:p>
            <a:pPr lvl="2" eaLnBrk="1" hangingPunct="1">
              <a:defRPr/>
            </a:pPr>
            <a:r>
              <a:rPr lang="en-US" altLang="zh-TW" dirty="0">
                <a:ea typeface="新細明體" charset="-120"/>
              </a:rPr>
              <a:t>Thesis not included</a:t>
            </a:r>
          </a:p>
          <a:p>
            <a:pPr lvl="1" eaLnBrk="1" hangingPunct="1">
              <a:defRPr/>
            </a:pPr>
            <a:r>
              <a:rPr lang="en-US" altLang="zh-TW" i="1" dirty="0" err="1">
                <a:ea typeface="新細明體" charset="-120"/>
              </a:rPr>
              <a:t>Keypoints</a:t>
            </a:r>
            <a:r>
              <a:rPr lang="en-US" altLang="zh-TW" dirty="0">
                <a:ea typeface="新細明體" charset="-120"/>
              </a:rPr>
              <a:t>: main content of your selected paper including methods, major contribution, experimental results</a:t>
            </a:r>
          </a:p>
          <a:p>
            <a:pPr lvl="1" eaLnBrk="1" hangingPunct="1">
              <a:defRPr/>
            </a:pPr>
            <a:r>
              <a:rPr lang="en-US" altLang="zh-TW" b="1" i="1" dirty="0">
                <a:solidFill>
                  <a:srgbClr val="0000FF"/>
                </a:solidFill>
                <a:ea typeface="新細明體" charset="-120"/>
              </a:rPr>
              <a:t>Preferred time slots</a:t>
            </a:r>
            <a:r>
              <a:rPr lang="en-US" altLang="zh-TW" dirty="0">
                <a:solidFill>
                  <a:srgbClr val="0000FF"/>
                </a:solidFill>
                <a:ea typeface="新細明體" charset="-120"/>
              </a:rPr>
              <a:t>:</a:t>
            </a:r>
            <a:r>
              <a:rPr lang="en-US" altLang="zh-TW" dirty="0">
                <a:ea typeface="新細明體" charset="-120"/>
              </a:rPr>
              <a:t> your preferred time slots within the last four weeks</a:t>
            </a:r>
            <a:endParaRPr lang="en-US" altLang="zh-TW" dirty="0">
              <a:latin typeface="Arial"/>
              <a:ea typeface="新細明體" charset="-120"/>
            </a:endParaRPr>
          </a:p>
          <a:p>
            <a:pPr marL="742950" lvl="2" indent="-342900" eaLnBrk="1" hangingPunct="1">
              <a:defRPr/>
            </a:pPr>
            <a:r>
              <a:rPr lang="en-US" altLang="zh-TW" dirty="0">
                <a:solidFill>
                  <a:srgbClr val="0000FF"/>
                </a:solidFill>
                <a:ea typeface="新細明體" charset="-120"/>
              </a:rPr>
              <a:t>No</a:t>
            </a:r>
            <a:r>
              <a:rPr lang="en-US" altLang="zh-TW" dirty="0">
                <a:ea typeface="新細明體" charset="-120"/>
              </a:rPr>
              <a:t> team work allowed</a:t>
            </a:r>
          </a:p>
          <a:p>
            <a:pPr marL="342900" lvl="1" indent="-342900" eaLnBrk="1" hangingPunct="1">
              <a:buFontTx/>
              <a:buChar char="•"/>
              <a:defRPr/>
            </a:pPr>
            <a:r>
              <a:rPr lang="en-US" altLang="zh-TW" dirty="0">
                <a:ea typeface="新細明體" charset="-120"/>
              </a:rPr>
              <a:t>A 15</a:t>
            </a:r>
            <a:r>
              <a:rPr lang="en-US" altLang="zh-TW" dirty="0">
                <a:solidFill>
                  <a:srgbClr val="0000FF"/>
                </a:solidFill>
                <a:ea typeface="新細明體" charset="-120"/>
              </a:rPr>
              <a:t>-minute </a:t>
            </a:r>
            <a:r>
              <a:rPr lang="en-US" altLang="zh-TW" dirty="0">
                <a:ea typeface="新細明體" charset="-120"/>
              </a:rPr>
              <a:t>presentation that focuses on the major ideas in your selected paper followed by Q&amp;A</a:t>
            </a:r>
          </a:p>
          <a:p>
            <a:pPr marL="342900" lvl="1" indent="-342900" eaLnBrk="1" hangingPunct="1">
              <a:buFontTx/>
              <a:buChar char="•"/>
              <a:defRPr/>
            </a:pPr>
            <a:r>
              <a:rPr lang="en-US" altLang="zh-TW" dirty="0">
                <a:solidFill>
                  <a:srgbClr val="FF0000"/>
                </a:solidFill>
                <a:ea typeface="新細明體" charset="-120"/>
              </a:rPr>
              <a:t>Paper quality</a:t>
            </a:r>
            <a:r>
              <a:rPr lang="en-US" altLang="zh-TW" dirty="0">
                <a:solidFill>
                  <a:srgbClr val="0000FF"/>
                </a:solidFill>
                <a:ea typeface="新細明體" charset="-120"/>
              </a:rPr>
              <a:t> and presentations</a:t>
            </a:r>
            <a:r>
              <a:rPr lang="en-US" altLang="zh-TW" dirty="0">
                <a:ea typeface="新細明體" charset="-120"/>
              </a:rPr>
              <a:t> will greatly affect the score</a:t>
            </a:r>
          </a:p>
          <a:p>
            <a:pPr lvl="1" eaLnBrk="1" hangingPunct="1">
              <a:defRPr/>
            </a:pPr>
            <a:r>
              <a:rPr lang="en-US" altLang="zh-TW" dirty="0">
                <a:ea typeface="新細明體" charset="-120"/>
              </a:rPr>
              <a:t>Recommended sources: latest papers preferred</a:t>
            </a:r>
          </a:p>
          <a:p>
            <a:pPr lvl="2" eaLnBrk="1" hangingPunct="1">
              <a:defRPr/>
            </a:pPr>
            <a:r>
              <a:rPr lang="en-US" altLang="zh-TW" dirty="0">
                <a:ea typeface="新細明體" charset="-120"/>
              </a:rPr>
              <a:t>Top conferences: ACM SIGIR, CIKM, WWW, JCDL, </a:t>
            </a:r>
            <a:r>
              <a:rPr lang="en-US" altLang="zh-TW" dirty="0">
                <a:latin typeface="Arial"/>
                <a:ea typeface="新細明體" charset="-120"/>
              </a:rPr>
              <a:t>…</a:t>
            </a:r>
            <a:endParaRPr lang="en-US" altLang="zh-TW" dirty="0">
              <a:ea typeface="新細明體" charset="-120"/>
            </a:endParaRPr>
          </a:p>
          <a:p>
            <a:pPr lvl="2" eaLnBrk="1" hangingPunct="1">
              <a:defRPr/>
            </a:pPr>
            <a:r>
              <a:rPr lang="en-US" altLang="zh-TW" dirty="0">
                <a:ea typeface="新細明體" charset="-120"/>
              </a:rPr>
              <a:t>Journals: TOIS, JASIST, IP&amp;M, 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3FBF54C-1677-E8D9-D2F8-7D51C6632C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>
                <a:ea typeface="新細明體" panose="02020500000000000000" pitchFamily="18" charset="-120"/>
              </a:rPr>
              <a:t>Possible Topics for Systems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13FFCA6-DBC1-1671-521C-5463C63726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Competitions in </a:t>
            </a:r>
            <a:r>
              <a:rPr lang="en-US" altLang="zh-TW" sz="2400" dirty="0">
                <a:solidFill>
                  <a:srgbClr val="FF0000"/>
                </a:solidFill>
                <a:ea typeface="新細明體" panose="02020500000000000000" pitchFamily="18" charset="-120"/>
              </a:rPr>
              <a:t>AI Cup 2026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srgbClr val="FF0000"/>
                </a:solidFill>
                <a:ea typeface="新細明體" panose="02020500000000000000" pitchFamily="18" charset="-120"/>
                <a:hlinkClick r:id="rId3"/>
              </a:rPr>
              <a:t>https://www.aicup.tw/ai-cup-2026-competition</a:t>
            </a:r>
            <a:r>
              <a:rPr lang="en-US" altLang="zh-TW" sz="2000" dirty="0">
                <a:solidFill>
                  <a:srgbClr val="FF0000"/>
                </a:solidFill>
                <a:ea typeface="新細明體" panose="02020500000000000000" pitchFamily="18" charset="-12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Extension to your prototype retrieval system based on programming exercises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Any IR-related topic that you think </a:t>
            </a:r>
            <a:r>
              <a:rPr lang="en-US" altLang="zh-TW" sz="2400" dirty="0">
                <a:solidFill>
                  <a:srgbClr val="0000FF"/>
                </a:solidFill>
                <a:ea typeface="新細明體" panose="02020500000000000000" pitchFamily="18" charset="-120"/>
              </a:rPr>
              <a:t>interesting</a:t>
            </a:r>
            <a:r>
              <a:rPr lang="en-US" altLang="zh-TW" sz="2400" dirty="0">
                <a:ea typeface="新細明體" panose="02020500000000000000" pitchFamily="18" charset="-120"/>
              </a:rPr>
              <a:t> and </a:t>
            </a:r>
            <a:r>
              <a:rPr lang="en-US" altLang="zh-TW" sz="2400" dirty="0">
                <a:solidFill>
                  <a:srgbClr val="0000FF"/>
                </a:solidFill>
                <a:ea typeface="新細明體" panose="02020500000000000000" pitchFamily="18" charset="-120"/>
              </a:rPr>
              <a:t>non-trivial</a:t>
            </a:r>
            <a:r>
              <a:rPr lang="en-US" altLang="zh-TW" sz="2400" dirty="0">
                <a:ea typeface="新細明體" panose="02020500000000000000" pitchFamily="18" charset="-120"/>
              </a:rPr>
              <a:t> to implement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2000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標題 1">
            <a:extLst>
              <a:ext uri="{FF2B5EF4-FFF2-40B4-BE49-F238E27FC236}">
                <a16:creationId xmlns:a16="http://schemas.microsoft.com/office/drawing/2014/main" id="{F3E58EDA-77EF-683A-C2C2-0124BC80D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Option #1: Competitions in AI Cup 2026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13315" name="內容版面配置區 2">
            <a:extLst>
              <a:ext uri="{FF2B5EF4-FFF2-40B4-BE49-F238E27FC236}">
                <a16:creationId xmlns:a16="http://schemas.microsoft.com/office/drawing/2014/main" id="{11D644BE-314C-FCFC-2C3E-6AD408220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  <a:hlinkClick r:id="rId2"/>
              </a:rPr>
              <a:t>https://www.aicup.tw/ai-cup-2026-competition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lvl="1"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Solar Panel Defect Detection and Root Cause Analysis Competition</a:t>
            </a:r>
          </a:p>
          <a:p>
            <a:pPr lvl="1"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Go Playing-Strength and Style Prediction Competition</a:t>
            </a:r>
          </a:p>
          <a:p>
            <a:pPr lvl="1">
              <a:defRPr/>
            </a:pPr>
            <a:endParaRPr lang="zh-TW" altLang="en-US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標題 1">
            <a:extLst>
              <a:ext uri="{FF2B5EF4-FFF2-40B4-BE49-F238E27FC236}">
                <a16:creationId xmlns:a16="http://schemas.microsoft.com/office/drawing/2014/main" id="{4DAE8099-73BA-A571-85B0-B41D7BD9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Option #2: Extension to programming exercises 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C51A2A-5ED4-09CA-0709-A2C5506FE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000">
                <a:ea typeface="新細明體" panose="02020500000000000000" pitchFamily="18" charset="-120"/>
              </a:rPr>
              <a:t>More optional functions in homeworks</a:t>
            </a:r>
          </a:p>
          <a:p>
            <a:pPr lvl="1"/>
            <a:endParaRPr lang="en-US" altLang="zh-TW" sz="2600">
              <a:ea typeface="新細明體" panose="02020500000000000000" pitchFamily="18" charset="-120"/>
            </a:endParaRPr>
          </a:p>
          <a:p>
            <a:r>
              <a:rPr lang="en-US" altLang="zh-TW" sz="3000">
                <a:ea typeface="新細明體" panose="02020500000000000000" pitchFamily="18" charset="-120"/>
              </a:rPr>
              <a:t>User interface for search-result presentation:</a:t>
            </a:r>
          </a:p>
          <a:p>
            <a:pPr lvl="1"/>
            <a:r>
              <a:rPr lang="en-US" altLang="zh-TW" sz="2600">
                <a:ea typeface="新細明體" panose="02020500000000000000" pitchFamily="18" charset="-120"/>
              </a:rPr>
              <a:t>query expansion, relevance feedback (Ch.9), visualization, search-result clustering (Ch. 15) </a:t>
            </a:r>
          </a:p>
          <a:p>
            <a:r>
              <a:rPr lang="en-US" altLang="zh-TW" sz="3000">
                <a:ea typeface="新細明體" panose="02020500000000000000" pitchFamily="18" charset="-120"/>
              </a:rPr>
              <a:t>Other improvements: </a:t>
            </a:r>
          </a:p>
          <a:p>
            <a:pPr lvl="1"/>
            <a:r>
              <a:rPr lang="en-US" altLang="zh-TW" sz="2600">
                <a:ea typeface="新細明體" panose="02020500000000000000" pitchFamily="18" charset="-120"/>
              </a:rPr>
              <a:t>more query types (phrase, proximity, wildcard, spell-correction, …), retrieval models, ranking schemes, document collections, …</a:t>
            </a:r>
          </a:p>
          <a:p>
            <a:endParaRPr lang="zh-TW" altLang="en-US" sz="300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標題 1">
            <a:extLst>
              <a:ext uri="{FF2B5EF4-FFF2-40B4-BE49-F238E27FC236}">
                <a16:creationId xmlns:a16="http://schemas.microsoft.com/office/drawing/2014/main" id="{F7ECEBFD-8D58-A62B-B2D5-2878FAEB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Option #3: IR-related Topics 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7411" name="內容版面配置區 2">
            <a:extLst>
              <a:ext uri="{FF2B5EF4-FFF2-40B4-BE49-F238E27FC236}">
                <a16:creationId xmlns:a16="http://schemas.microsoft.com/office/drawing/2014/main" id="{CF40036C-F15B-0B2C-A392-88D25CCB8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Application of text classification, or clustering in different media</a:t>
            </a:r>
          </a:p>
          <a:p>
            <a:r>
              <a:rPr lang="en-US" altLang="zh-TW">
                <a:ea typeface="新細明體" panose="02020500000000000000" pitchFamily="18" charset="-120"/>
              </a:rPr>
              <a:t>Retrieval and analysis of social media such as blog, news, …</a:t>
            </a:r>
          </a:p>
          <a:p>
            <a:r>
              <a:rPr lang="en-US" altLang="zh-TW">
                <a:ea typeface="新細明體" panose="02020500000000000000" pitchFamily="18" charset="-120"/>
              </a:rPr>
              <a:t>Different platforms, media types, languages: mobile IR, multimedia IR, cross-language IR, …</a:t>
            </a:r>
          </a:p>
          <a:p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235BA0C-1ADC-E60F-46D5-B3F49ECF68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Proposal Submission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5653839-0AC3-1B81-4945-F721A3C97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Due: one week *after* midterm (</a:t>
            </a:r>
            <a:r>
              <a:rPr lang="en-US" altLang="zh-TW" sz="2800" dirty="0">
                <a:solidFill>
                  <a:srgbClr val="FF0000"/>
                </a:solidFill>
                <a:ea typeface="新細明體" panose="02020500000000000000" pitchFamily="18" charset="-120"/>
              </a:rPr>
              <a:t>Nov. 18, 2026</a:t>
            </a:r>
            <a:r>
              <a:rPr lang="en-US" altLang="zh-TW" sz="2800" dirty="0">
                <a:ea typeface="新細明體" panose="02020500000000000000" pitchFamily="18" charset="-120"/>
              </a:rPr>
              <a:t>)</a:t>
            </a:r>
          </a:p>
          <a:p>
            <a:pPr marL="742950" lvl="2" indent="-342900" eaLnBrk="1" hangingPunct="1">
              <a:defRPr/>
            </a:pPr>
            <a:r>
              <a:rPr lang="en-US" altLang="zh-TW" sz="2000" b="1" dirty="0">
                <a:ea typeface="新細明體" panose="02020500000000000000" pitchFamily="18" charset="-120"/>
              </a:rPr>
              <a:t>Submission site: </a:t>
            </a:r>
            <a:r>
              <a:rPr lang="en-US" altLang="zh-TW" sz="2000" b="1" dirty="0" err="1">
                <a:solidFill>
                  <a:srgbClr val="0000FF"/>
                </a:solidFill>
                <a:ea typeface="新細明體" panose="02020500000000000000" pitchFamily="18" charset="-120"/>
              </a:rPr>
              <a:t>iSchool</a:t>
            </a:r>
            <a:r>
              <a:rPr lang="en-US" altLang="zh-TW" sz="2000" b="1" dirty="0">
                <a:solidFill>
                  <a:srgbClr val="0000FF"/>
                </a:solidFill>
                <a:ea typeface="新細明體" panose="02020500000000000000" pitchFamily="18" charset="-120"/>
              </a:rPr>
              <a:t>+</a:t>
            </a:r>
            <a:endParaRPr lang="en-US" altLang="zh-TW" dirty="0">
              <a:solidFill>
                <a:srgbClr val="0000FF"/>
              </a:solidFill>
              <a:ea typeface="新細明體" panose="02020500000000000000" pitchFamily="18" charset="-120"/>
            </a:endParaRPr>
          </a:p>
          <a:p>
            <a:pPr lvl="1" eaLnBrk="1" hangingPunct="1"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Your proposal is subject to review and possible modification according to our suggestions</a:t>
            </a:r>
          </a:p>
          <a:p>
            <a:pPr eaLnBrk="1" hangingPunct="1"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The presentation schedule will be arranged in the last </a:t>
            </a:r>
            <a:r>
              <a:rPr lang="en-US" altLang="zh-TW" sz="2800" dirty="0">
                <a:solidFill>
                  <a:srgbClr val="0000FF"/>
                </a:solidFill>
                <a:ea typeface="新細明體" panose="02020500000000000000" pitchFamily="18" charset="-120"/>
              </a:rPr>
              <a:t>four</a:t>
            </a:r>
            <a:r>
              <a:rPr lang="en-US" altLang="zh-TW" sz="2800" dirty="0">
                <a:ea typeface="新細明體" panose="02020500000000000000" pitchFamily="18" charset="-120"/>
              </a:rPr>
              <a:t> weeks</a:t>
            </a:r>
          </a:p>
          <a:p>
            <a:pPr lvl="1" eaLnBrk="1" hangingPunct="1"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Starting from </a:t>
            </a:r>
            <a:r>
              <a:rPr lang="en-US" altLang="zh-TW" sz="2400" dirty="0">
                <a:solidFill>
                  <a:srgbClr val="FF0000"/>
                </a:solidFill>
                <a:ea typeface="新細明體" panose="02020500000000000000" pitchFamily="18" charset="-120"/>
              </a:rPr>
              <a:t>Dec. 16, 2026</a:t>
            </a:r>
          </a:p>
          <a:p>
            <a:pPr lvl="1" eaLnBrk="1" hangingPunct="1"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Preferred time slots *should* be specified in the proposal</a:t>
            </a:r>
          </a:p>
          <a:p>
            <a:pPr lvl="1" eaLnBrk="1" hangingPunct="1">
              <a:defRPr/>
            </a:pPr>
            <a:r>
              <a:rPr lang="en-US" altLang="zh-TW" sz="2400" b="1" dirty="0">
                <a:solidFill>
                  <a:srgbClr val="0000FF"/>
                </a:solidFill>
                <a:ea typeface="新細明體" panose="02020500000000000000" pitchFamily="18" charset="-120"/>
              </a:rPr>
              <a:t>No</a:t>
            </a:r>
            <a:r>
              <a:rPr lang="en-US" altLang="zh-TW" sz="2400" dirty="0">
                <a:solidFill>
                  <a:srgbClr val="0000FF"/>
                </a:solidFill>
                <a:ea typeface="新細明體" panose="02020500000000000000" pitchFamily="18" charset="-120"/>
              </a:rPr>
              <a:t> other time slots available for presentation</a:t>
            </a:r>
          </a:p>
          <a:p>
            <a:pPr lvl="1" eaLnBrk="1" hangingPunct="1">
              <a:defRPr/>
            </a:pPr>
            <a:r>
              <a:rPr lang="en-US" altLang="zh-TW" sz="2400" dirty="0">
                <a:solidFill>
                  <a:srgbClr val="0000FF"/>
                </a:solidFill>
                <a:ea typeface="新細明體" panose="02020500000000000000" pitchFamily="18" charset="-120"/>
              </a:rPr>
              <a:t>No presentation -&gt; no score for term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675904E2-0519-4DE5-3A2F-6A3DF6F816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Any Questions or Comments?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59CB9493-E131-867D-57EF-60E415208F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TW" altLang="zh-TW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</TotalTime>
  <Words>627</Words>
  <Application>Microsoft Office PowerPoint</Application>
  <PresentationFormat>如螢幕大小 (4:3)</PresentationFormat>
  <Paragraphs>72</Paragraphs>
  <Slides>10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新細明體</vt:lpstr>
      <vt:lpstr>Arial</vt:lpstr>
      <vt:lpstr>Book Antiqua</vt:lpstr>
      <vt:lpstr>預設簡報設計</vt:lpstr>
      <vt:lpstr>Proposal for Term Project</vt:lpstr>
      <vt:lpstr>Options and Schedule  for Term Projects</vt:lpstr>
      <vt:lpstr>Proposal (for System Projects)</vt:lpstr>
      <vt:lpstr>Proposal (for Paper Presentation)</vt:lpstr>
      <vt:lpstr>Possible Topics for Systems</vt:lpstr>
      <vt:lpstr>Option #1: Competitions in AI Cup 2026</vt:lpstr>
      <vt:lpstr>Option #2: Extension to programming exercises </vt:lpstr>
      <vt:lpstr>Option #3: IR-related Topics </vt:lpstr>
      <vt:lpstr>Proposal Submission</vt:lpstr>
      <vt:lpstr>Any Questions or Comments?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Jenq-Haur Wang</dc:creator>
  <cp:lastModifiedBy>王正豪</cp:lastModifiedBy>
  <cp:revision>69</cp:revision>
  <cp:lastPrinted>1601-01-01T00:00:00Z</cp:lastPrinted>
  <dcterms:created xsi:type="dcterms:W3CDTF">1601-01-01T00:00:00Z</dcterms:created>
  <dcterms:modified xsi:type="dcterms:W3CDTF">2026-10-21T09:42:23Z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