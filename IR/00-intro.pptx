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6" r:id="rId2"/>
    <p:sldId id="274" r:id="rId3"/>
    <p:sldId id="275" r:id="rId4"/>
    <p:sldId id="480" r:id="rId5"/>
    <p:sldId id="334" r:id="rId6"/>
    <p:sldId id="481" r:id="rId7"/>
    <p:sldId id="283" r:id="rId8"/>
    <p:sldId id="304" r:id="rId9"/>
    <p:sldId id="306" r:id="rId10"/>
    <p:sldId id="259" r:id="rId11"/>
    <p:sldId id="307" r:id="rId12"/>
    <p:sldId id="405" r:id="rId13"/>
    <p:sldId id="258" r:id="rId14"/>
    <p:sldId id="273" r:id="rId15"/>
    <p:sldId id="288" r:id="rId16"/>
    <p:sldId id="460" r:id="rId17"/>
    <p:sldId id="461" r:id="rId18"/>
    <p:sldId id="482" r:id="rId19"/>
    <p:sldId id="276" r:id="rId20"/>
    <p:sldId id="278" r:id="rId21"/>
    <p:sldId id="313" r:id="rId22"/>
    <p:sldId id="399" r:id="rId23"/>
    <p:sldId id="294" r:id="rId24"/>
    <p:sldId id="378" r:id="rId25"/>
    <p:sldId id="358" r:id="rId26"/>
    <p:sldId id="357" r:id="rId27"/>
    <p:sldId id="359" r:id="rId28"/>
    <p:sldId id="483" r:id="rId29"/>
    <p:sldId id="305" r:id="rId30"/>
    <p:sldId id="404" r:id="rId31"/>
    <p:sldId id="379" r:id="rId32"/>
    <p:sldId id="394" r:id="rId33"/>
    <p:sldId id="380" r:id="rId34"/>
    <p:sldId id="381" r:id="rId35"/>
    <p:sldId id="382" r:id="rId36"/>
    <p:sldId id="402" r:id="rId37"/>
    <p:sldId id="383" r:id="rId38"/>
    <p:sldId id="385" r:id="rId39"/>
    <p:sldId id="391" r:id="rId40"/>
    <p:sldId id="388" r:id="rId41"/>
    <p:sldId id="393" r:id="rId42"/>
    <p:sldId id="406" r:id="rId43"/>
    <p:sldId id="407" r:id="rId44"/>
    <p:sldId id="396" r:id="rId45"/>
    <p:sldId id="397" r:id="rId46"/>
    <p:sldId id="398" r:id="rId47"/>
    <p:sldId id="403" r:id="rId48"/>
    <p:sldId id="293" r:id="rId49"/>
  </p:sldIdLst>
  <p:sldSz cx="9144000" cy="6858000" type="screen4x3"/>
  <p:notesSz cx="6669088" cy="9928225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FF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DE5C8A5-3FF8-EDF4-9DEC-D8EE799A439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144C7FA-8416-2A97-1B71-88174E98897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1B332614-FA65-811C-ABD2-E65EB4C8265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61E07154-59A3-62BD-D573-0E1C0EBA257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C4F32A2-2CE7-4A8F-9A6F-FE69C919590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B4A8092-B102-94FB-0794-17BF6D7140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075DE59-BDA6-B335-6A5A-81756E54BC2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3DF67A3D-A1D0-D74B-2C34-9664D72552B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CA77B194-EED4-21CC-26D0-B7C10A2B457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6463"/>
            <a:ext cx="5335588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54F88B50-AF5B-15F5-3A90-486B33FF082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BDCD9B79-3F40-9F61-74AF-56A37CC1E4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3D7455D-83B1-4FD8-B13D-D9CE896FC3F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C28B9677-DBB7-0A88-7B4F-5571B1C88F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95B2414-3921-4B2E-B5DD-82C296F359D2}" type="slidenum">
              <a:rPr lang="en-US" altLang="zh-TW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DDD0EC60-5AE9-5E49-3999-9952F826C0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8C33B91-90D5-2363-047C-9327AE49C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520CAEF3-7A88-3680-F379-2A3DC0A5F6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1623982-61A3-417F-AEFB-FC73B4132FC7}" type="slidenum">
              <a:rPr lang="en-US" altLang="zh-TW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01D0AD00-4681-9D9E-C00C-A4A2B22859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983B92A4-BF73-814C-B513-0C022051AA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B6D5A289-5F96-2D00-DF65-C5B22ACB19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64AC3A1-1B4D-46B4-937D-3D18569D88CB}" type="slidenum">
              <a:rPr lang="en-US" altLang="zh-TW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ED9125C8-1877-08BF-8235-3C2A19A97E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D890C21F-BF08-B64B-7118-A0F00FDB14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0D69222-40A2-4DEE-9906-93CAED851FF6}" type="slidenum">
              <a:rPr lang="en-US" altLang="zh-TW" smtClean="0"/>
              <a:pPr>
                <a:spcBef>
                  <a:spcPct val="0"/>
                </a:spcBef>
              </a:pPr>
              <a:t>6</a:t>
            </a:fld>
            <a:endParaRPr lang="en-US" altLang="zh-TW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73B63C28-97B1-FAE0-BAC8-83DF9CE6BF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0A80E6A-A9CB-4BD7-A4BA-8664321D1EC7}" type="slidenum">
              <a:rPr lang="en-US" altLang="zh-TW"/>
              <a:pPr>
                <a:spcBef>
                  <a:spcPct val="0"/>
                </a:spcBef>
              </a:pPr>
              <a:t>7</a:t>
            </a:fld>
            <a:endParaRPr lang="en-US" altLang="zh-TW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63B243A-5791-4346-EFA3-E64894B857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2E6D7E17-D3AB-9697-05E8-D713EF78C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83B74493-5E0A-55AA-5EE9-FBA55116B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E8726C-4108-4867-AE0F-500C36E2DB3A}" type="slidenum">
              <a:rPr lang="en-US" altLang="zh-TW"/>
              <a:pPr>
                <a:spcBef>
                  <a:spcPct val="0"/>
                </a:spcBef>
              </a:pPr>
              <a:t>8</a:t>
            </a:fld>
            <a:endParaRPr lang="en-US" altLang="zh-TW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DC132974-AF81-AD40-3BD7-BFBE8E3E05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09E47E3C-9DF7-EDC5-9553-6A67DE4BC6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C6E754B-A72F-9642-E464-E0413D8712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A214D81-1A3D-4070-A26C-54C91E0940AB}" type="slidenum">
              <a:rPr lang="en-US" altLang="zh-TW"/>
              <a:pPr>
                <a:spcBef>
                  <a:spcPct val="0"/>
                </a:spcBef>
              </a:pPr>
              <a:t>9</a:t>
            </a:fld>
            <a:endParaRPr lang="en-US" altLang="zh-TW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6E4AD42-AC35-8142-078C-A2BB71ED1D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9CE943AE-8E8E-69FC-C8CD-B9CE1CB96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765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2B36AA1-D92F-F113-2AF6-166F80A018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B6DF5EC-544D-4AEF-AD6A-B0500CC36723}" type="slidenum">
              <a:rPr lang="en-US" altLang="zh-TW"/>
              <a:pPr>
                <a:spcBef>
                  <a:spcPct val="0"/>
                </a:spcBef>
              </a:pPr>
              <a:t>10</a:t>
            </a:fld>
            <a:endParaRPr lang="en-US" altLang="zh-TW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1A345D46-AF49-2CE0-1741-7B8F6D720F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0484C922-BCBF-93B5-037B-FD2A2BBD42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537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2F63A5BA-A412-0ECC-C0DB-962DFE883A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29DB5A6-4378-41E7-BF36-ECF4FC7B010D}" type="slidenum">
              <a:rPr lang="en-US" altLang="zh-TW"/>
              <a:pPr>
                <a:spcBef>
                  <a:spcPct val="0"/>
                </a:spcBef>
              </a:pPr>
              <a:t>11</a:t>
            </a:fld>
            <a:endParaRPr lang="en-US" altLang="zh-TW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D56CAB74-66AC-023B-A732-567D8FA73E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81314357-A31A-A99A-B322-142A515D57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528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2F63A5BA-A412-0ECC-C0DB-962DFE883A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29DB5A6-4378-41E7-BF36-ECF4FC7B010D}" type="slidenum">
              <a:rPr lang="en-US" altLang="zh-TW"/>
              <a:pPr>
                <a:spcBef>
                  <a:spcPct val="0"/>
                </a:spcBef>
              </a:pPr>
              <a:t>12</a:t>
            </a:fld>
            <a:endParaRPr lang="en-US" altLang="zh-TW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D56CAB74-66AC-023B-A732-567D8FA73E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81314357-A31A-A99A-B322-142A515D57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18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C97CD879-3FDA-75AD-DEE0-0C3C0EDD83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0DD6776-6FE6-4704-ADC4-D2772729D6BC}" type="slidenum">
              <a:rPr lang="en-US" altLang="zh-TW"/>
              <a:pPr>
                <a:spcBef>
                  <a:spcPct val="0"/>
                </a:spcBef>
              </a:pPr>
              <a:t>13</a:t>
            </a:fld>
            <a:endParaRPr lang="en-US" altLang="zh-TW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8B746E78-6BC5-DBA1-B809-5986476CC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2E55191A-A509-4F53-3A21-1CF058C7F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292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773A26AE-D386-1DB7-56C6-F22410A205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4F31337-D9E0-40DB-8E9B-BCBF8E318D14}" type="slidenum">
              <a:rPr lang="en-US" altLang="zh-TW"/>
              <a:pPr>
                <a:spcBef>
                  <a:spcPct val="0"/>
                </a:spcBef>
              </a:pPr>
              <a:t>14</a:t>
            </a:fld>
            <a:endParaRPr lang="en-US" altLang="zh-TW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CCB73C6-80CA-331A-F294-E223688276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17B3F0B0-B85C-B341-D84D-A1D742E0AE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3737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A40B26DC-8273-2BF1-BBB8-25AC4DB8E4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3343232-D8F0-4465-9022-BA88EF25EB68}" type="slidenum">
              <a:rPr lang="en-US" altLang="zh-TW"/>
              <a:pPr>
                <a:spcBef>
                  <a:spcPct val="0"/>
                </a:spcBef>
              </a:pPr>
              <a:t>15</a:t>
            </a:fld>
            <a:endParaRPr lang="en-US" altLang="zh-TW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37048898-7183-277C-916B-5725011DE7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30975083-5831-7989-1B1D-E3390586A8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752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E918BAD0-8F36-1848-B17F-415A473A5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8DE4327-41D1-492C-A946-01FA7226CC66}" type="slidenum">
              <a:rPr lang="en-US" altLang="zh-TW"/>
              <a:pPr>
                <a:spcBef>
                  <a:spcPct val="0"/>
                </a:spcBef>
              </a:pPr>
              <a:t>19</a:t>
            </a:fld>
            <a:endParaRPr lang="en-US" altLang="zh-TW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EAA3B346-D74B-CBD6-FC76-017390ACF1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22F5C9C4-8558-3873-2818-7C83DC231D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D704DCAF-8178-AC93-369D-90AF2666C5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A3F63E9-5117-4D80-BFE1-E20CF9F59764}" type="slidenum">
              <a:rPr lang="en-US" altLang="zh-TW"/>
              <a:pPr>
                <a:spcBef>
                  <a:spcPct val="0"/>
                </a:spcBef>
              </a:pPr>
              <a:t>20</a:t>
            </a:fld>
            <a:endParaRPr lang="en-US" altLang="zh-TW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41276D9B-4FE9-1BDA-95A1-FFEA9ED86F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81C93C39-D146-3E76-2843-88CB43D68D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37879E7D-61F5-131F-C261-A954132D2B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2C722FA-A8AF-40AA-A8AD-DD20F890C038}" type="slidenum">
              <a:rPr lang="en-US" altLang="zh-TW"/>
              <a:pPr>
                <a:spcBef>
                  <a:spcPct val="0"/>
                </a:spcBef>
              </a:pPr>
              <a:t>21</a:t>
            </a:fld>
            <a:endParaRPr lang="en-US" altLang="zh-TW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C5E32375-A19E-0715-B753-D10B0704BA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66606289-26D9-5888-0232-65CE92492F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5F473F17-1194-5E01-087B-A76E908C6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B09B7C8-1999-4C1C-83EB-661DC49D3E81}" type="slidenum">
              <a:rPr lang="en-US" altLang="zh-TW"/>
              <a:pPr>
                <a:spcBef>
                  <a:spcPct val="0"/>
                </a:spcBef>
              </a:pPr>
              <a:t>22</a:t>
            </a:fld>
            <a:endParaRPr lang="en-US" altLang="zh-TW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7F248B9A-7813-14EA-4723-3C74DC6C9B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66E3C5D3-FBA7-A878-EFFD-FF53A71F9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2420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F6D656E4-547A-8045-5272-DCE51BEBD8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3D6911F-079C-4941-B738-0D0F6CE60DBE}" type="slidenum">
              <a:rPr lang="en-US" altLang="zh-TW"/>
              <a:pPr>
                <a:spcBef>
                  <a:spcPct val="0"/>
                </a:spcBef>
              </a:pPr>
              <a:t>23</a:t>
            </a:fld>
            <a:endParaRPr lang="en-US" altLang="zh-TW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6235F086-EE6A-F8A1-7EE1-A62DCCEB52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2EAE8066-A9CF-1189-B7A0-96EF83AB12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7090A4C4-D6D3-C43A-5A66-5D2C670BAB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2933043-7CAF-4791-96A8-17EF07544F0E}" type="slidenum">
              <a:rPr lang="en-US" altLang="zh-TW"/>
              <a:pPr>
                <a:spcBef>
                  <a:spcPct val="0"/>
                </a:spcBef>
              </a:pPr>
              <a:t>25</a:t>
            </a:fld>
            <a:endParaRPr lang="en-US" altLang="zh-TW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3A359ECC-CD2A-764C-C124-71459DF1CB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95FF1E31-CCC4-842A-44CC-6DF7863E6E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07BCD524-7E7C-B196-06CC-930C318036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55B7802-7728-4F93-B140-7D6EB74F531A}" type="slidenum">
              <a:rPr lang="en-US" altLang="zh-TW"/>
              <a:pPr>
                <a:spcBef>
                  <a:spcPct val="0"/>
                </a:spcBef>
              </a:pPr>
              <a:t>29</a:t>
            </a:fld>
            <a:endParaRPr lang="en-US" altLang="zh-TW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A2213D96-779A-D636-C26F-9AC9C18C16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767A6FB7-E5DD-E9A1-8DC7-5D3D309FFA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7173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D7455D-83B1-4FD8-B13D-D9CE896FC3FE}" type="slidenum">
              <a:rPr lang="en-US" altLang="zh-TW" smtClean="0"/>
              <a:pPr/>
              <a:t>35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65801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B04C3002-BBDA-B855-158B-C4D3F51FA6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04CA441-699A-4822-84C5-C5D854F9BFB1}" type="slidenum">
              <a:rPr lang="en-US" altLang="zh-TW"/>
              <a:pPr>
                <a:spcBef>
                  <a:spcPct val="0"/>
                </a:spcBef>
              </a:pPr>
              <a:t>45</a:t>
            </a:fld>
            <a:endParaRPr lang="en-US" altLang="zh-TW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6687887B-473F-26F3-445F-A675D3D91A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F1E4E810-611A-6F11-44CA-AC28AF1A3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E8842FE3-2521-99D1-9C77-C71F028F14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B04D9CC-FC44-4383-94CC-66C324A25FAD}" type="slidenum">
              <a:rPr lang="en-US" altLang="zh-TW"/>
              <a:pPr>
                <a:spcBef>
                  <a:spcPct val="0"/>
                </a:spcBef>
              </a:pPr>
              <a:t>46</a:t>
            </a:fld>
            <a:endParaRPr lang="en-US" altLang="zh-TW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2B48C788-E152-496B-031A-B5F50E8C6B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5B5F9DF9-C96D-672B-C5AA-9B907C659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A35313CB-BC02-A19E-0668-6B3F217035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3EA53F8-46E1-4FBA-B3DA-F3EE4680E9A1}" type="slidenum">
              <a:rPr lang="en-US" altLang="zh-TW"/>
              <a:pPr>
                <a:spcBef>
                  <a:spcPct val="0"/>
                </a:spcBef>
              </a:pPr>
              <a:t>48</a:t>
            </a:fld>
            <a:endParaRPr lang="en-US" altLang="zh-TW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75EC483B-CEFF-6F42-6C1F-7ACE52B278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F535BC13-0B49-9169-B33E-56DD3D5DC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66B1FE-9075-1C0F-C34F-D2D946E857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A26B61-6317-5A80-A4FB-93E461530C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CAA247-5BB9-52F2-8899-DD425E4AC9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BCF252-6D38-4B5B-945C-4FEC7F17252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68061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536592-2A76-DEF0-C163-790A73D512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480560-6CDA-D217-8B95-2424097ECE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2BF46C-4405-EC9B-9E2D-0DE5FD1E2E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E12623-B252-4243-B114-1C7971B9339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558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BD62A7-7CF7-4434-D66D-878747FEAD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421EA2-E178-87FF-2428-4582BEC00B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0D0E26-9558-E922-84A0-48D440B51C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70E363-D2DA-49AB-B323-B509160463F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7425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C45988-E1D6-5369-D451-80DADB5756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19558D-2B2C-4438-5376-94F2EDB9B0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6FBD9C-8886-CBF5-2C8C-403BDA3402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1713B5-E14F-4770-8001-6B205369F9B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269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138E1F7-1DCB-3B9E-DAF3-698AB0515F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38A1639-88E4-E9E0-6F4A-1740906A84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9138147-0509-4BD2-2740-9648421FF8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FBE703-F49B-49CA-8A91-B37FC21DA55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9489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8409997-E404-EB87-C600-97359D9212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193D38B-143E-6852-2E81-533627E1BA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0C525DA-DE67-D70B-53A9-951C467227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33EBEB-C447-4E0D-BE84-9A60B2424F8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849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C5302D8-CDC9-C013-1038-559361FA0F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BF42DAE-9323-28EA-9F68-633D9149C9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1B25E1F-5617-98C1-D4A8-709D70544E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8D31A7-D459-48DD-9B10-DD6653DBD30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76198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914494-42D0-4918-E98F-F0612CA520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E59E25-99E3-D7D6-14E1-1EB8789FEA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D468F1-D5D5-A6AA-4D30-502E54238D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C821AD-1046-41C0-8E5A-72956027E86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6744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96A605-9810-6814-C958-97DD8677A9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E2D63C-47FD-2C11-EB8A-7C4CC06EC8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D5C759-DBDF-8429-D89E-56FD2F9CFF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2362AD-A5D4-4C90-A919-047708A91EF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07507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0AB38D-4ADF-6299-3F18-8F0E93CB86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DDE440-E86A-6236-4462-A02591A7E9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268978E-7F49-93CB-8C60-861609B8E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FC82D0-17FE-4635-BE1F-D75CC4AABA1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27644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2FF2645-5283-B7A2-B73C-2BEEA6B95A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770FED-B9A5-F5A3-85AE-606A429A6D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15E73E-1C70-8F46-61D5-F51896E091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E96ACB-B794-4CF3-8DB2-1764A7D577D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89210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B5AFCBA-3931-8EFD-3A37-5377C49DA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83AD2EB-B05F-C5E1-5B7F-8E9E18727F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7254A7F-A35F-45DB-54E8-6901B48E217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67B9166-496C-4E9A-0E72-2197AB5397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AF9CD59-18CE-CD8A-CB68-3A94F06DE7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/>
            </a:lvl1pPr>
          </a:lstStyle>
          <a:p>
            <a:fld id="{9F75633A-CF9B-4C5E-8E7F-19B988CD9ADD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hwang@csie.ntut.edu.t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wjh.github.io/IR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informationretrieval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formationretrieval.org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r2ed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r.uwaterloo.ca/book/" TargetMode="External"/><Relationship Id="rId5" Type="http://schemas.openxmlformats.org/officeDocument/2006/relationships/hyperlink" Target="http://www.search-engines-book.com/" TargetMode="External"/><Relationship Id="rId4" Type="http://schemas.openxmlformats.org/officeDocument/2006/relationships/hyperlink" Target="http://people.ischool.berkeley.edu/~hearst/irbook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cs.gla.ac.uk/Keith/Preface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s.mu.oz.au/mg/" TargetMode="External"/><Relationship Id="rId4" Type="http://schemas.openxmlformats.org/officeDocument/2006/relationships/hyperlink" Target="http://portal.acm.org/citation.cfm?id=275537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formation_retrieva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lp.stanford.edu/IR-book/information-retrieval.html" TargetMode="Externa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3AF9B22-E90E-E7C9-C54A-7BEA38789D3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2130425"/>
            <a:ext cx="7924800" cy="1470025"/>
          </a:xfrm>
        </p:spPr>
        <p:txBody>
          <a:bodyPr/>
          <a:lstStyle/>
          <a:p>
            <a:pPr eaLnBrk="1" hangingPunct="1"/>
            <a:r>
              <a:rPr lang="en-US" altLang="zh-TW" sz="4000"/>
              <a:t>Course Overview: </a:t>
            </a:r>
            <a:br>
              <a:rPr lang="en-US" altLang="zh-TW" sz="4000"/>
            </a:br>
            <a:r>
              <a:rPr lang="en-US" altLang="zh-TW" sz="4000"/>
              <a:t>An Introduction to Information Retrieval and Applications</a:t>
            </a:r>
            <a:br>
              <a:rPr lang="en-US" altLang="zh-TW" sz="4000"/>
            </a:br>
            <a:endParaRPr lang="en-US" altLang="zh-TW" sz="400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FF3C12C-39F1-5E80-0AE1-97A025F348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J. H. Wang</a:t>
            </a:r>
          </a:p>
          <a:p>
            <a:pPr eaLnBrk="1" hangingPunct="1"/>
            <a:r>
              <a:rPr lang="en-US" altLang="zh-TW" dirty="0"/>
              <a:t>Sep.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版面配置區 3">
            <a:extLst>
              <a:ext uri="{FF2B5EF4-FFF2-40B4-BE49-F238E27FC236}">
                <a16:creationId xmlns:a16="http://schemas.microsoft.com/office/drawing/2014/main" id="{0E81FC6F-E992-06C5-32C9-16A38921C5F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12291" name="頁尾版面配置區 4">
            <a:extLst>
              <a:ext uri="{FF2B5EF4-FFF2-40B4-BE49-F238E27FC236}">
                <a16:creationId xmlns:a16="http://schemas.microsoft.com/office/drawing/2014/main" id="{9985BCB1-AB6F-73AA-D27B-7EB69E5B3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12292" name="投影片編號版面配置區 5">
            <a:extLst>
              <a:ext uri="{FF2B5EF4-FFF2-40B4-BE49-F238E27FC236}">
                <a16:creationId xmlns:a16="http://schemas.microsoft.com/office/drawing/2014/main" id="{9668784D-8D45-62D9-7DF8-04CE7666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DCFA7C-2184-4842-AFDE-CF14FA193B36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12293" name="Rectangle 2">
            <a:extLst>
              <a:ext uri="{FF2B5EF4-FFF2-40B4-BE49-F238E27FC236}">
                <a16:creationId xmlns:a16="http://schemas.microsoft.com/office/drawing/2014/main" id="{5933D178-5C3E-F7F8-0764-789792E00E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Instructor &amp; TA</a:t>
            </a:r>
          </a:p>
        </p:txBody>
      </p:sp>
      <p:sp>
        <p:nvSpPr>
          <p:cNvPr id="12294" name="Rectangle 3">
            <a:extLst>
              <a:ext uri="{FF2B5EF4-FFF2-40B4-BE49-F238E27FC236}">
                <a16:creationId xmlns:a16="http://schemas.microsoft.com/office/drawing/2014/main" id="{CEAC83CD-5E54-BBA5-FE73-1E453FB32F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Instructor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J. H. Wang (</a:t>
            </a:r>
            <a:r>
              <a:rPr lang="zh-TW" altLang="en-US" sz="2400" dirty="0"/>
              <a:t>王正豪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Professor, CSIE, NTUT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Office: R1534, Technology Building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E-mail: </a:t>
            </a:r>
            <a:r>
              <a:rPr lang="en-US" altLang="zh-TW" sz="2400" dirty="0">
                <a:hlinkClick r:id="rId3"/>
              </a:rPr>
              <a:t>jhwang@ntut.edu.tw</a:t>
            </a:r>
            <a:endParaRPr lang="en-US" altLang="zh-TW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Tel: ext. 4238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Office Hours: 9:10-12:00 am, every Tuesday and Thursday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00FF"/>
                </a:solidFill>
              </a:rPr>
              <a:t>Miss Hsu &amp; Miss Liao (@ R1424, Technology Building)</a:t>
            </a:r>
            <a:endParaRPr lang="en-US" altLang="zh-TW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版面配置區 3">
            <a:extLst>
              <a:ext uri="{FF2B5EF4-FFF2-40B4-BE49-F238E27FC236}">
                <a16:creationId xmlns:a16="http://schemas.microsoft.com/office/drawing/2014/main" id="{6657BEBF-B3BF-C791-4433-2513147C59F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14339" name="頁尾版面配置區 4">
            <a:extLst>
              <a:ext uri="{FF2B5EF4-FFF2-40B4-BE49-F238E27FC236}">
                <a16:creationId xmlns:a16="http://schemas.microsoft.com/office/drawing/2014/main" id="{7D36364C-2031-C60F-D1E2-7B3FEE53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14340" name="投影片編號版面配置區 5">
            <a:extLst>
              <a:ext uri="{FF2B5EF4-FFF2-40B4-BE49-F238E27FC236}">
                <a16:creationId xmlns:a16="http://schemas.microsoft.com/office/drawing/2014/main" id="{CE839FE3-75F0-1AE5-7617-610DBF15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CED0F3-416C-4B12-948B-BE76F1779A4E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14341" name="Rectangle 2">
            <a:extLst>
              <a:ext uri="{FF2B5EF4-FFF2-40B4-BE49-F238E27FC236}">
                <a16:creationId xmlns:a16="http://schemas.microsoft.com/office/drawing/2014/main" id="{FF1FE3DD-3AB5-22E6-1BF0-D9F8AD508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Course Description</a:t>
            </a:r>
          </a:p>
        </p:txBody>
      </p:sp>
      <p:sp>
        <p:nvSpPr>
          <p:cNvPr id="14342" name="Rectangle 3">
            <a:extLst>
              <a:ext uri="{FF2B5EF4-FFF2-40B4-BE49-F238E27FC236}">
                <a16:creationId xmlns:a16="http://schemas.microsoft.com/office/drawing/2014/main" id="{23E7EE91-4292-BC26-FAEE-2CABFDBE7C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Course Web Page: </a:t>
            </a:r>
            <a:r>
              <a:rPr lang="en-US" altLang="zh-TW" sz="2400" dirty="0">
                <a:hlinkClick r:id="rId3"/>
              </a:rPr>
              <a:t>https://chriswjh.github.io/IR/</a:t>
            </a:r>
            <a:endParaRPr lang="en-US" altLang="zh-TW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for the latest announcements and updates of schedule, slides, and </a:t>
            </a:r>
            <a:r>
              <a:rPr lang="en-US" altLang="zh-TW" sz="2400" dirty="0" err="1"/>
              <a:t>homeworks</a:t>
            </a:r>
            <a:endParaRPr lang="en-US" altLang="zh-TW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Time: 9:10am-12:00pm, Wed.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Classroom: </a:t>
            </a:r>
            <a:r>
              <a:rPr lang="en-US" altLang="zh-TW" sz="2800" dirty="0">
                <a:solidFill>
                  <a:srgbClr val="FF0000"/>
                </a:solidFill>
              </a:rPr>
              <a:t>R501, Pioneer Building </a:t>
            </a:r>
            <a:r>
              <a:rPr lang="en-US" altLang="zh-TW" sz="2800" dirty="0"/>
              <a:t>(changed from R202, Third Teaching Building on Sep.8)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Classes will be in-person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Course sessions will be recorded using </a:t>
            </a:r>
            <a:r>
              <a:rPr lang="en-US" altLang="zh-TW" sz="2400" dirty="0" err="1">
                <a:solidFill>
                  <a:srgbClr val="0000FF"/>
                </a:solidFill>
              </a:rPr>
              <a:t>i</a:t>
            </a:r>
            <a:r>
              <a:rPr lang="en-US" altLang="zh-TW" sz="2400" dirty="0">
                <a:solidFill>
                  <a:srgbClr val="0000FF"/>
                </a:solidFill>
              </a:rPr>
              <a:t>-School+</a:t>
            </a:r>
            <a:r>
              <a:rPr lang="en-US" altLang="zh-TW" sz="2400" dirty="0"/>
              <a:t> and </a:t>
            </a:r>
            <a:r>
              <a:rPr lang="en-US" altLang="zh-TW" sz="2400" dirty="0">
                <a:solidFill>
                  <a:srgbClr val="0000FF"/>
                </a:solidFill>
              </a:rPr>
              <a:t>Teams</a:t>
            </a:r>
            <a:r>
              <a:rPr lang="en-US" altLang="zh-TW" sz="2400" dirty="0"/>
              <a:t> whenever possible</a:t>
            </a:r>
          </a:p>
          <a:p>
            <a:pPr eaLnBrk="1" hangingPunct="1">
              <a:lnSpc>
                <a:spcPct val="80000"/>
              </a:lnSpc>
            </a:pPr>
            <a:endParaRPr lang="en-US" altLang="zh-TW" sz="2400" dirty="0">
              <a:solidFill>
                <a:srgbClr val="FF0000"/>
              </a:solidFill>
            </a:endParaRPr>
          </a:p>
        </p:txBody>
      </p:sp>
      <p:pic>
        <p:nvPicPr>
          <p:cNvPr id="14343" name="圖片 1">
            <a:extLst>
              <a:ext uri="{FF2B5EF4-FFF2-40B4-BE49-F238E27FC236}">
                <a16:creationId xmlns:a16="http://schemas.microsoft.com/office/drawing/2014/main" id="{72A5234E-CDAA-678F-66CE-7F2BC913F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0425" y="274639"/>
            <a:ext cx="1159550" cy="170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For Online Recording of Course Sessions</a:t>
            </a:r>
            <a:endParaRPr lang="zh-TW" altLang="en-US"/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TW" dirty="0"/>
              <a:t>Online course sessions will be setup as possible using Microsoft Teams, which will be recorded and put in </a:t>
            </a:r>
            <a:r>
              <a:rPr lang="en-US" altLang="zh-TW" dirty="0" err="1">
                <a:solidFill>
                  <a:srgbClr val="0000FF"/>
                </a:solidFill>
              </a:rPr>
              <a:t>i</a:t>
            </a:r>
            <a:r>
              <a:rPr lang="en-US" altLang="zh-TW" dirty="0">
                <a:solidFill>
                  <a:srgbClr val="0000FF"/>
                </a:solidFill>
              </a:rPr>
              <a:t>-School+</a:t>
            </a:r>
          </a:p>
          <a:p>
            <a:pPr lvl="1">
              <a:defRPr/>
            </a:pPr>
            <a:r>
              <a:rPr lang="en-US" altLang="zh-TW" dirty="0"/>
              <a:t>Teams will be created for the course numbers: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[NTUT-Sync]115-1_361351_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資訊檢索與應用</a:t>
            </a:r>
            <a:endParaRPr lang="en-US" altLang="zh-TW" dirty="0">
              <a:solidFill>
                <a:schemeClr val="bg1">
                  <a:lumMod val="6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zh-TW" dirty="0"/>
              <a:t>[NTUT-Sync]115-1_</a:t>
            </a:r>
            <a:r>
              <a:rPr lang="en-US" altLang="zh-TW" dirty="0">
                <a:solidFill>
                  <a:srgbClr val="FF0000"/>
                </a:solidFill>
              </a:rPr>
              <a:t>364153</a:t>
            </a:r>
            <a:r>
              <a:rPr lang="en-US" altLang="zh-TW" dirty="0"/>
              <a:t>_</a:t>
            </a:r>
            <a:r>
              <a:rPr lang="zh-TW" altLang="en-US" dirty="0"/>
              <a:t>資訊檢索與應用</a:t>
            </a:r>
            <a:r>
              <a:rPr lang="en-US" altLang="zh-TW" dirty="0"/>
              <a:t>-&gt; the major link to our online course</a:t>
            </a:r>
            <a:endParaRPr lang="zh-TW" altLang="en-US" dirty="0"/>
          </a:p>
          <a:p>
            <a:pPr lvl="2">
              <a:defRPr/>
            </a:pPr>
            <a:r>
              <a:rPr lang="en-US" altLang="zh-TW" dirty="0"/>
              <a:t>And our online communication channels</a:t>
            </a:r>
            <a:endParaRPr lang="en-US" altLang="zh-TW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TW" dirty="0"/>
              <a:t>Other communication channels: </a:t>
            </a:r>
          </a:p>
          <a:p>
            <a:pPr lvl="1">
              <a:defRPr/>
            </a:pPr>
            <a:r>
              <a:rPr lang="en-US" altLang="zh-TW" dirty="0"/>
              <a:t>E-mails, </a:t>
            </a:r>
            <a:r>
              <a:rPr lang="en-US" altLang="zh-TW" dirty="0" err="1"/>
              <a:t>iSchool</a:t>
            </a:r>
            <a:r>
              <a:rPr lang="en-US" altLang="zh-TW" dirty="0"/>
              <a:t>+, and our course Web site</a:t>
            </a:r>
          </a:p>
          <a:p>
            <a:pPr lvl="1">
              <a:defRPr/>
            </a:pPr>
            <a:endParaRPr lang="en-US" altLang="zh-TW" dirty="0"/>
          </a:p>
          <a:p>
            <a:pPr>
              <a:defRPr/>
            </a:pPr>
            <a:endParaRPr lang="zh-TW" altLang="en-US" dirty="0"/>
          </a:p>
        </p:txBody>
      </p:sp>
      <p:sp>
        <p:nvSpPr>
          <p:cNvPr id="1024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1024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102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AB2E62-CEB5-4611-97B7-167E2BCF41D9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標題 1">
            <a:extLst>
              <a:ext uri="{FF2B5EF4-FFF2-40B4-BE49-F238E27FC236}">
                <a16:creationId xmlns:a16="http://schemas.microsoft.com/office/drawing/2014/main" id="{62155F1B-08BF-6328-BB84-79044D0E0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Target Audience</a:t>
            </a:r>
            <a:endParaRPr lang="zh-TW" altLang="en-US"/>
          </a:p>
        </p:txBody>
      </p:sp>
      <p:sp>
        <p:nvSpPr>
          <p:cNvPr id="16387" name="內容版面配置區 2">
            <a:extLst>
              <a:ext uri="{FF2B5EF4-FFF2-40B4-BE49-F238E27FC236}">
                <a16:creationId xmlns:a16="http://schemas.microsoft.com/office/drawing/2014/main" id="{6500D7AF-8CDB-247A-CD77-2FBB54CCC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CSIE seniors and graduate students</a:t>
            </a:r>
          </a:p>
          <a:p>
            <a:r>
              <a:rPr lang="en-US" altLang="zh-TW" dirty="0"/>
              <a:t>IEECS (International Program of Electrical Engineering and Computer Science)</a:t>
            </a:r>
          </a:p>
          <a:p>
            <a:r>
              <a:rPr lang="en-US" altLang="zh-TW" dirty="0"/>
              <a:t>Those who are interested in applying retrieval techniques</a:t>
            </a:r>
          </a:p>
          <a:p>
            <a:endParaRPr lang="zh-TW" altLang="en-US" dirty="0"/>
          </a:p>
        </p:txBody>
      </p:sp>
      <p:sp>
        <p:nvSpPr>
          <p:cNvPr id="16388" name="日期版面配置區 3">
            <a:extLst>
              <a:ext uri="{FF2B5EF4-FFF2-40B4-BE49-F238E27FC236}">
                <a16:creationId xmlns:a16="http://schemas.microsoft.com/office/drawing/2014/main" id="{11B3C1DF-DBB1-3248-2CD3-FFA3F187A9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16389" name="頁尾版面配置區 4">
            <a:extLst>
              <a:ext uri="{FF2B5EF4-FFF2-40B4-BE49-F238E27FC236}">
                <a16:creationId xmlns:a16="http://schemas.microsoft.com/office/drawing/2014/main" id="{E42BCB44-2281-B42F-942D-88153ED36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16390" name="投影片編號版面配置區 5">
            <a:extLst>
              <a:ext uri="{FF2B5EF4-FFF2-40B4-BE49-F238E27FC236}">
                <a16:creationId xmlns:a16="http://schemas.microsoft.com/office/drawing/2014/main" id="{F50B33E6-A6D8-D446-EEAA-14D6D2665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098182-D6A7-4B7D-ACA0-6DBE6B95E6B2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3686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368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64E344-B68B-4FE1-8CF4-FE05909BE560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Course Materials</a:t>
            </a:r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Textbook: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Christopher D. Manning, Prabhakar Raghavan and Hinrich </a:t>
            </a:r>
            <a:r>
              <a:rPr lang="en-US" altLang="zh-TW" sz="2400" dirty="0" err="1"/>
              <a:t>Schuetze</a:t>
            </a:r>
            <a:r>
              <a:rPr lang="en-US" altLang="zh-TW" sz="2400" dirty="0"/>
              <a:t>, </a:t>
            </a:r>
            <a:r>
              <a:rPr lang="en-US" altLang="zh-TW" sz="2400" i="1" dirty="0">
                <a:hlinkClick r:id="rId3"/>
              </a:rPr>
              <a:t>Introduction to Information Retrieval</a:t>
            </a:r>
            <a:r>
              <a:rPr lang="en-US" altLang="zh-TW" sz="2400" dirty="0"/>
              <a:t>, Cambridge University Press, 2008. (Available online)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TW" sz="2000" dirty="0"/>
              <a:t>International Student Edition, imported by Kai-Fa (</a:t>
            </a:r>
            <a:r>
              <a:rPr lang="zh-TW" altLang="en-US" sz="2000" dirty="0"/>
              <a:t>開發</a:t>
            </a:r>
            <a:r>
              <a:rPr lang="en-US" altLang="zh-TW" sz="2000" dirty="0"/>
              <a:t>) Publishing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TW" sz="2000" dirty="0"/>
              <a:t>Available online at: </a:t>
            </a:r>
            <a:r>
              <a:rPr lang="en-US" altLang="zh-TW" sz="2000" dirty="0">
                <a:hlinkClick r:id="rId4"/>
              </a:rPr>
              <a:t>https://www.informationretrieval.org/</a:t>
            </a:r>
            <a:r>
              <a:rPr lang="en-US" altLang="zh-TW" sz="2000" dirty="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Prerequisites: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Basic knowledge of </a:t>
            </a:r>
            <a:r>
              <a:rPr lang="en-US" altLang="zh-TW" sz="2400" dirty="0">
                <a:solidFill>
                  <a:srgbClr val="0000FF"/>
                </a:solidFill>
              </a:rPr>
              <a:t>data structures and algorithms</a:t>
            </a:r>
            <a:r>
              <a:rPr lang="en-US" altLang="zh-TW" sz="2400" dirty="0"/>
              <a:t>, </a:t>
            </a:r>
            <a:r>
              <a:rPr lang="en-US" altLang="zh-TW" sz="2400" dirty="0">
                <a:solidFill>
                  <a:srgbClr val="0000FF"/>
                </a:solidFill>
              </a:rPr>
              <a:t>linear algebra</a:t>
            </a:r>
            <a:r>
              <a:rPr lang="en-US" altLang="zh-TW" sz="2400" dirty="0"/>
              <a:t>, and </a:t>
            </a:r>
            <a:r>
              <a:rPr lang="en-US" altLang="zh-TW" sz="2400" dirty="0">
                <a:solidFill>
                  <a:srgbClr val="0000FF"/>
                </a:solidFill>
              </a:rPr>
              <a:t>probability theory</a:t>
            </a:r>
            <a:r>
              <a:rPr lang="en-US" altLang="zh-TW" sz="2400" dirty="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Programming experience is *required* for </a:t>
            </a:r>
            <a:r>
              <a:rPr lang="en-US" altLang="zh-TW" sz="2400" dirty="0" err="1"/>
              <a:t>homeworks</a:t>
            </a:r>
            <a:r>
              <a:rPr lang="en-US" altLang="zh-TW" sz="2400" dirty="0"/>
              <a:t> &amp; projects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版面配置區 3">
            <a:extLst>
              <a:ext uri="{FF2B5EF4-FFF2-40B4-BE49-F238E27FC236}">
                <a16:creationId xmlns:a16="http://schemas.microsoft.com/office/drawing/2014/main" id="{F6E652A9-90D8-F1DA-0A1A-72170897645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17411" name="頁尾版面配置區 4">
            <a:extLst>
              <a:ext uri="{FF2B5EF4-FFF2-40B4-BE49-F238E27FC236}">
                <a16:creationId xmlns:a16="http://schemas.microsoft.com/office/drawing/2014/main" id="{15EDE647-5C11-383B-D392-948D1BA5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17412" name="投影片編號版面配置區 5">
            <a:extLst>
              <a:ext uri="{FF2B5EF4-FFF2-40B4-BE49-F238E27FC236}">
                <a16:creationId xmlns:a16="http://schemas.microsoft.com/office/drawing/2014/main" id="{80E460D2-7384-7414-005A-0B55248AA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9228DB-26FE-4882-B713-71F43979238A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17413" name="Rectangle 2">
            <a:extLst>
              <a:ext uri="{FF2B5EF4-FFF2-40B4-BE49-F238E27FC236}">
                <a16:creationId xmlns:a16="http://schemas.microsoft.com/office/drawing/2014/main" id="{7315DBE9-E1DD-298D-496F-F052F975C6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Additional References</a:t>
            </a:r>
          </a:p>
        </p:txBody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DDA62D9C-C441-55AD-F899-2E87124228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altLang="zh-TW" sz="2800" dirty="0"/>
              <a:t>References: </a:t>
            </a:r>
          </a:p>
          <a:p>
            <a:pPr lvl="1" eaLnBrk="1" hangingPunct="1">
              <a:defRPr/>
            </a:pPr>
            <a:r>
              <a:rPr lang="en-US" altLang="zh-TW" sz="2400" dirty="0"/>
              <a:t>Ricardo </a:t>
            </a:r>
            <a:r>
              <a:rPr lang="en-US" altLang="zh-TW" sz="2400" dirty="0" err="1"/>
              <a:t>Baeza</a:t>
            </a:r>
            <a:r>
              <a:rPr lang="en-US" altLang="zh-TW" sz="2400" dirty="0"/>
              <a:t>-Yates and Berthier Ribeiro-</a:t>
            </a:r>
            <a:r>
              <a:rPr lang="en-US" altLang="zh-TW" sz="2400" dirty="0" err="1"/>
              <a:t>Neto</a:t>
            </a:r>
            <a:r>
              <a:rPr lang="en-US" altLang="zh-TW" sz="2400" dirty="0"/>
              <a:t>, </a:t>
            </a:r>
            <a:r>
              <a:rPr lang="en-US" altLang="zh-TW" sz="2400" dirty="0">
                <a:hlinkClick r:id="rId3"/>
              </a:rPr>
              <a:t>Modern Information Retrieval: The Concepts and Technology behind Search</a:t>
            </a:r>
            <a:r>
              <a:rPr lang="en-US" altLang="zh-TW" sz="2400" dirty="0"/>
              <a:t> (2</a:t>
            </a:r>
            <a:r>
              <a:rPr lang="en-US" altLang="zh-TW" sz="2400" baseline="30000" dirty="0"/>
              <a:t>nd</a:t>
            </a:r>
            <a:r>
              <a:rPr lang="en-US" altLang="zh-TW" sz="2400" dirty="0"/>
              <a:t> ed.), Addison-Wesley, 2011</a:t>
            </a:r>
          </a:p>
          <a:p>
            <a:pPr lvl="2" eaLnBrk="1" hangingPunct="1">
              <a:defRPr/>
            </a:pPr>
            <a:r>
              <a:rPr lang="en-US" altLang="zh-TW" sz="2000" dirty="0"/>
              <a:t>The first edition of their book </a:t>
            </a:r>
            <a:r>
              <a:rPr lang="en-US" altLang="zh-TW" sz="2000" dirty="0">
                <a:hlinkClick r:id="rId4"/>
              </a:rPr>
              <a:t>Modern Information Retrieval</a:t>
            </a:r>
            <a:r>
              <a:rPr lang="en-US" altLang="zh-TW" sz="2000" dirty="0"/>
              <a:t> was published in 1999 (</a:t>
            </a:r>
            <a:r>
              <a:rPr lang="zh-TW" altLang="en-US" sz="2000" dirty="0"/>
              <a:t>華通</a:t>
            </a:r>
            <a:r>
              <a:rPr lang="en-US" altLang="zh-TW" sz="2000" dirty="0"/>
              <a:t>)</a:t>
            </a:r>
          </a:p>
          <a:p>
            <a:pPr lvl="1" eaLnBrk="1" hangingPunct="1">
              <a:defRPr/>
            </a:pPr>
            <a:r>
              <a:rPr lang="en-US" altLang="zh-TW" sz="2400" dirty="0"/>
              <a:t>Bruce Croft, Donald Metzler, and Trevor </a:t>
            </a:r>
            <a:r>
              <a:rPr lang="en-US" altLang="zh-TW" sz="2400" dirty="0" err="1"/>
              <a:t>Strohman</a:t>
            </a:r>
            <a:r>
              <a:rPr lang="en-US" altLang="zh-TW" sz="2400" dirty="0"/>
              <a:t>, </a:t>
            </a:r>
            <a:r>
              <a:rPr lang="en-US" altLang="zh-TW" sz="2400" i="1" dirty="0">
                <a:hlinkClick r:id="rId5"/>
              </a:rPr>
              <a:t>Search Engines: Information Retrieval in Practice</a:t>
            </a:r>
            <a:r>
              <a:rPr lang="en-US" altLang="zh-TW" sz="2400" dirty="0"/>
              <a:t>, Addison-Wesley, 2010. (</a:t>
            </a:r>
            <a:r>
              <a:rPr lang="zh-TW" altLang="en-US" sz="2400" dirty="0"/>
              <a:t>全華</a:t>
            </a:r>
            <a:r>
              <a:rPr lang="en-US" altLang="zh-TW" sz="2400" dirty="0"/>
              <a:t>)</a:t>
            </a:r>
          </a:p>
          <a:p>
            <a:pPr lvl="2" eaLnBrk="1" hangingPunct="1">
              <a:defRPr/>
            </a:pPr>
            <a:r>
              <a:rPr lang="en-US" altLang="zh-TW" sz="2000" dirty="0"/>
              <a:t>Now also available for free download</a:t>
            </a:r>
          </a:p>
          <a:p>
            <a:pPr lvl="1" eaLnBrk="1" hangingPunct="1">
              <a:defRPr/>
            </a:pPr>
            <a:r>
              <a:rPr lang="en-US" altLang="zh-TW" sz="2400" dirty="0"/>
              <a:t>Stefan </a:t>
            </a:r>
            <a:r>
              <a:rPr lang="en-US" altLang="zh-TW" sz="2400" dirty="0" err="1"/>
              <a:t>Buettcher</a:t>
            </a:r>
            <a:r>
              <a:rPr lang="en-US" altLang="zh-TW" sz="2400" dirty="0"/>
              <a:t>, Charles L.A. Clarke, and Gordon V. Cormack, </a:t>
            </a:r>
            <a:r>
              <a:rPr lang="en-US" altLang="zh-TW" sz="2400" dirty="0">
                <a:hlinkClick r:id="rId6"/>
              </a:rPr>
              <a:t>Information Retrieval: Implementing and Evaluating Search Engines</a:t>
            </a:r>
            <a:r>
              <a:rPr lang="en-US" altLang="zh-TW" sz="2400" dirty="0"/>
              <a:t>, MIT Press, 2010. </a:t>
            </a:r>
          </a:p>
          <a:p>
            <a:pPr eaLnBrk="1" hangingPunct="1">
              <a:defRPr/>
            </a:pPr>
            <a:endParaRPr lang="en-US" altLang="zh-TW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>
            <a:extLst>
              <a:ext uri="{FF2B5EF4-FFF2-40B4-BE49-F238E27FC236}">
                <a16:creationId xmlns:a16="http://schemas.microsoft.com/office/drawing/2014/main" id="{C0D4DA1F-74DC-4C11-5C93-F285023722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19459" name="頁尾版面配置區 4">
            <a:extLst>
              <a:ext uri="{FF2B5EF4-FFF2-40B4-BE49-F238E27FC236}">
                <a16:creationId xmlns:a16="http://schemas.microsoft.com/office/drawing/2014/main" id="{E889EA04-2139-063D-42A9-10E66F5B4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19460" name="投影片編號版面配置區 5">
            <a:extLst>
              <a:ext uri="{FF2B5EF4-FFF2-40B4-BE49-F238E27FC236}">
                <a16:creationId xmlns:a16="http://schemas.microsoft.com/office/drawing/2014/main" id="{044EF449-0D94-6FB1-D1E6-114682C94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77BEC8-F6A4-4B27-A064-2BD6F84B0F35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36EC1CCA-6819-9ECF-C1AE-422E4A09A7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Some Classic Books on IR</a:t>
            </a:r>
          </a:p>
        </p:txBody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59A81EE8-20D0-E21F-BB54-7DBBED6CCC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/>
              <a:t>Gerard Salton, Automatic information organization and retrieval, McGraw-Hill, 1968.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/>
              <a:t>Gerard Salton and M.J. McGill, Introduction to modern information retrieval, McGraw-Hill, 1983.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i="1"/>
              <a:t>Two classics, but out-of-print.</a:t>
            </a:r>
            <a:r>
              <a:rPr lang="en-US" altLang="zh-TW" sz="200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/>
              <a:t>C. J. van Rijsbergen, </a:t>
            </a:r>
            <a:r>
              <a:rPr lang="en-US" altLang="zh-TW" sz="2400">
                <a:hlinkClick r:id="rId3"/>
              </a:rPr>
              <a:t>Information Retrieval</a:t>
            </a:r>
            <a:r>
              <a:rPr lang="en-US" altLang="zh-TW" sz="2400"/>
              <a:t>, Butterworths, 1979.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i="1"/>
              <a:t>The classic. More than 40 years old, but still worth reading.</a:t>
            </a:r>
            <a:r>
              <a:rPr lang="en-US" altLang="zh-TW" sz="200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/>
              <a:t>K. Sparck Jones, P. Willett, </a:t>
            </a:r>
            <a:r>
              <a:rPr lang="en-US" altLang="zh-TW" sz="2400">
                <a:hlinkClick r:id="rId4"/>
              </a:rPr>
              <a:t>Readings in Information Retrieval</a:t>
            </a:r>
            <a:r>
              <a:rPr lang="en-US" altLang="zh-TW" sz="2400"/>
              <a:t>, Morgan Kaufmann, 1997.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i="1"/>
              <a:t>A collection of classical IR papers.</a:t>
            </a:r>
            <a:r>
              <a:rPr lang="en-US" altLang="zh-TW" sz="2000"/>
              <a:t> (out of print)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/>
              <a:t>I.H. Witten, A. Moffat, T.C. Bell. Morgan Kaufmann, </a:t>
            </a:r>
            <a:r>
              <a:rPr lang="en-US" altLang="zh-TW" sz="2400">
                <a:hlinkClick r:id="rId5"/>
              </a:rPr>
              <a:t>Managing Gigabytes</a:t>
            </a:r>
            <a:r>
              <a:rPr lang="en-US" altLang="zh-TW" sz="2400"/>
              <a:t>, 2nd edition, 1999.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i="1"/>
              <a:t>The authority on index construction and compression.</a:t>
            </a:r>
            <a:r>
              <a:rPr lang="en-US" altLang="zh-TW" sz="2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版面配置區 3">
            <a:extLst>
              <a:ext uri="{FF2B5EF4-FFF2-40B4-BE49-F238E27FC236}">
                <a16:creationId xmlns:a16="http://schemas.microsoft.com/office/drawing/2014/main" id="{BFCB75A2-E894-679E-161A-5188B0683D0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32771" name="頁尾版面配置區 4">
            <a:extLst>
              <a:ext uri="{FF2B5EF4-FFF2-40B4-BE49-F238E27FC236}">
                <a16:creationId xmlns:a16="http://schemas.microsoft.com/office/drawing/2014/main" id="{C11E8F25-B46B-227E-16EE-FD4DDBB24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32772" name="投影片編號版面配置區 5">
            <a:extLst>
              <a:ext uri="{FF2B5EF4-FFF2-40B4-BE49-F238E27FC236}">
                <a16:creationId xmlns:a16="http://schemas.microsoft.com/office/drawing/2014/main" id="{508389DB-F612-5A12-949B-2F1CD8FC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AADD46-BD93-42F2-B3FA-0B90EE0ED38D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32773" name="Rectangle 2">
            <a:extLst>
              <a:ext uri="{FF2B5EF4-FFF2-40B4-BE49-F238E27FC236}">
                <a16:creationId xmlns:a16="http://schemas.microsoft.com/office/drawing/2014/main" id="{537B65EA-AEC7-7666-2D3B-5AE6441A6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What Is Information Retrieval?</a:t>
            </a:r>
          </a:p>
        </p:txBody>
      </p:sp>
      <p:sp>
        <p:nvSpPr>
          <p:cNvPr id="32774" name="Rectangle 3">
            <a:extLst>
              <a:ext uri="{FF2B5EF4-FFF2-40B4-BE49-F238E27FC236}">
                <a16:creationId xmlns:a16="http://schemas.microsoft.com/office/drawing/2014/main" id="{22C2FAC6-1801-5EA5-6F82-32E18B7802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Formal definition: </a:t>
            </a:r>
            <a:r>
              <a:rPr lang="en-US" altLang="zh-TW" i="1"/>
              <a:t>“Information retrieval is a field concerned with the </a:t>
            </a:r>
            <a:r>
              <a:rPr lang="en-US" altLang="zh-TW" i="1">
                <a:solidFill>
                  <a:srgbClr val="0000FF"/>
                </a:solidFill>
              </a:rPr>
              <a:t>structure, analysis, organization, storage, searching</a:t>
            </a:r>
            <a:r>
              <a:rPr lang="en-US" altLang="zh-TW" i="1"/>
              <a:t>, and </a:t>
            </a:r>
            <a:r>
              <a:rPr lang="en-US" altLang="zh-TW" i="1">
                <a:solidFill>
                  <a:srgbClr val="0000FF"/>
                </a:solidFill>
              </a:rPr>
              <a:t>retrieval</a:t>
            </a:r>
            <a:r>
              <a:rPr lang="en-US" altLang="zh-TW" i="1"/>
              <a:t> of </a:t>
            </a:r>
            <a:r>
              <a:rPr lang="en-US" altLang="zh-TW" i="1">
                <a:solidFill>
                  <a:srgbClr val="FF0000"/>
                </a:solidFill>
              </a:rPr>
              <a:t>information</a:t>
            </a:r>
            <a:r>
              <a:rPr lang="en-US" altLang="zh-TW" i="1"/>
              <a:t>.”</a:t>
            </a:r>
            <a:r>
              <a:rPr lang="en-US" altLang="zh-TW"/>
              <a:t> (Salton, 1968)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Information vs. data</a:t>
            </a:r>
          </a:p>
          <a:p>
            <a:pPr eaLnBrk="1" hangingPunct="1"/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30300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版面配置區 3">
            <a:extLst>
              <a:ext uri="{FF2B5EF4-FFF2-40B4-BE49-F238E27FC236}">
                <a16:creationId xmlns:a16="http://schemas.microsoft.com/office/drawing/2014/main" id="{FE86AFBE-0672-F622-D998-1A3AEF282C0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34819" name="頁尾版面配置區 4">
            <a:extLst>
              <a:ext uri="{FF2B5EF4-FFF2-40B4-BE49-F238E27FC236}">
                <a16:creationId xmlns:a16="http://schemas.microsoft.com/office/drawing/2014/main" id="{6AE6DB2A-EF97-4B7E-A1C4-43A7F1A9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34820" name="投影片編號版面配置區 5">
            <a:extLst>
              <a:ext uri="{FF2B5EF4-FFF2-40B4-BE49-F238E27FC236}">
                <a16:creationId xmlns:a16="http://schemas.microsoft.com/office/drawing/2014/main" id="{5BAD5554-B59B-BAB4-573D-B1B90F9D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715329-55E0-4AB3-82AB-413431FB8A60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34821" name="Rectangle 2">
            <a:extLst>
              <a:ext uri="{FF2B5EF4-FFF2-40B4-BE49-F238E27FC236}">
                <a16:creationId xmlns:a16="http://schemas.microsoft.com/office/drawing/2014/main" id="{475A8D74-E02F-4D42-5A12-7DCFFEEA4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Goal</a:t>
            </a:r>
          </a:p>
        </p:txBody>
      </p:sp>
      <p:sp>
        <p:nvSpPr>
          <p:cNvPr id="34822" name="Rectangle 3">
            <a:extLst>
              <a:ext uri="{FF2B5EF4-FFF2-40B4-BE49-F238E27FC236}">
                <a16:creationId xmlns:a16="http://schemas.microsoft.com/office/drawing/2014/main" id="{FA760C86-E6F7-D5EB-3EC6-A90F5EA905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/>
              <a:t>Information retrieval (IR): a research field that targets at </a:t>
            </a:r>
            <a:r>
              <a:rPr lang="en-US" altLang="zh-TW" dirty="0">
                <a:solidFill>
                  <a:srgbClr val="0000FF"/>
                </a:solidFill>
              </a:rPr>
              <a:t>effectively and efficiently searching information</a:t>
            </a:r>
            <a:r>
              <a:rPr lang="en-US" altLang="zh-TW" dirty="0"/>
              <a:t> in text and multimedia documents</a:t>
            </a:r>
          </a:p>
          <a:p>
            <a:pPr eaLnBrk="1" hangingPunct="1"/>
            <a:r>
              <a:rPr lang="en-US" altLang="zh-TW" dirty="0"/>
              <a:t>Google mission statement: “to organize the world's information and make it universally accessible and useful.”</a:t>
            </a:r>
          </a:p>
          <a:p>
            <a:pPr eaLnBrk="1" hangingPunct="1"/>
            <a:r>
              <a:rPr lang="en-US" altLang="zh-TW" dirty="0"/>
              <a:t>In this course, we will introduce the basic text and query models in IR, retrieval evaluation, indexing and searching, and applications for retrieval techniques</a:t>
            </a:r>
          </a:p>
          <a:p>
            <a:pPr eaLnBrk="1" hangingPunct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67646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版面配置區 3">
            <a:extLst>
              <a:ext uri="{FF2B5EF4-FFF2-40B4-BE49-F238E27FC236}">
                <a16:creationId xmlns:a16="http://schemas.microsoft.com/office/drawing/2014/main" id="{A1286866-6591-EB1F-1F5C-6617A77AB0A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36867" name="頁尾版面配置區 4">
            <a:extLst>
              <a:ext uri="{FF2B5EF4-FFF2-40B4-BE49-F238E27FC236}">
                <a16:creationId xmlns:a16="http://schemas.microsoft.com/office/drawing/2014/main" id="{00BBBFBF-D3FA-CB21-C845-59C8CC79C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36868" name="投影片編號版面配置區 5">
            <a:extLst>
              <a:ext uri="{FF2B5EF4-FFF2-40B4-BE49-F238E27FC236}">
                <a16:creationId xmlns:a16="http://schemas.microsoft.com/office/drawing/2014/main" id="{A8B99045-752A-0021-ADEC-40D4F55CB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C72DBE-1C9E-4DC8-B45A-C9B6731F4D39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2AE15908-F5C9-3867-8FCA-6669891AA1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A Big Picture</a:t>
            </a:r>
          </a:p>
        </p:txBody>
      </p:sp>
      <p:pic>
        <p:nvPicPr>
          <p:cNvPr id="36870" name="Content Placeholder 4" descr="system.gif">
            <a:extLst>
              <a:ext uri="{FF2B5EF4-FFF2-40B4-BE49-F238E27FC236}">
                <a16:creationId xmlns:a16="http://schemas.microsoft.com/office/drawing/2014/main" id="{573AA34F-76A2-957C-CD16-2ED64C70A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144000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1" name="Oval 5">
            <a:extLst>
              <a:ext uri="{FF2B5EF4-FFF2-40B4-BE49-F238E27FC236}">
                <a16:creationId xmlns:a16="http://schemas.microsoft.com/office/drawing/2014/main" id="{E41FC3B8-A8CA-85FC-86A2-379F3B757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276600"/>
            <a:ext cx="1524000" cy="6858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latin typeface="Arial" panose="020B0604020202020204" pitchFamily="34" charset="0"/>
            </a:endParaRPr>
          </a:p>
        </p:txBody>
      </p:sp>
      <p:sp>
        <p:nvSpPr>
          <p:cNvPr id="36872" name="Oval 6">
            <a:extLst>
              <a:ext uri="{FF2B5EF4-FFF2-40B4-BE49-F238E27FC236}">
                <a16:creationId xmlns:a16="http://schemas.microsoft.com/office/drawing/2014/main" id="{09DA5A12-5B71-3EE1-694E-B1CF3ADCC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429000"/>
            <a:ext cx="2590800" cy="533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098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版面配置區 3">
            <a:extLst>
              <a:ext uri="{FF2B5EF4-FFF2-40B4-BE49-F238E27FC236}">
                <a16:creationId xmlns:a16="http://schemas.microsoft.com/office/drawing/2014/main" id="{A1286866-6591-EB1F-1F5C-6617A77AB0A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36867" name="頁尾版面配置區 4">
            <a:extLst>
              <a:ext uri="{FF2B5EF4-FFF2-40B4-BE49-F238E27FC236}">
                <a16:creationId xmlns:a16="http://schemas.microsoft.com/office/drawing/2014/main" id="{00BBBFBF-D3FA-CB21-C845-59C8CC79C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36868" name="投影片編號版面配置區 5">
            <a:extLst>
              <a:ext uri="{FF2B5EF4-FFF2-40B4-BE49-F238E27FC236}">
                <a16:creationId xmlns:a16="http://schemas.microsoft.com/office/drawing/2014/main" id="{A8B99045-752A-0021-ADEC-40D4F55CB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C72DBE-1C9E-4DC8-B45A-C9B6731F4D39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2AE15908-F5C9-3867-8FCA-6669891AA1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Another View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3488E92E-1B73-970C-CF41-5DFC2CCFD12F}"/>
              </a:ext>
            </a:extLst>
          </p:cNvPr>
          <p:cNvGrpSpPr/>
          <p:nvPr/>
        </p:nvGrpSpPr>
        <p:grpSpPr>
          <a:xfrm>
            <a:off x="381000" y="1219200"/>
            <a:ext cx="8413750" cy="5097463"/>
            <a:chOff x="381000" y="1219200"/>
            <a:chExt cx="8413750" cy="5097463"/>
          </a:xfrm>
        </p:grpSpPr>
        <p:sp>
          <p:nvSpPr>
            <p:cNvPr id="3" name="Oval 12">
              <a:extLst>
                <a:ext uri="{FF2B5EF4-FFF2-40B4-BE49-F238E27FC236}">
                  <a16:creationId xmlns:a16="http://schemas.microsoft.com/office/drawing/2014/main" id="{A05CEA70-AA89-284A-11B3-BF3245576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838" y="4419600"/>
              <a:ext cx="1620837" cy="768350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kumimoji="0" lang="pt-BR" altLang="zh-TW" sz="1800"/>
                <a:t>Inverted Index</a:t>
              </a:r>
              <a:endParaRPr lang="en-US" altLang="zh-TW" sz="1800"/>
            </a:p>
          </p:txBody>
        </p:sp>
        <p:sp>
          <p:nvSpPr>
            <p:cNvPr id="4" name="Text Box 5">
              <a:extLst>
                <a:ext uri="{FF2B5EF4-FFF2-40B4-BE49-F238E27FC236}">
                  <a16:creationId xmlns:a16="http://schemas.microsoft.com/office/drawing/2014/main" id="{E9B1D818-0F59-69C8-A24C-2A71F5D33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8725" y="1219200"/>
              <a:ext cx="1031875" cy="615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pt-BR" altLang="zh-TW" sz="1800" dirty="0">
                  <a:latin typeface="Times New Roman" panose="02020603050405020304" pitchFamily="18" charset="0"/>
                </a:rPr>
                <a:t>User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pt-BR" altLang="zh-TW" sz="1800" dirty="0">
                  <a:latin typeface="Times New Roman" panose="02020603050405020304" pitchFamily="18" charset="0"/>
                </a:rPr>
                <a:t>Interface</a:t>
              </a:r>
            </a:p>
          </p:txBody>
        </p:sp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0C92F030-37E5-5C61-3B49-A31ABC7BC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0400" y="2393950"/>
              <a:ext cx="4554538" cy="3508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TW" altLang="pt-BR" sz="1800">
                  <a:latin typeface="Times New Roman" panose="02020603050405020304" pitchFamily="18" charset="0"/>
                </a:rPr>
                <a:t>                             </a:t>
              </a:r>
              <a:r>
                <a:rPr kumimoji="0" lang="pt-BR" altLang="zh-TW" sz="1800">
                  <a:latin typeface="Times New Roman" panose="02020603050405020304" pitchFamily="18" charset="0"/>
                </a:rPr>
                <a:t>Text   Operations</a:t>
              </a:r>
            </a:p>
          </p:txBody>
        </p:sp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35D7EFE5-6FBE-A0BF-8ED4-1258B46085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1363" y="3303588"/>
              <a:ext cx="1417637" cy="6302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pt-BR" altLang="zh-TW" sz="1800"/>
                <a:t>Query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pt-BR" altLang="zh-TW" sz="1800"/>
                <a:t>Expansion</a:t>
              </a:r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3A1EE86A-0552-F00E-66B7-D15F76015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7338" y="3444875"/>
              <a:ext cx="1117600" cy="48895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pt-BR" altLang="zh-TW" sz="1800" b="1">
                  <a:latin typeface="Times New Roman" panose="02020603050405020304" pitchFamily="18" charset="0"/>
                </a:rPr>
                <a:t>Indexing</a:t>
              </a: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EB83808D-94DD-7BA7-0EB0-F7D649D68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1363" y="4564063"/>
              <a:ext cx="1198562" cy="48895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pt-BR" altLang="zh-TW" sz="1800" b="1">
                  <a:latin typeface="Times New Roman" panose="02020603050405020304" pitchFamily="18" charset="0"/>
                </a:rPr>
                <a:t>Retrieval</a:t>
              </a:r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8EBBDFB8-3E76-6BCA-76BE-A90A1B93C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1363" y="5753100"/>
              <a:ext cx="1117600" cy="41910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pt-BR" altLang="zh-TW" sz="1800" b="1">
                  <a:latin typeface="Times New Roman" panose="02020603050405020304" pitchFamily="18" charset="0"/>
                </a:rPr>
                <a:t>Ranking</a:t>
              </a:r>
            </a:p>
          </p:txBody>
        </p:sp>
        <p:sp>
          <p:nvSpPr>
            <p:cNvPr id="10" name="Line 13">
              <a:extLst>
                <a:ext uri="{FF2B5EF4-FFF2-40B4-BE49-F238E27FC236}">
                  <a16:creationId xmlns:a16="http://schemas.microsoft.com/office/drawing/2014/main" id="{EA16E8C4-4CA7-99C8-43F1-5C98D55D64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49588" y="1685925"/>
              <a:ext cx="719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503B0091-CF3C-20A4-B77D-B6FD9B47A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3013" y="2744788"/>
              <a:ext cx="0" cy="558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35FE8E86-51D7-BF1A-78CE-B60D1C5455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6913" y="2744788"/>
              <a:ext cx="0" cy="7000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id="{D4B9C72C-A044-BB81-C928-5C850E070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3013" y="3933825"/>
              <a:ext cx="0" cy="6302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Line 17">
              <a:extLst>
                <a:ext uri="{FF2B5EF4-FFF2-40B4-BE49-F238E27FC236}">
                  <a16:creationId xmlns:a16="http://schemas.microsoft.com/office/drawing/2014/main" id="{79DFE0EB-2594-5FC0-7F22-E4C9EC4A7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6913" y="3933825"/>
              <a:ext cx="0" cy="490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Line 18">
              <a:extLst>
                <a:ext uri="{FF2B5EF4-FFF2-40B4-BE49-F238E27FC236}">
                  <a16:creationId xmlns:a16="http://schemas.microsoft.com/office/drawing/2014/main" id="{B11DE1C4-4CA0-BB9B-ACA1-01187543E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3013" y="5053013"/>
              <a:ext cx="0" cy="7000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Line 19">
              <a:extLst>
                <a:ext uri="{FF2B5EF4-FFF2-40B4-BE49-F238E27FC236}">
                  <a16:creationId xmlns:a16="http://schemas.microsoft.com/office/drawing/2014/main" id="{598419DA-A4F1-6B3A-569C-221783E0AB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09925" y="4786313"/>
              <a:ext cx="19669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Line 20">
              <a:extLst>
                <a:ext uri="{FF2B5EF4-FFF2-40B4-BE49-F238E27FC236}">
                  <a16:creationId xmlns:a16="http://schemas.microsoft.com/office/drawing/2014/main" id="{6833E00F-E799-06CB-6B18-2A304279D7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000" y="5943600"/>
              <a:ext cx="16303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Line 21">
              <a:extLst>
                <a:ext uri="{FF2B5EF4-FFF2-40B4-BE49-F238E27FC236}">
                  <a16:creationId xmlns:a16="http://schemas.microsoft.com/office/drawing/2014/main" id="{35BCFE47-B2F1-1758-48D7-3F4640C0F4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000" y="1406525"/>
              <a:ext cx="0" cy="45370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577999FF-558F-DF9F-C3E5-19E57BF69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0" y="1406525"/>
              <a:ext cx="33877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Line 23">
              <a:extLst>
                <a:ext uri="{FF2B5EF4-FFF2-40B4-BE49-F238E27FC236}">
                  <a16:creationId xmlns:a16="http://schemas.microsoft.com/office/drawing/2014/main" id="{63781A55-3413-5FE7-B950-6F08708517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0625" y="1554163"/>
              <a:ext cx="25781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Line 24">
              <a:extLst>
                <a:ext uri="{FF2B5EF4-FFF2-40B4-BE49-F238E27FC236}">
                  <a16:creationId xmlns:a16="http://schemas.microsoft.com/office/drawing/2014/main" id="{1D1DA441-F9AE-08AE-6EB1-CBCB4DD348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0625" y="3608388"/>
              <a:ext cx="8207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Line 25">
              <a:extLst>
                <a:ext uri="{FF2B5EF4-FFF2-40B4-BE49-F238E27FC236}">
                  <a16:creationId xmlns:a16="http://schemas.microsoft.com/office/drawing/2014/main" id="{BAA4D092-1C73-B408-924B-C8512BFFD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0625" y="1554163"/>
              <a:ext cx="0" cy="20542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0A956E5B-DAE9-E53E-DCDF-84B1FE7FA1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9588" y="1685925"/>
              <a:ext cx="0" cy="7080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Text Box 27">
              <a:extLst>
                <a:ext uri="{FF2B5EF4-FFF2-40B4-BE49-F238E27FC236}">
                  <a16:creationId xmlns:a16="http://schemas.microsoft.com/office/drawing/2014/main" id="{509FE962-63D1-00E8-5224-ECC03EB998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6188" y="1835150"/>
              <a:ext cx="809625" cy="411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pt-BR" altLang="zh-TW" sz="1800">
                  <a:latin typeface="Times New Roman" panose="02020603050405020304" pitchFamily="18" charset="0"/>
                </a:rPr>
                <a:t>Text</a:t>
              </a:r>
            </a:p>
          </p:txBody>
        </p:sp>
        <p:sp>
          <p:nvSpPr>
            <p:cNvPr id="25" name="Text Box 28">
              <a:extLst>
                <a:ext uri="{FF2B5EF4-FFF2-40B4-BE49-F238E27FC236}">
                  <a16:creationId xmlns:a16="http://schemas.microsoft.com/office/drawing/2014/main" id="{D43B3DA9-0314-ADCF-2B9C-54CA661CFA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4114800"/>
              <a:ext cx="758825" cy="33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pt-BR" altLang="zh-TW" sz="1800">
                  <a:solidFill>
                    <a:srgbClr val="0000FF"/>
                  </a:solidFill>
                  <a:latin typeface="Times New Roman" panose="02020603050405020304" pitchFamily="18" charset="0"/>
                </a:rPr>
                <a:t>query</a:t>
              </a:r>
            </a:p>
          </p:txBody>
        </p:sp>
        <p:sp>
          <p:nvSpPr>
            <p:cNvPr id="26" name="Text Box 29">
              <a:extLst>
                <a:ext uri="{FF2B5EF4-FFF2-40B4-BE49-F238E27FC236}">
                  <a16:creationId xmlns:a16="http://schemas.microsoft.com/office/drawing/2014/main" id="{4776F225-E122-37AC-C400-6BC192F16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0400" y="1835150"/>
              <a:ext cx="1087438" cy="4175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pt-BR" altLang="zh-TW" sz="1800">
                  <a:latin typeface="Times New Roman" panose="02020603050405020304" pitchFamily="18" charset="0"/>
                </a:rPr>
                <a:t>user need</a:t>
              </a:r>
            </a:p>
          </p:txBody>
        </p:sp>
        <p:sp>
          <p:nvSpPr>
            <p:cNvPr id="27" name="Text Box 30">
              <a:extLst>
                <a:ext uri="{FF2B5EF4-FFF2-40B4-BE49-F238E27FC236}">
                  <a16:creationId xmlns:a16="http://schemas.microsoft.com/office/drawing/2014/main" id="{BBBDF30C-98D5-C666-E3D4-CB42DBFB1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838" y="3608388"/>
              <a:ext cx="1555750" cy="4048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pt-BR" altLang="zh-TW" sz="1800">
                  <a:latin typeface="Times New Roman" panose="02020603050405020304" pitchFamily="18" charset="0"/>
                </a:rPr>
                <a:t>user feedback</a:t>
              </a:r>
            </a:p>
          </p:txBody>
        </p:sp>
        <p:sp>
          <p:nvSpPr>
            <p:cNvPr id="28" name="Text Box 31">
              <a:extLst>
                <a:ext uri="{FF2B5EF4-FFF2-40B4-BE49-F238E27FC236}">
                  <a16:creationId xmlns:a16="http://schemas.microsoft.com/office/drawing/2014/main" id="{726841C2-61F0-8D60-3C7B-810B2A057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225" y="5943600"/>
              <a:ext cx="1300163" cy="373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pt-BR" altLang="zh-TW" sz="1800">
                  <a:latin typeface="Times New Roman" panose="02020603050405020304" pitchFamily="18" charset="0"/>
                </a:rPr>
                <a:t>ranked docs </a:t>
              </a:r>
            </a:p>
          </p:txBody>
        </p:sp>
        <p:sp>
          <p:nvSpPr>
            <p:cNvPr id="29" name="Text Box 32">
              <a:extLst>
                <a:ext uri="{FF2B5EF4-FFF2-40B4-BE49-F238E27FC236}">
                  <a16:creationId xmlns:a16="http://schemas.microsoft.com/office/drawing/2014/main" id="{72172E92-C58A-E5A9-4D4F-0DE9C7B5DD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7588" y="5192713"/>
              <a:ext cx="1495425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pt-BR" altLang="zh-TW" sz="1800">
                  <a:latin typeface="Times New Roman" panose="02020603050405020304" pitchFamily="18" charset="0"/>
                </a:rPr>
                <a:t>retrieved docs</a:t>
              </a:r>
            </a:p>
          </p:txBody>
        </p:sp>
        <p:sp>
          <p:nvSpPr>
            <p:cNvPr id="30" name="Text Box 33">
              <a:extLst>
                <a:ext uri="{FF2B5EF4-FFF2-40B4-BE49-F238E27FC236}">
                  <a16:creationId xmlns:a16="http://schemas.microsoft.com/office/drawing/2014/main" id="{F4822EDE-570F-6C67-CEA6-1791CE845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2895600"/>
              <a:ext cx="1981200" cy="373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pt-BR" altLang="zh-TW" sz="1800">
                  <a:latin typeface="Times New Roman" panose="02020603050405020304" pitchFamily="18" charset="0"/>
                </a:rPr>
                <a:t>Doc representation</a:t>
              </a:r>
            </a:p>
          </p:txBody>
        </p:sp>
        <p:sp>
          <p:nvSpPr>
            <p:cNvPr id="31" name="Text Box 34">
              <a:extLst>
                <a:ext uri="{FF2B5EF4-FFF2-40B4-BE49-F238E27FC236}">
                  <a16:creationId xmlns:a16="http://schemas.microsoft.com/office/drawing/2014/main" id="{AA2B051F-FAE2-8382-17C8-8384E41A0C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3013" y="2930525"/>
              <a:ext cx="1322387" cy="373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pt-BR" altLang="zh-TW" sz="1800">
                  <a:latin typeface="Times New Roman" panose="02020603050405020304" pitchFamily="18" charset="0"/>
                </a:rPr>
                <a:t>logical view</a:t>
              </a:r>
            </a:p>
          </p:txBody>
        </p:sp>
        <p:sp>
          <p:nvSpPr>
            <p:cNvPr id="32" name="Text Box 35">
              <a:extLst>
                <a:ext uri="{FF2B5EF4-FFF2-40B4-BE49-F238E27FC236}">
                  <a16:creationId xmlns:a16="http://schemas.microsoft.com/office/drawing/2014/main" id="{2557939B-8A64-A581-A807-23FDBE973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4525" y="4013200"/>
              <a:ext cx="1444625" cy="373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pt-BR" altLang="zh-TW" sz="1800">
                  <a:latin typeface="Times New Roman" panose="02020603050405020304" pitchFamily="18" charset="0"/>
                </a:rPr>
                <a:t>inverted file</a:t>
              </a:r>
            </a:p>
          </p:txBody>
        </p:sp>
        <p:sp>
          <p:nvSpPr>
            <p:cNvPr id="33" name="Line 37">
              <a:extLst>
                <a:ext uri="{FF2B5EF4-FFF2-40B4-BE49-F238E27FC236}">
                  <a16:creationId xmlns:a16="http://schemas.microsoft.com/office/drawing/2014/main" id="{B9D3DF91-EDD6-F623-0EAD-9354B5F6B7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77000" y="3581400"/>
              <a:ext cx="1676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AutoShape 44">
              <a:extLst>
                <a:ext uri="{FF2B5EF4-FFF2-40B4-BE49-F238E27FC236}">
                  <a16:creationId xmlns:a16="http://schemas.microsoft.com/office/drawing/2014/main" id="{0E7563F1-AD63-F830-97CE-E335D9F05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4876800"/>
              <a:ext cx="1327150" cy="1085850"/>
            </a:xfrm>
            <a:prstGeom prst="can">
              <a:avLst>
                <a:gd name="adj" fmla="val 26403"/>
              </a:avLst>
            </a:prstGeom>
            <a:solidFill>
              <a:schemeClr val="accent5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Book Antiqua" pitchFamily="18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kumimoji="0" lang="pt-BR" altLang="zh-TW" sz="1800">
                  <a:solidFill>
                    <a:srgbClr val="0000FF"/>
                  </a:solidFill>
                </a:rPr>
                <a:t>Document Collection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zh-TW" sz="1800"/>
            </a:p>
          </p:txBody>
        </p:sp>
        <p:sp>
          <p:nvSpPr>
            <p:cNvPr id="35" name="Line 47">
              <a:extLst>
                <a:ext uri="{FF2B5EF4-FFF2-40B4-BE49-F238E27FC236}">
                  <a16:creationId xmlns:a16="http://schemas.microsoft.com/office/drawing/2014/main" id="{A471C3E5-6528-1146-CBBC-806F518DFE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6913" y="1835150"/>
              <a:ext cx="0" cy="558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Line 50">
              <a:extLst>
                <a:ext uri="{FF2B5EF4-FFF2-40B4-BE49-F238E27FC236}">
                  <a16:creationId xmlns:a16="http://schemas.microsoft.com/office/drawing/2014/main" id="{B622CFAC-41C6-4B5D-F9A8-08A025D675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76913" y="1828800"/>
              <a:ext cx="2376487" cy="63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4A613C89-B7AA-5A17-6714-21D72EC4A43F}"/>
                </a:ext>
              </a:extLst>
            </p:cNvPr>
            <p:cNvCxnSpPr>
              <a:stCxn id="34" idx="1"/>
            </p:cNvCxnSpPr>
            <p:nvPr/>
          </p:nvCxnSpPr>
          <p:spPr>
            <a:xfrm flipV="1">
              <a:off x="8131175" y="1828800"/>
              <a:ext cx="22225" cy="304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1576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版面配置區 3">
            <a:extLst>
              <a:ext uri="{FF2B5EF4-FFF2-40B4-BE49-F238E27FC236}">
                <a16:creationId xmlns:a16="http://schemas.microsoft.com/office/drawing/2014/main" id="{DC14CCF0-FC7F-69FB-5D6C-7A5AD03D325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40963" name="頁尾版面配置區 4">
            <a:extLst>
              <a:ext uri="{FF2B5EF4-FFF2-40B4-BE49-F238E27FC236}">
                <a16:creationId xmlns:a16="http://schemas.microsoft.com/office/drawing/2014/main" id="{7FF9BECC-3FBC-7608-AE28-9C53F68EF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40964" name="投影片編號版面配置區 5">
            <a:extLst>
              <a:ext uri="{FF2B5EF4-FFF2-40B4-BE49-F238E27FC236}">
                <a16:creationId xmlns:a16="http://schemas.microsoft.com/office/drawing/2014/main" id="{AE07C896-4D3F-91F1-154C-3ECF70F83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420478-C4EC-4700-9818-0BD2E42A07FA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3E7D17DF-773F-D2C5-34DC-7D644642C4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Topics</a:t>
            </a:r>
          </a:p>
        </p:txBody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FBA2DB92-CB3C-F664-D632-A32C8C5FC2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Text IR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Indexing and searching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Query languages and operations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Retrieval evaluation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00FF"/>
                </a:solidFill>
              </a:rPr>
              <a:t>Modeling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Boolean model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Vector space model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Probabilistic model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Applications for IR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Multimedia IR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Web search</a:t>
            </a:r>
          </a:p>
        </p:txBody>
      </p:sp>
    </p:spTree>
    <p:extLst>
      <p:ext uri="{BB962C8B-B14F-4D97-AF65-F5344CB8AC3E}">
        <p14:creationId xmlns:p14="http://schemas.microsoft.com/office/powerpoint/2010/main" val="578659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版面配置區 3">
            <a:extLst>
              <a:ext uri="{FF2B5EF4-FFF2-40B4-BE49-F238E27FC236}">
                <a16:creationId xmlns:a16="http://schemas.microsoft.com/office/drawing/2014/main" id="{B6A4F52F-AD8C-6E0D-E02A-82437A0683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43011" name="頁尾版面配置區 4">
            <a:extLst>
              <a:ext uri="{FF2B5EF4-FFF2-40B4-BE49-F238E27FC236}">
                <a16:creationId xmlns:a16="http://schemas.microsoft.com/office/drawing/2014/main" id="{969B1D65-1269-3D29-75F7-5129A6D87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43012" name="投影片編號版面配置區 5">
            <a:extLst>
              <a:ext uri="{FF2B5EF4-FFF2-40B4-BE49-F238E27FC236}">
                <a16:creationId xmlns:a16="http://schemas.microsoft.com/office/drawing/2014/main" id="{F4F1B6CD-6C81-F462-69E5-D71A255CE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917F36-2768-43BD-B364-962990A62891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43013" name="Rectangle 2">
            <a:extLst>
              <a:ext uri="{FF2B5EF4-FFF2-40B4-BE49-F238E27FC236}">
                <a16:creationId xmlns:a16="http://schemas.microsoft.com/office/drawing/2014/main" id="{35827D3B-5ED6-4D7D-F279-7D8EA8EACD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Organization of the Textbook</a:t>
            </a:r>
          </a:p>
        </p:txBody>
      </p:sp>
      <p:sp>
        <p:nvSpPr>
          <p:cNvPr id="37894" name="Rectangle 3">
            <a:extLst>
              <a:ext uri="{FF2B5EF4-FFF2-40B4-BE49-F238E27FC236}">
                <a16:creationId xmlns:a16="http://schemas.microsoft.com/office/drawing/2014/main" id="{9454C310-3E0F-4361-0DD3-71BBED389D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000" dirty="0">
                <a:solidFill>
                  <a:srgbClr val="FF0000"/>
                </a:solidFill>
              </a:rPr>
              <a:t>Basics in IR</a:t>
            </a:r>
            <a:r>
              <a:rPr lang="en-US" altLang="zh-TW" sz="2000" dirty="0"/>
              <a:t> (focus)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1800" dirty="0"/>
              <a:t>Inverted indexes for </a:t>
            </a:r>
            <a:r>
              <a:rPr lang="en-US" altLang="zh-TW" sz="1800" dirty="0" err="1"/>
              <a:t>boolean</a:t>
            </a:r>
            <a:r>
              <a:rPr lang="en-US" altLang="zh-TW" sz="1800" dirty="0"/>
              <a:t> queries (Ch.1-5)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1800" dirty="0"/>
              <a:t>Term weighting and vector space model (Ch. 6-7)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1800" dirty="0"/>
              <a:t>Evaluation in IR (Ch. 8)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000" dirty="0">
                <a:solidFill>
                  <a:srgbClr val="0000FF"/>
                </a:solidFill>
              </a:rPr>
              <a:t>Advanced Topics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1800" dirty="0"/>
              <a:t>Relevance feedback (Ch. 9)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1800" dirty="0">
                <a:solidFill>
                  <a:schemeClr val="bg1">
                    <a:lumMod val="50000"/>
                  </a:schemeClr>
                </a:solidFill>
              </a:rPr>
              <a:t>XML retrieval (Ch. 10) -- skipped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1800" dirty="0"/>
              <a:t>Probabilistic IR (Ch. 11)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1800" dirty="0">
                <a:solidFill>
                  <a:srgbClr val="0000FF"/>
                </a:solidFill>
              </a:rPr>
              <a:t>Language models (Ch. 12)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000" dirty="0"/>
              <a:t>Machine learning in IR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1800" dirty="0"/>
              <a:t>Text classification (Ch. 13-15)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1800" dirty="0"/>
              <a:t>Document clustering (Ch. 16-18)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000" dirty="0">
                <a:solidFill>
                  <a:srgbClr val="FF0000"/>
                </a:solidFill>
              </a:rPr>
              <a:t>Web Search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1800" dirty="0"/>
              <a:t>Web crawling and indexes (Ch. 19-20)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1800" dirty="0"/>
              <a:t>Link analysis (Ch. 21)</a:t>
            </a:r>
          </a:p>
        </p:txBody>
      </p:sp>
    </p:spTree>
    <p:extLst>
      <p:ext uri="{BB962C8B-B14F-4D97-AF65-F5344CB8AC3E}">
        <p14:creationId xmlns:p14="http://schemas.microsoft.com/office/powerpoint/2010/main" val="799272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版面配置區 3">
            <a:extLst>
              <a:ext uri="{FF2B5EF4-FFF2-40B4-BE49-F238E27FC236}">
                <a16:creationId xmlns:a16="http://schemas.microsoft.com/office/drawing/2014/main" id="{320DC61B-A5E7-0B58-DFB9-D947D71E5A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45059" name="頁尾版面配置區 4">
            <a:extLst>
              <a:ext uri="{FF2B5EF4-FFF2-40B4-BE49-F238E27FC236}">
                <a16:creationId xmlns:a16="http://schemas.microsoft.com/office/drawing/2014/main" id="{F3F73C32-5493-EEEF-A755-DD429C2F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45060" name="投影片編號版面配置區 5">
            <a:extLst>
              <a:ext uri="{FF2B5EF4-FFF2-40B4-BE49-F238E27FC236}">
                <a16:creationId xmlns:a16="http://schemas.microsoft.com/office/drawing/2014/main" id="{F143EDF4-FECD-AFA8-A334-8C0F62A3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4AA3D0-959A-42A9-9E39-09DCED24DBB9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BDCEB3F1-4DF4-3420-F035-A727D42F53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Tentative Schedule</a:t>
            </a:r>
          </a:p>
        </p:txBody>
      </p:sp>
      <p:sp>
        <p:nvSpPr>
          <p:cNvPr id="23558" name="Rectangle 3">
            <a:extLst>
              <a:ext uri="{FF2B5EF4-FFF2-40B4-BE49-F238E27FC236}">
                <a16:creationId xmlns:a16="http://schemas.microsoft.com/office/drawing/2014/main" id="{2333690A-4995-0CCA-F634-3D64CE6723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Before midterm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Boolean retrieval (1 </a:t>
            </a:r>
            <a:r>
              <a:rPr lang="en-US" altLang="zh-TW" sz="2400" dirty="0" err="1"/>
              <a:t>wk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Indexing (2 </a:t>
            </a:r>
            <a:r>
              <a:rPr lang="en-US" altLang="zh-TW" sz="2400" dirty="0" err="1"/>
              <a:t>wks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Vector space model and evaluation (2 </a:t>
            </a:r>
            <a:r>
              <a:rPr lang="en-US" altLang="zh-TW" sz="2400" dirty="0" err="1"/>
              <a:t>wks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Relevance feedback (1 </a:t>
            </a:r>
            <a:r>
              <a:rPr lang="en-US" altLang="zh-TW" sz="2400" dirty="0" err="1"/>
              <a:t>wk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Probabilistic IR and language models (2 </a:t>
            </a:r>
            <a:r>
              <a:rPr lang="en-US" altLang="zh-TW" sz="2400" dirty="0" err="1"/>
              <a:t>wks</a:t>
            </a:r>
            <a:r>
              <a:rPr lang="en-US" altLang="zh-TW" sz="2400" dirty="0"/>
              <a:t>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After midterm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Text classification and document clustering (1-2 </a:t>
            </a:r>
            <a:r>
              <a:rPr lang="en-US" altLang="zh-TW" sz="2400" dirty="0" err="1"/>
              <a:t>wks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Web search (2 </a:t>
            </a:r>
            <a:r>
              <a:rPr lang="en-US" altLang="zh-TW" sz="2400" dirty="0" err="1"/>
              <a:t>wks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Advanced topics: link analysis, RAG, … (1 </a:t>
            </a:r>
            <a:r>
              <a:rPr lang="en-US" altLang="zh-TW" sz="2400" dirty="0" err="1"/>
              <a:t>wk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Term Project Presentation (3-4 </a:t>
            </a:r>
            <a:r>
              <a:rPr lang="en-US" altLang="zh-TW" sz="2400" dirty="0" err="1"/>
              <a:t>wks</a:t>
            </a:r>
            <a:r>
              <a:rPr lang="en-US" altLang="zh-TW" sz="2400" dirty="0"/>
              <a:t>)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523710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Tentative Schedule (1/3)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</p:nvPr>
        </p:nvGraphicFramePr>
        <p:xfrm>
          <a:off x="342900" y="1524000"/>
          <a:ext cx="8458200" cy="429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22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Week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Date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Content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Note</a:t>
                      </a:r>
                      <a:endParaRPr lang="zh-TW" altLang="en-US" sz="1800" dirty="0"/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2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9/9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Course Overview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Ch.1, Boolean retrieval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611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9/16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(Leave for Czech project)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889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9/23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(Leave for Czech project)</a:t>
                      </a:r>
                    </a:p>
                  </a:txBody>
                  <a:tcPr marT="45701" marB="45701" anchor="ctr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76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9/30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Chap. 2, The term vocabulary and postings lists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Chap. 3, Dictionaries and tolerant retrieval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22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10/7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Chap. 4, Index construction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HW#1</a:t>
                      </a:r>
                      <a:endParaRPr lang="zh-TW" altLang="en-US" sz="1800" dirty="0"/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714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en-US" altLang="zh-TW" sz="1800"/>
                        <a:t>10/14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Chap. 5, Index compression (selected)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Chap. 6, Scoring, term weighting, and the vector space model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899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10/21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Chap. 7, Computing scores in a complete search system</a:t>
                      </a:r>
                      <a:endParaRPr lang="zh-TW" altLang="en-US" sz="18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Due: HW#1 HW#2</a:t>
                      </a:r>
                      <a:endParaRPr lang="zh-TW" altLang="en-US" sz="1800" dirty="0"/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9207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  <a:endParaRPr kumimoji="0" lang="en-US" altLang="zh-TW" sz="1400" dirty="0">
              <a:latin typeface="Arial" panose="020B0604020202020204" pitchFamily="34" charset="0"/>
            </a:endParaRPr>
          </a:p>
        </p:txBody>
      </p:sp>
      <p:sp>
        <p:nvSpPr>
          <p:cNvPr id="49208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4920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E84411F-46C9-465B-80F4-2B30D5D3F198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441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Tentative Schedule (2/3)</a:t>
            </a:r>
            <a:endParaRPr lang="zh-TW" altLang="en-US" dirty="0"/>
          </a:p>
        </p:txBody>
      </p:sp>
      <p:sp>
        <p:nvSpPr>
          <p:cNvPr id="50179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50180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50181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927713-9C9A-4FBE-8A45-C27E3BE28B32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6345491"/>
              </p:ext>
            </p:extLst>
          </p:nvPr>
        </p:nvGraphicFramePr>
        <p:xfrm>
          <a:off x="457200" y="1355725"/>
          <a:ext cx="8229600" cy="4222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Week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Date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Content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Note</a:t>
                      </a:r>
                      <a:endParaRPr lang="zh-TW" altLang="en-US" sz="1800" dirty="0"/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10/28</a:t>
                      </a:r>
                      <a:endParaRPr lang="zh-TW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Chap. 8, Evaluation in information retrieval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Chap. 9, Relevance feedback and query expansion</a:t>
                      </a:r>
                      <a:endParaRPr lang="zh-TW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544703546"/>
                  </a:ext>
                </a:extLst>
              </a:tr>
              <a:tr h="36583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11/4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Chap.11, Probabilistic Information Retrieval</a:t>
                      </a:r>
                      <a:br>
                        <a:rPr lang="it-IT" dirty="0"/>
                      </a:br>
                      <a:r>
                        <a:rPr lang="it-IT" dirty="0"/>
                        <a:t>Chap.12, Language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Due: HW#2</a:t>
                      </a:r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558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11/11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 (</a:t>
                      </a:r>
                      <a:r>
                        <a:rPr lang="en-US" altLang="zh-TW" sz="1800" b="1" dirty="0"/>
                        <a:t>Midterm</a:t>
                      </a:r>
                      <a:r>
                        <a:rPr lang="en-US" altLang="zh-TW" sz="1800" b="1" baseline="0" dirty="0"/>
                        <a:t> exam</a:t>
                      </a:r>
                      <a:r>
                        <a:rPr lang="en-US" altLang="zh-TW" sz="1800" baseline="0" dirty="0"/>
                        <a:t>): to be confirmed</a:t>
                      </a:r>
                      <a:r>
                        <a:rPr lang="en-US" altLang="zh-TW" sz="1800" dirty="0"/>
                        <a:t> 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32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11/18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it-IT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Chap.18, Matrix decomposition &amp; latent semantic indexing</a:t>
                      </a:r>
                    </a:p>
                    <a:p>
                      <a:r>
                        <a:rPr lang="en-US" altLang="zh-TW" dirty="0">
                          <a:solidFill>
                            <a:srgbClr val="0000FF"/>
                          </a:solidFill>
                        </a:rPr>
                        <a:t>Introduction to Word Embeddings</a:t>
                      </a:r>
                    </a:p>
                  </a:txBody>
                  <a:tcPr marT="45729" marB="45729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Due: Proposal</a:t>
                      </a:r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11/25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Introduction to LLM</a:t>
                      </a:r>
                      <a:br>
                        <a:rPr lang="en-US" altLang="zh-TW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zh-TW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Introduction to RAG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HW#3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12/2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Chap. 19, Web search basics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199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B58B8F-9401-5E9C-278C-E45BD664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Tentative Schedule (3/3)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DFF251-7FC3-D28C-3682-149908D71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5B7451-BF7C-33BE-E261-1392F3142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2B4848-D700-E135-0D64-270E71BCD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2623-B252-4243-B114-1C7971B93397}" type="slidenum">
              <a:rPr lang="en-US" altLang="zh-TW" smtClean="0"/>
              <a:pPr/>
              <a:t>18</a:t>
            </a:fld>
            <a:endParaRPr lang="en-US" altLang="zh-TW"/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DBA1342E-F1D8-E28F-F9DB-BC5958BF74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2946672"/>
              </p:ext>
            </p:extLst>
          </p:nvPr>
        </p:nvGraphicFramePr>
        <p:xfrm>
          <a:off x="457200" y="1600200"/>
          <a:ext cx="8229600" cy="3017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Week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Date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Content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Note</a:t>
                      </a:r>
                      <a:endParaRPr lang="zh-TW" altLang="en-US" sz="1800" dirty="0"/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12/9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Chap. 20, Web crawling and indexes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Chap. 21, Link analysis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Advanced topics: social network analysis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Due: HW#3</a:t>
                      </a:r>
                    </a:p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12/16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Term Project Presentation: Week 1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12/23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Term Project Presentation: Week 2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837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17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9" marB="45729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12/30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9" marB="45729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Term Project Presentation: Week 3 (online)</a:t>
                      </a:r>
                      <a:endParaRPr lang="zh-TW" altLang="en-US" sz="1800" dirty="0"/>
                    </a:p>
                  </a:txBody>
                  <a:tcPr marT="45729" marB="45729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0137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9" marB="45729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1/6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9" marB="45729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Term Project Presentation: Week 4 (online)</a:t>
                      </a:r>
                      <a:endParaRPr lang="zh-TW" altLang="en-US" sz="1800" dirty="0"/>
                    </a:p>
                  </a:txBody>
                  <a:tcPr marT="45729" marB="45729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1/8 Due: Final Report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9" marB="45729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1697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版面配置區 3">
            <a:extLst>
              <a:ext uri="{FF2B5EF4-FFF2-40B4-BE49-F238E27FC236}">
                <a16:creationId xmlns:a16="http://schemas.microsoft.com/office/drawing/2014/main" id="{3275A30E-F3EE-E2C5-608B-96D5FCA128F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22531" name="頁尾版面配置區 4">
            <a:extLst>
              <a:ext uri="{FF2B5EF4-FFF2-40B4-BE49-F238E27FC236}">
                <a16:creationId xmlns:a16="http://schemas.microsoft.com/office/drawing/2014/main" id="{4FFD4E17-1CDA-F336-5CC5-8E89BF138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22532" name="投影片編號版面配置區 5">
            <a:extLst>
              <a:ext uri="{FF2B5EF4-FFF2-40B4-BE49-F238E27FC236}">
                <a16:creationId xmlns:a16="http://schemas.microsoft.com/office/drawing/2014/main" id="{1565380F-8FC3-209F-2AD3-529B9A33D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A76AC9-48AD-4EC2-87CB-8FA18DF1C82D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22533" name="Rectangle 2">
            <a:extLst>
              <a:ext uri="{FF2B5EF4-FFF2-40B4-BE49-F238E27FC236}">
                <a16:creationId xmlns:a16="http://schemas.microsoft.com/office/drawing/2014/main" id="{799A26EB-EEC9-BF2D-4DD3-9F335706EE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Grading Policy</a:t>
            </a:r>
          </a:p>
        </p:txBody>
      </p:sp>
      <p:sp>
        <p:nvSpPr>
          <p:cNvPr id="8198" name="Rectangle 3">
            <a:extLst>
              <a:ext uri="{FF2B5EF4-FFF2-40B4-BE49-F238E27FC236}">
                <a16:creationId xmlns:a16="http://schemas.microsoft.com/office/drawing/2014/main" id="{BCEF2795-FBD0-8EC5-ED42-F3868D43BF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zh-TW" dirty="0"/>
              <a:t>Homework assignments and programming exercises: ~40%</a:t>
            </a:r>
          </a:p>
          <a:p>
            <a:pPr eaLnBrk="1" hangingPunct="1">
              <a:defRPr/>
            </a:pPr>
            <a:r>
              <a:rPr lang="en-US" altLang="zh-TW" dirty="0"/>
              <a:t>Mid-term exam: ~25%</a:t>
            </a:r>
          </a:p>
          <a:p>
            <a:pPr eaLnBrk="1" hangingPunct="1">
              <a:defRPr/>
            </a:pPr>
            <a:r>
              <a:rPr lang="en-US" altLang="zh-TW" dirty="0"/>
              <a:t>Term project: ~35%</a:t>
            </a:r>
          </a:p>
          <a:p>
            <a:pPr lvl="1" eaLnBrk="1" hangingPunct="1">
              <a:defRPr/>
            </a:pPr>
            <a:r>
              <a:rPr lang="en-US" altLang="zh-TW" dirty="0"/>
              <a:t>Including proposal, presentation, and final report</a:t>
            </a:r>
          </a:p>
          <a:p>
            <a:pPr eaLnBrk="1" hangingPunct="1">
              <a:defRPr/>
            </a:pPr>
            <a:r>
              <a:rPr lang="en-US" altLang="zh-TW" dirty="0"/>
              <a:t>All </a:t>
            </a:r>
            <a:r>
              <a:rPr lang="en-US" altLang="zh-TW" dirty="0" err="1"/>
              <a:t>homeworks</a:t>
            </a:r>
            <a:r>
              <a:rPr lang="en-US" altLang="zh-TW" dirty="0"/>
              <a:t>, reports, and projects must be submitted before the deadlines</a:t>
            </a:r>
          </a:p>
          <a:p>
            <a:pPr lvl="1" eaLnBrk="1" hangingPunct="1">
              <a:defRPr/>
            </a:pPr>
            <a:r>
              <a:rPr lang="en-US" altLang="zh-TW" dirty="0"/>
              <a:t>Late submission has to be done *</a:t>
            </a:r>
            <a:r>
              <a:rPr lang="en-US" altLang="zh-TW" b="1" dirty="0"/>
              <a:t>before*</a:t>
            </a:r>
            <a:r>
              <a:rPr lang="en-US" altLang="zh-TW" dirty="0"/>
              <a:t> the end of this semester (</a:t>
            </a:r>
            <a:r>
              <a:rPr lang="en-US" altLang="zh-TW" dirty="0">
                <a:solidFill>
                  <a:srgbClr val="FF0000"/>
                </a:solidFill>
              </a:rPr>
              <a:t>Jan. 8, 2027</a:t>
            </a:r>
            <a:r>
              <a:rPr lang="en-US" altLang="zh-TW" dirty="0"/>
              <a:t>), if not specified otherwise</a:t>
            </a:r>
          </a:p>
          <a:p>
            <a:pPr lvl="1" eaLnBrk="1" hangingPunct="1"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版面配置區 3">
            <a:extLst>
              <a:ext uri="{FF2B5EF4-FFF2-40B4-BE49-F238E27FC236}">
                <a16:creationId xmlns:a16="http://schemas.microsoft.com/office/drawing/2014/main" id="{6AED040B-F41C-A8D6-13B0-446389991CC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24579" name="頁尾版面配置區 4">
            <a:extLst>
              <a:ext uri="{FF2B5EF4-FFF2-40B4-BE49-F238E27FC236}">
                <a16:creationId xmlns:a16="http://schemas.microsoft.com/office/drawing/2014/main" id="{36542EEA-9739-7DB9-A5D1-68B520A67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24580" name="投影片編號版面配置區 5">
            <a:extLst>
              <a:ext uri="{FF2B5EF4-FFF2-40B4-BE49-F238E27FC236}">
                <a16:creationId xmlns:a16="http://schemas.microsoft.com/office/drawing/2014/main" id="{15FB4F81-F896-0ADF-89E0-66CE74AA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DFEA09-FC8C-49C4-BFD2-62324754D8FF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310A57B3-F605-517A-93EB-E1AEA5121F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Programming Exercises and Term Project</a:t>
            </a:r>
          </a:p>
        </p:txBody>
      </p:sp>
      <p:sp>
        <p:nvSpPr>
          <p:cNvPr id="9222" name="Rectangle 3">
            <a:extLst>
              <a:ext uri="{FF2B5EF4-FFF2-40B4-BE49-F238E27FC236}">
                <a16:creationId xmlns:a16="http://schemas.microsoft.com/office/drawing/2014/main" id="{CD3A1AFE-7915-E02F-D8B1-CC81C7B86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altLang="zh-TW" sz="2800" dirty="0"/>
              <a:t>About </a:t>
            </a:r>
            <a:r>
              <a:rPr lang="en-US" altLang="zh-TW" sz="2800" dirty="0">
                <a:solidFill>
                  <a:srgbClr val="0000FF"/>
                </a:solidFill>
              </a:rPr>
              <a:t>3</a:t>
            </a:r>
            <a:r>
              <a:rPr lang="en-US" altLang="zh-TW" sz="2800" dirty="0"/>
              <a:t> team-based programming exercises</a:t>
            </a:r>
          </a:p>
          <a:p>
            <a:pPr lvl="1" eaLnBrk="1" hangingPunct="1">
              <a:defRPr/>
            </a:pPr>
            <a:r>
              <a:rPr lang="en-US" altLang="zh-TW" sz="2400" dirty="0"/>
              <a:t>Maximum number of students per team:</a:t>
            </a:r>
          </a:p>
          <a:p>
            <a:pPr lvl="2" eaLnBrk="1" hangingPunct="1">
              <a:defRPr/>
            </a:pPr>
            <a:r>
              <a:rPr lang="en-US" altLang="zh-TW" sz="2000" dirty="0">
                <a:solidFill>
                  <a:srgbClr val="0000FF"/>
                </a:solidFill>
              </a:rPr>
              <a:t>4</a:t>
            </a:r>
            <a:r>
              <a:rPr lang="en-US" altLang="zh-TW" sz="2000" dirty="0"/>
              <a:t> for undergraduates</a:t>
            </a:r>
          </a:p>
          <a:p>
            <a:pPr lvl="2" eaLnBrk="1" hangingPunct="1">
              <a:defRPr/>
            </a:pPr>
            <a:r>
              <a:rPr lang="en-US" altLang="zh-TW" sz="2000" dirty="0">
                <a:solidFill>
                  <a:srgbClr val="0000FF"/>
                </a:solidFill>
              </a:rPr>
              <a:t>2</a:t>
            </a:r>
            <a:r>
              <a:rPr lang="en-US" altLang="zh-TW" sz="2000" dirty="0"/>
              <a:t> for graduate students</a:t>
            </a:r>
          </a:p>
          <a:p>
            <a:pPr lvl="1" eaLnBrk="1" hangingPunct="1">
              <a:defRPr/>
            </a:pPr>
            <a:r>
              <a:rPr lang="en-US" altLang="zh-TW" sz="2400" dirty="0"/>
              <a:t>You can either write your own program or call existing open source APIs or libraries (to be detailed later)</a:t>
            </a:r>
          </a:p>
          <a:p>
            <a:pPr eaLnBrk="1" hangingPunct="1">
              <a:defRPr/>
            </a:pPr>
            <a:r>
              <a:rPr lang="en-US" altLang="zh-TW" sz="2800" dirty="0"/>
              <a:t>Two options for the term project (to be detailed later)</a:t>
            </a:r>
          </a:p>
          <a:p>
            <a:pPr lvl="1" eaLnBrk="1" hangingPunct="1">
              <a:defRPr/>
            </a:pPr>
            <a:r>
              <a:rPr lang="en-US" altLang="zh-TW" sz="2400" dirty="0"/>
              <a:t>Either team-based system development </a:t>
            </a:r>
          </a:p>
          <a:p>
            <a:pPr lvl="2" eaLnBrk="1" hangingPunct="1">
              <a:defRPr/>
            </a:pPr>
            <a:r>
              <a:rPr lang="en-US" altLang="zh-TW" sz="2000" dirty="0"/>
              <a:t>The same as programming exercises</a:t>
            </a:r>
          </a:p>
          <a:p>
            <a:pPr lvl="1" eaLnBrk="1" hangingPunct="1">
              <a:defRPr/>
            </a:pPr>
            <a:r>
              <a:rPr lang="en-US" altLang="zh-TW" sz="2400" dirty="0"/>
              <a:t>Or academic paper presentation</a:t>
            </a:r>
          </a:p>
          <a:p>
            <a:pPr lvl="2" eaLnBrk="1" hangingPunct="1">
              <a:defRPr/>
            </a:pPr>
            <a:r>
              <a:rPr lang="en-US" altLang="zh-TW" sz="2000" dirty="0"/>
              <a:t>Only one person per team allowed</a:t>
            </a:r>
          </a:p>
          <a:p>
            <a:pPr eaLnBrk="1" hangingPunct="1">
              <a:defRPr/>
            </a:pPr>
            <a:endParaRPr lang="en-US" altLang="zh-TW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版面配置區 3">
            <a:extLst>
              <a:ext uri="{FF2B5EF4-FFF2-40B4-BE49-F238E27FC236}">
                <a16:creationId xmlns:a16="http://schemas.microsoft.com/office/drawing/2014/main" id="{70A9D4EF-A8A4-048B-A537-66FF24179C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26627" name="頁尾版面配置區 4">
            <a:extLst>
              <a:ext uri="{FF2B5EF4-FFF2-40B4-BE49-F238E27FC236}">
                <a16:creationId xmlns:a16="http://schemas.microsoft.com/office/drawing/2014/main" id="{1D7AF568-15CA-FECD-3322-C2F445E3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26628" name="投影片編號版面配置區 5">
            <a:extLst>
              <a:ext uri="{FF2B5EF4-FFF2-40B4-BE49-F238E27FC236}">
                <a16:creationId xmlns:a16="http://schemas.microsoft.com/office/drawing/2014/main" id="{E6568CDA-F9BE-A00A-225E-54058CDB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AD77F3-7C52-4F7F-AA4D-9214D5F4CBA7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8FD55462-138E-B395-41AD-9935AFF44C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About the Term Project</a:t>
            </a:r>
          </a:p>
        </p:txBody>
      </p:sp>
      <p:sp>
        <p:nvSpPr>
          <p:cNvPr id="10246" name="Rectangle 3">
            <a:extLst>
              <a:ext uri="{FF2B5EF4-FFF2-40B4-BE49-F238E27FC236}">
                <a16:creationId xmlns:a16="http://schemas.microsoft.com/office/drawing/2014/main" id="{FBEF9476-E611-2A16-CC08-00613DD6C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altLang="zh-TW" sz="2800" dirty="0"/>
              <a:t>The score you’ll get depends on the functions, difficulty and quality of your project </a:t>
            </a:r>
          </a:p>
          <a:p>
            <a:pPr lvl="1" eaLnBrk="1" hangingPunct="1">
              <a:defRPr/>
            </a:pPr>
            <a:r>
              <a:rPr lang="en-US" altLang="zh-TW" sz="2400" dirty="0"/>
              <a:t>For system development</a:t>
            </a:r>
          </a:p>
          <a:p>
            <a:pPr lvl="2" eaLnBrk="1" hangingPunct="1">
              <a:defRPr/>
            </a:pPr>
            <a:r>
              <a:rPr lang="en-US" altLang="zh-TW" sz="2000" dirty="0"/>
              <a:t>System functions and correctness</a:t>
            </a:r>
          </a:p>
          <a:p>
            <a:pPr lvl="2" eaLnBrk="1" hangingPunct="1">
              <a:defRPr/>
            </a:pPr>
            <a:r>
              <a:rPr lang="en-US" altLang="zh-TW" sz="2000" dirty="0"/>
              <a:t>You can either write your own program, or call existing open APIs/libraries (but </a:t>
            </a:r>
            <a:r>
              <a:rPr lang="en-US" altLang="zh-TW" sz="2000" b="1" dirty="0">
                <a:solidFill>
                  <a:srgbClr val="0000FF"/>
                </a:solidFill>
              </a:rPr>
              <a:t>NOT</a:t>
            </a:r>
            <a:r>
              <a:rPr lang="en-US" altLang="zh-TW" sz="2000" dirty="0"/>
              <a:t> executing existing binary code only)</a:t>
            </a:r>
          </a:p>
          <a:p>
            <a:pPr lvl="1" eaLnBrk="1" hangingPunct="1">
              <a:defRPr/>
            </a:pPr>
            <a:r>
              <a:rPr lang="en-US" altLang="zh-TW" sz="2400" dirty="0"/>
              <a:t>For academic paper presentation</a:t>
            </a:r>
          </a:p>
          <a:p>
            <a:pPr lvl="2" eaLnBrk="1" hangingPunct="1">
              <a:defRPr/>
            </a:pPr>
            <a:r>
              <a:rPr lang="en-US" altLang="zh-TW" sz="2000" dirty="0"/>
              <a:t>Quality and your presentation of the paper</a:t>
            </a:r>
          </a:p>
          <a:p>
            <a:pPr lvl="2" eaLnBrk="1" hangingPunct="1">
              <a:defRPr/>
            </a:pPr>
            <a:r>
              <a:rPr lang="en-US" altLang="zh-TW" sz="2000" dirty="0"/>
              <a:t>Major methods/experimental results *must* be presented</a:t>
            </a:r>
          </a:p>
          <a:p>
            <a:pPr lvl="2" eaLnBrk="1" hangingPunct="1">
              <a:defRPr/>
            </a:pPr>
            <a:r>
              <a:rPr lang="en-US" altLang="zh-TW" sz="2000" dirty="0"/>
              <a:t>Papers from top conferences are strongly suggested</a:t>
            </a:r>
          </a:p>
          <a:p>
            <a:pPr lvl="3" eaLnBrk="1" hangingPunct="1">
              <a:defRPr/>
            </a:pPr>
            <a:r>
              <a:rPr lang="en-US" altLang="zh-TW" sz="1800" dirty="0"/>
              <a:t>E.g. </a:t>
            </a:r>
            <a:r>
              <a:rPr lang="en-US" altLang="zh-TW" sz="1800" dirty="0">
                <a:solidFill>
                  <a:srgbClr val="FF0000"/>
                </a:solidFill>
              </a:rPr>
              <a:t>SIGIR</a:t>
            </a:r>
            <a:r>
              <a:rPr lang="en-US" altLang="zh-TW" sz="1800" dirty="0"/>
              <a:t>, CIKM, WSDM, ACL, KDD, WWW, …</a:t>
            </a:r>
          </a:p>
          <a:p>
            <a:pPr lvl="1" eaLnBrk="1" hangingPunct="1">
              <a:defRPr/>
            </a:pPr>
            <a:r>
              <a:rPr lang="en-US" altLang="zh-TW" dirty="0"/>
              <a:t>Proposals, presentations, and reports are </a:t>
            </a:r>
            <a:r>
              <a:rPr lang="en-US" altLang="zh-TW" b="1" dirty="0">
                <a:solidFill>
                  <a:srgbClr val="0000FF"/>
                </a:solidFill>
              </a:rPr>
              <a:t>*required*</a:t>
            </a:r>
            <a:r>
              <a:rPr lang="en-US" altLang="zh-TW" b="1" dirty="0"/>
              <a:t> for each team</a:t>
            </a:r>
            <a:r>
              <a:rPr lang="en-US" altLang="zh-TW" dirty="0"/>
              <a:t>, and will be counted in the score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版面配置區 3">
            <a:extLst>
              <a:ext uri="{FF2B5EF4-FFF2-40B4-BE49-F238E27FC236}">
                <a16:creationId xmlns:a16="http://schemas.microsoft.com/office/drawing/2014/main" id="{A5C9148F-FEFD-ED63-D2C6-71DE76A49C6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68611" name="頁尾版面配置區 4">
            <a:extLst>
              <a:ext uri="{FF2B5EF4-FFF2-40B4-BE49-F238E27FC236}">
                <a16:creationId xmlns:a16="http://schemas.microsoft.com/office/drawing/2014/main" id="{AC6DA3B6-C2DF-C831-19BB-BA4330AB2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68612" name="投影片編號版面配置區 5">
            <a:extLst>
              <a:ext uri="{FF2B5EF4-FFF2-40B4-BE49-F238E27FC236}">
                <a16:creationId xmlns:a16="http://schemas.microsoft.com/office/drawing/2014/main" id="{C23EE28B-967F-F556-DCC6-7DD535CE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7AA2EC-D41E-4976-8739-65F90DE69081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68613" name="Rectangle 2">
            <a:extLst>
              <a:ext uri="{FF2B5EF4-FFF2-40B4-BE49-F238E27FC236}">
                <a16:creationId xmlns:a16="http://schemas.microsoft.com/office/drawing/2014/main" id="{32ACEFF3-598A-045C-B1D2-AF5D3AB5E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Academic Resources</a:t>
            </a:r>
          </a:p>
        </p:txBody>
      </p:sp>
      <p:sp>
        <p:nvSpPr>
          <p:cNvPr id="25606" name="Rectangle 3">
            <a:extLst>
              <a:ext uri="{FF2B5EF4-FFF2-40B4-BE49-F238E27FC236}">
                <a16:creationId xmlns:a16="http://schemas.microsoft.com/office/drawing/2014/main" id="{65AA4967-4C7E-62B5-285F-D21F08484B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400" dirty="0"/>
              <a:t>Google Scholar, ACM Digital Library, IEEE </a:t>
            </a:r>
            <a:r>
              <a:rPr lang="en-US" altLang="zh-TW" sz="2400" dirty="0" err="1"/>
              <a:t>Xplore</a:t>
            </a:r>
            <a:r>
              <a:rPr lang="en-US" altLang="zh-TW" sz="2400" dirty="0"/>
              <a:t>, DBLP, …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400" dirty="0"/>
              <a:t>Journals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000" dirty="0"/>
              <a:t>ACM TOIS: Transactions on Information Systems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000" dirty="0"/>
              <a:t>JASIST: Journal of the American Society of Information Sciences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000" dirty="0"/>
              <a:t>IP&amp;M: Information Processing and Management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000" dirty="0"/>
              <a:t>IEEE TKDE: Transactions on Knowledge and Data Engineering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400" dirty="0"/>
              <a:t>Conferences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000" dirty="0">
                <a:solidFill>
                  <a:srgbClr val="FF0000"/>
                </a:solidFill>
              </a:rPr>
              <a:t>ACM SIGIR</a:t>
            </a:r>
            <a:r>
              <a:rPr lang="en-US" altLang="zh-TW" sz="2000" dirty="0"/>
              <a:t>: International Conference on Information Retrieval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000" dirty="0"/>
              <a:t>WWW: World Wide Web Conference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000" dirty="0"/>
              <a:t>ACM CIKM: Conference on Information Knowledge and Management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000" dirty="0"/>
              <a:t>ACL: Annual meeting of the Association for Computational Linguistics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000" dirty="0"/>
              <a:t>KDD: ACM SIGKDD conference on Knowledge Discovery and Data Mining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686653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版面配置區 3">
            <a:extLst>
              <a:ext uri="{FF2B5EF4-FFF2-40B4-BE49-F238E27FC236}">
                <a16:creationId xmlns:a16="http://schemas.microsoft.com/office/drawing/2014/main" id="{8B3C1D8E-8BF6-30DA-AD60-1BC441C8164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28675" name="頁尾版面配置區 4">
            <a:extLst>
              <a:ext uri="{FF2B5EF4-FFF2-40B4-BE49-F238E27FC236}">
                <a16:creationId xmlns:a16="http://schemas.microsoft.com/office/drawing/2014/main" id="{7F751C79-0C09-FD89-5FC3-4EFB681FE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28676" name="投影片編號版面配置區 5">
            <a:extLst>
              <a:ext uri="{FF2B5EF4-FFF2-40B4-BE49-F238E27FC236}">
                <a16:creationId xmlns:a16="http://schemas.microsoft.com/office/drawing/2014/main" id="{585FE91C-98DD-DB43-90BD-907F752F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9AF6D1-E4CA-4E9C-B74F-04E2E8E13A38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635A1903-9682-469D-003C-5052CA7116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Online Submission</a:t>
            </a:r>
          </a:p>
        </p:txBody>
      </p:sp>
      <p:sp>
        <p:nvSpPr>
          <p:cNvPr id="28678" name="Rectangle 3">
            <a:extLst>
              <a:ext uri="{FF2B5EF4-FFF2-40B4-BE49-F238E27FC236}">
                <a16:creationId xmlns:a16="http://schemas.microsoft.com/office/drawing/2014/main" id="{27FE1A0E-5B33-6F79-FF66-CF4603AAA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Submission instructions</a:t>
            </a:r>
          </a:p>
          <a:p>
            <a:pPr lvl="1" eaLnBrk="1" hangingPunct="1"/>
            <a:r>
              <a:rPr lang="en-US" altLang="zh-TW" dirty="0"/>
              <a:t>Systems, programs, project proposals, and project reports in electronic files must be submitted to the website.</a:t>
            </a:r>
          </a:p>
          <a:p>
            <a:pPr lvl="2" eaLnBrk="1" hangingPunct="1"/>
            <a:r>
              <a:rPr lang="en-US" altLang="zh-TW" dirty="0"/>
              <a:t>Submissions website : </a:t>
            </a:r>
            <a:r>
              <a:rPr lang="en-US" altLang="zh-TW" dirty="0" err="1">
                <a:solidFill>
                  <a:srgbClr val="0000FF"/>
                </a:solidFill>
              </a:rPr>
              <a:t>iSchool</a:t>
            </a:r>
            <a:r>
              <a:rPr lang="en-US" altLang="zh-TW" dirty="0">
                <a:solidFill>
                  <a:srgbClr val="0000FF"/>
                </a:solidFill>
              </a:rPr>
              <a:t>+</a:t>
            </a:r>
          </a:p>
          <a:p>
            <a:pPr eaLnBrk="1" hangingPunct="1"/>
            <a:r>
              <a:rPr lang="en-US" altLang="zh-TW" dirty="0"/>
              <a:t>You will get deducted score when there’s delay in homework submission</a:t>
            </a:r>
          </a:p>
          <a:p>
            <a:pPr lvl="1" eaLnBrk="1" hangingPunct="1"/>
            <a:r>
              <a:rPr lang="en-US" altLang="zh-TW" dirty="0">
                <a:solidFill>
                  <a:srgbClr val="0000FF"/>
                </a:solidFill>
              </a:rPr>
              <a:t>The longer the delay, the higher the deduction</a:t>
            </a:r>
          </a:p>
          <a:p>
            <a:pPr lvl="2" eaLnBrk="1" hangingPunct="1"/>
            <a:endParaRPr lang="en-US" altLang="zh-TW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標題 1">
            <a:extLst>
              <a:ext uri="{FF2B5EF4-FFF2-40B4-BE49-F238E27FC236}">
                <a16:creationId xmlns:a16="http://schemas.microsoft.com/office/drawing/2014/main" id="{298BCE0E-AA9D-4920-2C6F-DDFBFBA89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Notes on Homeworks and Programming Projects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F24492-EF64-27DC-5EBD-915097A7E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TW" dirty="0"/>
              <a:t>Rule 1: </a:t>
            </a:r>
            <a:r>
              <a:rPr lang="en-US" altLang="zh-TW" dirty="0">
                <a:solidFill>
                  <a:srgbClr val="FF0000"/>
                </a:solidFill>
              </a:rPr>
              <a:t>Plagiarism is prohibited</a:t>
            </a:r>
            <a:r>
              <a:rPr lang="en-US" altLang="zh-TW" dirty="0"/>
              <a:t>.</a:t>
            </a:r>
          </a:p>
          <a:p>
            <a:pPr lvl="1">
              <a:defRPr/>
            </a:pPr>
            <a:r>
              <a:rPr lang="en-US" altLang="zh-TW" dirty="0"/>
              <a:t>Near-duplicate codes will get equal and minimum basic scores</a:t>
            </a:r>
          </a:p>
          <a:p>
            <a:pPr>
              <a:defRPr/>
            </a:pPr>
            <a:r>
              <a:rPr lang="en-US" altLang="zh-TW" dirty="0"/>
              <a:t>Rule 2: </a:t>
            </a:r>
            <a:r>
              <a:rPr lang="en-US" altLang="zh-TW" dirty="0">
                <a:solidFill>
                  <a:srgbClr val="0000FF"/>
                </a:solidFill>
              </a:rPr>
              <a:t>Clear documentation is required </a:t>
            </a:r>
            <a:r>
              <a:rPr lang="en-US" altLang="zh-TW" dirty="0"/>
              <a:t>in each programming project</a:t>
            </a:r>
          </a:p>
          <a:p>
            <a:pPr lvl="1">
              <a:defRPr/>
            </a:pPr>
            <a:r>
              <a:rPr lang="en-US" altLang="zh-TW" dirty="0"/>
              <a:t>Instructions on downloading, installing, configuring, compiling, and executing your code and open source library, APIs, and codes must be submitted</a:t>
            </a:r>
          </a:p>
          <a:p>
            <a:pPr lvl="1">
              <a:defRPr/>
            </a:pPr>
            <a:r>
              <a:rPr lang="en-US" altLang="zh-TW" dirty="0"/>
              <a:t>Package control is recommended</a:t>
            </a:r>
            <a:endParaRPr lang="zh-TW" altLang="en-US" dirty="0"/>
          </a:p>
        </p:txBody>
      </p:sp>
      <p:sp>
        <p:nvSpPr>
          <p:cNvPr id="47108" name="日期版面配置區 3">
            <a:extLst>
              <a:ext uri="{FF2B5EF4-FFF2-40B4-BE49-F238E27FC236}">
                <a16:creationId xmlns:a16="http://schemas.microsoft.com/office/drawing/2014/main" id="{58F9812A-A25C-2D06-E604-4F5401FDBC5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47109" name="頁尾版面配置區 4">
            <a:extLst>
              <a:ext uri="{FF2B5EF4-FFF2-40B4-BE49-F238E27FC236}">
                <a16:creationId xmlns:a16="http://schemas.microsoft.com/office/drawing/2014/main" id="{CFBED63C-DC2C-AC5F-96F9-4762EF63B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47110" name="投影片編號版面配置區 5">
            <a:extLst>
              <a:ext uri="{FF2B5EF4-FFF2-40B4-BE49-F238E27FC236}">
                <a16:creationId xmlns:a16="http://schemas.microsoft.com/office/drawing/2014/main" id="{0923DD3B-3F8F-5814-AA29-80D04188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535CA1-5AAE-4527-B2BC-B23417E0257F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002FFFD-F0BB-0AC5-A08E-62C0ACF217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More on Term Projects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D03C484-4D6F-99D8-9635-64DEA42B8B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altLang="zh-TW" sz="2800" dirty="0"/>
              <a:t>Options for term projects</a:t>
            </a:r>
          </a:p>
          <a:p>
            <a:pPr lvl="1" eaLnBrk="1" hangingPunct="1">
              <a:defRPr/>
            </a:pPr>
            <a:r>
              <a:rPr lang="en-US" altLang="zh-TW" sz="2400" dirty="0"/>
              <a:t>Option 1: team-based system project </a:t>
            </a:r>
          </a:p>
          <a:p>
            <a:pPr lvl="2" eaLnBrk="1" hangingPunct="1">
              <a:defRPr/>
            </a:pPr>
            <a:r>
              <a:rPr lang="en-US" altLang="zh-TW" sz="2000" dirty="0"/>
              <a:t>e. g., extension to programming exercises</a:t>
            </a:r>
          </a:p>
          <a:p>
            <a:pPr lvl="1" eaLnBrk="1" hangingPunct="1">
              <a:defRPr/>
            </a:pPr>
            <a:r>
              <a:rPr lang="en-US" altLang="zh-TW" sz="2400" dirty="0"/>
              <a:t>Option 2: academic paper presentation</a:t>
            </a:r>
          </a:p>
          <a:p>
            <a:pPr lvl="2" eaLnBrk="1" hangingPunct="1">
              <a:defRPr/>
            </a:pPr>
            <a:r>
              <a:rPr lang="en-US" altLang="zh-TW" sz="2000" dirty="0"/>
              <a:t>Only one person, </a:t>
            </a:r>
            <a:r>
              <a:rPr lang="en-US" altLang="zh-TW" sz="2000" i="1" dirty="0"/>
              <a:t>NOT</a:t>
            </a:r>
            <a:r>
              <a:rPr lang="en-US" altLang="zh-TW" sz="2000" dirty="0"/>
              <a:t> team-based</a:t>
            </a:r>
          </a:p>
          <a:p>
            <a:pPr eaLnBrk="1" hangingPunct="1">
              <a:defRPr/>
            </a:pPr>
            <a:r>
              <a:rPr lang="en-US" altLang="zh-TW" sz="2800" dirty="0"/>
              <a:t>Tentative schedule for all teams:</a:t>
            </a:r>
          </a:p>
          <a:p>
            <a:pPr lvl="1" eaLnBrk="1" hangingPunct="1">
              <a:defRPr/>
            </a:pPr>
            <a:r>
              <a:rPr lang="en-US" altLang="zh-TW" sz="2400" b="1" dirty="0"/>
              <a:t>Proposal</a:t>
            </a:r>
            <a:r>
              <a:rPr lang="en-US" altLang="zh-TW" sz="2400" dirty="0"/>
              <a:t>: *required* one week after midterm (</a:t>
            </a:r>
            <a:r>
              <a:rPr lang="en-US" altLang="zh-TW" sz="2400" dirty="0">
                <a:solidFill>
                  <a:srgbClr val="FF0000"/>
                </a:solidFill>
              </a:rPr>
              <a:t>Nov. 18, 2026</a:t>
            </a:r>
            <a:r>
              <a:rPr lang="en-US" altLang="zh-TW" sz="2400" dirty="0"/>
              <a:t>)</a:t>
            </a:r>
          </a:p>
          <a:p>
            <a:pPr lvl="1" eaLnBrk="1" hangingPunct="1">
              <a:defRPr/>
            </a:pPr>
            <a:r>
              <a:rPr lang="en-US" altLang="zh-TW" sz="2400" b="1" dirty="0"/>
              <a:t>Presentations</a:t>
            </a:r>
            <a:r>
              <a:rPr lang="en-US" altLang="zh-TW" sz="2400" dirty="0"/>
              <a:t> (including demos): *required* in the last </a:t>
            </a:r>
            <a:r>
              <a:rPr lang="en-US" altLang="zh-TW" sz="2400" dirty="0">
                <a:solidFill>
                  <a:srgbClr val="0000FF"/>
                </a:solidFill>
              </a:rPr>
              <a:t>four</a:t>
            </a:r>
            <a:r>
              <a:rPr lang="en-US" altLang="zh-TW" sz="2400" dirty="0"/>
              <a:t> weeks (starting from </a:t>
            </a:r>
            <a:r>
              <a:rPr lang="en-US" altLang="zh-TW" sz="2400" dirty="0">
                <a:solidFill>
                  <a:srgbClr val="FF0000"/>
                </a:solidFill>
              </a:rPr>
              <a:t>Dec. 16, 2026</a:t>
            </a:r>
            <a:r>
              <a:rPr lang="en-US" altLang="zh-TW" sz="2400" dirty="0"/>
              <a:t>)</a:t>
            </a:r>
          </a:p>
          <a:p>
            <a:pPr lvl="2" eaLnBrk="1" hangingPunct="1">
              <a:defRPr/>
            </a:pPr>
            <a:r>
              <a:rPr lang="en-US" altLang="zh-TW" sz="2000" dirty="0"/>
              <a:t>~20 minutes per team</a:t>
            </a:r>
          </a:p>
          <a:p>
            <a:pPr lvl="1" eaLnBrk="1" hangingPunct="1">
              <a:defRPr/>
            </a:pPr>
            <a:r>
              <a:rPr lang="en-US" altLang="zh-TW" sz="2400" b="1" dirty="0"/>
              <a:t>Final report</a:t>
            </a:r>
            <a:r>
              <a:rPr lang="en-US" altLang="zh-TW" sz="2400" dirty="0"/>
              <a:t>: *required* before the end of the semester (</a:t>
            </a:r>
            <a:r>
              <a:rPr lang="en-US" altLang="zh-TW" sz="2400" dirty="0">
                <a:solidFill>
                  <a:srgbClr val="FF0000"/>
                </a:solidFill>
              </a:rPr>
              <a:t>Jan. 8, 2027</a:t>
            </a:r>
            <a:r>
              <a:rPr lang="en-US" altLang="zh-TW" sz="2400" dirty="0"/>
              <a:t>)</a:t>
            </a:r>
          </a:p>
          <a:p>
            <a:pPr lvl="2" eaLnBrk="1" hangingPunct="1">
              <a:defRPr/>
            </a:pPr>
            <a:r>
              <a:rPr lang="en-US" altLang="zh-TW" sz="2000" dirty="0"/>
              <a:t>Slides, source code, documentation</a:t>
            </a:r>
          </a:p>
        </p:txBody>
      </p:sp>
      <p:sp>
        <p:nvSpPr>
          <p:cNvPr id="48132" name="日期版面配置區 1">
            <a:extLst>
              <a:ext uri="{FF2B5EF4-FFF2-40B4-BE49-F238E27FC236}">
                <a16:creationId xmlns:a16="http://schemas.microsoft.com/office/drawing/2014/main" id="{61DC7F25-0E61-AAA1-7EFE-0E7FF2BD07A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48133" name="頁尾版面配置區 2">
            <a:extLst>
              <a:ext uri="{FF2B5EF4-FFF2-40B4-BE49-F238E27FC236}">
                <a16:creationId xmlns:a16="http://schemas.microsoft.com/office/drawing/2014/main" id="{8D643226-5E9C-55A6-10DF-F063A6F3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48134" name="投影片編號版面配置區 3">
            <a:extLst>
              <a:ext uri="{FF2B5EF4-FFF2-40B4-BE49-F238E27FC236}">
                <a16:creationId xmlns:a16="http://schemas.microsoft.com/office/drawing/2014/main" id="{652D0BB3-9F5D-30CC-F242-1A7371AF2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C341C1-1193-47C3-AAD0-41B83C6E9F85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標題 1">
            <a:extLst>
              <a:ext uri="{FF2B5EF4-FFF2-40B4-BE49-F238E27FC236}">
                <a16:creationId xmlns:a16="http://schemas.microsoft.com/office/drawing/2014/main" id="{17FF35CD-E567-37CB-8C72-41B01A102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For System Development</a:t>
            </a:r>
            <a:endParaRPr lang="zh-TW" altLang="en-US"/>
          </a:p>
        </p:txBody>
      </p:sp>
      <p:sp>
        <p:nvSpPr>
          <p:cNvPr id="43011" name="內容版面配置區 2">
            <a:extLst>
              <a:ext uri="{FF2B5EF4-FFF2-40B4-BE49-F238E27FC236}">
                <a16:creationId xmlns:a16="http://schemas.microsoft.com/office/drawing/2014/main" id="{DAB12C35-52D4-EAD5-8F5A-7FC5323D8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zh-TW" dirty="0"/>
              <a:t>You can write your own code in any programming language</a:t>
            </a:r>
          </a:p>
          <a:p>
            <a:pPr lvl="1">
              <a:defRPr/>
            </a:pPr>
            <a:r>
              <a:rPr lang="en-US" altLang="zh-TW" dirty="0">
                <a:solidFill>
                  <a:srgbClr val="FF0000"/>
                </a:solidFill>
              </a:rPr>
              <a:t>Calling open source codes, APIs or library functions is OK, </a:t>
            </a:r>
            <a:r>
              <a:rPr lang="en-US" altLang="zh-TW" dirty="0"/>
              <a:t>but simply running existing binary executables is </a:t>
            </a:r>
            <a:r>
              <a:rPr lang="en-US" altLang="zh-TW" dirty="0">
                <a:solidFill>
                  <a:srgbClr val="0000FF"/>
                </a:solidFill>
              </a:rPr>
              <a:t>NOT acceptable</a:t>
            </a:r>
          </a:p>
          <a:p>
            <a:pPr lvl="1">
              <a:defRPr/>
            </a:pPr>
            <a:r>
              <a:rPr lang="en-US" altLang="zh-TW" dirty="0">
                <a:solidFill>
                  <a:srgbClr val="FF0000"/>
                </a:solidFill>
              </a:rPr>
              <a:t>You have to explain the major part of your code</a:t>
            </a:r>
          </a:p>
          <a:p>
            <a:pPr>
              <a:defRPr/>
            </a:pPr>
            <a:r>
              <a:rPr lang="en-US" altLang="zh-TW" dirty="0"/>
              <a:t>Any topic relevant to information retrieval</a:t>
            </a:r>
          </a:p>
          <a:p>
            <a:pPr lvl="1">
              <a:defRPr/>
            </a:pPr>
            <a:r>
              <a:rPr lang="en-US" altLang="zh-TW" dirty="0"/>
              <a:t>Retrieval, analysis, or application of the semantic meanings from various resources from the documents, Web, social media</a:t>
            </a:r>
          </a:p>
          <a:p>
            <a:pPr lvl="2">
              <a:defRPr/>
            </a:pPr>
            <a:r>
              <a:rPr lang="en-US" altLang="zh-TW" dirty="0"/>
              <a:t>Recommender systems, QA systems, …</a:t>
            </a:r>
            <a:endParaRPr lang="zh-TW" altLang="en-US" dirty="0"/>
          </a:p>
        </p:txBody>
      </p:sp>
      <p:sp>
        <p:nvSpPr>
          <p:cNvPr id="50180" name="日期版面配置區 3">
            <a:extLst>
              <a:ext uri="{FF2B5EF4-FFF2-40B4-BE49-F238E27FC236}">
                <a16:creationId xmlns:a16="http://schemas.microsoft.com/office/drawing/2014/main" id="{D9DE3DF7-CC6E-32AB-0C01-2C937118F5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50181" name="頁尾版面配置區 4">
            <a:extLst>
              <a:ext uri="{FF2B5EF4-FFF2-40B4-BE49-F238E27FC236}">
                <a16:creationId xmlns:a16="http://schemas.microsoft.com/office/drawing/2014/main" id="{DE8D3C3A-D011-C7A7-91C7-217509EB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50182" name="投影片編號版面配置區 5">
            <a:extLst>
              <a:ext uri="{FF2B5EF4-FFF2-40B4-BE49-F238E27FC236}">
                <a16:creationId xmlns:a16="http://schemas.microsoft.com/office/drawing/2014/main" id="{33218D0A-73E8-4B8A-D4CE-F4A1750F5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3078E7-FC50-4EAB-85D9-D71EB438DCEF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標題 1">
            <a:extLst>
              <a:ext uri="{FF2B5EF4-FFF2-40B4-BE49-F238E27FC236}">
                <a16:creationId xmlns:a16="http://schemas.microsoft.com/office/drawing/2014/main" id="{28EB35E4-FF05-ED80-FF76-566070078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Some Examples of </a:t>
            </a:r>
            <a:br>
              <a:rPr lang="en-US" altLang="zh-TW"/>
            </a:br>
            <a:r>
              <a:rPr lang="en-US" altLang="zh-TW"/>
              <a:t>Open Source Tools</a:t>
            </a:r>
            <a:endParaRPr lang="zh-TW" altLang="en-US"/>
          </a:p>
        </p:txBody>
      </p:sp>
      <p:sp>
        <p:nvSpPr>
          <p:cNvPr id="6147" name="內容版面配置區 2">
            <a:extLst>
              <a:ext uri="{FF2B5EF4-FFF2-40B4-BE49-F238E27FC236}">
                <a16:creationId xmlns:a16="http://schemas.microsoft.com/office/drawing/2014/main" id="{5F57D862-A753-ED0B-11E3-4356D9CBF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altLang="zh-TW" dirty="0"/>
              <a:t>Apache </a:t>
            </a:r>
            <a:r>
              <a:rPr lang="en-US" altLang="zh-TW" dirty="0">
                <a:solidFill>
                  <a:srgbClr val="FF0000"/>
                </a:solidFill>
              </a:rPr>
              <a:t>Lucene/</a:t>
            </a:r>
            <a:r>
              <a:rPr lang="en-US" altLang="zh-TW" dirty="0" err="1">
                <a:solidFill>
                  <a:srgbClr val="FF0000"/>
                </a:solidFill>
              </a:rPr>
              <a:t>Solr</a:t>
            </a:r>
            <a:r>
              <a:rPr lang="en-US" altLang="zh-TW" dirty="0">
                <a:solidFill>
                  <a:srgbClr val="FF0000"/>
                </a:solidFill>
              </a:rPr>
              <a:t> or </a:t>
            </a:r>
            <a:r>
              <a:rPr lang="en-US" altLang="zh-TW" dirty="0" err="1">
                <a:solidFill>
                  <a:srgbClr val="FF0000"/>
                </a:solidFill>
              </a:rPr>
              <a:t>ElasticSearch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(in Java)</a:t>
            </a:r>
          </a:p>
          <a:p>
            <a:pPr lvl="1">
              <a:defRPr/>
            </a:pPr>
            <a:r>
              <a:rPr lang="en-US" altLang="zh-TW" dirty="0"/>
              <a:t>for indexing/search engine</a:t>
            </a:r>
          </a:p>
          <a:p>
            <a:pPr>
              <a:defRPr/>
            </a:pPr>
            <a:r>
              <a:rPr lang="en-US" altLang="zh-TW" dirty="0"/>
              <a:t>The Lemur Project, Indri, </a:t>
            </a:r>
            <a:r>
              <a:rPr lang="en-US" altLang="zh-TW" dirty="0" err="1"/>
              <a:t>Galago</a:t>
            </a:r>
            <a:r>
              <a:rPr lang="en-US" altLang="zh-TW" dirty="0"/>
              <a:t> – by CMU/</a:t>
            </a:r>
            <a:r>
              <a:rPr lang="en-US" altLang="zh-TW" dirty="0" err="1"/>
              <a:t>Umass</a:t>
            </a:r>
            <a:r>
              <a:rPr lang="en-US" altLang="zh-TW" dirty="0"/>
              <a:t>, (in C++)</a:t>
            </a:r>
          </a:p>
          <a:p>
            <a:pPr lvl="1">
              <a:defRPr/>
            </a:pPr>
            <a:r>
              <a:rPr lang="en-US" altLang="zh-TW" dirty="0"/>
              <a:t>For search engine, text analysis</a:t>
            </a:r>
          </a:p>
          <a:p>
            <a:pPr>
              <a:defRPr/>
            </a:pPr>
            <a:r>
              <a:rPr lang="en-US" altLang="zh-TW" dirty="0"/>
              <a:t>Terrier – by U. Glasgow (in Java)</a:t>
            </a:r>
          </a:p>
          <a:p>
            <a:pPr lvl="1">
              <a:defRPr/>
            </a:pPr>
            <a:r>
              <a:rPr lang="en-US" altLang="zh-TW" dirty="0"/>
              <a:t>For search engine</a:t>
            </a:r>
          </a:p>
          <a:p>
            <a:pPr>
              <a:defRPr/>
            </a:pPr>
            <a:r>
              <a:rPr lang="en-US" altLang="zh-TW" dirty="0"/>
              <a:t>Apache Hadoop, Spark (in Java, Scala, Python, R)</a:t>
            </a:r>
          </a:p>
          <a:p>
            <a:pPr lvl="1">
              <a:defRPr/>
            </a:pPr>
            <a:r>
              <a:rPr lang="en-US" altLang="zh-TW" dirty="0"/>
              <a:t>For distributed computing and data analysis</a:t>
            </a:r>
          </a:p>
          <a:p>
            <a:pPr>
              <a:defRPr/>
            </a:pPr>
            <a:r>
              <a:rPr lang="en-US" altLang="zh-TW" dirty="0"/>
              <a:t>…</a:t>
            </a:r>
          </a:p>
          <a:p>
            <a:pPr>
              <a:defRPr/>
            </a:pPr>
            <a:r>
              <a:rPr lang="en-US" altLang="zh-TW" dirty="0"/>
              <a:t>You are encouraged to explore more!</a:t>
            </a:r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endParaRPr lang="zh-TW" altLang="en-US" dirty="0"/>
          </a:p>
        </p:txBody>
      </p:sp>
      <p:sp>
        <p:nvSpPr>
          <p:cNvPr id="51204" name="日期版面配置區 1">
            <a:extLst>
              <a:ext uri="{FF2B5EF4-FFF2-40B4-BE49-F238E27FC236}">
                <a16:creationId xmlns:a16="http://schemas.microsoft.com/office/drawing/2014/main" id="{D1447199-E980-9C89-C635-E20E21E19CC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51205" name="頁尾版面配置區 2">
            <a:extLst>
              <a:ext uri="{FF2B5EF4-FFF2-40B4-BE49-F238E27FC236}">
                <a16:creationId xmlns:a16="http://schemas.microsoft.com/office/drawing/2014/main" id="{FE975F00-EFE0-912D-5C8B-49B6C3FDE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51206" name="投影片編號版面配置區 3">
            <a:extLst>
              <a:ext uri="{FF2B5EF4-FFF2-40B4-BE49-F238E27FC236}">
                <a16:creationId xmlns:a16="http://schemas.microsoft.com/office/drawing/2014/main" id="{D6205251-5CDA-F1E5-F572-4480E2A4B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931221-1FA3-4D36-BA58-2E4BAC28B227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標題 1">
            <a:extLst>
              <a:ext uri="{FF2B5EF4-FFF2-40B4-BE49-F238E27FC236}">
                <a16:creationId xmlns:a16="http://schemas.microsoft.com/office/drawing/2014/main" id="{61F2D8AA-15AF-498C-BD3C-20B2642DB1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Notes on Signing up the Course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D11019-B4F2-4527-B804-D8ADA7F89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zh-TW" dirty="0"/>
              <a:t>The vacancy depends on the classroom capacity </a:t>
            </a:r>
          </a:p>
          <a:p>
            <a:pPr>
              <a:defRPr/>
            </a:pPr>
            <a:r>
              <a:rPr lang="en-US" altLang="zh-TW" dirty="0"/>
              <a:t>In case there’re not enough seats, the priority of signing up the course:</a:t>
            </a:r>
          </a:p>
          <a:p>
            <a:pPr lvl="1">
              <a:defRPr/>
            </a:pPr>
            <a:r>
              <a:rPr lang="en-US" altLang="zh-TW" dirty="0"/>
              <a:t>CSIE (</a:t>
            </a:r>
            <a:r>
              <a:rPr lang="zh-TW" altLang="en-US" dirty="0"/>
              <a:t>資工</a:t>
            </a:r>
            <a:r>
              <a:rPr lang="en-US" altLang="zh-TW" dirty="0"/>
              <a:t>) students first</a:t>
            </a:r>
          </a:p>
          <a:p>
            <a:pPr lvl="1">
              <a:defRPr/>
            </a:pPr>
            <a:r>
              <a:rPr lang="en-US" altLang="zh-TW" dirty="0"/>
              <a:t>Senior (</a:t>
            </a:r>
            <a:r>
              <a:rPr lang="zh-TW" altLang="en-US" dirty="0"/>
              <a:t>大四</a:t>
            </a:r>
            <a:r>
              <a:rPr lang="en-US" altLang="zh-TW" dirty="0"/>
              <a:t>) students</a:t>
            </a:r>
          </a:p>
          <a:p>
            <a:pPr lvl="1">
              <a:defRPr/>
            </a:pPr>
            <a:r>
              <a:rPr lang="en-US" altLang="zh-TW" dirty="0"/>
              <a:t>Minor/double major (</a:t>
            </a:r>
            <a:r>
              <a:rPr lang="zh-TW" altLang="en-US" dirty="0"/>
              <a:t>輔系</a:t>
            </a:r>
            <a:r>
              <a:rPr lang="en-US" altLang="zh-TW" dirty="0"/>
              <a:t>/</a:t>
            </a:r>
            <a:r>
              <a:rPr lang="zh-TW" altLang="en-US" dirty="0"/>
              <a:t>雙主修</a:t>
            </a:r>
            <a:r>
              <a:rPr lang="en-US" altLang="zh-TW" dirty="0"/>
              <a:t>) in CS</a:t>
            </a:r>
          </a:p>
          <a:p>
            <a:pPr lvl="1">
              <a:defRPr/>
            </a:pPr>
            <a:r>
              <a:rPr lang="en-US" altLang="zh-TW" dirty="0"/>
              <a:t>External students</a:t>
            </a:r>
          </a:p>
          <a:p>
            <a:pPr lvl="2">
              <a:defRPr/>
            </a:pPr>
            <a:r>
              <a:rPr lang="en-US" altLang="zh-TW" dirty="0"/>
              <a:t>USTP (University System of Taipei, </a:t>
            </a:r>
            <a:r>
              <a:rPr lang="zh-TW" altLang="en-US" dirty="0"/>
              <a:t>北聯大</a:t>
            </a:r>
            <a:r>
              <a:rPr lang="en-US" altLang="zh-TW" dirty="0"/>
              <a:t>)</a:t>
            </a:r>
          </a:p>
          <a:p>
            <a:pPr lvl="2">
              <a:defRPr/>
            </a:pPr>
            <a:r>
              <a:rPr lang="en-US" altLang="zh-TW" dirty="0"/>
              <a:t>Auditor (</a:t>
            </a:r>
            <a:r>
              <a:rPr lang="zh-TW" altLang="en-US" dirty="0"/>
              <a:t>隨班附讀</a:t>
            </a:r>
            <a:r>
              <a:rPr lang="en-US" altLang="zh-TW" dirty="0"/>
              <a:t>)</a:t>
            </a:r>
          </a:p>
          <a:p>
            <a:pPr lvl="2">
              <a:defRPr/>
            </a:pPr>
            <a:r>
              <a:rPr lang="en-US" altLang="zh-TW" dirty="0"/>
              <a:t>Others</a:t>
            </a:r>
          </a:p>
          <a:p>
            <a:pPr>
              <a:defRPr/>
            </a:pPr>
            <a:endParaRPr lang="zh-TW" altLang="en-US" dirty="0"/>
          </a:p>
        </p:txBody>
      </p:sp>
      <p:sp>
        <p:nvSpPr>
          <p:cNvPr id="36868" name="日期版面配置區 3">
            <a:extLst>
              <a:ext uri="{FF2B5EF4-FFF2-40B4-BE49-F238E27FC236}">
                <a16:creationId xmlns:a16="http://schemas.microsoft.com/office/drawing/2014/main" id="{7D56C625-61B0-4DA6-B7E5-51613445BFD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36869" name="頁尾版面配置區 4">
            <a:extLst>
              <a:ext uri="{FF2B5EF4-FFF2-40B4-BE49-F238E27FC236}">
                <a16:creationId xmlns:a16="http://schemas.microsoft.com/office/drawing/2014/main" id="{2CCCD677-2741-4329-8CCD-1A89CCFF7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36870" name="投影片編號版面配置區 5">
            <a:extLst>
              <a:ext uri="{FF2B5EF4-FFF2-40B4-BE49-F238E27FC236}">
                <a16:creationId xmlns:a16="http://schemas.microsoft.com/office/drawing/2014/main" id="{A93A128A-40DB-4088-B9C2-A6FE88FDE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0B4F0C-4DFE-4F52-B5A2-738261B2D278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版面配置區 3">
            <a:extLst>
              <a:ext uri="{FF2B5EF4-FFF2-40B4-BE49-F238E27FC236}">
                <a16:creationId xmlns:a16="http://schemas.microsoft.com/office/drawing/2014/main" id="{3514851D-D1F7-16D7-EA04-4906AC711D2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30723" name="頁尾版面配置區 4">
            <a:extLst>
              <a:ext uri="{FF2B5EF4-FFF2-40B4-BE49-F238E27FC236}">
                <a16:creationId xmlns:a16="http://schemas.microsoft.com/office/drawing/2014/main" id="{995CAE1B-F8EE-0561-2E37-EE9DA21F3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30724" name="投影片編號版面配置區 5">
            <a:extLst>
              <a:ext uri="{FF2B5EF4-FFF2-40B4-BE49-F238E27FC236}">
                <a16:creationId xmlns:a16="http://schemas.microsoft.com/office/drawing/2014/main" id="{73D0ADAD-0669-C462-F1CB-934F8AE2F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4A4D75-7FE6-42AF-8F49-81AF98B0450E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30725" name="Rectangle 2">
            <a:extLst>
              <a:ext uri="{FF2B5EF4-FFF2-40B4-BE49-F238E27FC236}">
                <a16:creationId xmlns:a16="http://schemas.microsoft.com/office/drawing/2014/main" id="{50FA2F4E-F80D-557A-E7E3-A691CC3C2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What this Course is NOT about</a:t>
            </a:r>
          </a:p>
        </p:txBody>
      </p:sp>
      <p:sp>
        <p:nvSpPr>
          <p:cNvPr id="30726" name="Rectangle 3">
            <a:extLst>
              <a:ext uri="{FF2B5EF4-FFF2-40B4-BE49-F238E27FC236}">
                <a16:creationId xmlns:a16="http://schemas.microsoft.com/office/drawing/2014/main" id="{BC4C607A-4E79-7C9C-9BBA-224CBCF3C6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 dirty="0"/>
              <a:t>This course will NOT teach you</a:t>
            </a:r>
          </a:p>
          <a:p>
            <a:pPr lvl="1" eaLnBrk="1" hangingPunct="1"/>
            <a:r>
              <a:rPr lang="en-US" altLang="zh-TW" sz="2400" dirty="0"/>
              <a:t>How to use search engines effectively, </a:t>
            </a:r>
            <a:br>
              <a:rPr lang="en-US" altLang="zh-TW" sz="2400" dirty="0"/>
            </a:br>
            <a:r>
              <a:rPr lang="en-US" altLang="zh-TW" sz="2400" dirty="0"/>
              <a:t>although power users might have better ideas on how to improve them</a:t>
            </a:r>
          </a:p>
          <a:p>
            <a:pPr lvl="2" eaLnBrk="1" hangingPunct="1"/>
            <a:r>
              <a:rPr lang="en-US" altLang="zh-TW" sz="2000" dirty="0"/>
              <a:t>There’re plenty of books and websites on that…</a:t>
            </a:r>
          </a:p>
          <a:p>
            <a:pPr lvl="1" eaLnBrk="1" hangingPunct="1"/>
            <a:r>
              <a:rPr lang="en-US" altLang="zh-TW" sz="2400" dirty="0"/>
              <a:t>How to find books in libraries, </a:t>
            </a:r>
            <a:br>
              <a:rPr lang="en-US" altLang="zh-TW" sz="2400" dirty="0"/>
            </a:br>
            <a:r>
              <a:rPr lang="en-US" altLang="zh-TW" sz="2400" dirty="0"/>
              <a:t>although it’s related to the basic IR concepts</a:t>
            </a:r>
          </a:p>
          <a:p>
            <a:pPr lvl="1" eaLnBrk="1" hangingPunct="1"/>
            <a:r>
              <a:rPr lang="en-US" altLang="zh-TW" sz="2400" dirty="0"/>
              <a:t>How to make money on the Web, </a:t>
            </a:r>
            <a:br>
              <a:rPr lang="en-US" altLang="zh-TW" sz="2400" dirty="0"/>
            </a:br>
            <a:r>
              <a:rPr lang="en-US" altLang="zh-TW" sz="2400" dirty="0"/>
              <a:t>although successfully advertisement needs search engine optimization (SEO) techniques </a:t>
            </a:r>
          </a:p>
        </p:txBody>
      </p:sp>
    </p:spTree>
    <p:extLst>
      <p:ext uri="{BB962C8B-B14F-4D97-AF65-F5344CB8AC3E}">
        <p14:creationId xmlns:p14="http://schemas.microsoft.com/office/powerpoint/2010/main" val="3356322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0CA1D4-8254-20FF-8A74-65247DC1F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 I still need to learn IR?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E92933-A1D7-B8CE-5A0C-E9BBEB3E3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Yes, because retrieval techniques are still useful in many applications</a:t>
            </a:r>
          </a:p>
          <a:p>
            <a:pPr lvl="1"/>
            <a:r>
              <a:rPr lang="en-US" altLang="zh-TW" dirty="0"/>
              <a:t>Web search engines</a:t>
            </a:r>
          </a:p>
          <a:p>
            <a:pPr lvl="1"/>
            <a:r>
              <a:rPr lang="en-US" altLang="zh-TW" dirty="0"/>
              <a:t>Retrieval-augmented Generation (RAG) for LLMs</a:t>
            </a:r>
          </a:p>
          <a:p>
            <a:r>
              <a:rPr lang="en-US" altLang="zh-TW" dirty="0"/>
              <a:t>Information retrieval started as finding books in libraries</a:t>
            </a:r>
          </a:p>
          <a:p>
            <a:pPr lvl="1"/>
            <a:r>
              <a:rPr lang="en-US" altLang="zh-TW" dirty="0"/>
              <a:t>It’s important to search for relevant information from all kinds of sources in an efficient way</a:t>
            </a:r>
          </a:p>
          <a:p>
            <a:pPr lvl="1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C7AE4C-ADCA-4C97-7AB4-7CEF68ABE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7A80DF-1FA4-1CD5-9619-AE59C0600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231824-BAFF-0767-ED12-D8E888188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2623-B252-4243-B114-1C7971B93397}" type="slidenum">
              <a:rPr lang="en-US" altLang="zh-TW" smtClean="0"/>
              <a:pPr/>
              <a:t>30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60521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標題 1">
            <a:extLst>
              <a:ext uri="{FF2B5EF4-FFF2-40B4-BE49-F238E27FC236}">
                <a16:creationId xmlns:a16="http://schemas.microsoft.com/office/drawing/2014/main" id="{54BD40BA-A96A-CB4F-B7CB-68841FC10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So, What Exactly are Covered in Information Retrieval?</a:t>
            </a:r>
            <a:endParaRPr lang="zh-TW" altLang="en-US"/>
          </a:p>
        </p:txBody>
      </p:sp>
      <p:sp>
        <p:nvSpPr>
          <p:cNvPr id="52227" name="內容版面配置區 2">
            <a:extLst>
              <a:ext uri="{FF2B5EF4-FFF2-40B4-BE49-F238E27FC236}">
                <a16:creationId xmlns:a16="http://schemas.microsoft.com/office/drawing/2014/main" id="{6BE101F5-3700-58E6-C0D4-47BEA3BC0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Information Retrieval is to do what you have been doing everyday</a:t>
            </a:r>
          </a:p>
          <a:p>
            <a:pPr lvl="1" eaLnBrk="1" hangingPunct="1"/>
            <a:r>
              <a:rPr lang="en-US" altLang="zh-TW"/>
              <a:t>Searching for something interesting: Web pages, news, tweets, e-mails, images, videos, …</a:t>
            </a:r>
          </a:p>
          <a:p>
            <a:pPr lvl="1" eaLnBrk="1" hangingPunct="1"/>
            <a:r>
              <a:rPr lang="en-US" altLang="zh-TW"/>
              <a:t>Asking for advices: shopping, restaurants, movies, …</a:t>
            </a:r>
          </a:p>
          <a:p>
            <a:pPr lvl="1" eaLnBrk="1" hangingPunct="1"/>
            <a:r>
              <a:rPr lang="en-US" altLang="zh-TW"/>
              <a:t>…</a:t>
            </a:r>
          </a:p>
          <a:p>
            <a:pPr lvl="1" eaLnBrk="1" hangingPunct="1"/>
            <a:endParaRPr lang="zh-TW" altLang="en-US"/>
          </a:p>
        </p:txBody>
      </p:sp>
      <p:sp>
        <p:nvSpPr>
          <p:cNvPr id="52228" name="日期版面配置區 3">
            <a:extLst>
              <a:ext uri="{FF2B5EF4-FFF2-40B4-BE49-F238E27FC236}">
                <a16:creationId xmlns:a16="http://schemas.microsoft.com/office/drawing/2014/main" id="{B6AF64FA-171A-7468-5F7D-0070690D595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52229" name="頁尾版面配置區 4">
            <a:extLst>
              <a:ext uri="{FF2B5EF4-FFF2-40B4-BE49-F238E27FC236}">
                <a16:creationId xmlns:a16="http://schemas.microsoft.com/office/drawing/2014/main" id="{9E613A8C-60FE-5166-9EAE-1241CCA86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52230" name="投影片編號版面配置區 5">
            <a:extLst>
              <a:ext uri="{FF2B5EF4-FFF2-40B4-BE49-F238E27FC236}">
                <a16:creationId xmlns:a16="http://schemas.microsoft.com/office/drawing/2014/main" id="{4CD11BBD-C87A-D39E-2F58-FE6ED7F4D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44F6F8-37B3-4FF9-8E36-0760D992D8DD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標題 1">
            <a:extLst>
              <a:ext uri="{FF2B5EF4-FFF2-40B4-BE49-F238E27FC236}">
                <a16:creationId xmlns:a16="http://schemas.microsoft.com/office/drawing/2014/main" id="{AB4C303B-897F-6495-F2AE-D3811BC56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Example: Figuring out changing user interests…</a:t>
            </a:r>
            <a:endParaRPr lang="zh-TW" altLang="en-US"/>
          </a:p>
        </p:txBody>
      </p:sp>
      <p:sp>
        <p:nvSpPr>
          <p:cNvPr id="46083" name="內容版面配置區 2">
            <a:extLst>
              <a:ext uri="{FF2B5EF4-FFF2-40B4-BE49-F238E27FC236}">
                <a16:creationId xmlns:a16="http://schemas.microsoft.com/office/drawing/2014/main" id="{3BBFABD3-95FC-31FE-0321-F29D8345D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>
              <a:defRPr/>
            </a:pPr>
            <a:r>
              <a:rPr lang="en-US" altLang="zh-TW" dirty="0"/>
              <a:t>2011: New Zealand Earthquake</a:t>
            </a:r>
          </a:p>
          <a:p>
            <a:pPr eaLnBrk="1" hangingPunct="1">
              <a:defRPr/>
            </a:pPr>
            <a:r>
              <a:rPr lang="en-US" altLang="zh-TW" dirty="0"/>
              <a:t>2012: Jeremy Lin</a:t>
            </a:r>
          </a:p>
          <a:p>
            <a:pPr eaLnBrk="1" hangingPunct="1">
              <a:defRPr/>
            </a:pPr>
            <a:r>
              <a:rPr lang="en-US" altLang="zh-TW" dirty="0"/>
              <a:t>2013: Meteor Russia</a:t>
            </a:r>
          </a:p>
          <a:p>
            <a:pPr eaLnBrk="1" hangingPunct="1">
              <a:defRPr/>
            </a:pPr>
            <a:r>
              <a:rPr lang="en-US" altLang="zh-TW" dirty="0"/>
              <a:t>2014: Ukraine riots</a:t>
            </a:r>
          </a:p>
          <a:p>
            <a:pPr eaLnBrk="1" hangingPunct="1">
              <a:defRPr/>
            </a:pPr>
            <a:r>
              <a:rPr lang="en-US" altLang="zh-TW" dirty="0"/>
              <a:t>2015: TransAsia Airways Flight 235</a:t>
            </a:r>
          </a:p>
          <a:p>
            <a:pPr eaLnBrk="1" hangingPunct="1">
              <a:defRPr/>
            </a:pPr>
            <a:r>
              <a:rPr lang="en-US" altLang="zh-TW" dirty="0"/>
              <a:t>2016: Tainan Earthquake</a:t>
            </a:r>
          </a:p>
          <a:p>
            <a:pPr eaLnBrk="1" hangingPunct="1">
              <a:defRPr/>
            </a:pPr>
            <a:r>
              <a:rPr lang="en-US" altLang="zh-TW" dirty="0"/>
              <a:t>2017: Kim Jong-Nam</a:t>
            </a:r>
          </a:p>
          <a:p>
            <a:pPr eaLnBrk="1" hangingPunct="1">
              <a:defRPr/>
            </a:pPr>
            <a:r>
              <a:rPr lang="en-US" altLang="zh-TW" dirty="0"/>
              <a:t>2019: Donald Trump</a:t>
            </a:r>
          </a:p>
          <a:p>
            <a:pPr eaLnBrk="1" hangingPunct="1">
              <a:defRPr/>
            </a:pPr>
            <a:r>
              <a:rPr lang="en-US" altLang="zh-TW" dirty="0"/>
              <a:t>2020: COVID-19</a:t>
            </a:r>
          </a:p>
          <a:p>
            <a:pPr eaLnBrk="1" hangingPunct="1">
              <a:defRPr/>
            </a:pPr>
            <a:r>
              <a:rPr lang="en-US" altLang="zh-TW" dirty="0"/>
              <a:t>2022: Queen Elizabeth II</a:t>
            </a:r>
          </a:p>
          <a:p>
            <a:pPr eaLnBrk="1" hangingPunct="1">
              <a:defRPr/>
            </a:pPr>
            <a:r>
              <a:rPr lang="en-US" altLang="zh-TW" dirty="0"/>
              <a:t>2026: ?</a:t>
            </a:r>
          </a:p>
          <a:p>
            <a:pPr>
              <a:defRPr/>
            </a:pPr>
            <a:endParaRPr lang="zh-TW" altLang="en-US" dirty="0"/>
          </a:p>
        </p:txBody>
      </p:sp>
      <p:sp>
        <p:nvSpPr>
          <p:cNvPr id="53252" name="日期版面配置區 3">
            <a:extLst>
              <a:ext uri="{FF2B5EF4-FFF2-40B4-BE49-F238E27FC236}">
                <a16:creationId xmlns:a16="http://schemas.microsoft.com/office/drawing/2014/main" id="{871ABDB4-DD54-58E4-E344-ED05F91E6E4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53253" name="頁尾版面配置區 4">
            <a:extLst>
              <a:ext uri="{FF2B5EF4-FFF2-40B4-BE49-F238E27FC236}">
                <a16:creationId xmlns:a16="http://schemas.microsoft.com/office/drawing/2014/main" id="{98FB2BDC-5A88-85EC-279F-2416B859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53254" name="投影片編號版面配置區 5">
            <a:extLst>
              <a:ext uri="{FF2B5EF4-FFF2-40B4-BE49-F238E27FC236}">
                <a16:creationId xmlns:a16="http://schemas.microsoft.com/office/drawing/2014/main" id="{3297F831-5FA3-E5EB-76A2-897CA7C82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F046B6-F991-4D36-9BA4-A75CF66A8610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標題 1">
            <a:extLst>
              <a:ext uri="{FF2B5EF4-FFF2-40B4-BE49-F238E27FC236}">
                <a16:creationId xmlns:a16="http://schemas.microsoft.com/office/drawing/2014/main" id="{0F6D9DC5-2D47-A9C6-CEB0-A6EA53C4E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What’s Going on?</a:t>
            </a:r>
            <a:endParaRPr lang="zh-TW" altLang="en-US"/>
          </a:p>
        </p:txBody>
      </p:sp>
      <p:sp>
        <p:nvSpPr>
          <p:cNvPr id="54276" name="日期版面配置區 3">
            <a:extLst>
              <a:ext uri="{FF2B5EF4-FFF2-40B4-BE49-F238E27FC236}">
                <a16:creationId xmlns:a16="http://schemas.microsoft.com/office/drawing/2014/main" id="{9791B47D-6DB9-BEF8-45D0-1B6AD58A294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54277" name="頁尾版面配置區 4">
            <a:extLst>
              <a:ext uri="{FF2B5EF4-FFF2-40B4-BE49-F238E27FC236}">
                <a16:creationId xmlns:a16="http://schemas.microsoft.com/office/drawing/2014/main" id="{B3C0A218-FCB3-75AB-5885-F8D2B25C9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54278" name="投影片編號版面配置區 5">
            <a:extLst>
              <a:ext uri="{FF2B5EF4-FFF2-40B4-BE49-F238E27FC236}">
                <a16:creationId xmlns:a16="http://schemas.microsoft.com/office/drawing/2014/main" id="{F056F9F5-C864-B551-1324-6583B7DD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F91784-5112-4E5A-B643-646F5005F91E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E5ABA75-977D-4066-86E1-1C936CF812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30" y="1600200"/>
            <a:ext cx="7241540" cy="4525963"/>
          </a:xfrm>
        </p:spPr>
      </p:pic>
      <p:sp>
        <p:nvSpPr>
          <p:cNvPr id="7" name="圓角矩形 3">
            <a:extLst>
              <a:ext uri="{FF2B5EF4-FFF2-40B4-BE49-F238E27FC236}">
                <a16:creationId xmlns:a16="http://schemas.microsoft.com/office/drawing/2014/main" id="{94ED0CE4-C8D5-97AC-4501-78A9F6FAC4D5}"/>
              </a:ext>
            </a:extLst>
          </p:cNvPr>
          <p:cNvSpPr/>
          <p:nvPr/>
        </p:nvSpPr>
        <p:spPr>
          <a:xfrm>
            <a:off x="2057400" y="2819400"/>
            <a:ext cx="4953000" cy="235743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B6EAE0C-28FD-37A3-5898-779E21D1E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166019"/>
            <a:ext cx="7241540" cy="4525962"/>
          </a:xfrm>
          <a:prstGeom prst="rect">
            <a:avLst/>
          </a:prstGeom>
        </p:spPr>
      </p:pic>
      <p:sp>
        <p:nvSpPr>
          <p:cNvPr id="10" name="圓角矩形 3">
            <a:extLst>
              <a:ext uri="{FF2B5EF4-FFF2-40B4-BE49-F238E27FC236}">
                <a16:creationId xmlns:a16="http://schemas.microsoft.com/office/drawing/2014/main" id="{1B30747C-411C-E35B-385B-16CB41E7448A}"/>
              </a:ext>
            </a:extLst>
          </p:cNvPr>
          <p:cNvSpPr/>
          <p:nvPr/>
        </p:nvSpPr>
        <p:spPr>
          <a:xfrm>
            <a:off x="4038600" y="2057400"/>
            <a:ext cx="2438400" cy="342900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7A4BAD63-F7C6-620B-D3E6-F3389FD16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30" y="1600200"/>
            <a:ext cx="7241540" cy="4525963"/>
          </a:xfrm>
        </p:spPr>
      </p:pic>
      <p:sp>
        <p:nvSpPr>
          <p:cNvPr id="55299" name="標題 1">
            <a:extLst>
              <a:ext uri="{FF2B5EF4-FFF2-40B4-BE49-F238E27FC236}">
                <a16:creationId xmlns:a16="http://schemas.microsoft.com/office/drawing/2014/main" id="{4CF6FD20-9515-FF89-79CE-DA3064540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News</a:t>
            </a:r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8E99CD1E-35CA-A04B-D52C-6CB0B0A33B80}"/>
              </a:ext>
            </a:extLst>
          </p:cNvPr>
          <p:cNvSpPr/>
          <p:nvPr/>
        </p:nvSpPr>
        <p:spPr>
          <a:xfrm>
            <a:off x="2895600" y="2057400"/>
            <a:ext cx="9906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5301" name="日期版面配置區 1">
            <a:extLst>
              <a:ext uri="{FF2B5EF4-FFF2-40B4-BE49-F238E27FC236}">
                <a16:creationId xmlns:a16="http://schemas.microsoft.com/office/drawing/2014/main" id="{A996C6F4-7B1B-DC49-579F-644B9016564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55302" name="頁尾版面配置區 2">
            <a:extLst>
              <a:ext uri="{FF2B5EF4-FFF2-40B4-BE49-F238E27FC236}">
                <a16:creationId xmlns:a16="http://schemas.microsoft.com/office/drawing/2014/main" id="{690E0AFD-C435-B812-BC31-F4E08087F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55303" name="投影片編號版面配置區 3">
            <a:extLst>
              <a:ext uri="{FF2B5EF4-FFF2-40B4-BE49-F238E27FC236}">
                <a16:creationId xmlns:a16="http://schemas.microsoft.com/office/drawing/2014/main" id="{8FC9D653-C2A7-CD2E-8510-D704D1CA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793FCE-896D-47D6-957B-AF76F0BFB2B1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0CCBAF7B-DC74-0CFA-CC5D-BE424687D27B}"/>
              </a:ext>
            </a:extLst>
          </p:cNvPr>
          <p:cNvSpPr/>
          <p:nvPr/>
        </p:nvSpPr>
        <p:spPr>
          <a:xfrm>
            <a:off x="1431036" y="4038599"/>
            <a:ext cx="4207764" cy="1905001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7C28A3E0-A50F-A03A-3693-E2FB6AEFB3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30" y="1600200"/>
            <a:ext cx="7241540" cy="4525963"/>
          </a:xfrm>
        </p:spPr>
      </p:pic>
      <p:sp>
        <p:nvSpPr>
          <p:cNvPr id="56323" name="標題 1">
            <a:extLst>
              <a:ext uri="{FF2B5EF4-FFF2-40B4-BE49-F238E27FC236}">
                <a16:creationId xmlns:a16="http://schemas.microsoft.com/office/drawing/2014/main" id="{6713E882-974E-112B-6B50-B2E8B205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Web Search</a:t>
            </a:r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6627DB5-996B-1869-CF21-6440C194F61A}"/>
              </a:ext>
            </a:extLst>
          </p:cNvPr>
          <p:cNvSpPr/>
          <p:nvPr/>
        </p:nvSpPr>
        <p:spPr>
          <a:xfrm>
            <a:off x="2438400" y="2259045"/>
            <a:ext cx="1149350" cy="4079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6325" name="日期版面配置區 1">
            <a:extLst>
              <a:ext uri="{FF2B5EF4-FFF2-40B4-BE49-F238E27FC236}">
                <a16:creationId xmlns:a16="http://schemas.microsoft.com/office/drawing/2014/main" id="{DCBA72D1-F34F-B8DC-0407-DA7FDE527BF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56326" name="頁尾版面配置區 2">
            <a:extLst>
              <a:ext uri="{FF2B5EF4-FFF2-40B4-BE49-F238E27FC236}">
                <a16:creationId xmlns:a16="http://schemas.microsoft.com/office/drawing/2014/main" id="{7C617866-068A-BC50-FBF2-08C260A2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56327" name="投影片編號版面配置區 3">
            <a:extLst>
              <a:ext uri="{FF2B5EF4-FFF2-40B4-BE49-F238E27FC236}">
                <a16:creationId xmlns:a16="http://schemas.microsoft.com/office/drawing/2014/main" id="{E4F8FED0-DE82-0EB8-868A-CDDBD02CA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24E08B-61AD-4F0A-85D6-6C1AE127B08B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4C0F8E4E-7E64-D25E-A352-6304BAC5A1A6}"/>
              </a:ext>
            </a:extLst>
          </p:cNvPr>
          <p:cNvSpPr/>
          <p:nvPr/>
        </p:nvSpPr>
        <p:spPr>
          <a:xfrm>
            <a:off x="1295400" y="3505200"/>
            <a:ext cx="3962400" cy="152400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F7056DA-06A7-2A63-7D38-3A0F8481C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7" t="87" r="26033" b="6982"/>
          <a:stretch/>
        </p:blipFill>
        <p:spPr>
          <a:xfrm>
            <a:off x="2596897" y="731837"/>
            <a:ext cx="6547103" cy="5310982"/>
          </a:xfrm>
          <a:prstGeom prst="rect">
            <a:avLst/>
          </a:prstGeom>
        </p:spPr>
      </p:pic>
      <p:sp>
        <p:nvSpPr>
          <p:cNvPr id="12" name="圓角矩形 11">
            <a:extLst>
              <a:ext uri="{FF2B5EF4-FFF2-40B4-BE49-F238E27FC236}">
                <a16:creationId xmlns:a16="http://schemas.microsoft.com/office/drawing/2014/main" id="{4B934F42-B769-417D-1B25-506DEA79607D}"/>
              </a:ext>
            </a:extLst>
          </p:cNvPr>
          <p:cNvSpPr/>
          <p:nvPr/>
        </p:nvSpPr>
        <p:spPr>
          <a:xfrm>
            <a:off x="2795587" y="1962151"/>
            <a:ext cx="6119813" cy="262890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9" name="圓角矩形 11">
            <a:extLst>
              <a:ext uri="{FF2B5EF4-FFF2-40B4-BE49-F238E27FC236}">
                <a16:creationId xmlns:a16="http://schemas.microsoft.com/office/drawing/2014/main" id="{63A1B0EE-20B3-E63B-8BB8-F6416E4E278C}"/>
              </a:ext>
            </a:extLst>
          </p:cNvPr>
          <p:cNvSpPr/>
          <p:nvPr/>
        </p:nvSpPr>
        <p:spPr>
          <a:xfrm>
            <a:off x="2850451" y="4773612"/>
            <a:ext cx="6119813" cy="126920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18FF9B6-48B3-DFD6-A4ED-9C72117E7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30" y="1600200"/>
            <a:ext cx="7241540" cy="4525963"/>
          </a:xfrm>
        </p:spPr>
      </p:pic>
      <p:sp>
        <p:nvSpPr>
          <p:cNvPr id="57347" name="標題 1">
            <a:extLst>
              <a:ext uri="{FF2B5EF4-FFF2-40B4-BE49-F238E27FC236}">
                <a16:creationId xmlns:a16="http://schemas.microsoft.com/office/drawing/2014/main" id="{434D8D26-C874-D878-B567-35AE43EF4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Wikipedia</a:t>
            </a:r>
            <a:endParaRPr lang="zh-TW" altLang="en-US"/>
          </a:p>
        </p:txBody>
      </p:sp>
      <p:sp>
        <p:nvSpPr>
          <p:cNvPr id="57348" name="日期版面配置區 3">
            <a:extLst>
              <a:ext uri="{FF2B5EF4-FFF2-40B4-BE49-F238E27FC236}">
                <a16:creationId xmlns:a16="http://schemas.microsoft.com/office/drawing/2014/main" id="{78D853EE-869C-3C4A-EF47-E16343A8364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57349" name="頁尾版面配置區 4">
            <a:extLst>
              <a:ext uri="{FF2B5EF4-FFF2-40B4-BE49-F238E27FC236}">
                <a16:creationId xmlns:a16="http://schemas.microsoft.com/office/drawing/2014/main" id="{5972C916-44F7-44ED-E00C-4DB20B8C5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57350" name="投影片編號版面配置區 5">
            <a:extLst>
              <a:ext uri="{FF2B5EF4-FFF2-40B4-BE49-F238E27FC236}">
                <a16:creationId xmlns:a16="http://schemas.microsoft.com/office/drawing/2014/main" id="{489276F8-8DC4-F00B-D641-443223FA0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8D7EC6-C7F0-4515-ADEF-D1A3BC4BFA3F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73C27425-2D0A-9D45-AC1F-8C5C81590617}"/>
              </a:ext>
            </a:extLst>
          </p:cNvPr>
          <p:cNvSpPr/>
          <p:nvPr/>
        </p:nvSpPr>
        <p:spPr>
          <a:xfrm>
            <a:off x="2286000" y="2080419"/>
            <a:ext cx="16002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081C2878-2B42-C252-ACD8-D97E1C6F6383}"/>
              </a:ext>
            </a:extLst>
          </p:cNvPr>
          <p:cNvSpPr/>
          <p:nvPr/>
        </p:nvSpPr>
        <p:spPr>
          <a:xfrm>
            <a:off x="4800599" y="4191000"/>
            <a:ext cx="1905001" cy="144780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534AFAE-62B1-14D0-46E9-098483399C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30" y="1600200"/>
            <a:ext cx="7241540" cy="4525963"/>
          </a:xfrm>
        </p:spPr>
      </p:pic>
      <p:sp>
        <p:nvSpPr>
          <p:cNvPr id="58372" name="標題 1">
            <a:extLst>
              <a:ext uri="{FF2B5EF4-FFF2-40B4-BE49-F238E27FC236}">
                <a16:creationId xmlns:a16="http://schemas.microsoft.com/office/drawing/2014/main" id="{7203F0C9-E07D-2E0C-1626-86059685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Google HotTrends – Daily Trending Searches</a:t>
            </a:r>
            <a:endParaRPr lang="zh-TW" altLang="en-US"/>
          </a:p>
        </p:txBody>
      </p:sp>
      <p:sp>
        <p:nvSpPr>
          <p:cNvPr id="58373" name="日期版面配置區 1">
            <a:extLst>
              <a:ext uri="{FF2B5EF4-FFF2-40B4-BE49-F238E27FC236}">
                <a16:creationId xmlns:a16="http://schemas.microsoft.com/office/drawing/2014/main" id="{D7D8856B-9D85-1BD1-9699-EE53CD147FE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58374" name="頁尾版面配置區 3">
            <a:extLst>
              <a:ext uri="{FF2B5EF4-FFF2-40B4-BE49-F238E27FC236}">
                <a16:creationId xmlns:a16="http://schemas.microsoft.com/office/drawing/2014/main" id="{97049150-3F72-11C3-9ECA-8B81AFA04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58375" name="投影片編號版面配置區 4">
            <a:extLst>
              <a:ext uri="{FF2B5EF4-FFF2-40B4-BE49-F238E27FC236}">
                <a16:creationId xmlns:a16="http://schemas.microsoft.com/office/drawing/2014/main" id="{4F6BA767-89ED-C677-C6B3-95D9C1CF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1F1ED5-FF47-4D92-B447-703A3B6B51DC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B2601AA9-AB5F-62E7-3C27-442D6FC1D8A7}"/>
              </a:ext>
            </a:extLst>
          </p:cNvPr>
          <p:cNvSpPr/>
          <p:nvPr/>
        </p:nvSpPr>
        <p:spPr>
          <a:xfrm>
            <a:off x="929894" y="4876800"/>
            <a:ext cx="3413506" cy="30480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4A1911D-754E-61D4-E765-06EEEFA33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7"/>
          <a:stretch/>
        </p:blipFill>
        <p:spPr>
          <a:xfrm>
            <a:off x="4572000" y="136525"/>
            <a:ext cx="4584192" cy="5715000"/>
          </a:xfrm>
          <a:prstGeom prst="rect">
            <a:avLst/>
          </a:prstGeom>
        </p:spPr>
      </p:pic>
      <p:sp>
        <p:nvSpPr>
          <p:cNvPr id="11" name="圓角矩形 2">
            <a:extLst>
              <a:ext uri="{FF2B5EF4-FFF2-40B4-BE49-F238E27FC236}">
                <a16:creationId xmlns:a16="http://schemas.microsoft.com/office/drawing/2014/main" id="{E733CB93-B6CF-52FB-5823-8379A49D33E7}"/>
              </a:ext>
            </a:extLst>
          </p:cNvPr>
          <p:cNvSpPr/>
          <p:nvPr/>
        </p:nvSpPr>
        <p:spPr>
          <a:xfrm>
            <a:off x="4724400" y="4267200"/>
            <a:ext cx="3886200" cy="137160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標題 1">
            <a:extLst>
              <a:ext uri="{FF2B5EF4-FFF2-40B4-BE49-F238E27FC236}">
                <a16:creationId xmlns:a16="http://schemas.microsoft.com/office/drawing/2014/main" id="{0B4C8848-7161-CA67-9FFA-8219D7BA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Social Search</a:t>
            </a:r>
            <a:endParaRPr lang="zh-TW" altLang="en-US"/>
          </a:p>
        </p:txBody>
      </p:sp>
      <p:sp>
        <p:nvSpPr>
          <p:cNvPr id="59395" name="日期版面配置區 1">
            <a:extLst>
              <a:ext uri="{FF2B5EF4-FFF2-40B4-BE49-F238E27FC236}">
                <a16:creationId xmlns:a16="http://schemas.microsoft.com/office/drawing/2014/main" id="{13EE10DF-51DE-3F43-E5A7-C336D465559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59396" name="頁尾版面配置區 2">
            <a:extLst>
              <a:ext uri="{FF2B5EF4-FFF2-40B4-BE49-F238E27FC236}">
                <a16:creationId xmlns:a16="http://schemas.microsoft.com/office/drawing/2014/main" id="{C5E5DBFC-78FF-B8A5-A6C6-75242E574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59397" name="投影片編號版面配置區 3">
            <a:extLst>
              <a:ext uri="{FF2B5EF4-FFF2-40B4-BE49-F238E27FC236}">
                <a16:creationId xmlns:a16="http://schemas.microsoft.com/office/drawing/2014/main" id="{1B43438C-8F5B-4612-49BE-E0DE2E99A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543782-C458-4EC4-AEFF-6AABFBB0BB11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59AFA77-B588-3E3A-D2ED-2BC1A0E4C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30" y="1600200"/>
            <a:ext cx="7241540" cy="4525963"/>
          </a:xfr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標題 1">
            <a:extLst>
              <a:ext uri="{FF2B5EF4-FFF2-40B4-BE49-F238E27FC236}">
                <a16:creationId xmlns:a16="http://schemas.microsoft.com/office/drawing/2014/main" id="{8F8591FF-CFEC-F7A0-18B4-97FB5195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Google Trends</a:t>
            </a:r>
            <a:endParaRPr lang="zh-TW" altLang="en-US"/>
          </a:p>
        </p:txBody>
      </p:sp>
      <p:sp>
        <p:nvSpPr>
          <p:cNvPr id="61443" name="日期版面配置區 1">
            <a:extLst>
              <a:ext uri="{FF2B5EF4-FFF2-40B4-BE49-F238E27FC236}">
                <a16:creationId xmlns:a16="http://schemas.microsoft.com/office/drawing/2014/main" id="{7C0AA1C5-A740-C51D-BF26-82BD92188C6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61444" name="頁尾版面配置區 2">
            <a:extLst>
              <a:ext uri="{FF2B5EF4-FFF2-40B4-BE49-F238E27FC236}">
                <a16:creationId xmlns:a16="http://schemas.microsoft.com/office/drawing/2014/main" id="{B541809E-5658-9354-A9F6-787D31E23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61445" name="投影片編號版面配置區 3">
            <a:extLst>
              <a:ext uri="{FF2B5EF4-FFF2-40B4-BE49-F238E27FC236}">
                <a16:creationId xmlns:a16="http://schemas.microsoft.com/office/drawing/2014/main" id="{F1E2132A-721A-AEF3-A3D0-1CFB8E5A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2B50EB-041B-4C2D-9D8D-759CFEB7EDEB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223706B2-949F-3B41-1499-ED9ADD8CB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30" y="1600200"/>
            <a:ext cx="7241540" cy="4525963"/>
          </a:xfr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標題 1">
            <a:extLst>
              <a:ext uri="{FF2B5EF4-FFF2-40B4-BE49-F238E27FC236}">
                <a16:creationId xmlns:a16="http://schemas.microsoft.com/office/drawing/2014/main" id="{15AE337D-3836-B493-117C-38505673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Related Keyword Extraction</a:t>
            </a:r>
            <a:endParaRPr lang="zh-TW" altLang="en-US"/>
          </a:p>
        </p:txBody>
      </p:sp>
      <p:sp>
        <p:nvSpPr>
          <p:cNvPr id="14339" name="內容版面配置區 2">
            <a:extLst>
              <a:ext uri="{FF2B5EF4-FFF2-40B4-BE49-F238E27FC236}">
                <a16:creationId xmlns:a16="http://schemas.microsoft.com/office/drawing/2014/main" id="{C555ABB4-6809-9394-297B-A21DC60F0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zh-TW" dirty="0"/>
              <a:t>Nepal, China-Nepal border, </a:t>
            </a:r>
            <a:r>
              <a:rPr lang="en-US" altLang="zh-TW" dirty="0" err="1"/>
              <a:t>Gyirong</a:t>
            </a:r>
            <a:r>
              <a:rPr lang="en-US" altLang="zh-TW" dirty="0"/>
              <a:t> checkpoint, …</a:t>
            </a:r>
          </a:p>
          <a:p>
            <a:pPr>
              <a:defRPr/>
            </a:pPr>
            <a:r>
              <a:rPr lang="en-US" altLang="zh-TW" dirty="0"/>
              <a:t>Flash Floods, debris flows, </a:t>
            </a:r>
            <a:r>
              <a:rPr lang="en-US" altLang="zh-TW" dirty="0" err="1"/>
              <a:t>Trishuli</a:t>
            </a:r>
            <a:r>
              <a:rPr lang="en-US" altLang="zh-TW" dirty="0"/>
              <a:t> River, Himalaya, …</a:t>
            </a:r>
          </a:p>
          <a:p>
            <a:pPr>
              <a:defRPr/>
            </a:pPr>
            <a:r>
              <a:rPr lang="en-US" altLang="zh-TW" dirty="0"/>
              <a:t>Glacier collapse, landslide, …</a:t>
            </a:r>
          </a:p>
          <a:p>
            <a:pPr>
              <a:defRPr/>
            </a:pPr>
            <a:r>
              <a:rPr lang="en-US" altLang="zh-TW" dirty="0"/>
              <a:t>Casualties, damage, rescue, </a:t>
            </a:r>
          </a:p>
          <a:p>
            <a:pPr>
              <a:defRPr/>
            </a:pPr>
            <a:r>
              <a:rPr lang="zh-TW" altLang="en-US" dirty="0"/>
              <a:t>尼泊爾</a:t>
            </a:r>
            <a:r>
              <a:rPr lang="en-US" altLang="zh-TW" dirty="0"/>
              <a:t>, </a:t>
            </a:r>
            <a:r>
              <a:rPr lang="zh-TW" altLang="en-US" dirty="0"/>
              <a:t>中尼邊境</a:t>
            </a:r>
            <a:r>
              <a:rPr lang="en-US" altLang="zh-TW" dirty="0"/>
              <a:t>, </a:t>
            </a:r>
            <a:r>
              <a:rPr lang="zh-TW" altLang="en-US" dirty="0"/>
              <a:t>吉隆口岸</a:t>
            </a:r>
            <a:r>
              <a:rPr lang="en-US" altLang="zh-TW" dirty="0"/>
              <a:t>, …</a:t>
            </a:r>
          </a:p>
          <a:p>
            <a:pPr>
              <a:defRPr/>
            </a:pPr>
            <a:r>
              <a:rPr lang="zh-TW" altLang="en-US" dirty="0"/>
              <a:t>土石流</a:t>
            </a:r>
            <a:r>
              <a:rPr lang="en-US" altLang="zh-TW" dirty="0"/>
              <a:t>, </a:t>
            </a:r>
            <a:r>
              <a:rPr lang="zh-TW" altLang="en-US" dirty="0"/>
              <a:t>洪災</a:t>
            </a:r>
            <a:r>
              <a:rPr lang="en-US" altLang="zh-TW" dirty="0"/>
              <a:t>, </a:t>
            </a:r>
            <a:r>
              <a:rPr lang="zh-TW" altLang="en-US" dirty="0"/>
              <a:t>特里蘇里河</a:t>
            </a:r>
            <a:r>
              <a:rPr lang="en-US" altLang="zh-TW" dirty="0"/>
              <a:t>,</a:t>
            </a:r>
            <a:r>
              <a:rPr lang="zh-TW" altLang="en-US" dirty="0"/>
              <a:t>喜馬拉雅山脈</a:t>
            </a:r>
            <a:r>
              <a:rPr lang="en-US" altLang="zh-TW" dirty="0"/>
              <a:t>, …</a:t>
            </a:r>
          </a:p>
          <a:p>
            <a:pPr>
              <a:defRPr/>
            </a:pPr>
            <a:r>
              <a:rPr lang="zh-TW" altLang="en-US" dirty="0"/>
              <a:t>冰川崩塌</a:t>
            </a:r>
            <a:r>
              <a:rPr lang="en-US" altLang="zh-TW" dirty="0"/>
              <a:t>, </a:t>
            </a:r>
            <a:r>
              <a:rPr lang="zh-TW" altLang="en-US" dirty="0"/>
              <a:t>滑坡</a:t>
            </a:r>
            <a:r>
              <a:rPr lang="en-US" altLang="zh-TW" dirty="0"/>
              <a:t>, …</a:t>
            </a:r>
          </a:p>
          <a:p>
            <a:pPr>
              <a:defRPr/>
            </a:pPr>
            <a:r>
              <a:rPr lang="zh-TW" altLang="en-US" dirty="0"/>
              <a:t>人員傷亡</a:t>
            </a:r>
            <a:r>
              <a:rPr lang="en-US" altLang="zh-TW" dirty="0"/>
              <a:t>, </a:t>
            </a:r>
            <a:r>
              <a:rPr lang="zh-TW" altLang="en-US" dirty="0"/>
              <a:t>災害影響</a:t>
            </a:r>
            <a:r>
              <a:rPr lang="en-US" altLang="zh-TW" dirty="0"/>
              <a:t>, </a:t>
            </a:r>
            <a:r>
              <a:rPr lang="zh-TW" altLang="en-US" dirty="0"/>
              <a:t>救援行動</a:t>
            </a:r>
            <a:r>
              <a:rPr lang="en-US" altLang="zh-TW" dirty="0"/>
              <a:t>, …</a:t>
            </a:r>
            <a:endParaRPr lang="zh-TW" altLang="en-US" dirty="0"/>
          </a:p>
        </p:txBody>
      </p:sp>
      <p:sp>
        <p:nvSpPr>
          <p:cNvPr id="60420" name="日期版面配置區 3">
            <a:extLst>
              <a:ext uri="{FF2B5EF4-FFF2-40B4-BE49-F238E27FC236}">
                <a16:creationId xmlns:a16="http://schemas.microsoft.com/office/drawing/2014/main" id="{E5451354-7BA0-BFD2-FBD8-A3013C7C02A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60421" name="頁尾版面配置區 4">
            <a:extLst>
              <a:ext uri="{FF2B5EF4-FFF2-40B4-BE49-F238E27FC236}">
                <a16:creationId xmlns:a16="http://schemas.microsoft.com/office/drawing/2014/main" id="{6B49E71D-B290-21AD-8DC3-ACCD152E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60422" name="投影片編號版面配置區 5">
            <a:extLst>
              <a:ext uri="{FF2B5EF4-FFF2-40B4-BE49-F238E27FC236}">
                <a16:creationId xmlns:a16="http://schemas.microsoft.com/office/drawing/2014/main" id="{EF6AFA5B-DEF9-F25A-00F1-B3CD6FE2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627B9B-2EBF-4430-807F-EF0849EF19A7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標題 1">
            <a:extLst>
              <a:ext uri="{FF2B5EF4-FFF2-40B4-BE49-F238E27FC236}">
                <a16:creationId xmlns:a16="http://schemas.microsoft.com/office/drawing/2014/main" id="{80EDD243-E912-0C56-2329-429DF6427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Some IR-Related Tasks from this Example </a:t>
            </a:r>
            <a:endParaRPr lang="zh-TW" altLang="en-US" dirty="0"/>
          </a:p>
        </p:txBody>
      </p:sp>
      <p:sp>
        <p:nvSpPr>
          <p:cNvPr id="62467" name="內容版面配置區 2">
            <a:extLst>
              <a:ext uri="{FF2B5EF4-FFF2-40B4-BE49-F238E27FC236}">
                <a16:creationId xmlns:a16="http://schemas.microsoft.com/office/drawing/2014/main" id="{8CD1E013-B295-A935-6FA6-56D7092FE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Search: Web, news, image, video, social</a:t>
            </a:r>
          </a:p>
          <a:p>
            <a:r>
              <a:rPr lang="en-US" altLang="zh-TW" dirty="0"/>
              <a:t>Keyword (</a:t>
            </a:r>
            <a:r>
              <a:rPr lang="en-US" altLang="zh-TW" dirty="0" err="1"/>
              <a:t>keyterm</a:t>
            </a:r>
            <a:r>
              <a:rPr lang="en-US" altLang="zh-TW" dirty="0"/>
              <a:t>, </a:t>
            </a:r>
            <a:r>
              <a:rPr lang="en-US" altLang="zh-TW" dirty="0" err="1"/>
              <a:t>keyphrase</a:t>
            </a:r>
            <a:r>
              <a:rPr lang="en-US" altLang="zh-TW" dirty="0"/>
              <a:t>) extraction</a:t>
            </a:r>
          </a:p>
          <a:p>
            <a:r>
              <a:rPr lang="en-US" altLang="zh-TW" dirty="0"/>
              <a:t>Named entity recognition</a:t>
            </a:r>
          </a:p>
          <a:p>
            <a:pPr lvl="1"/>
            <a:r>
              <a:rPr lang="en-US" altLang="zh-TW" dirty="0"/>
              <a:t>People, events, time, location, objects</a:t>
            </a:r>
          </a:p>
          <a:p>
            <a:r>
              <a:rPr lang="en-US" altLang="zh-TW" dirty="0"/>
              <a:t>Topic detection and tracking</a:t>
            </a:r>
          </a:p>
          <a:p>
            <a:r>
              <a:rPr lang="en-US" altLang="zh-TW" dirty="0"/>
              <a:t>Trend analysis</a:t>
            </a:r>
          </a:p>
          <a:p>
            <a:r>
              <a:rPr lang="en-US" altLang="zh-TW" dirty="0"/>
              <a:t>…</a:t>
            </a:r>
          </a:p>
          <a:p>
            <a:endParaRPr lang="zh-TW" altLang="en-US" dirty="0"/>
          </a:p>
        </p:txBody>
      </p:sp>
      <p:sp>
        <p:nvSpPr>
          <p:cNvPr id="62468" name="日期版面配置區 3">
            <a:extLst>
              <a:ext uri="{FF2B5EF4-FFF2-40B4-BE49-F238E27FC236}">
                <a16:creationId xmlns:a16="http://schemas.microsoft.com/office/drawing/2014/main" id="{1A020D86-30C1-2432-EEAB-EE918620A5B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62469" name="頁尾版面配置區 4">
            <a:extLst>
              <a:ext uri="{FF2B5EF4-FFF2-40B4-BE49-F238E27FC236}">
                <a16:creationId xmlns:a16="http://schemas.microsoft.com/office/drawing/2014/main" id="{AA1C5C29-36F5-29DB-C7F8-92253BBC9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62470" name="投影片編號版面配置區 5">
            <a:extLst>
              <a:ext uri="{FF2B5EF4-FFF2-40B4-BE49-F238E27FC236}">
                <a16:creationId xmlns:a16="http://schemas.microsoft.com/office/drawing/2014/main" id="{AC96E7C1-EFF0-510F-31E7-5713CFB8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577554-04C9-4DBD-BF6D-D15724153E68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63DB14-94EF-F631-934F-961394B98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Recent Topics in Information Retrieval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EC1B0C-9F0C-F193-5B76-AC524ADEF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Machine learning for IR</a:t>
            </a:r>
          </a:p>
          <a:p>
            <a:pPr lvl="1"/>
            <a:r>
              <a:rPr lang="en-US" altLang="zh-TW" dirty="0"/>
              <a:t>New deep learning, or generative IR models</a:t>
            </a:r>
          </a:p>
          <a:p>
            <a:pPr lvl="1"/>
            <a:r>
              <a:rPr lang="en-US" altLang="zh-TW" dirty="0"/>
              <a:t>Large Language Models for IR</a:t>
            </a:r>
          </a:p>
          <a:p>
            <a:r>
              <a:rPr lang="en-US" altLang="zh-TW" dirty="0"/>
              <a:t>IR for LLMs</a:t>
            </a:r>
          </a:p>
          <a:p>
            <a:pPr lvl="1"/>
            <a:r>
              <a:rPr lang="en-US" altLang="zh-TW" dirty="0"/>
              <a:t>Retrieval augmented generation </a:t>
            </a:r>
          </a:p>
          <a:p>
            <a:r>
              <a:rPr lang="en-US" altLang="zh-TW" dirty="0"/>
              <a:t>Agentic IR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9900F2-CE2B-C789-DD17-68A4DC891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D75685-E32B-AAA7-22F7-5055AFE4D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A1973F-3EAE-D8F7-1197-2B47D18A5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2623-B252-4243-B114-1C7971B93397}" type="slidenum">
              <a:rPr lang="en-US" altLang="zh-TW" smtClean="0"/>
              <a:pPr/>
              <a:t>42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4395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B945C-5ABE-BEDE-88A0-2DB331F56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zh-TW" dirty="0"/>
              <a:t>What is Retrieval Augmented Generation?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FB758E51-92FA-D43B-1DCD-C27CE7876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0431" y="1600200"/>
            <a:ext cx="5123138" cy="4525963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0704F4-BAC4-5987-1F88-8A3CB8E36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A34AFE-CD72-1AE1-E701-A15AC8F8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16D902-1F60-D6C3-D11A-899DDF8A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2623-B252-4243-B114-1C7971B93397}" type="slidenum">
              <a:rPr lang="en-US" altLang="zh-TW" smtClean="0"/>
              <a:pPr/>
              <a:t>43</a:t>
            </a:fld>
            <a:endParaRPr lang="en-US" altLang="zh-TW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E21F4B5-CAF2-64EF-1395-1AEF5C389065}"/>
              </a:ext>
            </a:extLst>
          </p:cNvPr>
          <p:cNvSpPr txBox="1"/>
          <p:nvPr/>
        </p:nvSpPr>
        <p:spPr>
          <a:xfrm>
            <a:off x="6400800" y="578121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[source: Wikipedia]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1415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標題 1">
            <a:extLst>
              <a:ext uri="{FF2B5EF4-FFF2-40B4-BE49-F238E27FC236}">
                <a16:creationId xmlns:a16="http://schemas.microsoft.com/office/drawing/2014/main" id="{D0377FB3-E0A2-FC1D-CC50-BBF1FF5AA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Some Overlap with Other Fields</a:t>
            </a:r>
            <a:endParaRPr lang="zh-TW" altLang="en-US"/>
          </a:p>
        </p:txBody>
      </p:sp>
      <p:sp>
        <p:nvSpPr>
          <p:cNvPr id="63491" name="內容版面配置區 2">
            <a:extLst>
              <a:ext uri="{FF2B5EF4-FFF2-40B4-BE49-F238E27FC236}">
                <a16:creationId xmlns:a16="http://schemas.microsoft.com/office/drawing/2014/main" id="{4295D400-1651-96ED-3DFB-E44376B63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Text mining, Data mining, Information Extraction</a:t>
            </a:r>
          </a:p>
          <a:p>
            <a:r>
              <a:rPr lang="en-US" altLang="zh-TW" dirty="0"/>
              <a:t>Natural Language Processing</a:t>
            </a:r>
          </a:p>
          <a:p>
            <a:r>
              <a:rPr lang="en-US" altLang="zh-TW" dirty="0"/>
              <a:t>Machine Learning</a:t>
            </a:r>
          </a:p>
          <a:p>
            <a:r>
              <a:rPr lang="en-US" altLang="zh-TW" dirty="0"/>
              <a:t>Social Network Analysis</a:t>
            </a:r>
          </a:p>
          <a:p>
            <a:r>
              <a:rPr lang="en-US" altLang="zh-TW" dirty="0"/>
              <a:t>…</a:t>
            </a:r>
            <a:endParaRPr lang="zh-TW" altLang="en-US" dirty="0"/>
          </a:p>
        </p:txBody>
      </p:sp>
      <p:sp>
        <p:nvSpPr>
          <p:cNvPr id="63492" name="日期版面配置區 3">
            <a:extLst>
              <a:ext uri="{FF2B5EF4-FFF2-40B4-BE49-F238E27FC236}">
                <a16:creationId xmlns:a16="http://schemas.microsoft.com/office/drawing/2014/main" id="{03F6E989-BE86-FC9D-C743-4FC0B9E781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63493" name="頁尾版面配置區 4">
            <a:extLst>
              <a:ext uri="{FF2B5EF4-FFF2-40B4-BE49-F238E27FC236}">
                <a16:creationId xmlns:a16="http://schemas.microsoft.com/office/drawing/2014/main" id="{6EDDFD47-2A16-9275-2FD8-0B3EFDE88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63494" name="投影片編號版面配置區 5">
            <a:extLst>
              <a:ext uri="{FF2B5EF4-FFF2-40B4-BE49-F238E27FC236}">
                <a16:creationId xmlns:a16="http://schemas.microsoft.com/office/drawing/2014/main" id="{B8B6EC87-93FF-64E0-CCE2-61072B81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7E4CA1-9CAE-479A-A9F0-4FE30CED2740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版面配置區 3">
            <a:extLst>
              <a:ext uri="{FF2B5EF4-FFF2-40B4-BE49-F238E27FC236}">
                <a16:creationId xmlns:a16="http://schemas.microsoft.com/office/drawing/2014/main" id="{3783EDF4-25D0-976E-E343-B3A2DDEB97B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64515" name="頁尾版面配置區 4">
            <a:extLst>
              <a:ext uri="{FF2B5EF4-FFF2-40B4-BE49-F238E27FC236}">
                <a16:creationId xmlns:a16="http://schemas.microsoft.com/office/drawing/2014/main" id="{81616551-1FE2-BF38-D5CE-49D6548F4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64516" name="投影片編號版面配置區 5">
            <a:extLst>
              <a:ext uri="{FF2B5EF4-FFF2-40B4-BE49-F238E27FC236}">
                <a16:creationId xmlns:a16="http://schemas.microsoft.com/office/drawing/2014/main" id="{680896EE-D5F9-8150-ECCD-6FAF4421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0EEA5F-CC2F-4071-BFBA-687596EA1750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64517" name="Rectangle 2">
            <a:extLst>
              <a:ext uri="{FF2B5EF4-FFF2-40B4-BE49-F238E27FC236}">
                <a16:creationId xmlns:a16="http://schemas.microsoft.com/office/drawing/2014/main" id="{29165D16-F7E9-C316-593A-8CFD00A631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Pointers to Other Topics</a:t>
            </a:r>
          </a:p>
        </p:txBody>
      </p:sp>
      <p:sp>
        <p:nvSpPr>
          <p:cNvPr id="22534" name="Rectangle 3">
            <a:extLst>
              <a:ext uri="{FF2B5EF4-FFF2-40B4-BE49-F238E27FC236}">
                <a16:creationId xmlns:a16="http://schemas.microsoft.com/office/drawing/2014/main" id="{AD666F9F-5B27-367A-D44F-5FBA0BC19C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Natural language processing techniques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Cross-lingual, multi-lingual IR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Multimedia IR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Image, video, and audio (</a:t>
            </a:r>
            <a:r>
              <a:rPr lang="en-US" altLang="zh-TW" dirty="0"/>
              <a:t>speech, music)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User interfaces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HCIR, Interactive retrieval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Mobile IR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Parallel, distributed, and P2P IR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Digital libraries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Information science perspective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Social computing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…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版面配置區 3">
            <a:extLst>
              <a:ext uri="{FF2B5EF4-FFF2-40B4-BE49-F238E27FC236}">
                <a16:creationId xmlns:a16="http://schemas.microsoft.com/office/drawing/2014/main" id="{E23E4F37-2D46-BA5B-AB3B-DE0CB9849AC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66563" name="頁尾版面配置區 4">
            <a:extLst>
              <a:ext uri="{FF2B5EF4-FFF2-40B4-BE49-F238E27FC236}">
                <a16:creationId xmlns:a16="http://schemas.microsoft.com/office/drawing/2014/main" id="{9A1C3C40-AB68-43CE-61FA-0572D3058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66564" name="投影片編號版面配置區 5">
            <a:extLst>
              <a:ext uri="{FF2B5EF4-FFF2-40B4-BE49-F238E27FC236}">
                <a16:creationId xmlns:a16="http://schemas.microsoft.com/office/drawing/2014/main" id="{25A11FD5-02D8-81F7-3D4A-6AA3DF9C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72CCB9-3F3F-4D0C-9940-510AF2A22534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66565" name="Rectangle 2">
            <a:extLst>
              <a:ext uri="{FF2B5EF4-FFF2-40B4-BE49-F238E27FC236}">
                <a16:creationId xmlns:a16="http://schemas.microsoft.com/office/drawing/2014/main" id="{3F2D0280-4122-8DE9-6F8D-BC0C6F871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Generic Resources</a:t>
            </a:r>
          </a:p>
        </p:txBody>
      </p:sp>
      <p:sp>
        <p:nvSpPr>
          <p:cNvPr id="66566" name="Rectangle 3">
            <a:extLst>
              <a:ext uri="{FF2B5EF4-FFF2-40B4-BE49-F238E27FC236}">
                <a16:creationId xmlns:a16="http://schemas.microsoft.com/office/drawing/2014/main" id="{423EE067-733B-4AD6-6C49-EE5450B869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Wikipedia page on Information Retrieval:</a:t>
            </a:r>
          </a:p>
          <a:p>
            <a:pPr lvl="1" eaLnBrk="1" hangingPunct="1"/>
            <a:r>
              <a:rPr lang="en-US" altLang="zh-TW">
                <a:hlinkClick r:id="rId3"/>
              </a:rPr>
              <a:t>https://en.wikipedia.org/wiki/Information_retrieval</a:t>
            </a:r>
            <a:endParaRPr lang="en-US" altLang="zh-TW"/>
          </a:p>
          <a:p>
            <a:pPr eaLnBrk="1" hangingPunct="1"/>
            <a:r>
              <a:rPr lang="en-US" altLang="zh-TW"/>
              <a:t>Information Retrieval Resources:</a:t>
            </a:r>
          </a:p>
          <a:p>
            <a:pPr lvl="1" eaLnBrk="1" hangingPunct="1"/>
            <a:r>
              <a:rPr lang="en-US" altLang="zh-TW">
                <a:hlinkClick r:id="rId4"/>
              </a:rPr>
              <a:t>https://nlp.stanford.edu/IR-book/information-retrieval.html</a:t>
            </a:r>
            <a:r>
              <a:rPr lang="en-US" altLang="zh-TW"/>
              <a:t>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標題 1">
            <a:extLst>
              <a:ext uri="{FF2B5EF4-FFF2-40B4-BE49-F238E27FC236}">
                <a16:creationId xmlns:a16="http://schemas.microsoft.com/office/drawing/2014/main" id="{68D2D5E1-6367-C26D-86D9-E34619890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Summary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55B02-FC8E-318A-7A89-F9BE4E46D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altLang="zh-TW" dirty="0"/>
              <a:t>Learning </a:t>
            </a:r>
            <a:r>
              <a:rPr lang="en-US" altLang="zh-TW" dirty="0">
                <a:solidFill>
                  <a:srgbClr val="0000FF"/>
                </a:solidFill>
              </a:rPr>
              <a:t>representations</a:t>
            </a:r>
            <a:r>
              <a:rPr lang="en-US" altLang="zh-TW" dirty="0"/>
              <a:t> of words in text documents for search</a:t>
            </a:r>
          </a:p>
          <a:p>
            <a:pPr lvl="1">
              <a:defRPr/>
            </a:pPr>
            <a:r>
              <a:rPr lang="en-US" altLang="zh-TW" dirty="0"/>
              <a:t>Conventional </a:t>
            </a:r>
          </a:p>
          <a:p>
            <a:pPr lvl="2">
              <a:defRPr/>
            </a:pPr>
            <a:r>
              <a:rPr lang="en-US" altLang="zh-TW" dirty="0"/>
              <a:t>Bag-of-words model</a:t>
            </a:r>
          </a:p>
          <a:p>
            <a:pPr lvl="2">
              <a:defRPr/>
            </a:pPr>
            <a:r>
              <a:rPr lang="en-US" altLang="zh-TW" dirty="0"/>
              <a:t>TF-IDF weighting</a:t>
            </a:r>
          </a:p>
          <a:p>
            <a:pPr lvl="2">
              <a:defRPr/>
            </a:pPr>
            <a:r>
              <a:rPr lang="en-US" altLang="zh-TW" dirty="0"/>
              <a:t>Cosine similarity</a:t>
            </a:r>
          </a:p>
          <a:p>
            <a:pPr lvl="1">
              <a:defRPr/>
            </a:pPr>
            <a:r>
              <a:rPr lang="en-US" altLang="zh-TW" dirty="0"/>
              <a:t>Recent progress</a:t>
            </a:r>
          </a:p>
          <a:p>
            <a:pPr lvl="2">
              <a:defRPr/>
            </a:pPr>
            <a:r>
              <a:rPr lang="en-US" altLang="zh-TW" dirty="0">
                <a:solidFill>
                  <a:srgbClr val="0000FF"/>
                </a:solidFill>
              </a:rPr>
              <a:t>Embeddings</a:t>
            </a:r>
          </a:p>
          <a:p>
            <a:pPr>
              <a:defRPr/>
            </a:pPr>
            <a:r>
              <a:rPr lang="en-US" altLang="zh-TW" dirty="0"/>
              <a:t>Information retrieval tools and applications</a:t>
            </a:r>
          </a:p>
          <a:p>
            <a:pPr lvl="1">
              <a:defRPr/>
            </a:pPr>
            <a:r>
              <a:rPr lang="en-US" altLang="zh-TW" dirty="0"/>
              <a:t>Multimedia indexing, searching</a:t>
            </a:r>
          </a:p>
          <a:p>
            <a:pPr lvl="1">
              <a:defRPr/>
            </a:pPr>
            <a:r>
              <a:rPr lang="en-US" altLang="zh-TW" dirty="0"/>
              <a:t>Social Web mining</a:t>
            </a:r>
          </a:p>
          <a:p>
            <a:pPr lvl="1">
              <a:defRPr/>
            </a:pPr>
            <a:r>
              <a:rPr lang="en-US" altLang="zh-TW" dirty="0"/>
              <a:t>Text classification, clustering</a:t>
            </a:r>
          </a:p>
          <a:p>
            <a:pPr lvl="1">
              <a:defRPr/>
            </a:pPr>
            <a:r>
              <a:rPr lang="en-US" altLang="zh-TW" dirty="0">
                <a:solidFill>
                  <a:srgbClr val="0000FF"/>
                </a:solidFill>
              </a:rPr>
              <a:t>RAG in LLMs </a:t>
            </a:r>
          </a:p>
          <a:p>
            <a:pPr lvl="1">
              <a:defRPr/>
            </a:pPr>
            <a:r>
              <a:rPr lang="en-US" altLang="zh-TW" dirty="0"/>
              <a:t>…</a:t>
            </a:r>
          </a:p>
          <a:p>
            <a:pPr lvl="1">
              <a:defRPr/>
            </a:pPr>
            <a:endParaRPr lang="en-US" altLang="zh-TW" dirty="0"/>
          </a:p>
          <a:p>
            <a:pPr lvl="1">
              <a:defRPr/>
            </a:pPr>
            <a:endParaRPr lang="zh-TW" altLang="en-US" dirty="0"/>
          </a:p>
        </p:txBody>
      </p:sp>
      <p:sp>
        <p:nvSpPr>
          <p:cNvPr id="70660" name="日期版面配置區 3">
            <a:extLst>
              <a:ext uri="{FF2B5EF4-FFF2-40B4-BE49-F238E27FC236}">
                <a16:creationId xmlns:a16="http://schemas.microsoft.com/office/drawing/2014/main" id="{51A429B3-9DBE-B3E3-80A5-85B65A1F426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70661" name="頁尾版面配置區 4">
            <a:extLst>
              <a:ext uri="{FF2B5EF4-FFF2-40B4-BE49-F238E27FC236}">
                <a16:creationId xmlns:a16="http://schemas.microsoft.com/office/drawing/2014/main" id="{97C8F3C2-C240-02B7-3938-ADE34D55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70662" name="投影片編號版面配置區 5">
            <a:extLst>
              <a:ext uri="{FF2B5EF4-FFF2-40B4-BE49-F238E27FC236}">
                <a16:creationId xmlns:a16="http://schemas.microsoft.com/office/drawing/2014/main" id="{62E7F1AE-26C0-D98F-CA69-3103B87B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A050D-5957-494B-9654-76E9612D73BC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版面配置區 3">
            <a:extLst>
              <a:ext uri="{FF2B5EF4-FFF2-40B4-BE49-F238E27FC236}">
                <a16:creationId xmlns:a16="http://schemas.microsoft.com/office/drawing/2014/main" id="{070AE343-6489-6965-89D8-89006085FC4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IR, Fall 2026</a:t>
            </a:r>
          </a:p>
        </p:txBody>
      </p:sp>
      <p:sp>
        <p:nvSpPr>
          <p:cNvPr id="71683" name="頁尾版面配置區 4">
            <a:extLst>
              <a:ext uri="{FF2B5EF4-FFF2-40B4-BE49-F238E27FC236}">
                <a16:creationId xmlns:a16="http://schemas.microsoft.com/office/drawing/2014/main" id="{46C83AD8-981A-36CB-40F1-09E093E0C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71684" name="投影片編號版面配置區 5">
            <a:extLst>
              <a:ext uri="{FF2B5EF4-FFF2-40B4-BE49-F238E27FC236}">
                <a16:creationId xmlns:a16="http://schemas.microsoft.com/office/drawing/2014/main" id="{4734FC7F-5DA7-865F-64C6-460B60F98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045AEA-54C7-4C46-BC8A-3A2DBF35D2C1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71685" name="Rectangle 2">
            <a:extLst>
              <a:ext uri="{FF2B5EF4-FFF2-40B4-BE49-F238E27FC236}">
                <a16:creationId xmlns:a16="http://schemas.microsoft.com/office/drawing/2014/main" id="{1892A798-74B4-C4C2-BB6F-A835DBB28E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Thanks for Your Attention!</a:t>
            </a:r>
          </a:p>
        </p:txBody>
      </p:sp>
      <p:sp>
        <p:nvSpPr>
          <p:cNvPr id="71686" name="Rectangle 3">
            <a:extLst>
              <a:ext uri="{FF2B5EF4-FFF2-40B4-BE49-F238E27FC236}">
                <a16:creationId xmlns:a16="http://schemas.microsoft.com/office/drawing/2014/main" id="{71891B32-D961-9E19-888B-1AF227C818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Any question or comment? </a:t>
            </a:r>
            <a:br>
              <a:rPr lang="en-US" altLang="zh-TW" dirty="0"/>
            </a:br>
            <a:r>
              <a:rPr lang="en-US" altLang="zh-TW" dirty="0"/>
              <a:t>Please feel free to send e-mails to me, </a:t>
            </a:r>
            <a:br>
              <a:rPr lang="en-US" altLang="zh-TW" dirty="0"/>
            </a:br>
            <a:r>
              <a:rPr lang="en-US" altLang="zh-TW" dirty="0"/>
              <a:t>or setup a time for discussion</a:t>
            </a:r>
          </a:p>
          <a:p>
            <a:pPr eaLnBrk="1" hangingPunct="1"/>
            <a:endParaRPr lang="en-US" altLang="zh-TW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Book Antiqua"/>
        <a:ea typeface="新細明體"/>
        <a:cs typeface=""/>
      </a:majorFont>
      <a:minorFont>
        <a:latin typeface="Book Antiqu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9073</TotalTime>
  <Words>2978</Words>
  <Application>Microsoft Office PowerPoint</Application>
  <PresentationFormat>如螢幕大小 (4:3)</PresentationFormat>
  <Paragraphs>571</Paragraphs>
  <Slides>48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48</vt:i4>
      </vt:variant>
    </vt:vector>
  </HeadingPairs>
  <TitlesOfParts>
    <vt:vector size="52" baseType="lpstr">
      <vt:lpstr>Arial</vt:lpstr>
      <vt:lpstr>Book Antiqua</vt:lpstr>
      <vt:lpstr>Times New Roman</vt:lpstr>
      <vt:lpstr>預設簡報設計</vt:lpstr>
      <vt:lpstr>Course Overview:  An Introduction to Information Retrieval and Applications </vt:lpstr>
      <vt:lpstr>Instructor &amp; TA</vt:lpstr>
      <vt:lpstr>Course Description</vt:lpstr>
      <vt:lpstr>For Online Recording of Course Sessions</vt:lpstr>
      <vt:lpstr>Target Audience</vt:lpstr>
      <vt:lpstr>Course Materials</vt:lpstr>
      <vt:lpstr>Additional References</vt:lpstr>
      <vt:lpstr>Some Classic Books on IR</vt:lpstr>
      <vt:lpstr>What Is Information Retrieval?</vt:lpstr>
      <vt:lpstr>Goal</vt:lpstr>
      <vt:lpstr>A Big Picture</vt:lpstr>
      <vt:lpstr>Another View</vt:lpstr>
      <vt:lpstr>Topics</vt:lpstr>
      <vt:lpstr>Organization of the Textbook</vt:lpstr>
      <vt:lpstr>Tentative Schedule</vt:lpstr>
      <vt:lpstr>Tentative Schedule (1/3)</vt:lpstr>
      <vt:lpstr>Tentative Schedule (2/3)</vt:lpstr>
      <vt:lpstr>Tentative Schedule (3/3)</vt:lpstr>
      <vt:lpstr>Grading Policy</vt:lpstr>
      <vt:lpstr>Programming Exercises and Term Project</vt:lpstr>
      <vt:lpstr>About the Term Project</vt:lpstr>
      <vt:lpstr>Academic Resources</vt:lpstr>
      <vt:lpstr>Online Submission</vt:lpstr>
      <vt:lpstr>Notes on Homeworks and Programming Projects</vt:lpstr>
      <vt:lpstr>More on Term Projects</vt:lpstr>
      <vt:lpstr>For System Development</vt:lpstr>
      <vt:lpstr>Some Examples of  Open Source Tools</vt:lpstr>
      <vt:lpstr>Notes on Signing up the Course</vt:lpstr>
      <vt:lpstr>What this Course is NOT about</vt:lpstr>
      <vt:lpstr>Do I still need to learn IR?</vt:lpstr>
      <vt:lpstr>So, What Exactly are Covered in Information Retrieval?</vt:lpstr>
      <vt:lpstr>Example: Figuring out changing user interests…</vt:lpstr>
      <vt:lpstr>What’s Going on?</vt:lpstr>
      <vt:lpstr>News</vt:lpstr>
      <vt:lpstr>Web Search</vt:lpstr>
      <vt:lpstr>Wikipedia</vt:lpstr>
      <vt:lpstr>Google HotTrends – Daily Trending Searches</vt:lpstr>
      <vt:lpstr>Social Search</vt:lpstr>
      <vt:lpstr>Google Trends</vt:lpstr>
      <vt:lpstr>Related Keyword Extraction</vt:lpstr>
      <vt:lpstr>Some IR-Related Tasks from this Example </vt:lpstr>
      <vt:lpstr>Recent Topics in Information Retrieval</vt:lpstr>
      <vt:lpstr>What is Retrieval Augmented Generation?</vt:lpstr>
      <vt:lpstr>Some Overlap with Other Fields</vt:lpstr>
      <vt:lpstr>Pointers to Other Topics</vt:lpstr>
      <vt:lpstr>Generic Resources</vt:lpstr>
      <vt:lpstr>Summary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Jenq-Haur Wang</dc:creator>
  <cp:lastModifiedBy>王正豪</cp:lastModifiedBy>
  <cp:revision>245</cp:revision>
  <cp:lastPrinted>1601-01-01T00:00:00Z</cp:lastPrinted>
  <dcterms:created xsi:type="dcterms:W3CDTF">1601-01-01T00:00:00Z</dcterms:created>
  <dcterms:modified xsi:type="dcterms:W3CDTF">2026-09-08T09:40:33Z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