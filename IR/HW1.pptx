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8" r:id="rId3"/>
    <p:sldId id="276" r:id="rId4"/>
    <p:sldId id="267" r:id="rId5"/>
    <p:sldId id="279" r:id="rId6"/>
    <p:sldId id="277" r:id="rId7"/>
    <p:sldId id="280" r:id="rId8"/>
    <p:sldId id="281" r:id="rId9"/>
    <p:sldId id="261" r:id="rId10"/>
    <p:sldId id="265" r:id="rId11"/>
    <p:sldId id="260" r:id="rId12"/>
    <p:sldId id="278" r:id="rId13"/>
    <p:sldId id="262" r:id="rId14"/>
    <p:sldId id="266" r:id="rId15"/>
    <p:sldId id="263" r:id="rId16"/>
    <p:sldId id="264" r:id="rId17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FFCC"/>
    <a:srgbClr val="800000"/>
    <a:srgbClr val="99CC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EB5E404-9FDF-8C9B-87EA-9208B74238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8F26055-AB48-DEB7-7AF1-87B2C53E4B8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2D00F7C9-9F78-F171-166B-181A7EBECF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85C97B9-06A7-A177-C45C-8DBF6200737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856FF40-B5BC-41EE-BD88-4D979166885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A240836-868C-B472-675A-708518A2CE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265B64D-F9AE-A335-06ED-F50428A0A69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03175D4-D2DB-1BD8-6C40-CC2A4313961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97FEAEC-10D8-36C7-2FC5-631277A19E1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B297CEBA-BF95-97C9-35EE-9173846426E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4975E028-6E8C-FADC-DC1A-0B19E915D2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2930B06-4EE9-4F55-BD32-F079FAECE862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E629402B-CC9D-C4F9-74E2-22A83C0023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6C0EB4-272F-4349-BBB7-2A9F4852A9E3}" type="slidenum">
              <a:rPr lang="en-US" altLang="zh-TW"/>
              <a:pPr>
                <a:spcBef>
                  <a:spcPct val="0"/>
                </a:spcBef>
              </a:pPr>
              <a:t>1</a:t>
            </a:fld>
            <a:endParaRPr lang="en-US" altLang="zh-TW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9B123881-3DFC-B332-1D76-53DF2899D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EE2108B-EFE5-E205-22DF-C0169543E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974B3A7E-24FD-2B64-6B32-C2734E46C8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632C92-97E8-4A71-BDBB-880444F4B8E1}" type="slidenum">
              <a:rPr lang="en-US" altLang="zh-TW"/>
              <a:pPr>
                <a:spcBef>
                  <a:spcPct val="0"/>
                </a:spcBef>
              </a:pPr>
              <a:t>2</a:t>
            </a:fld>
            <a:endParaRPr lang="en-US" altLang="zh-TW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2295256A-80DC-E0E7-0617-52C0531153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B0DE0BAC-C208-BB87-0CF8-57492CF454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EBD9E53-71DD-5710-BC52-009EAACD96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EE239E-5CB6-4264-A74B-092F356D48A6}" type="slidenum">
              <a:rPr lang="en-US" altLang="zh-TW"/>
              <a:pPr>
                <a:spcBef>
                  <a:spcPct val="0"/>
                </a:spcBef>
              </a:pPr>
              <a:t>4</a:t>
            </a:fld>
            <a:endParaRPr lang="en-US" altLang="zh-TW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0EC38EE4-69F3-1C59-92FC-286899A229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890866E-FF7F-B9C5-6359-6DBA18FF0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AEE6E690-7B9B-1506-A6A1-D795DFA105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EB04905-E7E4-4298-9A29-DD98AA0DB1FB}" type="slidenum">
              <a:rPr lang="en-US" altLang="zh-TW"/>
              <a:pPr>
                <a:spcBef>
                  <a:spcPct val="0"/>
                </a:spcBef>
              </a:pPr>
              <a:t>9</a:t>
            </a:fld>
            <a:endParaRPr lang="en-US" altLang="zh-TW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AB562B7-BE9C-AD39-32FC-14C49FCAD2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E1AA89D-CEE3-BD85-A162-BB6BF8A62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DE31DC27-986F-CBEA-B208-576C69142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5E0DB5D-B7B9-43BB-ADF3-4AEE48D205A6}" type="slidenum">
              <a:rPr lang="en-US" altLang="zh-TW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2C37E11-85F9-730D-29A5-280B00B7D8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FB2CEE60-5D94-5728-34D4-40B07DA61E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5E8F1FF2-FDD3-E25A-019B-5FDA6B6647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02DE1F-4CD6-4FE6-A95B-F55687B1C3B8}" type="slidenum">
              <a:rPr lang="en-US" altLang="zh-TW"/>
              <a:pPr>
                <a:spcBef>
                  <a:spcPct val="0"/>
                </a:spcBef>
              </a:pPr>
              <a:t>11</a:t>
            </a:fld>
            <a:endParaRPr lang="en-US" altLang="zh-TW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5BF16D7-A560-FE24-ADFB-455F7646DA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001059A-1015-E61A-D110-42E4EB794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89E6F6E3-B49F-A147-427B-AD791CE60F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CA393D-FE55-4FC2-B0E5-CBB6E06A0DAD}" type="slidenum">
              <a:rPr lang="en-US" altLang="zh-TW"/>
              <a:pPr>
                <a:spcBef>
                  <a:spcPct val="0"/>
                </a:spcBef>
              </a:pPr>
              <a:t>13</a:t>
            </a:fld>
            <a:endParaRPr lang="en-US" altLang="zh-TW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B6BD2ED-955A-B8EE-EFA4-DA2112BD48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6A0067A2-717F-F9DF-2311-CCB7E4666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0DAF2DFB-E202-A231-C68D-893AEF3A8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ED1EB4D-D316-461D-9196-4A58A60A0C9C}" type="slidenum">
              <a:rPr lang="en-US" altLang="zh-TW"/>
              <a:pPr>
                <a:spcBef>
                  <a:spcPct val="0"/>
                </a:spcBef>
              </a:pPr>
              <a:t>14</a:t>
            </a:fld>
            <a:endParaRPr lang="en-US" altLang="zh-TW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9E9AABB-2DDF-C330-71C6-AF786F75C5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92BF274-CC84-D05D-B5FD-C6D77B654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21C3A6FA-1A25-412C-BCA2-6026277D72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D30A594-2EB6-4AD0-9130-745B85444A5E}" type="slidenum">
              <a:rPr lang="en-US" altLang="zh-TW"/>
              <a:pPr>
                <a:spcBef>
                  <a:spcPct val="0"/>
                </a:spcBef>
              </a:pPr>
              <a:t>15</a:t>
            </a:fld>
            <a:endParaRPr lang="en-US" altLang="zh-TW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BC1EC6FA-B997-1E5E-934C-47723F89DB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9DABCA3E-5F23-0F7B-8C67-7355D3826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4B40AD80-7BA6-38FA-27AF-D29DA5FEBE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74A9A1B-684F-4F50-9EC7-0C343C2E81C8}" type="slidenum">
              <a:rPr lang="en-US" altLang="zh-TW"/>
              <a:pPr>
                <a:spcBef>
                  <a:spcPct val="0"/>
                </a:spcBef>
              </a:pPr>
              <a:t>16</a:t>
            </a:fld>
            <a:endParaRPr lang="en-US" altLang="zh-TW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3699E99-2BE6-EC76-C697-58E56161BB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9809B93-F8C9-C6B4-2EEC-A79159B23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TW" altLang="zh-TW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701F4C-A075-8D94-8902-9D50263E13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03D0A1-AD40-554B-EF32-5F135384DA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2ABC8B-A5C4-0AF3-409C-C9E6367358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6F5E12-A1A9-4F5D-8DA0-F21D1426FAD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2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395FCE-94D5-10FD-FAB1-BC11D374C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D232E-1814-AED5-4026-01BEC243D3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51987C-9842-C97C-CCB3-AE6094BEC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3BFEDA-7D89-46AB-8D05-0C49FC143CB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64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582ECD-A2A1-74B3-DF8B-8499CB5D0E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078EA2-D5EC-692C-7FBE-206DD5C81D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D3BFA2-80C0-019F-A695-3918ED31D6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4F5B6B-6AB2-4DD6-B524-4109D0706E4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7686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CC86-A9A2-DDAE-8E44-36FFC9E02F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C7D78A-143A-2B0C-7567-2571771364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1B4DD0-7326-3BF4-AAC5-757F36E242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2FF7C-4DFF-4A23-A3E6-D2972F3F320E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429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618A23F-9A9A-FB05-9B60-179AA37784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F321A00-5A6A-8FF8-0338-FCD7008A15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C941064-F7C9-16CC-AEB4-67D216D5DD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4B86E8-A9B5-42CF-BC85-F82FCFF641A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1687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F57725E-4F3C-078E-5466-327E8E85BC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B38363-CC97-B0A6-8468-EEEAE77DDC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E2F1B8-24C8-2118-A35B-2262F7793F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7BB47-EC9F-4E95-94AD-A1871CE62AD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2476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039DFD0-11AB-340A-1B3A-95A57B6BE5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3B3BB26-F1DD-A2BE-B733-A45C11D4E0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B2A693-FD2A-8A52-5C2E-0106F66B9F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D589AA-D00A-4628-A1C1-42E88A1DAB1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908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98B9B3-20E8-7D6F-F2F9-BC4199212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F149DC-AFE8-2E74-825E-FF77CB629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358820-E1F2-5CE5-9FD1-D25DB6DD00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A06485-F143-4164-9715-8FF47CA680C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85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0D8E0F-9760-3288-AAC9-6E68E95396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65CA2E-4506-716F-23A4-CC49008EB8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EA39DA-32FF-3A44-4DFA-6C44ADA166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49D8C-6315-44F2-8DBE-5876A2E692F1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8914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8E8230B-7A55-33AD-B7AF-5D0FF0DF4C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DC79F0C-70F5-BBC8-2312-40F2A2A6EB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A8DF00-37F0-DE74-790A-77A51B3B72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F5FB08-90E5-421F-B029-A072F21C23C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507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0D5ADF-11E5-5D5F-C036-45E4468928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DDEF8F-678F-3464-BB05-66F016B147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FA77BF-CB3F-9EE4-5896-9C7533936D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581F77-96F9-4613-BC51-C0D708401EC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183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6EBAECE-B6B8-BBCA-E0AB-C8CD081ED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F0DF633-8322-2818-6DA7-93605B59DB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BE9A8D-46C8-6B89-D3B9-42FE6E59E6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IR, Fall 2026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4747714-1A7D-2786-55D9-D5BB2D14F07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NTUT CSIE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44F391A-AD04-14A4-54A3-AE4DC0C1415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fld id="{76012132-9B1A-4B6B-84A9-46D162B442B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0000FF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igitalpreservation.gov/formats/fdd/fdd000236.s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emurproject.org/clueweb09/sampleFiles.ph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emurproject.org/clueweb12.php/" TargetMode="External"/><Relationship Id="rId2" Type="http://schemas.openxmlformats.org/officeDocument/2006/relationships/hyperlink" Target="http://lemurproject.org/clueweb09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emurproject.org/clueweb22.php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trec.nist.gov/data/reuters/reuters.html" TargetMode="External"/><Relationship Id="rId2" Type="http://schemas.openxmlformats.org/officeDocument/2006/relationships/hyperlink" Target="http://ir.dcs.gla.ac.uk/test_collection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ir.dcs.gla.ac.uk/resources/test_collections/" TargetMode="External"/><Relationship Id="rId2" Type="http://schemas.openxmlformats.org/officeDocument/2006/relationships/hyperlink" Target="http://www.daviddlewis.com/resources/testcollections/reuters21578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2EDDE87-6B34-9E07-92C1-E8A759E8DC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IR Homework #1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9645665-097A-6361-294A-8BEC990827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By J. H. Wang</a:t>
            </a:r>
          </a:p>
          <a:p>
            <a:pPr eaLnBrk="1" hangingPunct="1"/>
            <a:r>
              <a:rPr lang="en-US" altLang="zh-TW" dirty="0">
                <a:ea typeface="新細明體" panose="02020500000000000000" pitchFamily="18" charset="-120"/>
              </a:rPr>
              <a:t>Oct. 7, 2026</a:t>
            </a:r>
          </a:p>
        </p:txBody>
      </p:sp>
      <p:sp>
        <p:nvSpPr>
          <p:cNvPr id="4100" name="日期版面配置區 1">
            <a:extLst>
              <a:ext uri="{FF2B5EF4-FFF2-40B4-BE49-F238E27FC236}">
                <a16:creationId xmlns:a16="http://schemas.microsoft.com/office/drawing/2014/main" id="{7EE9250A-B64A-C4B0-6BF9-BBF1D0B59FF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4101" name="頁尾版面配置區 2">
            <a:extLst>
              <a:ext uri="{FF2B5EF4-FFF2-40B4-BE49-F238E27FC236}">
                <a16:creationId xmlns:a16="http://schemas.microsoft.com/office/drawing/2014/main" id="{58CBDF5E-50F5-C48D-6107-982685C51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4102" name="投影片編號版面配置區 3">
            <a:extLst>
              <a:ext uri="{FF2B5EF4-FFF2-40B4-BE49-F238E27FC236}">
                <a16:creationId xmlns:a16="http://schemas.microsoft.com/office/drawing/2014/main" id="{F2923292-6B20-3380-92A9-9DD38EA3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9DBDA5-6D6F-48A1-96F2-B8B2F8498A3B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8EC4F5D-1563-3D11-0AFF-24EFB9CB6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>
                <a:ea typeface="新細明體" panose="02020500000000000000" pitchFamily="18" charset="-120"/>
              </a:rPr>
              <a:t>Programming Exercise #1: </a:t>
            </a:r>
            <a:br>
              <a:rPr lang="en-US" altLang="zh-TW" sz="4000" dirty="0">
                <a:ea typeface="新細明體" panose="02020500000000000000" pitchFamily="18" charset="-120"/>
              </a:rPr>
            </a:br>
            <a:r>
              <a:rPr lang="en-US" altLang="zh-TW" sz="4000" dirty="0">
                <a:ea typeface="新細明體" panose="02020500000000000000" pitchFamily="18" charset="-120"/>
              </a:rPr>
              <a:t>Document Indexing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850C735-FB27-9726-66E9-51F5371294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Goal: to build an </a:t>
            </a:r>
            <a:r>
              <a:rPr lang="en-US" altLang="zh-TW" i="1" dirty="0">
                <a:ea typeface="新細明體" panose="02020500000000000000" pitchFamily="18" charset="-120"/>
              </a:rPr>
              <a:t>inverted index</a:t>
            </a:r>
            <a:r>
              <a:rPr lang="en-US" altLang="zh-TW" dirty="0">
                <a:ea typeface="新細明體" panose="02020500000000000000" pitchFamily="18" charset="-120"/>
              </a:rPr>
              <a:t> for a text collection</a:t>
            </a:r>
          </a:p>
          <a:p>
            <a:pPr eaLnBrk="1" hangingPunct="1">
              <a:defRPr/>
            </a:pPr>
            <a:r>
              <a:rPr lang="en-US" altLang="zh-TW" dirty="0">
                <a:solidFill>
                  <a:srgbClr val="0000FF"/>
                </a:solidFill>
                <a:ea typeface="新細明體" panose="02020500000000000000" pitchFamily="18" charset="-120"/>
              </a:rPr>
              <a:t>Input</a:t>
            </a:r>
            <a:r>
              <a:rPr lang="en-US" altLang="zh-TW" dirty="0">
                <a:ea typeface="新細明體" panose="02020500000000000000" pitchFamily="18" charset="-120"/>
              </a:rPr>
              <a:t>: a set of text documents</a:t>
            </a:r>
          </a:p>
          <a:p>
            <a:pPr eaLnBrk="1" hangingPunct="1">
              <a:defRPr/>
            </a:pPr>
            <a:r>
              <a:rPr lang="en-US" altLang="zh-TW" dirty="0">
                <a:solidFill>
                  <a:srgbClr val="0000FF"/>
                </a:solidFill>
                <a:ea typeface="新細明體" panose="02020500000000000000" pitchFamily="18" charset="-120"/>
              </a:rPr>
              <a:t>Output</a:t>
            </a:r>
            <a:r>
              <a:rPr lang="en-US" altLang="zh-TW" dirty="0">
                <a:ea typeface="新細明體" panose="02020500000000000000" pitchFamily="18" charset="-120"/>
              </a:rPr>
              <a:t>: inverted index</a:t>
            </a:r>
          </a:p>
          <a:p>
            <a:pPr eaLnBrk="1" hangingPunct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Implementation: 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either calling open source library functions (or APIs) 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or writing your code from scratch in any programming language</a:t>
            </a:r>
          </a:p>
        </p:txBody>
      </p:sp>
      <p:sp>
        <p:nvSpPr>
          <p:cNvPr id="6148" name="日期版面配置區 1">
            <a:extLst>
              <a:ext uri="{FF2B5EF4-FFF2-40B4-BE49-F238E27FC236}">
                <a16:creationId xmlns:a16="http://schemas.microsoft.com/office/drawing/2014/main" id="{542B0A12-B7B0-6C51-3094-E429730739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6149" name="頁尾版面配置區 2">
            <a:extLst>
              <a:ext uri="{FF2B5EF4-FFF2-40B4-BE49-F238E27FC236}">
                <a16:creationId xmlns:a16="http://schemas.microsoft.com/office/drawing/2014/main" id="{66FD4539-BDC5-4257-B82A-39ABFFB2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6150" name="投影片編號版面配置區 3">
            <a:extLst>
              <a:ext uri="{FF2B5EF4-FFF2-40B4-BE49-F238E27FC236}">
                <a16:creationId xmlns:a16="http://schemas.microsoft.com/office/drawing/2014/main" id="{1F904258-F01F-D431-EF73-A72895B0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CE717C-7EDD-4293-8224-6A453061C659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>
            <a:extLst>
              <a:ext uri="{FF2B5EF4-FFF2-40B4-BE49-F238E27FC236}">
                <a16:creationId xmlns:a16="http://schemas.microsoft.com/office/drawing/2014/main" id="{FB3E620C-3074-75EE-F9AA-8EE8D5BA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The Major Task to Do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195" name="日期版面配置區 1">
            <a:extLst>
              <a:ext uri="{FF2B5EF4-FFF2-40B4-BE49-F238E27FC236}">
                <a16:creationId xmlns:a16="http://schemas.microsoft.com/office/drawing/2014/main" id="{97560A52-1B3F-58B1-BB10-FE49470E986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8196" name="頁尾版面配置區 2">
            <a:extLst>
              <a:ext uri="{FF2B5EF4-FFF2-40B4-BE49-F238E27FC236}">
                <a16:creationId xmlns:a16="http://schemas.microsoft.com/office/drawing/2014/main" id="{83FD2300-34EB-3160-249C-E534D2AF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8197" name="投影片編號版面配置區 3">
            <a:extLst>
              <a:ext uri="{FF2B5EF4-FFF2-40B4-BE49-F238E27FC236}">
                <a16:creationId xmlns:a16="http://schemas.microsoft.com/office/drawing/2014/main" id="{E8DEB858-B541-6449-5D53-1D67B4EC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47613-72D9-4284-8D2E-FD0737F1A0A6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>
              <a:latin typeface="Arial" panose="020B0604020202020204" pitchFamily="34" charset="0"/>
            </a:endParaRPr>
          </a:p>
        </p:txBody>
      </p:sp>
      <p:pic>
        <p:nvPicPr>
          <p:cNvPr id="8198" name="Content Placeholder 4" descr="system.gif">
            <a:extLst>
              <a:ext uri="{FF2B5EF4-FFF2-40B4-BE49-F238E27FC236}">
                <a16:creationId xmlns:a16="http://schemas.microsoft.com/office/drawing/2014/main" id="{AE2A7158-398A-811F-3B88-6CC20C32C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3" y="1676400"/>
            <a:ext cx="9134475" cy="4373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Oval 5">
            <a:extLst>
              <a:ext uri="{FF2B5EF4-FFF2-40B4-BE49-F238E27FC236}">
                <a16:creationId xmlns:a16="http://schemas.microsoft.com/office/drawing/2014/main" id="{8CB72FD8-FE62-F30B-06B1-8CEFCC78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276600"/>
            <a:ext cx="1524000" cy="685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1" lang="zh-TW" altLang="en-US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200" name="文字方塊 1">
            <a:extLst>
              <a:ext uri="{FF2B5EF4-FFF2-40B4-BE49-F238E27FC236}">
                <a16:creationId xmlns:a16="http://schemas.microsoft.com/office/drawing/2014/main" id="{61B19912-119E-10DD-DB2B-9ACF11009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940050"/>
            <a:ext cx="304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1</a:t>
            </a:r>
            <a:endParaRPr lang="zh-TW" altLang="en-US" sz="1800">
              <a:solidFill>
                <a:srgbClr val="FF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FC6E6E3-910A-21F6-05F2-17F3B81879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Input: a Sample of the Test Collection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90F9F4-C0F8-A1A5-FF16-2D741A2B5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altLang="zh-TW" dirty="0">
                <a:ea typeface="新細明體" charset="-120"/>
              </a:rPr>
              <a:t>A sample from the </a:t>
            </a:r>
            <a:r>
              <a:rPr lang="en-US" altLang="zh-TW" dirty="0">
                <a:solidFill>
                  <a:srgbClr val="FF0000"/>
                </a:solidFill>
                <a:ea typeface="新細明體" charset="-120"/>
              </a:rPr>
              <a:t>ClueWeb09</a:t>
            </a:r>
            <a:r>
              <a:rPr lang="en-US" altLang="zh-TW" dirty="0">
                <a:ea typeface="新細明體" charset="-120"/>
              </a:rPr>
              <a:t> test collection 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charset="-120"/>
              </a:rPr>
              <a:t>File format: </a:t>
            </a: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WARC</a:t>
            </a:r>
            <a:r>
              <a:rPr lang="en-US" altLang="zh-TW" dirty="0">
                <a:ea typeface="新細明體" charset="-120"/>
              </a:rPr>
              <a:t> (Web </a:t>
            </a:r>
            <a:r>
              <a:rPr lang="en-US" altLang="zh-TW" dirty="0" err="1">
                <a:ea typeface="新細明體" charset="-120"/>
              </a:rPr>
              <a:t>ARChive</a:t>
            </a:r>
            <a:r>
              <a:rPr lang="en-US" altLang="zh-TW" dirty="0">
                <a:ea typeface="新細明體" charset="-120"/>
              </a:rPr>
              <a:t> file format)</a:t>
            </a: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  <a:hlinkClick r:id="rId3"/>
              </a:rPr>
              <a:t>http://www.digitalpreservation.gov/formats/fdd/fdd000236.shtml</a:t>
            </a:r>
            <a:endParaRPr lang="en-US" altLang="zh-TW" dirty="0">
              <a:ea typeface="新細明體" charset="-120"/>
            </a:endParaRPr>
          </a:p>
          <a:p>
            <a:pPr lvl="2" eaLnBrk="1" hangingPunct="1">
              <a:defRPr/>
            </a:pPr>
            <a:r>
              <a:rPr lang="en-US" altLang="zh-TW" dirty="0">
                <a:ea typeface="新細明體" charset="-120"/>
              </a:rPr>
              <a:t>Sample Files: </a:t>
            </a:r>
            <a:r>
              <a:rPr lang="en-US" altLang="zh-TW" dirty="0">
                <a:ea typeface="新細明體" charset="-120"/>
                <a:hlinkClick r:id="rId4"/>
              </a:rPr>
              <a:t>http://www.lemurproject.org/clueweb09/sampleFiles.php</a:t>
            </a:r>
            <a:r>
              <a:rPr lang="en-US" altLang="zh-TW" dirty="0">
                <a:ea typeface="新細明體" charset="-120"/>
              </a:rPr>
              <a:t> 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charset="-120"/>
              </a:rPr>
              <a:t>Each file contains about 40,000 Web pages, in 1GB</a:t>
            </a:r>
          </a:p>
          <a:p>
            <a:pPr lvl="1" eaLnBrk="1" hangingPunct="1">
              <a:defRPr/>
            </a:pPr>
            <a:r>
              <a:rPr lang="en-US" altLang="zh-TW" dirty="0">
                <a:ea typeface="新細明體" charset="-120"/>
              </a:rPr>
              <a:t>Each team will be </a:t>
            </a:r>
            <a:r>
              <a:rPr lang="en-US" altLang="zh-TW" dirty="0">
                <a:solidFill>
                  <a:srgbClr val="FF0000"/>
                </a:solidFill>
                <a:ea typeface="新細明體" charset="-120"/>
              </a:rPr>
              <a:t>randomly allocated </a:t>
            </a:r>
            <a:r>
              <a:rPr lang="en-US" altLang="zh-TW" dirty="0">
                <a:ea typeface="新細明體" charset="-120"/>
              </a:rPr>
              <a:t>different files by the TA (later)</a:t>
            </a:r>
          </a:p>
        </p:txBody>
      </p:sp>
      <p:sp>
        <p:nvSpPr>
          <p:cNvPr id="9220" name="日期版面配置區 1">
            <a:extLst>
              <a:ext uri="{FF2B5EF4-FFF2-40B4-BE49-F238E27FC236}">
                <a16:creationId xmlns:a16="http://schemas.microsoft.com/office/drawing/2014/main" id="{B088A912-B1F6-94CC-75D5-8C2B0F7EAEB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9221" name="頁尾版面配置區 2">
            <a:extLst>
              <a:ext uri="{FF2B5EF4-FFF2-40B4-BE49-F238E27FC236}">
                <a16:creationId xmlns:a16="http://schemas.microsoft.com/office/drawing/2014/main" id="{A768035E-83E9-7A71-DB7C-A7AB8B5E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9222" name="投影片編號版面配置區 3">
            <a:extLst>
              <a:ext uri="{FF2B5EF4-FFF2-40B4-BE49-F238E27FC236}">
                <a16:creationId xmlns:a16="http://schemas.microsoft.com/office/drawing/2014/main" id="{A71557DD-F5B1-EAAB-1F4D-B34EB110C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FD5647-3E71-4B5C-816F-F8A8A7E0D8DF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>
            <a:extLst>
              <a:ext uri="{FF2B5EF4-FFF2-40B4-BE49-F238E27FC236}">
                <a16:creationId xmlns:a16="http://schemas.microsoft.com/office/drawing/2014/main" id="{1000FF02-3CF7-2D0D-1570-30109792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Web Test Collections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BF475B-228E-6182-3D6A-0DC023988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3000" dirty="0">
                <a:ea typeface="新細明體" panose="02020500000000000000" pitchFamily="18" charset="-120"/>
              </a:rPr>
              <a:t>The </a:t>
            </a:r>
            <a:r>
              <a:rPr lang="en-US" altLang="zh-TW" sz="3000" dirty="0">
                <a:solidFill>
                  <a:srgbClr val="FF0000"/>
                </a:solidFill>
                <a:ea typeface="新細明體" panose="02020500000000000000" pitchFamily="18" charset="-120"/>
              </a:rPr>
              <a:t>ClueWeb09</a:t>
            </a:r>
            <a:r>
              <a:rPr lang="en-US" altLang="zh-TW" sz="3000" dirty="0">
                <a:ea typeface="新細明體" panose="02020500000000000000" pitchFamily="18" charset="-120"/>
              </a:rPr>
              <a:t> dataset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600" dirty="0">
                <a:ea typeface="新細明體" panose="02020500000000000000" pitchFamily="18" charset="-120"/>
                <a:hlinkClick r:id="rId2"/>
              </a:rPr>
              <a:t>http://lemurproject.org/clueweb09/</a:t>
            </a:r>
            <a:endParaRPr lang="en-US" altLang="zh-TW" sz="2600" dirty="0">
              <a:ea typeface="新細明體" panose="02020500000000000000" pitchFamily="18" charset="-12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zh-TW" sz="2200" dirty="0">
                <a:ea typeface="新細明體" panose="02020500000000000000" pitchFamily="18" charset="-120"/>
              </a:rPr>
              <a:t>1,040,809,705 Web pages in 10 languages, during Jan.-Feb. 2009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200" dirty="0">
                <a:ea typeface="新細明體" panose="02020500000000000000" pitchFamily="18" charset="-120"/>
              </a:rPr>
              <a:t>5TB, compressed (25TB, uncompressed)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zh-TW" sz="2200" dirty="0">
                <a:ea typeface="新細明體" panose="02020500000000000000" pitchFamily="18" charset="-120"/>
              </a:rPr>
              <a:t>Distributed as two 3TB hard disks for the full dataset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anose="02020500000000000000" pitchFamily="18" charset="-120"/>
              </a:rPr>
              <a:t>The ClueWeb12 dataset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A successor to the ClueWeb09 dataset</a:t>
            </a:r>
            <a:endParaRPr lang="en-US" altLang="zh-TW" sz="2400" dirty="0">
              <a:ea typeface="新細明體" panose="02020500000000000000" pitchFamily="18" charset="-120"/>
              <a:hlinkClick r:id="rId3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  <a:hlinkClick r:id="rId3"/>
              </a:rPr>
              <a:t>http://lemurproject.org/clueweb12/</a:t>
            </a:r>
            <a:endParaRPr lang="en-US" altLang="zh-TW" sz="2400" dirty="0">
              <a:ea typeface="新細明體" panose="02020500000000000000" pitchFamily="18" charset="-12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733,019,372 English Web pages, in Feb.-May 2012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5.5TB, compressed (27.3TB, uncompressed)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>
                <a:ea typeface="新細明體" panose="02020500000000000000" pitchFamily="18" charset="-120"/>
              </a:rPr>
              <a:t>Distributed as one 8TB hard disk for the full dataset</a:t>
            </a:r>
          </a:p>
          <a:p>
            <a:pPr>
              <a:lnSpc>
                <a:spcPct val="80000"/>
              </a:lnSpc>
            </a:pPr>
            <a:endParaRPr lang="zh-TW" altLang="en-US" sz="3000" dirty="0">
              <a:ea typeface="新細明體" panose="02020500000000000000" pitchFamily="18" charset="-120"/>
            </a:endParaRPr>
          </a:p>
        </p:txBody>
      </p:sp>
      <p:sp>
        <p:nvSpPr>
          <p:cNvPr id="11268" name="日期版面配置區 3">
            <a:extLst>
              <a:ext uri="{FF2B5EF4-FFF2-40B4-BE49-F238E27FC236}">
                <a16:creationId xmlns:a16="http://schemas.microsoft.com/office/drawing/2014/main" id="{79BB6645-578B-2B73-1ABF-CBD127C277E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11269" name="頁尾版面配置區 4">
            <a:extLst>
              <a:ext uri="{FF2B5EF4-FFF2-40B4-BE49-F238E27FC236}">
                <a16:creationId xmlns:a16="http://schemas.microsoft.com/office/drawing/2014/main" id="{AB54A840-D532-E8B7-F573-7BBC3B6D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11270" name="投影片編號版面配置區 5">
            <a:extLst>
              <a:ext uri="{FF2B5EF4-FFF2-40B4-BE49-F238E27FC236}">
                <a16:creationId xmlns:a16="http://schemas.microsoft.com/office/drawing/2014/main" id="{271D23A5-7400-60FE-B052-D4A29670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10EF25-57BD-4101-8911-C85320C34131}" type="slidenum">
              <a:rPr lang="en-US" altLang="zh-TW"/>
              <a:pPr/>
              <a:t>5</a:t>
            </a:fld>
            <a:endParaRPr lang="en-US" alt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>
            <a:extLst>
              <a:ext uri="{FF2B5EF4-FFF2-40B4-BE49-F238E27FC236}">
                <a16:creationId xmlns:a16="http://schemas.microsoft.com/office/drawing/2014/main" id="{6BE49697-D633-AFF8-74AE-FF6403C1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Web Test Collections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2291" name="內容版面配置區 2">
            <a:extLst>
              <a:ext uri="{FF2B5EF4-FFF2-40B4-BE49-F238E27FC236}">
                <a16:creationId xmlns:a16="http://schemas.microsoft.com/office/drawing/2014/main" id="{859C5D80-5231-C369-A9E7-242362316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TW" sz="3000" dirty="0">
                <a:ea typeface="新細明體" panose="02020500000000000000" pitchFamily="18" charset="-120"/>
              </a:rPr>
              <a:t>The ClueWeb22 dataset </a:t>
            </a:r>
          </a:p>
          <a:p>
            <a:pPr lvl="1" eaLnBrk="1" hangingPunct="1">
              <a:defRPr/>
            </a:pPr>
            <a:r>
              <a:rPr lang="en-US" altLang="zh-TW" sz="2600" dirty="0">
                <a:ea typeface="新細明體" panose="02020500000000000000" pitchFamily="18" charset="-120"/>
              </a:rPr>
              <a:t>The newest dataset: </a:t>
            </a:r>
            <a:r>
              <a:rPr lang="en-US" altLang="zh-TW" sz="2600" dirty="0">
                <a:ea typeface="新細明體" panose="02020500000000000000" pitchFamily="18" charset="-120"/>
                <a:hlinkClick r:id="rId2"/>
              </a:rPr>
              <a:t>https://www.lemurproject.org/clueweb22.php/</a:t>
            </a:r>
            <a:r>
              <a:rPr lang="en-US" altLang="zh-TW" sz="2600" dirty="0">
                <a:ea typeface="新細明體" panose="02020500000000000000" pitchFamily="18" charset="-120"/>
              </a:rPr>
              <a:t> </a:t>
            </a:r>
          </a:p>
          <a:p>
            <a:pPr lvl="1" eaLnBrk="1" hangingPunct="1">
              <a:defRPr/>
            </a:pPr>
            <a:r>
              <a:rPr lang="en-US" altLang="zh-TW" sz="2600" dirty="0">
                <a:ea typeface="新細明體" panose="02020500000000000000" pitchFamily="18" charset="-120"/>
              </a:rPr>
              <a:t>10 billion Web pages, organized into three subsets: B (200M), A (2B), L (10B)</a:t>
            </a:r>
          </a:p>
          <a:p>
            <a:pPr lvl="2" eaLnBrk="1" hangingPunct="1">
              <a:defRPr/>
            </a:pPr>
            <a:r>
              <a:rPr lang="en-US" altLang="zh-TW" sz="2200" dirty="0">
                <a:ea typeface="新細明體" panose="02020500000000000000" pitchFamily="18" charset="-120"/>
              </a:rPr>
              <a:t>Collected during the first half of 2022 (in Bing)</a:t>
            </a:r>
          </a:p>
          <a:p>
            <a:pPr lvl="2" eaLnBrk="1" hangingPunct="1">
              <a:defRPr/>
            </a:pPr>
            <a:r>
              <a:rPr lang="en-US" altLang="zh-TW" sz="2200" dirty="0">
                <a:ea typeface="新細明體" panose="02020500000000000000" pitchFamily="18" charset="-120"/>
              </a:rPr>
              <a:t>1* 8TB disk (B), or on Azure</a:t>
            </a:r>
          </a:p>
          <a:p>
            <a:pPr lvl="1" eaLnBrk="1" hangingPunct="1">
              <a:defRPr/>
            </a:pPr>
            <a:r>
              <a:rPr lang="en-US" altLang="zh-TW" dirty="0"/>
              <a:t>A. </a:t>
            </a:r>
            <a:r>
              <a:rPr lang="en-US" altLang="zh-TW" dirty="0" err="1"/>
              <a:t>Overwijk</a:t>
            </a:r>
            <a:r>
              <a:rPr lang="en-US" altLang="zh-TW" dirty="0"/>
              <a:t>, C. </a:t>
            </a:r>
            <a:r>
              <a:rPr lang="en-US" altLang="zh-TW" dirty="0" err="1"/>
              <a:t>Xiong</a:t>
            </a:r>
            <a:r>
              <a:rPr lang="en-US" altLang="zh-TW" dirty="0"/>
              <a:t>, and J. Callan. ClueWeb22: 10 billion web documents with rich information. In </a:t>
            </a:r>
            <a:r>
              <a:rPr lang="en-US" altLang="zh-TW" i="1" dirty="0"/>
              <a:t>Proceedings of the 45th International ACM SIGIR Conference on Research and Development in Information Retrieval</a:t>
            </a:r>
            <a:r>
              <a:rPr lang="en-US" altLang="zh-TW" dirty="0"/>
              <a:t>, ACM, 2022.</a:t>
            </a:r>
          </a:p>
          <a:p>
            <a:pPr lvl="1" eaLnBrk="1" hangingPunct="1">
              <a:defRPr/>
            </a:pPr>
            <a:endParaRPr lang="en-US" altLang="zh-TW" sz="2600" dirty="0">
              <a:ea typeface="新細明體" panose="02020500000000000000" pitchFamily="18" charset="-120"/>
            </a:endParaRPr>
          </a:p>
        </p:txBody>
      </p:sp>
      <p:sp>
        <p:nvSpPr>
          <p:cNvPr id="12292" name="日期版面配置區 1">
            <a:extLst>
              <a:ext uri="{FF2B5EF4-FFF2-40B4-BE49-F238E27FC236}">
                <a16:creationId xmlns:a16="http://schemas.microsoft.com/office/drawing/2014/main" id="{1B7F93CA-EED1-C64D-ACB3-D9ED6B31094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12293" name="頁尾版面配置區 2">
            <a:extLst>
              <a:ext uri="{FF2B5EF4-FFF2-40B4-BE49-F238E27FC236}">
                <a16:creationId xmlns:a16="http://schemas.microsoft.com/office/drawing/2014/main" id="{D0E7F4BE-612E-2357-C1E5-AFFD57F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12294" name="投影片編號版面配置區 3">
            <a:extLst>
              <a:ext uri="{FF2B5EF4-FFF2-40B4-BE49-F238E27FC236}">
                <a16:creationId xmlns:a16="http://schemas.microsoft.com/office/drawing/2014/main" id="{8521DC3C-CAFB-29D4-86BD-47763C9F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DF0CEA-E377-4EDC-B8DC-4BA5E03060B2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>
            <a:extLst>
              <a:ext uri="{FF2B5EF4-FFF2-40B4-BE49-F238E27FC236}">
                <a16:creationId xmlns:a16="http://schemas.microsoft.com/office/drawing/2014/main" id="{0562E393-B2BF-8D9F-20DC-BD79C580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Other Test Collections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AD5C0F4-2C24-66EB-3D3D-B8F409CCC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800">
                <a:ea typeface="新細明體" panose="02020500000000000000" pitchFamily="18" charset="-120"/>
              </a:rPr>
              <a:t>Datasets previously used in TREC Web, Terabytes, and Blog tracks:</a:t>
            </a: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Currently managed by Univ. of Glasgow at: </a:t>
            </a:r>
            <a:r>
              <a:rPr lang="en-US" altLang="zh-TW" sz="2400">
                <a:ea typeface="新細明體" panose="02020500000000000000" pitchFamily="18" charset="-120"/>
                <a:hlinkClick r:id="rId2"/>
              </a:rPr>
              <a:t>http://ir.dcs.gla.ac.uk/test_collections/</a:t>
            </a:r>
            <a:r>
              <a:rPr lang="en-US" altLang="zh-TW" sz="2400">
                <a:ea typeface="新細明體" panose="02020500000000000000" pitchFamily="18" charset="-12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WT2g, WT10g, .GOV, .GOV2, Blogs06, Blogs08</a:t>
            </a:r>
          </a:p>
          <a:p>
            <a:pPr>
              <a:lnSpc>
                <a:spcPct val="90000"/>
              </a:lnSpc>
            </a:pPr>
            <a:r>
              <a:rPr lang="en-US" altLang="zh-TW" sz="2800">
                <a:ea typeface="新細明體" panose="02020500000000000000" pitchFamily="18" charset="-120"/>
              </a:rPr>
              <a:t>Reuters Corpora (RCV1, RCV2, TRC2)</a:t>
            </a:r>
          </a:p>
          <a:p>
            <a:pPr lvl="1">
              <a:lnSpc>
                <a:spcPct val="90000"/>
              </a:lnSpc>
            </a:pPr>
            <a:r>
              <a:rPr lang="en-US" altLang="zh-TW" sz="2400">
                <a:ea typeface="新細明體" panose="02020500000000000000" pitchFamily="18" charset="-120"/>
                <a:hlinkClick r:id="rId3"/>
              </a:rPr>
              <a:t>http://trec.nist.gov/data/reuters/reuters.html</a:t>
            </a:r>
            <a:r>
              <a:rPr lang="en-US" altLang="zh-TW" sz="2400">
                <a:ea typeface="新細明體" panose="02020500000000000000" pitchFamily="18" charset="-120"/>
              </a:rPr>
              <a:t> </a:t>
            </a:r>
          </a:p>
          <a:p>
            <a:pPr lvl="1">
              <a:lnSpc>
                <a:spcPct val="70000"/>
              </a:lnSpc>
            </a:pPr>
            <a:r>
              <a:rPr lang="en-US" altLang="zh-TW" sz="2400">
                <a:solidFill>
                  <a:srgbClr val="0000FF"/>
                </a:solidFill>
                <a:ea typeface="新細明體" panose="02020500000000000000" pitchFamily="18" charset="-120"/>
              </a:rPr>
              <a:t>RCV1</a:t>
            </a:r>
            <a:r>
              <a:rPr lang="en-US" altLang="zh-TW" sz="2400">
                <a:ea typeface="新細明體" panose="02020500000000000000" pitchFamily="18" charset="-120"/>
              </a:rPr>
              <a:t>: ~810,000 English news stories from 1996/08/20 to 1997/08/19 (2.5GB uncompressed)</a:t>
            </a:r>
          </a:p>
          <a:p>
            <a:pPr lvl="1">
              <a:lnSpc>
                <a:spcPct val="7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RCV2: 487,000 multilingual news in 13 languages</a:t>
            </a:r>
          </a:p>
          <a:p>
            <a:pPr lvl="1">
              <a:lnSpc>
                <a:spcPct val="7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TRC2: 1,800,370 news from 2008/01/01 to 2009/02/28 (2.87GB)</a:t>
            </a:r>
          </a:p>
          <a:p>
            <a:pPr lvl="1">
              <a:lnSpc>
                <a:spcPct val="90000"/>
              </a:lnSpc>
            </a:pPr>
            <a:endParaRPr lang="en-US" altLang="zh-TW" sz="2400"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</a:pPr>
            <a:endParaRPr lang="zh-TW" altLang="en-US" sz="2400">
              <a:ea typeface="新細明體" panose="02020500000000000000" pitchFamily="18" charset="-120"/>
            </a:endParaRPr>
          </a:p>
          <a:p>
            <a:pPr>
              <a:lnSpc>
                <a:spcPct val="90000"/>
              </a:lnSpc>
            </a:pPr>
            <a:endParaRPr lang="zh-TW" altLang="en-US" sz="3000">
              <a:ea typeface="新細明體" panose="02020500000000000000" pitchFamily="18" charset="-120"/>
            </a:endParaRPr>
          </a:p>
        </p:txBody>
      </p:sp>
      <p:sp>
        <p:nvSpPr>
          <p:cNvPr id="13316" name="日期版面配置區 3">
            <a:extLst>
              <a:ext uri="{FF2B5EF4-FFF2-40B4-BE49-F238E27FC236}">
                <a16:creationId xmlns:a16="http://schemas.microsoft.com/office/drawing/2014/main" id="{37709862-FF0B-DC2F-D80E-1A3D89AC3B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13317" name="頁尾版面配置區 4">
            <a:extLst>
              <a:ext uri="{FF2B5EF4-FFF2-40B4-BE49-F238E27FC236}">
                <a16:creationId xmlns:a16="http://schemas.microsoft.com/office/drawing/2014/main" id="{9E5EB258-E971-4518-29D4-D86C2937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13318" name="投影片編號版面配置區 5">
            <a:extLst>
              <a:ext uri="{FF2B5EF4-FFF2-40B4-BE49-F238E27FC236}">
                <a16:creationId xmlns:a16="http://schemas.microsoft.com/office/drawing/2014/main" id="{A701E2FD-C285-5E93-4167-EECE7883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20DF30-7FEE-4DD8-946F-5A3E3944CB74}" type="slidenum">
              <a:rPr lang="en-US" altLang="zh-TW"/>
              <a:pPr/>
              <a:t>7</a:t>
            </a:fld>
            <a:endParaRPr lang="en-US" altLang="zh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>
            <a:extLst>
              <a:ext uri="{FF2B5EF4-FFF2-40B4-BE49-F238E27FC236}">
                <a16:creationId xmlns:a16="http://schemas.microsoft.com/office/drawing/2014/main" id="{0FFA81E2-87C0-54C6-6012-C036476E7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Older Test Collections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025031-92F9-C0EA-F3F1-4EA2466F8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sz="2700">
                <a:solidFill>
                  <a:srgbClr val="0000FF"/>
                </a:solidFill>
                <a:ea typeface="新細明體" panose="02020500000000000000" pitchFamily="18" charset="-120"/>
              </a:rPr>
              <a:t>Reuters-21578</a:t>
            </a:r>
            <a:r>
              <a:rPr lang="en-US" altLang="zh-TW" sz="2700">
                <a:ea typeface="新細明體" panose="02020500000000000000" pitchFamily="18" charset="-120"/>
              </a:rPr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21,578 news articles in 1987 (28.0MB uncompressed)</a:t>
            </a:r>
          </a:p>
          <a:p>
            <a:pPr lvl="1">
              <a:lnSpc>
                <a:spcPct val="8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Publicly available at: </a:t>
            </a:r>
            <a:r>
              <a:rPr lang="en-US" altLang="zh-TW" sz="2400">
                <a:ea typeface="新細明體" panose="02020500000000000000" pitchFamily="18" charset="-120"/>
                <a:hlinkClick r:id="rId2"/>
              </a:rPr>
              <a:t>http://www.daviddlewis.com/resources/testcollections/reuters21578/</a:t>
            </a:r>
            <a:r>
              <a:rPr lang="en-US" altLang="zh-TW" sz="2400">
                <a:ea typeface="新細明體" panose="02020500000000000000" pitchFamily="18" charset="-120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en-US" altLang="zh-TW" sz="2700">
                <a:ea typeface="新細明體" panose="02020500000000000000" pitchFamily="18" charset="-120"/>
              </a:rPr>
              <a:t>Test collections held at University of Glasgow:</a:t>
            </a:r>
          </a:p>
          <a:p>
            <a:pPr lvl="1">
              <a:lnSpc>
                <a:spcPct val="8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Publicly available at: </a:t>
            </a:r>
            <a:r>
              <a:rPr lang="en-US" altLang="zh-TW" sz="2400">
                <a:ea typeface="新細明體" panose="02020500000000000000" pitchFamily="18" charset="-120"/>
                <a:hlinkClick r:id="rId3"/>
              </a:rPr>
              <a:t>http://ir.dcs.gla.ac.uk/resources/test_collections/</a:t>
            </a:r>
            <a:r>
              <a:rPr lang="en-US" altLang="zh-TW" sz="2400">
                <a:ea typeface="新細明體" panose="02020500000000000000" pitchFamily="18" charset="-120"/>
              </a:rPr>
              <a:t>  </a:t>
            </a:r>
          </a:p>
          <a:p>
            <a:pPr lvl="1">
              <a:lnSpc>
                <a:spcPct val="8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LISA, NPL, CACM, CISI, Cranfield, Time, Medline, ADI</a:t>
            </a:r>
          </a:p>
          <a:p>
            <a:pPr lvl="1">
              <a:lnSpc>
                <a:spcPct val="80000"/>
              </a:lnSpc>
            </a:pPr>
            <a:r>
              <a:rPr lang="en-US" altLang="zh-TW" sz="2400">
                <a:ea typeface="新細明體" panose="02020500000000000000" pitchFamily="18" charset="-120"/>
              </a:rPr>
              <a:t>Ex: The Time Collection: 423 articles from Time magazine (1.5MB)</a:t>
            </a:r>
          </a:p>
          <a:p>
            <a:pPr>
              <a:lnSpc>
                <a:spcPct val="80000"/>
              </a:lnSpc>
            </a:pPr>
            <a:endParaRPr lang="zh-TW" altLang="en-US" sz="2700">
              <a:ea typeface="新細明體" panose="02020500000000000000" pitchFamily="18" charset="-120"/>
            </a:endParaRPr>
          </a:p>
        </p:txBody>
      </p:sp>
      <p:sp>
        <p:nvSpPr>
          <p:cNvPr id="14340" name="日期版面配置區 3">
            <a:extLst>
              <a:ext uri="{FF2B5EF4-FFF2-40B4-BE49-F238E27FC236}">
                <a16:creationId xmlns:a16="http://schemas.microsoft.com/office/drawing/2014/main" id="{27E8F876-5804-782B-8108-DA5E0495EB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14341" name="頁尾版面配置區 4">
            <a:extLst>
              <a:ext uri="{FF2B5EF4-FFF2-40B4-BE49-F238E27FC236}">
                <a16:creationId xmlns:a16="http://schemas.microsoft.com/office/drawing/2014/main" id="{D839A8C1-CBA1-B4AE-BBE3-E54D1DE6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14342" name="投影片編號版面配置區 5">
            <a:extLst>
              <a:ext uri="{FF2B5EF4-FFF2-40B4-BE49-F238E27FC236}">
                <a16:creationId xmlns:a16="http://schemas.microsoft.com/office/drawing/2014/main" id="{600985D8-9AED-E7FE-AE40-B875EA5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D7EDC1-F050-4312-A5FC-F6E44FEA164F}" type="slidenum">
              <a:rPr lang="en-US" altLang="zh-TW"/>
              <a:pPr/>
              <a:t>8</a:t>
            </a:fld>
            <a:endParaRPr lang="en-US" alt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02FB822-4411-231E-57D5-B24F9A331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Output: Inverted Index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8B5DBBA-E3B2-4B8E-A046-10A5A81C4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95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800" dirty="0">
                <a:ea typeface="新細明體" pitchFamily="18" charset="-120"/>
              </a:rPr>
              <a:t>Output format: Using the standard </a:t>
            </a:r>
            <a:r>
              <a:rPr lang="en-US" altLang="zh-TW" sz="2800" dirty="0">
                <a:solidFill>
                  <a:srgbClr val="0000FF"/>
                </a:solidFill>
                <a:ea typeface="新細明體" pitchFamily="18" charset="-120"/>
              </a:rPr>
              <a:t>positional index </a:t>
            </a:r>
            <a:r>
              <a:rPr lang="en-US" altLang="zh-TW" sz="2800" dirty="0">
                <a:ea typeface="新細明體" pitchFamily="18" charset="-120"/>
              </a:rPr>
              <a:t>(as in Chaps. 1 &amp; 2):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solidFill>
                  <a:srgbClr val="0000FF"/>
                </a:solidFill>
                <a:ea typeface="新細明體" pitchFamily="18" charset="-120"/>
              </a:rPr>
              <a:t>(1) Dictionary file</a:t>
            </a:r>
            <a:r>
              <a:rPr lang="en-US" altLang="zh-TW" sz="2400" dirty="0">
                <a:ea typeface="新細明體" pitchFamily="18" charset="-120"/>
              </a:rPr>
              <a:t>: a sorted list of vocabularies (in separate lines)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sz="2400" dirty="0">
                <a:solidFill>
                  <a:srgbClr val="0000FF"/>
                </a:solidFill>
                <a:ea typeface="新細明體" pitchFamily="18" charset="-120"/>
              </a:rPr>
              <a:t>(2) Postings list</a:t>
            </a:r>
            <a:r>
              <a:rPr lang="en-US" altLang="zh-TW" sz="2400" dirty="0">
                <a:ea typeface="新細明體" pitchFamily="18" charset="-120"/>
              </a:rPr>
              <a:t>: for each term, a list of occurrences in the original text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000" dirty="0">
                <a:ea typeface="新細明體" pitchFamily="18" charset="-120"/>
              </a:rPr>
              <a:t>Format: (as in Fig. 2.11, Sec. 2.4.2, p.38) </a:t>
            </a:r>
            <a:br>
              <a:rPr lang="en-US" altLang="zh-TW" sz="2000" dirty="0">
                <a:ea typeface="新細明體" pitchFamily="18" charset="-120"/>
              </a:rPr>
            </a:br>
            <a:r>
              <a:rPr lang="en-US" altLang="zh-TW" sz="2000" dirty="0" err="1">
                <a:solidFill>
                  <a:srgbClr val="0000FF"/>
                </a:solidFill>
                <a:ea typeface="新細明體" pitchFamily="18" charset="-120"/>
              </a:rPr>
              <a:t>term</a:t>
            </a:r>
            <a:r>
              <a:rPr lang="en-US" altLang="zh-TW" sz="2000" baseline="-25000" dirty="0" err="1">
                <a:solidFill>
                  <a:srgbClr val="0000FF"/>
                </a:solidFill>
                <a:ea typeface="新細明體" pitchFamily="18" charset="-120"/>
              </a:rPr>
              <a:t>i</a:t>
            </a:r>
            <a:r>
              <a:rPr lang="en-US" altLang="zh-TW" sz="2000" dirty="0">
                <a:solidFill>
                  <a:srgbClr val="0000FF"/>
                </a:solidFill>
                <a:ea typeface="新細明體" pitchFamily="18" charset="-120"/>
              </a:rPr>
              <a:t>, </a:t>
            </a:r>
            <a:r>
              <a:rPr lang="en-US" altLang="zh-TW" sz="2000" dirty="0" err="1">
                <a:solidFill>
                  <a:srgbClr val="0000FF"/>
                </a:solidFill>
                <a:ea typeface="新細明體" pitchFamily="18" charset="-120"/>
              </a:rPr>
              <a:t>df</a:t>
            </a:r>
            <a:r>
              <a:rPr lang="en-US" altLang="zh-TW" sz="2000" baseline="-25000" dirty="0" err="1">
                <a:solidFill>
                  <a:srgbClr val="0000FF"/>
                </a:solidFill>
                <a:ea typeface="新細明體" pitchFamily="18" charset="-120"/>
              </a:rPr>
              <a:t>i</a:t>
            </a:r>
            <a:r>
              <a:rPr lang="en-US" altLang="zh-TW" sz="2000" dirty="0">
                <a:ea typeface="新細明體" pitchFamily="18" charset="-120"/>
              </a:rPr>
              <a:t>: </a:t>
            </a:r>
            <a:br>
              <a:rPr lang="en-US" altLang="zh-TW" sz="2000" dirty="0">
                <a:ea typeface="新細明體" pitchFamily="18" charset="-120"/>
              </a:rPr>
            </a:br>
            <a:r>
              <a:rPr lang="en-US" altLang="zh-TW" sz="2000" dirty="0">
                <a:ea typeface="新細明體" pitchFamily="18" charset="-120"/>
              </a:rPr>
              <a:t>&lt;doc1, tf</a:t>
            </a:r>
            <a:r>
              <a:rPr lang="en-US" altLang="zh-TW" sz="2000" baseline="-25000" dirty="0">
                <a:ea typeface="新細明體" pitchFamily="18" charset="-120"/>
              </a:rPr>
              <a:t>i1</a:t>
            </a:r>
            <a:r>
              <a:rPr lang="en-US" altLang="zh-TW" sz="2000" dirty="0">
                <a:ea typeface="新細明體" pitchFamily="18" charset="-120"/>
              </a:rPr>
              <a:t>: &lt;pos1, pos2, </a:t>
            </a:r>
            <a:r>
              <a:rPr lang="en-US" altLang="zh-TW" sz="2000" dirty="0">
                <a:latin typeface="Arial" charset="0"/>
                <a:ea typeface="新細明體" pitchFamily="18" charset="-120"/>
              </a:rPr>
              <a:t>…</a:t>
            </a:r>
            <a:r>
              <a:rPr lang="en-US" altLang="zh-TW" sz="2000" dirty="0">
                <a:ea typeface="新細明體" pitchFamily="18" charset="-120"/>
              </a:rPr>
              <a:t> &gt;; </a:t>
            </a:r>
            <a:br>
              <a:rPr lang="en-US" altLang="zh-TW" sz="2000" dirty="0">
                <a:ea typeface="新細明體" pitchFamily="18" charset="-120"/>
              </a:rPr>
            </a:br>
            <a:r>
              <a:rPr lang="en-US" altLang="zh-TW" sz="2000" dirty="0">
                <a:ea typeface="新細明體" pitchFamily="18" charset="-120"/>
              </a:rPr>
              <a:t>doc2, tf</a:t>
            </a:r>
            <a:r>
              <a:rPr lang="en-US" altLang="zh-TW" sz="2000" baseline="-25000" dirty="0">
                <a:ea typeface="新細明體" pitchFamily="18" charset="-120"/>
              </a:rPr>
              <a:t>i2</a:t>
            </a:r>
            <a:r>
              <a:rPr lang="en-US" altLang="zh-TW" sz="2000" dirty="0">
                <a:ea typeface="新細明體" pitchFamily="18" charset="-120"/>
              </a:rPr>
              <a:t>: &lt;pos1, pos2, </a:t>
            </a:r>
            <a:r>
              <a:rPr lang="en-US" altLang="zh-TW" sz="2000" dirty="0">
                <a:latin typeface="Arial" charset="0"/>
                <a:ea typeface="新細明體" pitchFamily="18" charset="-120"/>
              </a:rPr>
              <a:t>…</a:t>
            </a:r>
            <a:r>
              <a:rPr lang="en-US" altLang="zh-TW" sz="2000" dirty="0">
                <a:ea typeface="新細明體" pitchFamily="18" charset="-120"/>
              </a:rPr>
              <a:t>&gt;; </a:t>
            </a:r>
            <a:br>
              <a:rPr lang="en-US" altLang="zh-TW" sz="2000" dirty="0">
                <a:ea typeface="新細明體" pitchFamily="18" charset="-120"/>
              </a:rPr>
            </a:br>
            <a:r>
              <a:rPr lang="en-US" altLang="zh-TW" sz="2000" dirty="0">
                <a:latin typeface="Arial" charset="0"/>
                <a:ea typeface="新細明體" pitchFamily="18" charset="-120"/>
              </a:rPr>
              <a:t>…</a:t>
            </a:r>
            <a:r>
              <a:rPr lang="en-US" altLang="zh-TW" sz="2000" dirty="0">
                <a:ea typeface="新細明體" pitchFamily="18" charset="-120"/>
              </a:rPr>
              <a:t>&gt;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zh-TW" sz="2000" dirty="0">
                <a:ea typeface="新細明體" pitchFamily="18" charset="-120"/>
              </a:rPr>
              <a:t>E.g. </a:t>
            </a:r>
            <a:br>
              <a:rPr lang="en-US" altLang="zh-TW" sz="2000" dirty="0">
                <a:ea typeface="新細明體" pitchFamily="18" charset="-120"/>
              </a:rPr>
            </a:br>
            <a:r>
              <a:rPr lang="en-US" altLang="zh-TW" sz="2000" dirty="0">
                <a:ea typeface="新細明體" pitchFamily="18" charset="-120"/>
              </a:rPr>
              <a:t>to, 993427: </a:t>
            </a:r>
            <a:br>
              <a:rPr lang="en-US" altLang="zh-TW" sz="2000" dirty="0">
                <a:ea typeface="新細明體" pitchFamily="18" charset="-120"/>
              </a:rPr>
            </a:br>
            <a:r>
              <a:rPr lang="en-US" altLang="zh-TW" sz="2000" dirty="0">
                <a:ea typeface="新細明體" pitchFamily="18" charset="-120"/>
              </a:rPr>
              <a:t>&lt;1, 6: &lt;7, 18, 33, 72, 86, 231&gt;; </a:t>
            </a:r>
            <a:br>
              <a:rPr lang="en-US" altLang="zh-TW" sz="2000" dirty="0">
                <a:ea typeface="新細明體" pitchFamily="18" charset="-120"/>
              </a:rPr>
            </a:br>
            <a:r>
              <a:rPr lang="en-US" altLang="zh-TW" sz="2000" dirty="0">
                <a:ea typeface="新細明體" pitchFamily="18" charset="-120"/>
              </a:rPr>
              <a:t>   2, 5: &lt;1, 17, 74, 222, 255&gt;; </a:t>
            </a:r>
            <a:r>
              <a:rPr lang="en-US" altLang="zh-TW" sz="2000" dirty="0">
                <a:latin typeface="Arial" charset="0"/>
                <a:ea typeface="新細明體" pitchFamily="18" charset="-120"/>
              </a:rPr>
              <a:t>…</a:t>
            </a:r>
            <a:r>
              <a:rPr lang="en-US" altLang="zh-TW" sz="2000" dirty="0">
                <a:ea typeface="新細明體" pitchFamily="18" charset="-120"/>
              </a:rPr>
              <a:t> &gt;</a:t>
            </a:r>
          </a:p>
        </p:txBody>
      </p:sp>
      <p:sp>
        <p:nvSpPr>
          <p:cNvPr id="15364" name="日期版面配置區 1">
            <a:extLst>
              <a:ext uri="{FF2B5EF4-FFF2-40B4-BE49-F238E27FC236}">
                <a16:creationId xmlns:a16="http://schemas.microsoft.com/office/drawing/2014/main" id="{EEF0F06A-7BF4-98AF-D379-30A5516F0C5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15365" name="頁尾版面配置區 2">
            <a:extLst>
              <a:ext uri="{FF2B5EF4-FFF2-40B4-BE49-F238E27FC236}">
                <a16:creationId xmlns:a16="http://schemas.microsoft.com/office/drawing/2014/main" id="{CD1E4CF8-8BD9-F1C9-03FC-C1522B7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15366" name="投影片編號版面配置區 3">
            <a:extLst>
              <a:ext uri="{FF2B5EF4-FFF2-40B4-BE49-F238E27FC236}">
                <a16:creationId xmlns:a16="http://schemas.microsoft.com/office/drawing/2014/main" id="{28498DAF-6F28-34B3-282E-4936A70C6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ADB5D4-2E99-4653-8F13-D450B8CFB151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>
              <a:latin typeface="Arial" panose="020B0604020202020204" pitchFamily="34" charset="0"/>
            </a:endParaRPr>
          </a:p>
        </p:txBody>
      </p:sp>
      <p:sp>
        <p:nvSpPr>
          <p:cNvPr id="15367" name="圓角矩形圖說文字 4">
            <a:extLst>
              <a:ext uri="{FF2B5EF4-FFF2-40B4-BE49-F238E27FC236}">
                <a16:creationId xmlns:a16="http://schemas.microsoft.com/office/drawing/2014/main" id="{D1EB83FE-6B6F-36FF-6E56-A44669D9C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962400"/>
            <a:ext cx="2743200" cy="857250"/>
          </a:xfrm>
          <a:prstGeom prst="wedgeRoundRectCallout">
            <a:avLst>
              <a:gd name="adj1" fmla="val -147912"/>
              <a:gd name="adj2" fmla="val -41222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df</a:t>
            </a:r>
            <a:r>
              <a:rPr lang="en-US" altLang="zh-TW" sz="1800" baseline="-25000"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: </a:t>
            </a:r>
            <a:r>
              <a:rPr lang="en-US" altLang="zh-TW" sz="1800" i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document frequency</a:t>
            </a:r>
            <a:r>
              <a:rPr lang="en-US" altLang="zh-TW" sz="18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of term</a:t>
            </a:r>
            <a:r>
              <a:rPr lang="en-US" altLang="zh-TW" sz="1800" baseline="-25000"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TW" altLang="en-US" sz="180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5368" name="圓角矩形圖說文字 10">
            <a:extLst>
              <a:ext uri="{FF2B5EF4-FFF2-40B4-BE49-F238E27FC236}">
                <a16:creationId xmlns:a16="http://schemas.microsoft.com/office/drawing/2014/main" id="{794694E6-E667-17E8-A569-0A06DF140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989513"/>
            <a:ext cx="2743200" cy="877887"/>
          </a:xfrm>
          <a:prstGeom prst="wedgeRoundRectCallout">
            <a:avLst>
              <a:gd name="adj1" fmla="val -152204"/>
              <a:gd name="adj2" fmla="val -8344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tf</a:t>
            </a:r>
            <a:r>
              <a:rPr lang="en-US" altLang="zh-TW" sz="1800" baseline="-25000">
                <a:latin typeface="Arial" panose="020B0604020202020204" pitchFamily="34" charset="0"/>
                <a:ea typeface="新細明體" panose="02020500000000000000" pitchFamily="18" charset="-120"/>
              </a:rPr>
              <a:t>ij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: </a:t>
            </a:r>
            <a:r>
              <a:rPr lang="en-US" altLang="zh-TW" sz="1800" i="1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term frequency</a:t>
            </a:r>
            <a:r>
              <a:rPr lang="en-US" altLang="zh-TW" sz="1800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 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of term</a:t>
            </a:r>
            <a:r>
              <a:rPr lang="en-US" altLang="zh-TW" sz="1800" baseline="-25000">
                <a:latin typeface="Arial" panose="020B0604020202020204" pitchFamily="34" charset="0"/>
                <a:ea typeface="新細明體" panose="02020500000000000000" pitchFamily="18" charset="-120"/>
              </a:rPr>
              <a:t>i</a:t>
            </a:r>
            <a:r>
              <a:rPr lang="en-US" altLang="zh-TW" sz="1800">
                <a:latin typeface="Arial" panose="020B0604020202020204" pitchFamily="34" charset="0"/>
                <a:ea typeface="新細明體" panose="02020500000000000000" pitchFamily="18" charset="-120"/>
              </a:rPr>
              <a:t> in doc</a:t>
            </a:r>
            <a:r>
              <a:rPr lang="en-US" altLang="zh-TW" sz="1800" baseline="-25000">
                <a:latin typeface="Arial" panose="020B0604020202020204" pitchFamily="34" charset="0"/>
                <a:ea typeface="新細明體" panose="02020500000000000000" pitchFamily="18" charset="-120"/>
              </a:rPr>
              <a:t>j</a:t>
            </a:r>
            <a:endParaRPr lang="en-US" altLang="zh-TW" sz="1800">
              <a:solidFill>
                <a:srgbClr val="8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0C3C494-2999-6DCA-81E0-59735AA3D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Design Issues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C95ACE2-7150-917E-09F3-0F2FB6638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 err="1">
                <a:solidFill>
                  <a:srgbClr val="0000FF"/>
                </a:solidFill>
                <a:ea typeface="新細明體" charset="-120"/>
              </a:rPr>
              <a:t>pos</a:t>
            </a:r>
            <a:r>
              <a:rPr lang="en-US" altLang="zh-TW" dirty="0">
                <a:ea typeface="新細明體" charset="-120"/>
              </a:rPr>
              <a:t> means the </a:t>
            </a:r>
            <a:r>
              <a:rPr lang="en-US" altLang="zh-TW" u="sng" dirty="0">
                <a:solidFill>
                  <a:srgbClr val="FF0000"/>
                </a:solidFill>
                <a:ea typeface="新細明體" charset="-120"/>
              </a:rPr>
              <a:t>token</a:t>
            </a:r>
            <a:r>
              <a:rPr lang="en-US" altLang="zh-TW" dirty="0">
                <a:ea typeface="新細明體" charset="-120"/>
              </a:rPr>
              <a:t> positions in the </a:t>
            </a:r>
            <a:r>
              <a:rPr lang="en-US" altLang="zh-TW" dirty="0">
                <a:solidFill>
                  <a:srgbClr val="FF0000"/>
                </a:solidFill>
                <a:ea typeface="新細明體" charset="-120"/>
              </a:rPr>
              <a:t>body </a:t>
            </a:r>
            <a:r>
              <a:rPr lang="en-US" altLang="zh-TW" dirty="0">
                <a:ea typeface="新細明體" charset="-120"/>
              </a:rPr>
              <a:t>of documents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This facilitates easier implementation of some functions, e.g., phrase query, or proximity search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You can design your own internal index formats, as long as necessary information are included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Dictionary</a:t>
            </a:r>
            <a:r>
              <a:rPr lang="en-US" altLang="zh-TW" dirty="0">
                <a:ea typeface="新細明體" charset="-120"/>
              </a:rPr>
              <a:t>: terms</a:t>
            </a:r>
            <a:r>
              <a:rPr lang="en-US" altLang="zh-TW" i="1" dirty="0">
                <a:ea typeface="新細明體" charset="-120"/>
              </a:rPr>
              <a:t> </a:t>
            </a:r>
            <a:r>
              <a:rPr lang="en-US" altLang="zh-TW" i="1" dirty="0" err="1">
                <a:ea typeface="新細明體" charset="-120"/>
              </a:rPr>
              <a:t>t</a:t>
            </a:r>
            <a:r>
              <a:rPr lang="en-US" altLang="zh-TW" i="1" baseline="-25000" dirty="0" err="1">
                <a:ea typeface="新細明體" charset="-120"/>
              </a:rPr>
              <a:t>i</a:t>
            </a:r>
            <a:r>
              <a:rPr lang="en-US" altLang="zh-TW" dirty="0">
                <a:ea typeface="新細明體" charset="-120"/>
              </a:rPr>
              <a:t>, document frequency </a:t>
            </a:r>
            <a:r>
              <a:rPr lang="en-US" altLang="zh-TW" i="1" dirty="0" err="1">
                <a:ea typeface="新細明體" charset="-120"/>
              </a:rPr>
              <a:t>df</a:t>
            </a:r>
            <a:r>
              <a:rPr lang="en-US" altLang="zh-TW" i="1" baseline="-25000" dirty="0" err="1">
                <a:ea typeface="新細明體" charset="-120"/>
              </a:rPr>
              <a:t>i</a:t>
            </a:r>
            <a:endParaRPr lang="en-US" altLang="zh-TW" dirty="0">
              <a:ea typeface="新細明體" charset="-12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Postings</a:t>
            </a:r>
            <a:r>
              <a:rPr lang="en-US" altLang="zh-TW" dirty="0">
                <a:ea typeface="新細明體" charset="-120"/>
              </a:rPr>
              <a:t>: a list of (</a:t>
            </a:r>
            <a:r>
              <a:rPr lang="en-US" altLang="zh-TW" dirty="0" err="1">
                <a:ea typeface="新細明體" charset="-120"/>
              </a:rPr>
              <a:t>docID</a:t>
            </a:r>
            <a:r>
              <a:rPr lang="en-US" altLang="zh-TW" dirty="0">
                <a:ea typeface="新細明體" charset="-120"/>
              </a:rPr>
              <a:t>, term frequency </a:t>
            </a:r>
            <a:r>
              <a:rPr lang="en-US" altLang="zh-TW" i="1" dirty="0" err="1">
                <a:ea typeface="新細明體" charset="-120"/>
              </a:rPr>
              <a:t>tf</a:t>
            </a:r>
            <a:r>
              <a:rPr lang="en-US" altLang="zh-TW" i="1" baseline="-25000" dirty="0" err="1">
                <a:ea typeface="新細明體" charset="-120"/>
              </a:rPr>
              <a:t>ij</a:t>
            </a:r>
            <a:r>
              <a:rPr lang="en-US" altLang="zh-TW" dirty="0">
                <a:ea typeface="新細明體" charset="-120"/>
              </a:rPr>
              <a:t>, </a:t>
            </a:r>
            <a:r>
              <a:rPr lang="en-US" altLang="zh-TW" dirty="0" err="1">
                <a:ea typeface="新細明體" charset="-120"/>
              </a:rPr>
              <a:t>loc</a:t>
            </a:r>
            <a:r>
              <a:rPr lang="en-US" altLang="zh-TW" dirty="0">
                <a:ea typeface="新細明體" charset="-120"/>
              </a:rPr>
              <a:t>) for each term </a:t>
            </a:r>
            <a:r>
              <a:rPr lang="en-US" altLang="zh-TW" i="1" dirty="0" err="1">
                <a:ea typeface="新細明體" charset="-120"/>
              </a:rPr>
              <a:t>t</a:t>
            </a:r>
            <a:r>
              <a:rPr lang="en-US" altLang="zh-TW" i="1" baseline="-25000" dirty="0" err="1">
                <a:ea typeface="新細明體" charset="-120"/>
              </a:rPr>
              <a:t>i</a:t>
            </a:r>
            <a:endParaRPr lang="en-US" altLang="zh-TW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Preprocessing should be handled with care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>
                <a:ea typeface="新細明體" charset="-120"/>
              </a:rPr>
              <a:t>Input formats of data collections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zh-TW" dirty="0">
                <a:solidFill>
                  <a:srgbClr val="0000FF"/>
                </a:solidFill>
                <a:ea typeface="新細明體" charset="-120"/>
              </a:rPr>
              <a:t>Please indicate how you will handle digits, hyphens, punctuation marks, … in your tokenizer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zh-TW" dirty="0">
              <a:ea typeface="新細明體" charset="-120"/>
            </a:endParaRPr>
          </a:p>
        </p:txBody>
      </p:sp>
      <p:sp>
        <p:nvSpPr>
          <p:cNvPr id="17412" name="日期版面配置區 1">
            <a:extLst>
              <a:ext uri="{FF2B5EF4-FFF2-40B4-BE49-F238E27FC236}">
                <a16:creationId xmlns:a16="http://schemas.microsoft.com/office/drawing/2014/main" id="{4D8445D8-AF67-122C-BA5C-F83D150ED4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17413" name="頁尾版面配置區 2">
            <a:extLst>
              <a:ext uri="{FF2B5EF4-FFF2-40B4-BE49-F238E27FC236}">
                <a16:creationId xmlns:a16="http://schemas.microsoft.com/office/drawing/2014/main" id="{72CB83D6-B53B-4452-5078-CA309EFC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17414" name="投影片編號版面配置區 3">
            <a:extLst>
              <a:ext uri="{FF2B5EF4-FFF2-40B4-BE49-F238E27FC236}">
                <a16:creationId xmlns:a16="http://schemas.microsoft.com/office/drawing/2014/main" id="{A0FB32FD-962B-6F38-9619-EBCE778B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093716-E4C1-4F8A-B7A8-518FE8931F27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F7D9422-F5AC-BDBF-B3D9-8D3BF56A4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Optional Functionality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9A9E317-A8B3-96D1-472C-AD20B0515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>
                <a:ea typeface="新細明體" panose="02020500000000000000" pitchFamily="18" charset="-120"/>
              </a:rPr>
              <a:t>Efficiency issues</a:t>
            </a:r>
          </a:p>
          <a:p>
            <a:pPr lvl="1" eaLnBrk="1" hangingPunct="1"/>
            <a:r>
              <a:rPr lang="en-US" altLang="zh-TW" sz="2400">
                <a:ea typeface="新細明體" panose="02020500000000000000" pitchFamily="18" charset="-120"/>
              </a:rPr>
              <a:t>A separate data structure (e.g. trie) can be used to store the vocabularies and postings in your indexer</a:t>
            </a:r>
          </a:p>
          <a:p>
            <a:pPr lvl="1" eaLnBrk="1" hangingPunct="1"/>
            <a:r>
              <a:rPr lang="en-US" altLang="zh-TW" sz="2400">
                <a:solidFill>
                  <a:srgbClr val="0000FF"/>
                </a:solidFill>
                <a:ea typeface="新細明體" panose="02020500000000000000" pitchFamily="18" charset="-120"/>
              </a:rPr>
              <a:t>Skip pointers</a:t>
            </a:r>
            <a:r>
              <a:rPr lang="en-US" altLang="zh-TW" sz="2400">
                <a:ea typeface="新細明體" panose="02020500000000000000" pitchFamily="18" charset="-120"/>
              </a:rPr>
              <a:t> (to be used in query processing)</a:t>
            </a:r>
          </a:p>
          <a:p>
            <a:pPr eaLnBrk="1" hangingPunct="1"/>
            <a:r>
              <a:rPr lang="en-US" altLang="zh-TW" sz="2800">
                <a:ea typeface="新細明體" panose="02020500000000000000" pitchFamily="18" charset="-120"/>
              </a:rPr>
              <a:t>Language issues in tokenization</a:t>
            </a:r>
          </a:p>
          <a:p>
            <a:pPr lvl="1" eaLnBrk="1" hangingPunct="1"/>
            <a:r>
              <a:rPr lang="en-US" altLang="zh-TW" sz="2400">
                <a:solidFill>
                  <a:srgbClr val="0000FF"/>
                </a:solidFill>
                <a:ea typeface="新細明體" panose="02020500000000000000" pitchFamily="18" charset="-120"/>
              </a:rPr>
              <a:t>Case folding</a:t>
            </a:r>
          </a:p>
          <a:p>
            <a:pPr lvl="1" eaLnBrk="1" hangingPunct="1"/>
            <a:r>
              <a:rPr lang="en-US" altLang="zh-TW" sz="2400">
                <a:solidFill>
                  <a:srgbClr val="0000FF"/>
                </a:solidFill>
                <a:ea typeface="新細明體" panose="02020500000000000000" pitchFamily="18" charset="-120"/>
              </a:rPr>
              <a:t>Stopword removal </a:t>
            </a:r>
          </a:p>
          <a:p>
            <a:pPr lvl="1" eaLnBrk="1" hangingPunct="1"/>
            <a:r>
              <a:rPr lang="en-US" altLang="zh-TW" sz="2400">
                <a:solidFill>
                  <a:srgbClr val="0000FF"/>
                </a:solidFill>
                <a:ea typeface="新細明體" panose="02020500000000000000" pitchFamily="18" charset="-120"/>
              </a:rPr>
              <a:t>Lemmatization/Stemming</a:t>
            </a:r>
          </a:p>
          <a:p>
            <a:pPr lvl="1" eaLnBrk="1" hangingPunct="1"/>
            <a:r>
              <a:rPr lang="en-US" altLang="zh-TW" sz="2400">
                <a:ea typeface="新細明體" panose="02020500000000000000" pitchFamily="18" charset="-120"/>
              </a:rPr>
              <a:t>Able to be turned on/off by a parameter trigger</a:t>
            </a:r>
          </a:p>
        </p:txBody>
      </p:sp>
      <p:sp>
        <p:nvSpPr>
          <p:cNvPr id="19460" name="日期版面配置區 1">
            <a:extLst>
              <a:ext uri="{FF2B5EF4-FFF2-40B4-BE49-F238E27FC236}">
                <a16:creationId xmlns:a16="http://schemas.microsoft.com/office/drawing/2014/main" id="{C939E040-92C9-411A-6DFE-E4CE6ABAC0C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19461" name="頁尾版面配置區 2">
            <a:extLst>
              <a:ext uri="{FF2B5EF4-FFF2-40B4-BE49-F238E27FC236}">
                <a16:creationId xmlns:a16="http://schemas.microsoft.com/office/drawing/2014/main" id="{876B5DCF-07A3-D4B3-A933-94E00D370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19462" name="投影片編號版面配置區 3">
            <a:extLst>
              <a:ext uri="{FF2B5EF4-FFF2-40B4-BE49-F238E27FC236}">
                <a16:creationId xmlns:a16="http://schemas.microsoft.com/office/drawing/2014/main" id="{32962DF7-21B0-81C9-63A7-6D77A09C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3534F5-089A-4654-894B-B6FFBC776179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>
            <a:extLst>
              <a:ext uri="{FF2B5EF4-FFF2-40B4-BE49-F238E27FC236}">
                <a16:creationId xmlns:a16="http://schemas.microsoft.com/office/drawing/2014/main" id="{97A57C94-B886-B899-292F-37893DE86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Some Open Source Indexing Tools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9219" name="內容版面配置區 2">
            <a:extLst>
              <a:ext uri="{FF2B5EF4-FFF2-40B4-BE49-F238E27FC236}">
                <a16:creationId xmlns:a16="http://schemas.microsoft.com/office/drawing/2014/main" id="{566A7984-C141-2C71-7722-1144A304B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Apache </a:t>
            </a:r>
            <a:r>
              <a:rPr lang="en-US" altLang="zh-TW" dirty="0" err="1">
                <a:solidFill>
                  <a:srgbClr val="FF0000"/>
                </a:solidFill>
                <a:ea typeface="新細明體" panose="02020500000000000000" pitchFamily="18" charset="-120"/>
              </a:rPr>
              <a:t>Lucene</a:t>
            </a:r>
            <a:r>
              <a:rPr lang="en-US" altLang="zh-TW" dirty="0">
                <a:ea typeface="新細明體" panose="02020500000000000000" pitchFamily="18" charset="-120"/>
              </a:rPr>
              <a:t> (in Java)</a:t>
            </a:r>
          </a:p>
          <a:p>
            <a:pPr lvl="1">
              <a:defRPr/>
            </a:pPr>
            <a:r>
              <a:rPr lang="en-US" altLang="zh-TW" dirty="0" err="1">
                <a:ea typeface="新細明體" panose="02020500000000000000" pitchFamily="18" charset="-120"/>
              </a:rPr>
              <a:t>Lucene</a:t>
            </a:r>
            <a:r>
              <a:rPr lang="en-US" altLang="zh-TW" dirty="0">
                <a:ea typeface="新細明體" panose="02020500000000000000" pitchFamily="18" charset="-120"/>
              </a:rPr>
              <a:t> Core (in Java)</a:t>
            </a:r>
          </a:p>
          <a:p>
            <a:pPr lvl="1">
              <a:defRPr/>
            </a:pPr>
            <a:r>
              <a:rPr lang="en-US" altLang="zh-TW" dirty="0" err="1">
                <a:ea typeface="新細明體" panose="02020500000000000000" pitchFamily="18" charset="-120"/>
              </a:rPr>
              <a:t>PyLucene</a:t>
            </a:r>
            <a:r>
              <a:rPr lang="en-US" altLang="zh-TW" dirty="0">
                <a:ea typeface="新細明體" panose="02020500000000000000" pitchFamily="18" charset="-120"/>
              </a:rPr>
              <a:t> (Python binding)</a:t>
            </a:r>
          </a:p>
          <a:p>
            <a:pPr lvl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Popular library on which search engines are built: Apache </a:t>
            </a:r>
            <a:r>
              <a:rPr lang="en-US" altLang="zh-TW" dirty="0" err="1">
                <a:ea typeface="新細明體" panose="02020500000000000000" pitchFamily="18" charset="-120"/>
              </a:rPr>
              <a:t>Solr</a:t>
            </a:r>
            <a:r>
              <a:rPr lang="en-US" altLang="zh-TW" dirty="0">
                <a:ea typeface="新細明體" panose="02020500000000000000" pitchFamily="18" charset="-120"/>
              </a:rPr>
              <a:t>, </a:t>
            </a:r>
            <a:r>
              <a:rPr lang="en-US" altLang="zh-TW" dirty="0" err="1">
                <a:ea typeface="新細明體" panose="02020500000000000000" pitchFamily="18" charset="-120"/>
              </a:rPr>
              <a:t>ElasticSearch</a:t>
            </a:r>
            <a:endParaRPr lang="en-US" altLang="zh-TW" dirty="0">
              <a:ea typeface="新細明體" panose="02020500000000000000" pitchFamily="18" charset="-120"/>
            </a:endParaRPr>
          </a:p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The Lemur Project:</a:t>
            </a:r>
          </a:p>
          <a:p>
            <a:pPr lvl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by CMU/</a:t>
            </a:r>
            <a:r>
              <a:rPr lang="en-US" altLang="zh-TW" dirty="0" err="1">
                <a:ea typeface="新細明體" panose="02020500000000000000" pitchFamily="18" charset="-120"/>
              </a:rPr>
              <a:t>Umass</a:t>
            </a:r>
            <a:r>
              <a:rPr lang="en-US" altLang="zh-TW" dirty="0">
                <a:ea typeface="新細明體" panose="02020500000000000000" pitchFamily="18" charset="-120"/>
              </a:rPr>
              <a:t> (in C++)</a:t>
            </a:r>
          </a:p>
          <a:p>
            <a:pPr lvl="1">
              <a:defRPr/>
            </a:pPr>
            <a:r>
              <a:rPr lang="en-US" altLang="zh-TW" dirty="0" err="1">
                <a:ea typeface="新細明體" panose="02020500000000000000" pitchFamily="18" charset="-120"/>
              </a:rPr>
              <a:t>Lucindri</a:t>
            </a:r>
            <a:r>
              <a:rPr lang="en-US" altLang="zh-TW" dirty="0">
                <a:ea typeface="新細明體" panose="02020500000000000000" pitchFamily="18" charset="-120"/>
              </a:rPr>
              <a:t> (in Java)</a:t>
            </a:r>
          </a:p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Terrier IR Platform </a:t>
            </a:r>
          </a:p>
          <a:p>
            <a:pPr lvl="1"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by U. Glasgow (in Java)</a:t>
            </a:r>
          </a:p>
          <a:p>
            <a:pPr lvl="1">
              <a:defRPr/>
            </a:pPr>
            <a:r>
              <a:rPr lang="en-US" altLang="zh-TW" dirty="0" err="1">
                <a:ea typeface="新細明體" panose="02020500000000000000" pitchFamily="18" charset="-120"/>
              </a:rPr>
              <a:t>PyTerrier</a:t>
            </a:r>
            <a:r>
              <a:rPr lang="en-US" altLang="zh-TW" dirty="0">
                <a:ea typeface="新細明體" panose="02020500000000000000" pitchFamily="18" charset="-120"/>
              </a:rPr>
              <a:t> (Python binding)</a:t>
            </a:r>
          </a:p>
          <a:p>
            <a:pPr>
              <a:defRPr/>
            </a:pPr>
            <a:r>
              <a:rPr lang="en-US" altLang="zh-TW" dirty="0">
                <a:ea typeface="新細明體" panose="02020500000000000000" pitchFamily="18" charset="-120"/>
              </a:rPr>
              <a:t>…</a:t>
            </a:r>
          </a:p>
          <a:p>
            <a:pPr>
              <a:defRPr/>
            </a:pPr>
            <a:endParaRPr lang="en-US" altLang="zh-TW" dirty="0">
              <a:ea typeface="新細明體" panose="02020500000000000000" pitchFamily="18" charset="-120"/>
            </a:endParaRPr>
          </a:p>
          <a:p>
            <a:pPr>
              <a:defRPr/>
            </a:pPr>
            <a:endParaRPr lang="zh-TW" altLang="en-US" dirty="0">
              <a:ea typeface="新細明體" panose="02020500000000000000" pitchFamily="18" charset="-120"/>
            </a:endParaRPr>
          </a:p>
        </p:txBody>
      </p:sp>
      <p:sp>
        <p:nvSpPr>
          <p:cNvPr id="21508" name="日期版面配置區 1">
            <a:extLst>
              <a:ext uri="{FF2B5EF4-FFF2-40B4-BE49-F238E27FC236}">
                <a16:creationId xmlns:a16="http://schemas.microsoft.com/office/drawing/2014/main" id="{259A4398-2CD6-AEE8-FCC5-6D5C7C5738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21509" name="頁尾版面配置區 2">
            <a:extLst>
              <a:ext uri="{FF2B5EF4-FFF2-40B4-BE49-F238E27FC236}">
                <a16:creationId xmlns:a16="http://schemas.microsoft.com/office/drawing/2014/main" id="{57E7949F-464B-9D85-9153-EC9E69D7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21510" name="投影片編號版面配置區 3">
            <a:extLst>
              <a:ext uri="{FF2B5EF4-FFF2-40B4-BE49-F238E27FC236}">
                <a16:creationId xmlns:a16="http://schemas.microsoft.com/office/drawing/2014/main" id="{8875480E-EBA3-3405-CDCF-6D44D174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A6EB01-9176-489D-92D8-63FD9D593B32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D84FFF1-2ED4-C686-C2EC-A22C785C5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Submission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422C7F4-3DAA-3669-D613-2A65435D09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zh-TW" sz="2800" dirty="0">
                <a:ea typeface="新細明體" pitchFamily="18" charset="-120"/>
              </a:rPr>
              <a:t>Your submission *should* include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pitchFamily="18" charset="-120"/>
              </a:rPr>
              <a:t>The </a:t>
            </a:r>
            <a:r>
              <a:rPr lang="en-US" altLang="zh-TW" sz="2400" dirty="0">
                <a:solidFill>
                  <a:srgbClr val="0000FF"/>
                </a:solidFill>
                <a:ea typeface="新細明體" pitchFamily="18" charset="-120"/>
              </a:rPr>
              <a:t>source codes</a:t>
            </a:r>
            <a:endParaRPr lang="en-US" altLang="zh-TW" sz="2400" dirty="0">
              <a:ea typeface="新細明體" pitchFamily="18" charset="-120"/>
            </a:endParaRPr>
          </a:p>
          <a:p>
            <a:pPr lvl="2" eaLnBrk="1" hangingPunct="1">
              <a:defRPr/>
            </a:pPr>
            <a:r>
              <a:rPr lang="en-US" altLang="zh-TW" sz="2000" dirty="0">
                <a:ea typeface="新細明體" pitchFamily="18" charset="-120"/>
              </a:rPr>
              <a:t>For calling open source libraries, please indicate which APIs or library functions are needed and instructions on where to download, how to install, configure or compile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pitchFamily="18" charset="-120"/>
              </a:rPr>
              <a:t>The output: standard </a:t>
            </a:r>
            <a:r>
              <a:rPr lang="en-US" altLang="zh-TW" sz="2400" dirty="0">
                <a:solidFill>
                  <a:srgbClr val="0000FF"/>
                </a:solidFill>
                <a:ea typeface="新細明體" pitchFamily="18" charset="-120"/>
              </a:rPr>
              <a:t>positional index</a:t>
            </a:r>
            <a:endParaRPr lang="en-US" altLang="zh-TW" sz="2400" dirty="0">
              <a:ea typeface="新細明體" pitchFamily="18" charset="-120"/>
            </a:endParaRPr>
          </a:p>
          <a:p>
            <a:pPr lvl="2" eaLnBrk="1" hangingPunct="1">
              <a:defRPr/>
            </a:pPr>
            <a:r>
              <a:rPr lang="en-US" altLang="zh-TW" sz="2000" dirty="0">
                <a:ea typeface="新細明體" pitchFamily="18" charset="-120"/>
              </a:rPr>
              <a:t>Two files: dictionary file, postings list</a:t>
            </a:r>
          </a:p>
          <a:p>
            <a:pPr lvl="2" eaLnBrk="1" hangingPunct="1">
              <a:defRPr/>
            </a:pPr>
            <a:r>
              <a:rPr lang="en-US" altLang="zh-TW" sz="2000" dirty="0">
                <a:ea typeface="新細明體" pitchFamily="18" charset="-120"/>
              </a:rPr>
              <a:t>Or link to cloud storage containing the above files</a:t>
            </a:r>
          </a:p>
          <a:p>
            <a:pPr lvl="1" eaLnBrk="1" hangingPunct="1">
              <a:defRPr/>
            </a:pPr>
            <a:r>
              <a:rPr lang="en-US" altLang="zh-TW" sz="2400" dirty="0">
                <a:ea typeface="新細明體" pitchFamily="18" charset="-120"/>
              </a:rPr>
              <a:t>A </a:t>
            </a:r>
            <a:r>
              <a:rPr lang="en-US" altLang="zh-TW" sz="2400" dirty="0">
                <a:solidFill>
                  <a:srgbClr val="0000FF"/>
                </a:solidFill>
                <a:ea typeface="新細明體" pitchFamily="18" charset="-120"/>
              </a:rPr>
              <a:t>one-page documentation</a:t>
            </a:r>
            <a:r>
              <a:rPr lang="en-US" altLang="zh-TW" sz="2400" dirty="0">
                <a:ea typeface="新細明體" pitchFamily="18" charset="-120"/>
              </a:rPr>
              <a:t> including</a:t>
            </a:r>
          </a:p>
          <a:p>
            <a:pPr lvl="2" eaLnBrk="1" hangingPunct="1">
              <a:defRPr/>
            </a:pPr>
            <a:r>
              <a:rPr lang="en-US" altLang="zh-TW" sz="2000" b="1" dirty="0">
                <a:ea typeface="新細明體" pitchFamily="18" charset="-120"/>
              </a:rPr>
              <a:t>Major features</a:t>
            </a:r>
            <a:r>
              <a:rPr lang="en-US" altLang="zh-TW" sz="2000" dirty="0">
                <a:ea typeface="新細明體" pitchFamily="18" charset="-120"/>
              </a:rPr>
              <a:t>: ex: optional features, high efficiency, low storage requirement, multiple input formats, huge corpus, …</a:t>
            </a:r>
          </a:p>
          <a:p>
            <a:pPr lvl="2" eaLnBrk="1" hangingPunct="1">
              <a:defRPr/>
            </a:pPr>
            <a:r>
              <a:rPr lang="en-US" altLang="zh-TW" sz="2000" b="1" dirty="0">
                <a:ea typeface="新細明體" pitchFamily="18" charset="-120"/>
              </a:rPr>
              <a:t>Major difficulties encountered</a:t>
            </a:r>
          </a:p>
          <a:p>
            <a:pPr lvl="2" eaLnBrk="1" hangingPunct="1">
              <a:defRPr/>
            </a:pPr>
            <a:r>
              <a:rPr lang="en-US" altLang="zh-TW" sz="2000" b="1" dirty="0">
                <a:ea typeface="新細明體" pitchFamily="18" charset="-120"/>
              </a:rPr>
              <a:t>Instructions for installation/compilation/ configuration/execution environment </a:t>
            </a:r>
            <a:r>
              <a:rPr lang="en-US" altLang="zh-TW" sz="2000" dirty="0">
                <a:ea typeface="新細明體" pitchFamily="18" charset="-120"/>
              </a:rPr>
              <a:t>(ex: Java Runtime, special compilers, …)</a:t>
            </a:r>
          </a:p>
          <a:p>
            <a:pPr lvl="2" eaLnBrk="1" hangingPunct="1">
              <a:defRPr/>
            </a:pPr>
            <a:r>
              <a:rPr lang="en-US" altLang="zh-TW" sz="2000" b="1" dirty="0">
                <a:solidFill>
                  <a:srgbClr val="FF0000"/>
                </a:solidFill>
                <a:ea typeface="新細明體" pitchFamily="18" charset="-120"/>
              </a:rPr>
              <a:t>Team members list</a:t>
            </a:r>
            <a:r>
              <a:rPr lang="en-US" altLang="zh-TW" sz="2000" b="1" dirty="0">
                <a:ea typeface="新細明體" pitchFamily="18" charset="-120"/>
              </a:rPr>
              <a:t>:</a:t>
            </a:r>
            <a:r>
              <a:rPr lang="en-US" altLang="zh-TW" sz="2000" dirty="0">
                <a:ea typeface="新細明體" pitchFamily="18" charset="-120"/>
              </a:rPr>
              <a:t> The names and the responsible parts of each individual member *should* be clearly identified</a:t>
            </a:r>
            <a:endParaRPr lang="en-US" altLang="zh-TW" sz="2000" dirty="0">
              <a:solidFill>
                <a:srgbClr val="0000FF"/>
              </a:solidFill>
              <a:ea typeface="新細明體" pitchFamily="18" charset="-120"/>
            </a:endParaRPr>
          </a:p>
          <a:p>
            <a:pPr eaLnBrk="1" hangingPunct="1">
              <a:defRPr/>
            </a:pPr>
            <a:r>
              <a:rPr lang="en-US" altLang="zh-TW" sz="2800" dirty="0">
                <a:ea typeface="新細明體" pitchFamily="18" charset="-120"/>
              </a:rPr>
              <a:t>Due: </a:t>
            </a:r>
            <a:r>
              <a:rPr lang="en-US" altLang="zh-TW" sz="2800" dirty="0">
                <a:solidFill>
                  <a:srgbClr val="0000FF"/>
                </a:solidFill>
                <a:ea typeface="新細明體" pitchFamily="18" charset="-120"/>
              </a:rPr>
              <a:t>two weeks</a:t>
            </a:r>
            <a:r>
              <a:rPr lang="en-US" altLang="zh-TW" sz="2800" dirty="0">
                <a:ea typeface="新細明體" pitchFamily="18" charset="-120"/>
              </a:rPr>
              <a:t> (extended to </a:t>
            </a:r>
            <a:r>
              <a:rPr lang="en-US" altLang="zh-TW" sz="2800" dirty="0">
                <a:solidFill>
                  <a:srgbClr val="FF0000"/>
                </a:solidFill>
                <a:ea typeface="新細明體" pitchFamily="18" charset="-120"/>
              </a:rPr>
              <a:t>Oct. 28, 2026</a:t>
            </a:r>
            <a:r>
              <a:rPr lang="en-US" altLang="zh-TW" sz="2800" dirty="0">
                <a:ea typeface="新細明體" pitchFamily="18" charset="-120"/>
              </a:rPr>
              <a:t>)</a:t>
            </a:r>
          </a:p>
        </p:txBody>
      </p:sp>
      <p:sp>
        <p:nvSpPr>
          <p:cNvPr id="22532" name="日期版面配置區 1">
            <a:extLst>
              <a:ext uri="{FF2B5EF4-FFF2-40B4-BE49-F238E27FC236}">
                <a16:creationId xmlns:a16="http://schemas.microsoft.com/office/drawing/2014/main" id="{62286F55-9070-AD23-CABF-9AD38C74E8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22533" name="頁尾版面配置區 2">
            <a:extLst>
              <a:ext uri="{FF2B5EF4-FFF2-40B4-BE49-F238E27FC236}">
                <a16:creationId xmlns:a16="http://schemas.microsoft.com/office/drawing/2014/main" id="{18328243-1374-D753-1805-A72935C1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22534" name="投影片編號版面配置區 3">
            <a:extLst>
              <a:ext uri="{FF2B5EF4-FFF2-40B4-BE49-F238E27FC236}">
                <a16:creationId xmlns:a16="http://schemas.microsoft.com/office/drawing/2014/main" id="{472E05A4-9B05-8470-C608-091A777A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F59F3F-FDE1-4EF6-A6B9-21A77E276A22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123EA1C-84B7-B843-DADD-94C8E9742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Submission Instructions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CA7E246-2BD9-3A94-098B-09C5E30DA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TW" sz="2600" dirty="0">
                <a:ea typeface="新細明體" pitchFamily="18" charset="-120"/>
              </a:rPr>
              <a:t>Programs </a:t>
            </a:r>
            <a:r>
              <a:rPr lang="en-US" altLang="zh-TW" sz="2400" dirty="0">
                <a:ea typeface="新細明體" pitchFamily="18" charset="-120"/>
              </a:rPr>
              <a:t>and related electronic files in your homework </a:t>
            </a:r>
            <a:r>
              <a:rPr lang="en-US" altLang="zh-TW" sz="2600" dirty="0">
                <a:ea typeface="新細明體" pitchFamily="18" charset="-120"/>
              </a:rPr>
              <a:t>must be submitted directly on the submission site: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200" b="1" dirty="0">
                <a:ea typeface="新細明體" pitchFamily="18" charset="-120"/>
              </a:rPr>
              <a:t>Submission site: </a:t>
            </a:r>
            <a:r>
              <a:rPr lang="en-US" altLang="zh-TW" sz="2200" dirty="0" err="1">
                <a:solidFill>
                  <a:srgbClr val="0000FF"/>
                </a:solidFill>
                <a:ea typeface="新細明體" pitchFamily="18" charset="-120"/>
              </a:rPr>
              <a:t>iSchool</a:t>
            </a:r>
            <a:r>
              <a:rPr lang="en-US" altLang="zh-TW" sz="2200" dirty="0">
                <a:solidFill>
                  <a:srgbClr val="0000FF"/>
                </a:solidFill>
                <a:ea typeface="新細明體" pitchFamily="18" charset="-120"/>
              </a:rPr>
              <a:t>+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200" b="1" dirty="0">
                <a:ea typeface="新細明體" pitchFamily="18" charset="-120"/>
              </a:rPr>
              <a:t>Preparing your submission file</a:t>
            </a:r>
            <a:r>
              <a:rPr lang="en-US" altLang="zh-TW" sz="2200" dirty="0">
                <a:ea typeface="新細明體" pitchFamily="18" charset="-120"/>
              </a:rPr>
              <a:t>: as </a:t>
            </a:r>
            <a:r>
              <a:rPr lang="en-US" altLang="zh-TW" sz="2200" b="1" i="1" dirty="0">
                <a:solidFill>
                  <a:srgbClr val="0000FF"/>
                </a:solidFill>
                <a:ea typeface="新細明體" pitchFamily="18" charset="-120"/>
              </a:rPr>
              <a:t>one single compressed file</a:t>
            </a:r>
            <a:endParaRPr lang="en-US" altLang="zh-TW" sz="2200" dirty="0">
              <a:ea typeface="新細明體" pitchFamily="18" charset="-120"/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TW" sz="1800" dirty="0">
                <a:ea typeface="新細明體" pitchFamily="18" charset="-120"/>
              </a:rPr>
              <a:t>Name your file according to your ID such as &lt;ID&gt;_HW1.zip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zh-TW" sz="1900" dirty="0">
                <a:ea typeface="新細明體" pitchFamily="18" charset="-120"/>
              </a:rPr>
              <a:t>Remember to specify </a:t>
            </a:r>
            <a:r>
              <a:rPr lang="en-US" altLang="zh-TW" sz="1900" dirty="0">
                <a:solidFill>
                  <a:srgbClr val="0000FF"/>
                </a:solidFill>
                <a:ea typeface="新細明體" pitchFamily="18" charset="-120"/>
              </a:rPr>
              <a:t>the names and student IDs</a:t>
            </a:r>
            <a:r>
              <a:rPr lang="en-US" altLang="zh-TW" sz="1900" dirty="0">
                <a:ea typeface="新細明體" pitchFamily="18" charset="-120"/>
              </a:rPr>
              <a:t> </a:t>
            </a:r>
            <a:r>
              <a:rPr lang="en-US" altLang="zh-TW" sz="1900" dirty="0">
                <a:solidFill>
                  <a:srgbClr val="0000FF"/>
                </a:solidFill>
                <a:ea typeface="新細明體" pitchFamily="18" charset="-120"/>
              </a:rPr>
              <a:t>of your</a:t>
            </a:r>
            <a:r>
              <a:rPr lang="en-US" altLang="zh-TW" sz="1900" dirty="0">
                <a:ea typeface="新細明體" pitchFamily="18" charset="-120"/>
              </a:rPr>
              <a:t> </a:t>
            </a:r>
            <a:r>
              <a:rPr lang="en-US" altLang="zh-TW" sz="1900" dirty="0">
                <a:solidFill>
                  <a:srgbClr val="0000FF"/>
                </a:solidFill>
                <a:ea typeface="新細明體" pitchFamily="18" charset="-120"/>
              </a:rPr>
              <a:t>team members </a:t>
            </a:r>
            <a:r>
              <a:rPr lang="en-US" altLang="zh-TW" sz="1900" dirty="0">
                <a:ea typeface="新細明體" pitchFamily="18" charset="-120"/>
              </a:rPr>
              <a:t>in the documentation</a:t>
            </a:r>
          </a:p>
          <a:p>
            <a:pPr marL="342900" lvl="1" indent="-342900" eaLnBrk="1" hangingPunct="1">
              <a:lnSpc>
                <a:spcPct val="80000"/>
              </a:lnSpc>
              <a:buFontTx/>
              <a:buChar char="•"/>
              <a:defRPr/>
            </a:pPr>
            <a:r>
              <a:rPr lang="en-US" altLang="zh-TW" sz="2600" dirty="0">
                <a:solidFill>
                  <a:srgbClr val="FF0000"/>
                </a:solidFill>
                <a:ea typeface="新細明體" pitchFamily="18" charset="-120"/>
              </a:rPr>
              <a:t>NOTE</a:t>
            </a:r>
            <a:r>
              <a:rPr lang="en-US" altLang="zh-TW" sz="2600" dirty="0">
                <a:ea typeface="新細明體" pitchFamily="18" charset="-120"/>
              </a:rPr>
              <a:t>: </a:t>
            </a:r>
          </a:p>
          <a:p>
            <a:pPr marL="742950" lvl="2" indent="-342900" eaLnBrk="1" hangingPunct="1">
              <a:lnSpc>
                <a:spcPct val="80000"/>
              </a:lnSpc>
              <a:defRPr/>
            </a:pPr>
            <a:r>
              <a:rPr lang="en-US" altLang="zh-TW" sz="2200" dirty="0">
                <a:ea typeface="新細明體" pitchFamily="18" charset="-120"/>
              </a:rPr>
              <a:t>You have to register of your team members to the TA </a:t>
            </a:r>
            <a:r>
              <a:rPr lang="en-US" altLang="zh-TW" sz="2200" dirty="0">
                <a:solidFill>
                  <a:srgbClr val="FF0000"/>
                </a:solidFill>
                <a:ea typeface="新細明體" pitchFamily="18" charset="-120"/>
              </a:rPr>
              <a:t>first</a:t>
            </a:r>
            <a:r>
              <a:rPr lang="en-US" altLang="zh-TW" sz="2200" dirty="0">
                <a:ea typeface="新細明體" pitchFamily="18" charset="-120"/>
              </a:rPr>
              <a:t>, before we can allocate </a:t>
            </a:r>
            <a:r>
              <a:rPr lang="en-US" altLang="zh-TW" sz="2200" dirty="0">
                <a:solidFill>
                  <a:srgbClr val="0000FF"/>
                </a:solidFill>
                <a:ea typeface="新細明體" pitchFamily="18" charset="-120"/>
              </a:rPr>
              <a:t>different </a:t>
            </a:r>
            <a:r>
              <a:rPr lang="en-US" altLang="zh-TW" sz="2200" dirty="0">
                <a:ea typeface="新細明體" pitchFamily="18" charset="-120"/>
              </a:rPr>
              <a:t>files as your test input </a:t>
            </a:r>
          </a:p>
          <a:p>
            <a:pPr marL="742950" lvl="2" indent="-342900" eaLnBrk="1" hangingPunct="1">
              <a:lnSpc>
                <a:spcPct val="80000"/>
              </a:lnSpc>
              <a:defRPr/>
            </a:pPr>
            <a:r>
              <a:rPr lang="en-US" altLang="zh-TW" sz="2200" dirty="0">
                <a:ea typeface="新細明體" pitchFamily="18" charset="-120"/>
              </a:rPr>
              <a:t>Instructions on where to obtain your copy of the partial dataset will soon be available from the TA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TW" sz="2600" dirty="0">
                <a:ea typeface="新細明體" pitchFamily="18" charset="-120"/>
              </a:rPr>
              <a:t>For more information on homework submission issues: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zh-TW" sz="2200" dirty="0">
                <a:ea typeface="新細明體" pitchFamily="18" charset="-120"/>
              </a:rPr>
              <a:t>Please contact with the TA (</a:t>
            </a:r>
            <a:r>
              <a:rPr lang="en-US" altLang="zh-TW" sz="2200" dirty="0" err="1">
                <a:ea typeface="新細明體" pitchFamily="18" charset="-120"/>
              </a:rPr>
              <a:t>Ms.Hsu</a:t>
            </a:r>
            <a:r>
              <a:rPr lang="en-US" altLang="zh-TW" sz="2200" dirty="0">
                <a:ea typeface="新細明體" pitchFamily="18" charset="-120"/>
              </a:rPr>
              <a:t> &amp; </a:t>
            </a:r>
            <a:r>
              <a:rPr lang="en-US" altLang="zh-TW" sz="2200" dirty="0" err="1">
                <a:ea typeface="新細明體" pitchFamily="18" charset="-120"/>
              </a:rPr>
              <a:t>Ms.Liao</a:t>
            </a:r>
            <a:r>
              <a:rPr lang="en-US" altLang="zh-TW" sz="2200" dirty="0">
                <a:ea typeface="新細明體" pitchFamily="18" charset="-120"/>
              </a:rPr>
              <a:t>, @ R1424, Technology Building)</a:t>
            </a:r>
          </a:p>
        </p:txBody>
      </p:sp>
      <p:sp>
        <p:nvSpPr>
          <p:cNvPr id="24580" name="日期版面配置區 1">
            <a:extLst>
              <a:ext uri="{FF2B5EF4-FFF2-40B4-BE49-F238E27FC236}">
                <a16:creationId xmlns:a16="http://schemas.microsoft.com/office/drawing/2014/main" id="{96FAC683-8C40-F567-796C-2D54C3C7D16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24581" name="頁尾版面配置區 2">
            <a:extLst>
              <a:ext uri="{FF2B5EF4-FFF2-40B4-BE49-F238E27FC236}">
                <a16:creationId xmlns:a16="http://schemas.microsoft.com/office/drawing/2014/main" id="{6F23C710-A0B0-C504-7A56-802F0BA55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24582" name="投影片編號版面配置區 3">
            <a:extLst>
              <a:ext uri="{FF2B5EF4-FFF2-40B4-BE49-F238E27FC236}">
                <a16:creationId xmlns:a16="http://schemas.microsoft.com/office/drawing/2014/main" id="{180A78B0-7A96-D8E2-5875-BC0AC21D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563222-3116-4CD7-9867-7948822B72CD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430E548-03B3-FC9D-7861-FEE4967EDD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Evaluation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319B934-03AF-2859-63C7-B231551D1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i="1">
                <a:ea typeface="新細明體" panose="02020500000000000000" pitchFamily="18" charset="-120"/>
              </a:rPr>
              <a:t>Minimum requirement</a:t>
            </a:r>
            <a:r>
              <a:rPr lang="en-US" altLang="zh-TW">
                <a:ea typeface="新細明體" panose="02020500000000000000" pitchFamily="18" charset="-120"/>
              </a:rPr>
              <a:t>: </a:t>
            </a:r>
            <a:r>
              <a:rPr lang="en-US" altLang="zh-TW">
                <a:solidFill>
                  <a:srgbClr val="0000FF"/>
                </a:solidFill>
                <a:ea typeface="新細明體" panose="02020500000000000000" pitchFamily="18" charset="-120"/>
              </a:rPr>
              <a:t>index correctness for your test data</a:t>
            </a:r>
            <a:endParaRPr lang="en-US" altLang="zh-TW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Using (your allocated copy of) the </a:t>
            </a:r>
            <a:r>
              <a:rPr lang="en-US" altLang="zh-TW">
                <a:solidFill>
                  <a:srgbClr val="0000FF"/>
                </a:solidFill>
                <a:ea typeface="新細明體" panose="02020500000000000000" pitchFamily="18" charset="-120"/>
              </a:rPr>
              <a:t>ClueWeb09 Test Collection</a:t>
            </a:r>
            <a:r>
              <a:rPr lang="en-US" altLang="zh-TW">
                <a:ea typeface="新細明體" panose="02020500000000000000" pitchFamily="18" charset="-120"/>
              </a:rPr>
              <a:t> as input, the inverted index generated by your program will be checked </a:t>
            </a:r>
          </a:p>
          <a:p>
            <a:pPr lvl="1" eaLnBrk="1" hangingPunct="1"/>
            <a:r>
              <a:rPr lang="en-US" altLang="zh-TW">
                <a:ea typeface="新細明體" panose="02020500000000000000" pitchFamily="18" charset="-120"/>
              </a:rPr>
              <a:t>Optional features will be considered as bonus</a:t>
            </a:r>
          </a:p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You might be required to demo if the program submitted was unable to compile/run by the TA</a:t>
            </a:r>
          </a:p>
        </p:txBody>
      </p:sp>
      <p:sp>
        <p:nvSpPr>
          <p:cNvPr id="26628" name="日期版面配置區 1">
            <a:extLst>
              <a:ext uri="{FF2B5EF4-FFF2-40B4-BE49-F238E27FC236}">
                <a16:creationId xmlns:a16="http://schemas.microsoft.com/office/drawing/2014/main" id="{5EF689DC-9BDF-CB3B-A935-66D74C8ED12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26629" name="頁尾版面配置區 2">
            <a:extLst>
              <a:ext uri="{FF2B5EF4-FFF2-40B4-BE49-F238E27FC236}">
                <a16:creationId xmlns:a16="http://schemas.microsoft.com/office/drawing/2014/main" id="{B3493F0B-FCB1-F09A-309E-875CE2D0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26630" name="投影片編號版面配置區 3">
            <a:extLst>
              <a:ext uri="{FF2B5EF4-FFF2-40B4-BE49-F238E27FC236}">
                <a16:creationId xmlns:a16="http://schemas.microsoft.com/office/drawing/2014/main" id="{4DC3B8B8-C188-88A6-6916-EF1AC46F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94992C-6A18-4D3F-BFDF-7B99702964C2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D3BC658-038B-F23E-0BA0-98CEBDC9D1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Any Questions or Comments?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6405D6-0025-4122-40A6-21F2A8771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TW" altLang="zh-TW">
              <a:ea typeface="新細明體" panose="02020500000000000000" pitchFamily="18" charset="-120"/>
            </a:endParaRPr>
          </a:p>
        </p:txBody>
      </p:sp>
      <p:sp>
        <p:nvSpPr>
          <p:cNvPr id="28676" name="日期版面配置區 1">
            <a:extLst>
              <a:ext uri="{FF2B5EF4-FFF2-40B4-BE49-F238E27FC236}">
                <a16:creationId xmlns:a16="http://schemas.microsoft.com/office/drawing/2014/main" id="{F4AB342A-BA32-D16A-1698-99CF1091BE5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IR, Fall 2026</a:t>
            </a:r>
          </a:p>
        </p:txBody>
      </p:sp>
      <p:sp>
        <p:nvSpPr>
          <p:cNvPr id="28677" name="頁尾版面配置區 2">
            <a:extLst>
              <a:ext uri="{FF2B5EF4-FFF2-40B4-BE49-F238E27FC236}">
                <a16:creationId xmlns:a16="http://schemas.microsoft.com/office/drawing/2014/main" id="{23A7DB87-CA50-C7E1-C57C-FD8B7E5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TW" sz="1400">
                <a:latin typeface="Arial" panose="020B0604020202020204" pitchFamily="34" charset="0"/>
                <a:ea typeface="新細明體" panose="02020500000000000000" pitchFamily="18" charset="-120"/>
              </a:rPr>
              <a:t>NTUT CSIE</a:t>
            </a:r>
          </a:p>
        </p:txBody>
      </p:sp>
      <p:sp>
        <p:nvSpPr>
          <p:cNvPr id="28678" name="投影片編號版面配置區 3">
            <a:extLst>
              <a:ext uri="{FF2B5EF4-FFF2-40B4-BE49-F238E27FC236}">
                <a16:creationId xmlns:a16="http://schemas.microsoft.com/office/drawing/2014/main" id="{B4E01466-50AA-7516-265F-E7B6DF5B7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C94307-6825-4931-8CFB-E7917DA37DDE}" type="slidenum">
              <a:rPr lang="en-US" altLang="zh-TW" sz="14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1677</TotalTime>
  <Words>1414</Words>
  <Application>Microsoft Office PowerPoint</Application>
  <PresentationFormat>如螢幕大小 (4:3)</PresentationFormat>
  <Paragraphs>182</Paragraphs>
  <Slides>16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新細明體</vt:lpstr>
      <vt:lpstr>Arial</vt:lpstr>
      <vt:lpstr>Book Antiqua</vt:lpstr>
      <vt:lpstr>預設簡報設計</vt:lpstr>
      <vt:lpstr>IR Homework #1</vt:lpstr>
      <vt:lpstr>Programming Exercise #1:  Document Indexing</vt:lpstr>
      <vt:lpstr>The Major Task to Do</vt:lpstr>
      <vt:lpstr>Input: a Sample of the Test Collection</vt:lpstr>
      <vt:lpstr>Web Test Collections</vt:lpstr>
      <vt:lpstr>Web Test Collections</vt:lpstr>
      <vt:lpstr>Other Test Collections</vt:lpstr>
      <vt:lpstr>Older Test Collections</vt:lpstr>
      <vt:lpstr>Output: Inverted Index</vt:lpstr>
      <vt:lpstr>Design Issues</vt:lpstr>
      <vt:lpstr>Optional Functionality</vt:lpstr>
      <vt:lpstr>Some Open Source Indexing Tools</vt:lpstr>
      <vt:lpstr>Submission</vt:lpstr>
      <vt:lpstr>Submission Instructions</vt:lpstr>
      <vt:lpstr>Evaluation</vt:lpstr>
      <vt:lpstr>Any Questions or Comments?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Jenq-Haur Wang</dc:creator>
  <cp:lastModifiedBy>王正豪</cp:lastModifiedBy>
  <cp:revision>115</cp:revision>
  <cp:lastPrinted>1601-01-01T00:00:00Z</cp:lastPrinted>
  <dcterms:created xsi:type="dcterms:W3CDTF">1601-01-01T00:00:00Z</dcterms:created>
  <dcterms:modified xsi:type="dcterms:W3CDTF">2026-10-21T09:02:56Z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