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75" r:id="rId4"/>
    <p:sldId id="276" r:id="rId5"/>
    <p:sldId id="277" r:id="rId6"/>
    <p:sldId id="278" r:id="rId7"/>
    <p:sldId id="279" r:id="rId8"/>
    <p:sldId id="281" r:id="rId9"/>
    <p:sldId id="274" r:id="rId10"/>
    <p:sldId id="264" r:id="rId11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800000"/>
    <a:srgbClr val="99CC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0C2E122-5670-79D0-A435-16B82696CE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CBD1283-46CC-70EA-D7CA-E7CC484BB3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F11858F-EF64-3CF2-D98A-D20C1530BC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2938B30-A69A-C250-FC85-F6E9879807C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8952BE5-6EF6-45B4-B227-B2CE5017F93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BD047-1402-434B-35C6-690140A283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CD2EC2B-923C-FE96-80AF-DC6840387D0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75AED7C-8E38-8669-705B-B4C0ACC9E98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22E5EA60-E1AE-E174-8BD4-2B256844B77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376DC3AC-5838-AF34-01EF-406BBB69E5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D6A1DC54-1B6B-0A29-9633-91583763F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BF5FB4D-A3D4-4B9C-A200-6C1CAB9F84D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425320F4-3378-6D47-DBBC-A5589E270C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919616-E8BF-434D-B835-8A225AF768B9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3CFFF5E-2CC4-F92A-5A96-E5559A688A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247A7D6-2EC0-1005-07FA-99E70F876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C0EBC419-8DA7-CE27-3BC9-E9AF14E9B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FB0278-0479-4212-9B4C-42324E972776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01ED82F-176D-9402-EE20-253298D8BE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1030559-FD05-6B6B-F8DE-8CA3B7054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6F27B9F2-1988-8014-973C-918FBAB1A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66AFB6-1FC2-4C98-9F21-483E211F14B2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00198CF-D26F-F611-2880-0879C40AA2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125374E-4C7A-A306-F740-180D753D0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3E563DDB-2290-85EB-21D6-E4910AE996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C6E2A6-1568-4463-AEC3-2F02B52A98E8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59DFC7C-8C58-50F8-0885-BFF463A60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9C08834-8C9E-6908-4ADB-50A2DA97B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CBBEE7B8-D62F-F316-E8E3-B24E3767A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357301-2DF4-4B18-A6E1-2E43E025805B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B0926E2-DEBA-C30D-C240-6AAD7D20C3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746B77C-C06D-4F50-160A-466D260CB1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60F0A91-314A-2907-24D4-EFC2610917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77BD03-25E3-453C-B05C-DD64C0DBAE4E}" type="slidenum">
              <a:rPr lang="en-US" altLang="zh-TW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1F3261C-0CAD-47A0-82BD-217AD0A62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2E72CA0-D521-C891-55E9-6F00BE9A5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5AF0F87-FCBF-3A15-45D8-6EB8FBBA7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CC7735-DD1C-4666-95AD-EA8AEA35DFB2}" type="slidenum">
              <a:rPr lang="en-US" altLang="zh-TW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8023C51-4E83-E4F2-BAED-1A51D8505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DC79064-5DA8-FAAB-4C83-CBC0DD757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78B9236-5DB7-F735-554E-A04D3DDA9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23F0CBA-7316-4E97-9B2C-9779159BA136}" type="slidenum">
              <a:rPr lang="en-US" altLang="zh-TW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4A3BC28-48A0-C8E3-6D99-E502B70472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B714391-3211-03DF-D2A7-107137FC0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79782FE3-29F6-0B46-8F9D-9BB60DC28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02A13E-2A21-435D-B1F0-8AD640B0E292}" type="slidenum">
              <a:rPr lang="en-US" altLang="zh-TW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752A43F-3D8D-9BA0-10C6-9C200822C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36621B2-2235-1AD6-24BF-049A209E0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5913011B-82E1-4448-C6D3-2823993E0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94CDE6-8B7A-4782-97B4-BCD460F69E92}" type="slidenum">
              <a:rPr lang="en-US" altLang="zh-TW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90922DA-1B62-8504-77E6-F5A1427A9F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DE25500-10AA-8B3C-A60C-269C7DF74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1976EA-5629-3535-CF78-6963229E5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04AB56-AD41-8143-70B3-B1EAAAFCB6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FBDB19-3278-A34F-3A98-694F1558E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6A8E1-B3B8-41D1-826E-EDE1685C7C8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403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B8BCCD-E97F-699D-4CA1-0A6EF63D8F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A2942E-B57B-7BDC-E17A-56846D6BA9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C00DBD-0973-734A-2493-609AA88530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3A67B6-AD06-492A-8A6A-30A84830B61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809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C7EFC3-2E3A-E992-6CB8-A9E18C00CE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FBC2CF-2639-CEEF-AF8C-04EEF474D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F9FB04-B4E5-0AF1-FC46-F490169AE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CB9D46-3F2C-4566-A18D-F9AD062F21D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511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98C231-DC36-DDA9-A6E9-6E96E9EEB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378E4-C43D-5C23-0F1B-2732B42F45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890F3-D2B2-4E9E-7203-CFE94CB1E6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1FC508-547A-453A-B561-80A7509D02E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068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25DD81A-6FEE-2875-32DF-BB2B9A7AD2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951685-9F7A-2995-6265-BCB2C39641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94C435-B489-6670-A224-41928A418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FF9290-76F4-4222-8516-CE7558F26F8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399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AA93AC7-E157-2356-EADD-6BA891BE4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32CEA0-A8B0-83F9-279D-549CE458A0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81C145-83B9-ABD4-DAE5-7BDE97D4B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06F862-ECD5-43EE-9238-F00B9D56239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776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946906A-5B9A-DEAD-1808-AEB9DCF6C1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A81422F-02AF-754A-695D-A4E92B95FF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3753FB-D77E-57E8-2264-607C55CFEA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53AE8E-D537-4B9B-A40E-EE2E8239F62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279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8C2E5-9B14-FFD0-0BFC-A40B96B499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918E8-2726-ACD4-5A34-80DC4D2E44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CEE17-BE23-60B0-970E-FDA0C9F5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B4274D-F8C5-46CC-8FF0-226182B5AF0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250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67CC5-B1B0-39CC-CDBD-19FC650D8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7331B-C447-4A3C-135B-48C35020D8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53C8E-B83C-4618-FE8C-979B93ECE7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2FFB2D-47BA-4E21-8ED1-859F3364E74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01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C2F4D6-D735-09CD-9DC6-7955818674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915623-7038-BB60-5E9C-E6470225EF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59FDE5-CF8E-F2BE-2132-D98707C1D8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F7BFD-BA91-41A7-A636-8A691A208E7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449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D0A22C-AA78-39D0-A9AA-0FD4D21CC9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780077-4A95-C47C-C909-1172EB81B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0ED2DD-6E04-5D7C-65F4-4280709661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13803-4BA1-45D3-B5BA-BF55CD91C2A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888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BF9AD2-32BA-AB79-787A-E0F4F2C7B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A03F80D-27BB-F3A2-F64F-30531D369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C05CF9-C0B5-08A1-81A3-FF006182E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FE3B01-8EE4-CC50-A03D-14713415F6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0B79B1-1765-EF53-1514-C62728E270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fld id="{0087972F-5064-4342-983F-BA04116CD47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0B624EC-519A-F060-B537-33A9D37D54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IR Homework #2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976DCFB-479B-87EC-28A7-9114959E93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By J. H. Wang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Oct.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A9A8A53-BE7D-E7FA-84D4-7B053F690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ea typeface="新細明體" panose="02020500000000000000" pitchFamily="18" charset="-120"/>
              </a:rPr>
              <a:t>Programming Exercise #2: </a:t>
            </a:r>
            <a:br>
              <a:rPr lang="en-US" altLang="zh-TW" sz="4000">
                <a:ea typeface="新細明體" panose="02020500000000000000" pitchFamily="18" charset="-120"/>
              </a:rPr>
            </a:br>
            <a:r>
              <a:rPr lang="en-US" altLang="zh-TW" sz="4000">
                <a:ea typeface="新細明體" panose="02020500000000000000" pitchFamily="18" charset="-120"/>
              </a:rPr>
              <a:t> Query Processing and Searching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5A5F917-CDF3-9717-C064-46C59BFC9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Goal: to search documents that are relevant to a given user query</a:t>
            </a:r>
          </a:p>
          <a:p>
            <a:pPr eaLnBrk="1" hangingPunct="1"/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Input</a:t>
            </a:r>
            <a:r>
              <a:rPr lang="en-US" altLang="zh-TW">
                <a:ea typeface="新細明體" panose="02020500000000000000" pitchFamily="18" charset="-120"/>
              </a:rPr>
              <a:t>: a query (and the inverted index from HW#1) </a:t>
            </a:r>
          </a:p>
          <a:p>
            <a:pPr eaLnBrk="1" hangingPunct="1"/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Output</a:t>
            </a:r>
            <a:r>
              <a:rPr lang="en-US" altLang="zh-TW">
                <a:ea typeface="新細明體" panose="02020500000000000000" pitchFamily="18" charset="-120"/>
              </a:rPr>
              <a:t>: a ranked list of search results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(details to be described later)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0B26B9F-7BCE-BC38-92F8-C4BBAD4ED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Input: User Query and Inverted Index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4380E0E-6372-8E60-BB84-5645F69A1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Simple queries</a:t>
            </a:r>
          </a:p>
          <a:p>
            <a:pPr lvl="1"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Single keywords</a:t>
            </a: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Ex: Microsoft, airplanes, </a:t>
            </a:r>
            <a:r>
              <a:rPr lang="en-US" altLang="zh-TW" dirty="0">
                <a:latin typeface="Arial" charset="0"/>
                <a:ea typeface="新細明體" charset="-120"/>
              </a:rPr>
              <a:t>…</a:t>
            </a:r>
            <a:endParaRPr lang="en-US" altLang="zh-TW" dirty="0">
              <a:ea typeface="新細明體" charset="-120"/>
            </a:endParaRPr>
          </a:p>
          <a:p>
            <a:pPr lvl="1"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Free texts</a:t>
            </a: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Ex: United States government, non-profit organization, </a:t>
            </a:r>
            <a:r>
              <a:rPr lang="en-US" altLang="zh-TW" dirty="0">
                <a:latin typeface="Arial" charset="0"/>
                <a:ea typeface="新細明體" charset="-120"/>
              </a:rPr>
              <a:t>…</a:t>
            </a:r>
            <a:endParaRPr lang="en-US" altLang="zh-TW" dirty="0">
              <a:solidFill>
                <a:srgbClr val="0000FF"/>
              </a:solidFill>
              <a:ea typeface="新細明體" charset="-120"/>
            </a:endParaRPr>
          </a:p>
          <a:p>
            <a:pPr lvl="1"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Simple Boolean search</a:t>
            </a:r>
            <a:endParaRPr lang="en-US" altLang="zh-TW" dirty="0">
              <a:ea typeface="新細明體" charset="-120"/>
            </a:endParaRP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Ex: open source AND Linux, software engineer OR project manager, </a:t>
            </a:r>
            <a:r>
              <a:rPr lang="en-US" altLang="zh-TW" dirty="0">
                <a:latin typeface="Arial" charset="0"/>
                <a:ea typeface="新細明體" charset="-120"/>
              </a:rPr>
              <a:t>…</a:t>
            </a:r>
          </a:p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Inverted Index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charset="-120"/>
              </a:rPr>
              <a:t>As generated from the ClueWeb09 collection in HW#1</a:t>
            </a:r>
          </a:p>
          <a:p>
            <a:pPr lvl="2" eaLnBrk="1" hangingPunct="1">
              <a:defRPr/>
            </a:pPr>
            <a:endParaRPr lang="en-US" altLang="zh-TW" dirty="0">
              <a:ea typeface="新細明體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1A3D1C1-CF35-DBD6-BD2A-B1A85F789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Output: Ranked Search Results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A79C599-3464-3E3A-5DC5-818DF0263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A ranked list of search results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Ranking:</a:t>
            </a:r>
            <a:r>
              <a:rPr lang="en-US" altLang="zh-TW" dirty="0">
                <a:solidFill>
                  <a:srgbClr val="800000"/>
                </a:solidFill>
                <a:ea typeface="新細明體" panose="02020500000000000000" pitchFamily="18" charset="-120"/>
              </a:rPr>
              <a:t> vector space model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Term weighting scheme: </a:t>
            </a:r>
            <a:r>
              <a:rPr lang="en-US" altLang="zh-TW" dirty="0">
                <a:solidFill>
                  <a:srgbClr val="800000"/>
                </a:solidFill>
                <a:ea typeface="新細明體" panose="02020500000000000000" pitchFamily="18" charset="-120"/>
              </a:rPr>
              <a:t>TF-IDF</a:t>
            </a: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Similarity estimation:</a:t>
            </a:r>
            <a:r>
              <a:rPr lang="en-US" altLang="zh-TW" dirty="0">
                <a:solidFill>
                  <a:srgbClr val="8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cosine similarity </a:t>
            </a:r>
            <a:r>
              <a:rPr lang="en-US" altLang="zh-TW" dirty="0">
                <a:ea typeface="新細明體" panose="02020500000000000000" pitchFamily="18" charset="-120"/>
              </a:rPr>
              <a:t>between query and document vectors</a:t>
            </a:r>
          </a:p>
          <a:p>
            <a:pPr lvl="1" eaLnBrk="1" hangingPunct="1"/>
            <a:endParaRPr lang="en-US" altLang="zh-TW" dirty="0">
              <a:ea typeface="新細明體" panose="02020500000000000000" pitchFamily="18" charset="-120"/>
            </a:endParaRP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C59B6BDC-E2B9-1EDD-F0A2-565E837527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105400"/>
          <a:ext cx="2438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435100" imgH="508000" progId="Equation.3">
                  <p:embed/>
                </p:oleObj>
              </mc:Choice>
              <mc:Fallback>
                <p:oleObj name="方程式" r:id="rId3" imgW="14351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105400"/>
                        <a:ext cx="2438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95C64763-8594-AD4C-9F21-D331DCA866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341813"/>
          <a:ext cx="2286000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574800" imgH="1117600" progId="Equation.3">
                  <p:embed/>
                </p:oleObj>
              </mc:Choice>
              <mc:Fallback>
                <p:oleObj name="方程式" r:id="rId5" imgW="1574800" imgH="1117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341813"/>
                        <a:ext cx="2286000" cy="162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6">
            <a:extLst>
              <a:ext uri="{FF2B5EF4-FFF2-40B4-BE49-F238E27FC236}">
                <a16:creationId xmlns:a16="http://schemas.microsoft.com/office/drawing/2014/main" id="{63C2AA2C-3CE5-3C44-0CCD-057752159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495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i="1">
                <a:latin typeface="Arial" panose="020B0604020202020204" pitchFamily="34" charset="0"/>
                <a:ea typeface="新細明體" panose="02020500000000000000" pitchFamily="18" charset="-120"/>
              </a:rPr>
              <a:t>w</a:t>
            </a:r>
            <a:r>
              <a:rPr lang="en-US" altLang="zh-TW" sz="1800" i="1" baseline="-25000">
                <a:latin typeface="Arial" panose="020B0604020202020204" pitchFamily="34" charset="0"/>
                <a:ea typeface="新細明體" panose="02020500000000000000" pitchFamily="18" charset="-120"/>
              </a:rPr>
              <a:t>ij</a:t>
            </a:r>
            <a:r>
              <a:rPr lang="en-US" altLang="zh-TW" sz="1800" i="1">
                <a:latin typeface="Arial" panose="020B0604020202020204" pitchFamily="34" charset="0"/>
                <a:ea typeface="新細明體" panose="02020500000000000000" pitchFamily="18" charset="-120"/>
              </a:rPr>
              <a:t> = (1+ log tf</a:t>
            </a:r>
            <a:r>
              <a:rPr lang="en-US" altLang="zh-TW" sz="1800" i="1" baseline="-25000">
                <a:latin typeface="Arial" panose="020B0604020202020204" pitchFamily="34" charset="0"/>
                <a:ea typeface="新細明體" panose="02020500000000000000" pitchFamily="18" charset="-120"/>
              </a:rPr>
              <a:t>ij</a:t>
            </a:r>
            <a:r>
              <a:rPr lang="en-US" altLang="zh-TW" sz="1800" i="1">
                <a:latin typeface="Arial" panose="020B0604020202020204" pitchFamily="34" charset="0"/>
                <a:ea typeface="新細明體" panose="02020500000000000000" pitchFamily="18" charset="-120"/>
              </a:rPr>
              <a:t>) * log (N/df</a:t>
            </a:r>
            <a:r>
              <a:rPr lang="en-US" altLang="zh-TW" sz="1800" i="1" baseline="-25000"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1800" i="1"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4558FA-5AA5-FEBB-7168-F096B0988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Example Output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C58571F-3AF0-2818-EEAE-12491B418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E.g.: 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Query from the command line: </a:t>
            </a:r>
          </a:p>
          <a:p>
            <a:pPr lvl="2" eaLnBrk="1" hangingPunct="1"/>
            <a:r>
              <a:rPr lang="en-US" altLang="zh-TW" dirty="0" err="1">
                <a:latin typeface="Arial" panose="020B0604020202020204" pitchFamily="34" charset="0"/>
                <a:ea typeface="新細明體" panose="02020500000000000000" pitchFamily="18" charset="-120"/>
              </a:rPr>
              <a:t>cmd</a:t>
            </a:r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</a:rPr>
              <a:t>&gt; </a:t>
            </a:r>
            <a:r>
              <a:rPr lang="en-US" altLang="zh-TW" dirty="0">
                <a:solidFill>
                  <a:srgbClr val="0000FF"/>
                </a:solidFill>
                <a:ea typeface="新細明體" panose="02020500000000000000" pitchFamily="18" charset="-120"/>
              </a:rPr>
              <a:t>Hong Kong business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Result: </a:t>
            </a:r>
            <a:r>
              <a:rPr lang="en-US" altLang="zh-TW" dirty="0">
                <a:solidFill>
                  <a:srgbClr val="800000"/>
                </a:solidFill>
                <a:ea typeface="新細明體" panose="02020500000000000000" pitchFamily="18" charset="-120"/>
              </a:rPr>
              <a:t>&lt;doc#&gt; &lt;similarity score&gt;</a:t>
            </a: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61	0.872</a:t>
            </a: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ea typeface="新細明體" panose="02020500000000000000" pitchFamily="18" charset="-120"/>
              </a:rPr>
              <a:t>35	0.643</a:t>
            </a: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ea typeface="新細明體" panose="02020500000000000000" pitchFamily="18" charset="-120"/>
              </a:rPr>
              <a:t>248	0.235</a:t>
            </a: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ea typeface="新細明體" panose="02020500000000000000" pitchFamily="18" charset="-120"/>
              </a:rPr>
              <a:t>190	0.176</a:t>
            </a: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</a:rPr>
              <a:t>…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 eaLnBrk="1" hangingPunct="1"/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8988F09-2AD0-FAE0-B8CF-7C258644C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Optional Features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134FCA2-1D76-09F4-79A0-9FD7FD63A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Since we have positional information in our index, it’s possible to implement optional functions such as: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Complex queries: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phrase, wildcard, substring, proximity search, combinations of Boolean operators</a:t>
            </a:r>
            <a:r>
              <a:rPr lang="en-US" altLang="zh-TW" sz="2400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…</a:t>
            </a:r>
            <a:r>
              <a:rPr lang="en-US" altLang="zh-TW" sz="2400" dirty="0">
                <a:ea typeface="新細明體" panose="02020500000000000000" pitchFamily="18" charset="-120"/>
              </a:rPr>
              <a:t> (Ch.2 &amp; 3)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Query processing: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spell-correction, phonetic correction</a:t>
            </a:r>
            <a:r>
              <a:rPr lang="en-US" altLang="zh-TW" sz="2400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…</a:t>
            </a:r>
            <a:r>
              <a:rPr lang="en-US" altLang="zh-TW" sz="2400" dirty="0">
                <a:ea typeface="新細明體" panose="02020500000000000000" pitchFamily="18" charset="-120"/>
              </a:rPr>
              <a:t> (Ch.3)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Different term weighting schemes: variants of TF-IDF, 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…</a:t>
            </a:r>
            <a:r>
              <a:rPr lang="en-US" altLang="zh-TW" sz="2400" dirty="0">
                <a:ea typeface="新細明體" panose="02020500000000000000" pitchFamily="18" charset="-120"/>
              </a:rPr>
              <a:t> (Ch.6)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In-exact top-</a:t>
            </a:r>
            <a:r>
              <a:rPr lang="en-US" altLang="zh-TW" sz="2400" i="1" dirty="0">
                <a:ea typeface="新細明體" panose="02020500000000000000" pitchFamily="18" charset="-120"/>
              </a:rPr>
              <a:t>k</a:t>
            </a:r>
            <a:r>
              <a:rPr lang="en-US" altLang="zh-TW" sz="2400" dirty="0">
                <a:ea typeface="新細明體" panose="02020500000000000000" pitchFamily="18" charset="-120"/>
              </a:rPr>
              <a:t> retrieval: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index elimination, champion lists, impact-ordering, tiered index</a:t>
            </a:r>
            <a:r>
              <a:rPr lang="en-US" altLang="zh-TW" sz="2400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</a:rPr>
              <a:t>…</a:t>
            </a:r>
            <a:r>
              <a:rPr lang="en-US" altLang="zh-TW" sz="2400" dirty="0">
                <a:ea typeface="新細明體" panose="02020500000000000000" pitchFamily="18" charset="-120"/>
              </a:rPr>
              <a:t> (Ch.7)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Better user interface for search: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Web or App, highlighting query terms, …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88F746C-489B-0324-E9A1-8887B2EC9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Submission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A3D6A25-3036-4948-DB54-DB3D3B123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Your submission *must* include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charset="-120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ea typeface="新細明體" charset="-120"/>
              </a:rPr>
              <a:t>source code</a:t>
            </a:r>
            <a:r>
              <a:rPr lang="en-US" altLang="zh-TW" sz="2400" dirty="0">
                <a:ea typeface="新細明體" charset="-120"/>
              </a:rPr>
              <a:t> </a:t>
            </a:r>
            <a:r>
              <a:rPr lang="en-US" altLang="zh-TW" sz="2400" dirty="0">
                <a:ea typeface="新細明體" pitchFamily="18" charset="-120"/>
              </a:rPr>
              <a:t>(and your configurations of extra libraries)</a:t>
            </a:r>
            <a:endParaRPr lang="en-US" altLang="zh-TW" sz="2400" dirty="0">
              <a:ea typeface="新細明體" charset="-120"/>
            </a:endParaRPr>
          </a:p>
          <a:p>
            <a:pPr lvl="2" eaLnBrk="1" hangingPunct="1">
              <a:defRPr/>
            </a:pPr>
            <a:r>
              <a:rPr lang="en-US" altLang="zh-TW" sz="2000" dirty="0">
                <a:ea typeface="新細明體" pitchFamily="18" charset="-120"/>
              </a:rPr>
              <a:t>For utilizing open source tools, please also submit your source code on calling the APIs or libraries</a:t>
            </a:r>
            <a:endParaRPr lang="en-US" altLang="zh-TW" sz="2000" dirty="0">
              <a:ea typeface="新細明體" charset="-120"/>
            </a:endParaRPr>
          </a:p>
          <a:p>
            <a:pPr lvl="1" eaLnBrk="1" hangingPunct="1">
              <a:defRPr/>
            </a:pPr>
            <a:r>
              <a:rPr lang="en-US" altLang="zh-TW" sz="2400" dirty="0">
                <a:ea typeface="新細明體" charset="-120"/>
              </a:rPr>
              <a:t>The output: a </a:t>
            </a:r>
            <a:r>
              <a:rPr lang="en-US" altLang="zh-TW" sz="2400" dirty="0">
                <a:solidFill>
                  <a:srgbClr val="0000FF"/>
                </a:solidFill>
                <a:ea typeface="新細明體" charset="-120"/>
              </a:rPr>
              <a:t>ranked list of search results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charset="-120"/>
              </a:rPr>
              <a:t>A </a:t>
            </a:r>
            <a:r>
              <a:rPr lang="en-US" altLang="zh-TW" sz="2400" dirty="0">
                <a:solidFill>
                  <a:srgbClr val="0000FF"/>
                </a:solidFill>
                <a:ea typeface="新細明體" charset="-120"/>
              </a:rPr>
              <a:t>one-page documentation</a:t>
            </a:r>
            <a:r>
              <a:rPr lang="en-US" altLang="zh-TW" sz="2400" dirty="0">
                <a:ea typeface="新細明體" charset="-120"/>
              </a:rPr>
              <a:t> including</a:t>
            </a:r>
          </a:p>
          <a:p>
            <a:pPr lvl="2" eaLnBrk="1" hangingPunct="1">
              <a:defRPr/>
            </a:pPr>
            <a:r>
              <a:rPr lang="en-US" altLang="zh-TW" sz="2000" b="1" dirty="0">
                <a:ea typeface="新細明體" charset="-120"/>
              </a:rPr>
              <a:t>Major features</a:t>
            </a:r>
            <a:r>
              <a:rPr lang="en-US" altLang="zh-TW" sz="2000" dirty="0">
                <a:ea typeface="新細明體" charset="-120"/>
              </a:rPr>
              <a:t>: ex: high efficiency, low storage, multiple input formats, huge corpus, …</a:t>
            </a:r>
          </a:p>
          <a:p>
            <a:pPr lvl="2" eaLnBrk="1" hangingPunct="1">
              <a:defRPr/>
            </a:pPr>
            <a:r>
              <a:rPr lang="en-US" altLang="zh-TW" sz="2000" b="1" dirty="0">
                <a:ea typeface="新細明體" charset="-120"/>
              </a:rPr>
              <a:t>Major difficulties encountered</a:t>
            </a:r>
          </a:p>
          <a:p>
            <a:pPr lvl="2" eaLnBrk="1" hangingPunct="1">
              <a:defRPr/>
            </a:pPr>
            <a:r>
              <a:rPr lang="en-US" altLang="zh-TW" sz="2000" dirty="0">
                <a:ea typeface="新細明體" charset="-120"/>
              </a:rPr>
              <a:t>Special requirements for execution environments (ex: Java Runtime Environment, special compilers, library functions, …)</a:t>
            </a:r>
          </a:p>
          <a:p>
            <a:pPr lvl="2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  <a:ea typeface="新細明體" charset="-120"/>
              </a:rPr>
              <a:t>Team members list</a:t>
            </a:r>
            <a:r>
              <a:rPr lang="en-US" altLang="zh-TW" sz="2000" dirty="0">
                <a:ea typeface="新細明體" charset="-120"/>
              </a:rPr>
              <a:t>: the names and the responsible parts of each individual member *must* be clearly identified</a:t>
            </a:r>
            <a:endParaRPr lang="en-US" altLang="zh-TW" sz="2000" dirty="0">
              <a:solidFill>
                <a:srgbClr val="0000FF"/>
              </a:solidFill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Due: </a:t>
            </a:r>
            <a:r>
              <a:rPr lang="en-US" altLang="zh-TW" sz="2800" dirty="0">
                <a:solidFill>
                  <a:srgbClr val="0000FF"/>
                </a:solidFill>
                <a:ea typeface="新細明體" charset="-120"/>
              </a:rPr>
              <a:t>three weeks</a:t>
            </a:r>
            <a:r>
              <a:rPr lang="en-US" altLang="zh-TW" sz="2800" dirty="0">
                <a:ea typeface="新細明體" charset="-120"/>
              </a:rPr>
              <a:t> (</a:t>
            </a:r>
            <a:r>
              <a:rPr lang="en-US" altLang="zh-TW" sz="2800" dirty="0">
                <a:solidFill>
                  <a:srgbClr val="FF0000"/>
                </a:solidFill>
                <a:ea typeface="新細明體" charset="-120"/>
              </a:rPr>
              <a:t>Nov. 18, 2026</a:t>
            </a:r>
            <a:r>
              <a:rPr lang="en-US" altLang="zh-TW" sz="2800" dirty="0">
                <a:ea typeface="新細明體" charset="-12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5BB2791-A237-9595-4EC5-E1218AD2A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Submission Instructions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985A25F-5720-F8C6-457B-DB9EAB55F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Source codes and related documentation must be submitted directly on the submission site: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Submission site:</a:t>
            </a:r>
            <a:r>
              <a:rPr lang="zh-TW" altLang="en-US" sz="2400" dirty="0">
                <a:ea typeface="新細明體" panose="02020500000000000000" pitchFamily="18" charset="-120"/>
              </a:rPr>
              <a:t> </a:t>
            </a:r>
            <a:r>
              <a:rPr lang="en-US" altLang="zh-TW" sz="2400" b="1" dirty="0" err="1">
                <a:solidFill>
                  <a:srgbClr val="0000FF"/>
                </a:solidFill>
                <a:ea typeface="新細明體" panose="02020500000000000000" pitchFamily="18" charset="-120"/>
              </a:rPr>
              <a:t>iSchool</a:t>
            </a:r>
            <a:r>
              <a:rPr lang="en-US" altLang="zh-TW" sz="2400" b="1" dirty="0">
                <a:solidFill>
                  <a:srgbClr val="0000FF"/>
                </a:solidFill>
                <a:ea typeface="新細明體" panose="02020500000000000000" pitchFamily="18" charset="-120"/>
              </a:rPr>
              <a:t>+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Preparing your submission file: as </a:t>
            </a:r>
            <a:r>
              <a:rPr lang="en-US" altLang="zh-TW" sz="2400" b="1" i="1" dirty="0">
                <a:solidFill>
                  <a:srgbClr val="0000FF"/>
                </a:solidFill>
                <a:ea typeface="新細明體" panose="02020500000000000000" pitchFamily="18" charset="-120"/>
              </a:rPr>
              <a:t>one single compressed file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Name your file according to your ID such as &lt;ID&gt;_HW2.zip.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Remember to specify </a:t>
            </a:r>
            <a:r>
              <a:rPr lang="en-US" altLang="zh-TW" sz="2000" dirty="0">
                <a:solidFill>
                  <a:srgbClr val="0000FF"/>
                </a:solidFill>
                <a:ea typeface="新細明體" panose="02020500000000000000" pitchFamily="18" charset="-120"/>
              </a:rPr>
              <a:t>the names of your</a:t>
            </a:r>
            <a:r>
              <a:rPr lang="en-US" altLang="zh-TW" sz="2000" dirty="0">
                <a:ea typeface="新細明體" panose="02020500000000000000" pitchFamily="18" charset="-120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ea typeface="新細明體" panose="02020500000000000000" pitchFamily="18" charset="-120"/>
              </a:rPr>
              <a:t>team members and student ID</a:t>
            </a:r>
            <a:r>
              <a:rPr lang="en-US" altLang="zh-TW" sz="2000" dirty="0">
                <a:ea typeface="新細明體" panose="02020500000000000000" pitchFamily="18" charset="-120"/>
              </a:rPr>
              <a:t> in the files and documentation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If you cannot successfully submit your work, please contact with the TA (</a:t>
            </a:r>
            <a:r>
              <a:rPr lang="en-US" altLang="zh-TW" sz="2400" dirty="0" err="1">
                <a:ea typeface="新細明體" pitchFamily="18" charset="-120"/>
              </a:rPr>
              <a:t>Ms.Hsu</a:t>
            </a:r>
            <a:r>
              <a:rPr lang="en-US" altLang="zh-TW" sz="2400" dirty="0">
                <a:ea typeface="新細明體" pitchFamily="18" charset="-120"/>
              </a:rPr>
              <a:t> &amp; </a:t>
            </a:r>
            <a:r>
              <a:rPr lang="en-US" altLang="zh-TW" sz="2400" dirty="0" err="1">
                <a:ea typeface="新細明體" pitchFamily="18" charset="-120"/>
              </a:rPr>
              <a:t>Ms.Liao</a:t>
            </a:r>
            <a:r>
              <a:rPr lang="en-US" altLang="zh-TW" sz="2400" dirty="0">
                <a:ea typeface="新細明體" pitchFamily="18" charset="-120"/>
              </a:rPr>
              <a:t> @ R1424, Technology Building)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3BC4E7E-FAFD-76C5-52DF-0E1F85688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Evaluation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E75CFE0-3A5F-F96A-2D56-1DA8A7D8A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i="1">
                <a:ea typeface="新細明體" panose="02020500000000000000" pitchFamily="18" charset="-120"/>
              </a:rPr>
              <a:t>Minimum</a:t>
            </a:r>
            <a:r>
              <a:rPr lang="en-US" altLang="zh-TW" sz="2800">
                <a:ea typeface="新細明體" panose="02020500000000000000" pitchFamily="18" charset="-120"/>
              </a:rPr>
              <a:t> requirement: </a:t>
            </a:r>
            <a:r>
              <a:rPr lang="en-US" altLang="zh-TW" sz="2800">
                <a:solidFill>
                  <a:srgbClr val="0000FF"/>
                </a:solidFill>
                <a:ea typeface="新細明體" panose="02020500000000000000" pitchFamily="18" charset="-120"/>
              </a:rPr>
              <a:t>correctness for simple queries</a:t>
            </a:r>
          </a:p>
          <a:p>
            <a:pPr lvl="1" eaLnBrk="1" hangingPunct="1"/>
            <a:r>
              <a:rPr lang="en-US" altLang="zh-TW" sz="2400">
                <a:ea typeface="新細明體" panose="02020500000000000000" pitchFamily="18" charset="-120"/>
              </a:rPr>
              <a:t>Selected queries from the </a:t>
            </a:r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ClueWeb09 Test Collection </a:t>
            </a:r>
            <a:r>
              <a:rPr lang="en-US" altLang="zh-TW" sz="2400">
                <a:ea typeface="新細明體" panose="02020500000000000000" pitchFamily="18" charset="-120"/>
              </a:rPr>
              <a:t>will be submitted to your program, and the ranked list will be checked for correctness</a:t>
            </a:r>
          </a:p>
          <a:p>
            <a:pPr eaLnBrk="1" hangingPunct="1"/>
            <a:r>
              <a:rPr lang="en-US" altLang="zh-TW" sz="2800">
                <a:ea typeface="新細明體" panose="02020500000000000000" pitchFamily="18" charset="-120"/>
              </a:rPr>
              <a:t>Optional features will be counted as bonus</a:t>
            </a:r>
          </a:p>
          <a:p>
            <a:pPr lvl="1" eaLnBrk="1" hangingPunct="1"/>
            <a:r>
              <a:rPr lang="en-US" altLang="zh-TW" sz="2400">
                <a:ea typeface="新細明體" panose="02020500000000000000" pitchFamily="18" charset="-120"/>
              </a:rPr>
              <a:t>Variety in query types, weighting schemes, efficiency of scoring and ranking, …</a:t>
            </a:r>
          </a:p>
          <a:p>
            <a:pPr eaLnBrk="1" hangingPunct="1"/>
            <a:r>
              <a:rPr lang="en-US" altLang="zh-TW" sz="2800">
                <a:ea typeface="新細明體" panose="02020500000000000000" pitchFamily="18" charset="-120"/>
              </a:rPr>
              <a:t>You might be required to demo if the program submitted was unable to compile or run by the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D2B0619-5FDC-9274-137F-C4AF1BBA1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Any Questions or Comments?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8C8D9BF-D8D1-EC46-74A3-5FA93AF11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</TotalTime>
  <Words>625</Words>
  <Application>Microsoft Office PowerPoint</Application>
  <PresentationFormat>如螢幕大小 (4:3)</PresentationFormat>
  <Paragraphs>72</Paragraphs>
  <Slides>10</Slides>
  <Notes>10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新細明體</vt:lpstr>
      <vt:lpstr>Arial</vt:lpstr>
      <vt:lpstr>Book Antiqua</vt:lpstr>
      <vt:lpstr>預設簡報設計</vt:lpstr>
      <vt:lpstr>方程式</vt:lpstr>
      <vt:lpstr>IR Homework #2</vt:lpstr>
      <vt:lpstr>Programming Exercise #2:   Query Processing and Searching</vt:lpstr>
      <vt:lpstr>Input: User Query and Inverted Index</vt:lpstr>
      <vt:lpstr>Output: Ranked Search Results</vt:lpstr>
      <vt:lpstr>Example Output</vt:lpstr>
      <vt:lpstr>Optional Features</vt:lpstr>
      <vt:lpstr>Submission</vt:lpstr>
      <vt:lpstr>Submission Instructions</vt:lpstr>
      <vt:lpstr>Evaluation</vt:lpstr>
      <vt:lpstr>Any Questions or Comments?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Jenq-Haur Wang</dc:creator>
  <cp:lastModifiedBy>王正豪</cp:lastModifiedBy>
  <cp:revision>92</cp:revision>
  <cp:lastPrinted>1601-01-01T00:00:00Z</cp:lastPrinted>
  <dcterms:created xsi:type="dcterms:W3CDTF">1601-01-01T00:00:00Z</dcterms:created>
  <dcterms:modified xsi:type="dcterms:W3CDTF">2026-10-23T02:46:12Z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