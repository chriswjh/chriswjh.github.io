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8" r:id="rId6"/>
    <p:sldId id="269" r:id="rId7"/>
    <p:sldId id="263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92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97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042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06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2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52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9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42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9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44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3D06D-798D-41B2-8E09-945CDEC492DF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D3188-31C8-4289-BF43-961C2C4CF5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5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hinknook.com/wp-content/uploads/2012/09/Sentiment-Analysis-Dataset.zip" TargetMode="External"/><Relationship Id="rId2" Type="http://schemas.openxmlformats.org/officeDocument/2006/relationships/hyperlink" Target="https://huggingface.co/datasets/carblacac/twitter-sentiment-analysi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Natural Language Processing and Text Mining: HW#1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By J. H. Wang</a:t>
            </a:r>
          </a:p>
          <a:p>
            <a:r>
              <a:rPr lang="en-US" altLang="zh-TW" dirty="0"/>
              <a:t>Mar. 26, 2026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186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Programming Exercise: Sentiment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Goal: </a:t>
            </a:r>
            <a:r>
              <a:rPr lang="en-US" altLang="zh-TW" dirty="0">
                <a:solidFill>
                  <a:srgbClr val="0000FF"/>
                </a:solidFill>
              </a:rPr>
              <a:t>Sentiment classification </a:t>
            </a:r>
            <a:r>
              <a:rPr lang="en-US" altLang="zh-TW" dirty="0"/>
              <a:t>on open source datasets</a:t>
            </a:r>
          </a:p>
          <a:p>
            <a:endParaRPr lang="en-US" altLang="zh-TW" dirty="0"/>
          </a:p>
          <a:p>
            <a:r>
              <a:rPr lang="en-US" altLang="zh-TW" dirty="0"/>
              <a:t>Input: TSATC: Twitter Sentiment Analysis Training Corpus (to be detailed later)</a:t>
            </a:r>
            <a:endParaRPr lang="en-US" altLang="zh-TW" i="1" dirty="0">
              <a:solidFill>
                <a:srgbClr val="0000FF"/>
              </a:solidFill>
            </a:endParaRPr>
          </a:p>
          <a:p>
            <a:pPr lvl="1"/>
            <a:endParaRPr lang="en-US" altLang="zh-TW" dirty="0"/>
          </a:p>
          <a:p>
            <a:r>
              <a:rPr lang="en-US" altLang="zh-TW" dirty="0"/>
              <a:t>Output: Training classifiers to classify the sentiment of tweets (to be detailed later)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6824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Tasks and Data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Tasks</a:t>
            </a:r>
          </a:p>
          <a:p>
            <a:pPr lvl="1"/>
            <a:r>
              <a:rPr lang="en-US" altLang="zh-TW" dirty="0"/>
              <a:t>Performing sentiment classification on twitter data (as detailed in the following slides)</a:t>
            </a:r>
          </a:p>
          <a:p>
            <a:endParaRPr lang="en-US" altLang="zh-TW" dirty="0"/>
          </a:p>
          <a:p>
            <a:r>
              <a:rPr lang="en-US" altLang="zh-TW" dirty="0"/>
              <a:t>Data: an open dataset from </a:t>
            </a:r>
            <a:r>
              <a:rPr lang="en-US" altLang="zh-TW" dirty="0" err="1">
                <a:solidFill>
                  <a:srgbClr val="0000FF"/>
                </a:solidFill>
              </a:rPr>
              <a:t>Huggingface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endParaRPr lang="en-US" altLang="zh-TW" dirty="0"/>
          </a:p>
          <a:p>
            <a:r>
              <a:rPr lang="en-US" altLang="zh-TW" dirty="0"/>
              <a:t>You have to submit the classification output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600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Data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Data: </a:t>
            </a:r>
          </a:p>
          <a:p>
            <a:pPr lvl="1"/>
            <a:r>
              <a:rPr lang="en-US" altLang="zh-TW" dirty="0"/>
              <a:t>[</a:t>
            </a:r>
            <a:r>
              <a:rPr lang="en-US" altLang="zh-TW" b="1" dirty="0"/>
              <a:t>TSATC: Twitter Sentiment Analysis Training Corpus</a:t>
            </a:r>
            <a:r>
              <a:rPr lang="en-US" altLang="zh-TW" dirty="0"/>
              <a:t>] from Hugging Face</a:t>
            </a:r>
          </a:p>
          <a:p>
            <a:pPr lvl="2"/>
            <a:r>
              <a:rPr lang="en-US" altLang="zh-TW" dirty="0"/>
              <a:t>1,578,627 tweets, about 153MB in size</a:t>
            </a:r>
          </a:p>
          <a:p>
            <a:pPr lvl="1"/>
            <a:r>
              <a:rPr lang="en-US" altLang="zh-TW" dirty="0"/>
              <a:t>Details:</a:t>
            </a:r>
          </a:p>
          <a:p>
            <a:pPr lvl="2"/>
            <a:r>
              <a:rPr lang="en-US" altLang="zh-TW" dirty="0">
                <a:hlinkClick r:id="rId2"/>
              </a:rPr>
              <a:t>https://huggingface.co/datasets/carblacac/twitter-sentiment-analysis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Available at:</a:t>
            </a:r>
          </a:p>
          <a:p>
            <a:pPr lvl="2"/>
            <a:r>
              <a:rPr lang="en-US" altLang="zh-TW" dirty="0">
                <a:hlinkClick r:id="rId3"/>
              </a:rPr>
              <a:t>https://thinknook.com/wp-content/uploads/2012/09/Sentiment-Analysis-Dataset.zip</a:t>
            </a:r>
            <a:r>
              <a:rPr lang="en-US" altLang="zh-TW" dirty="0"/>
              <a:t> </a:t>
            </a:r>
          </a:p>
          <a:p>
            <a:r>
              <a:rPr lang="en-US" altLang="zh-TW" dirty="0"/>
              <a:t>Format: </a:t>
            </a:r>
          </a:p>
          <a:p>
            <a:pPr lvl="1"/>
            <a:r>
              <a:rPr lang="en-US" altLang="zh-TW" dirty="0"/>
              <a:t>One CSV file consisting of lines of records</a:t>
            </a:r>
          </a:p>
          <a:p>
            <a:pPr lvl="1"/>
            <a:r>
              <a:rPr lang="en-US" altLang="zh-TW" dirty="0"/>
              <a:t>Each record contains 4 columns: </a:t>
            </a:r>
            <a:br>
              <a:rPr lang="en-US" altLang="zh-TW" dirty="0"/>
            </a:br>
            <a:r>
              <a:rPr lang="en-US" altLang="zh-TW" dirty="0" err="1"/>
              <a:t>ItemID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Sentiment</a:t>
            </a:r>
            <a:r>
              <a:rPr lang="en-US" altLang="zh-TW" dirty="0"/>
              <a:t>, </a:t>
            </a:r>
            <a:r>
              <a:rPr lang="en-US" altLang="zh-TW" dirty="0" err="1"/>
              <a:t>SentimentSource</a:t>
            </a:r>
            <a:r>
              <a:rPr lang="en-US" altLang="zh-TW" dirty="0"/>
              <a:t>, </a:t>
            </a:r>
            <a:r>
              <a:rPr lang="en-US" altLang="zh-TW" dirty="0" err="1">
                <a:solidFill>
                  <a:srgbClr val="FF0000"/>
                </a:solidFill>
              </a:rPr>
              <a:t>SentimentText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79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Tasks in this Homework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To train a classifier using the training set in any programming language</a:t>
            </a:r>
          </a:p>
          <a:p>
            <a:pPr lvl="1"/>
            <a:r>
              <a:rPr lang="en-US" altLang="zh-TW" dirty="0"/>
              <a:t>You can simply implement a simple logistic regression classifier</a:t>
            </a:r>
          </a:p>
          <a:p>
            <a:pPr lvl="1"/>
            <a:r>
              <a:rPr lang="en-US" altLang="zh-TW" dirty="0"/>
              <a:t>Or you can also call existing APIs in your program</a:t>
            </a:r>
          </a:p>
          <a:p>
            <a:r>
              <a:rPr lang="en-US" altLang="zh-TW" dirty="0"/>
              <a:t>To test the classification result for the test set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5469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 Format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Classification results</a:t>
            </a:r>
          </a:p>
          <a:p>
            <a:pPr lvl="1"/>
            <a:r>
              <a:rPr lang="en-US" altLang="zh-TW" dirty="0"/>
              <a:t>Precision</a:t>
            </a:r>
          </a:p>
          <a:p>
            <a:pPr lvl="1"/>
            <a:r>
              <a:rPr lang="en-US" altLang="zh-TW" dirty="0"/>
              <a:t>Recall</a:t>
            </a:r>
          </a:p>
          <a:p>
            <a:pPr lvl="1"/>
            <a:r>
              <a:rPr lang="en-US" altLang="zh-TW" dirty="0"/>
              <a:t>F-measure</a:t>
            </a:r>
          </a:p>
          <a:p>
            <a:pPr lvl="1"/>
            <a:r>
              <a:rPr lang="en-US" altLang="zh-TW" dirty="0"/>
              <a:t>Accuracy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103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Submission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Due: </a:t>
            </a:r>
            <a:r>
              <a:rPr lang="en-US" altLang="zh-TW" dirty="0">
                <a:solidFill>
                  <a:srgbClr val="FF0000"/>
                </a:solidFill>
              </a:rPr>
              <a:t>Apr. 9, 2026 (Thu.)</a:t>
            </a:r>
          </a:p>
          <a:p>
            <a:endParaRPr lang="en-US" altLang="zh-TW" dirty="0"/>
          </a:p>
          <a:p>
            <a:r>
              <a:rPr lang="en-US" altLang="zh-TW" dirty="0"/>
              <a:t>For programming exercises, please submit it online to </a:t>
            </a:r>
            <a:r>
              <a:rPr lang="en-US" altLang="zh-TW" dirty="0" err="1">
                <a:solidFill>
                  <a:srgbClr val="0000FF"/>
                </a:solidFill>
              </a:rPr>
              <a:t>iSchool</a:t>
            </a:r>
            <a:r>
              <a:rPr lang="en-US" altLang="zh-TW" dirty="0">
                <a:solidFill>
                  <a:srgbClr val="0000FF"/>
                </a:solidFill>
              </a:rPr>
              <a:t>+</a:t>
            </a:r>
          </a:p>
          <a:p>
            <a:pPr lvl="1"/>
            <a:r>
              <a:rPr lang="en-US" altLang="zh-TW" dirty="0"/>
              <a:t>Under the item [Assignments]\[HW#1]</a:t>
            </a:r>
          </a:p>
          <a:p>
            <a:endParaRPr lang="en-US" altLang="zh-TW" dirty="0"/>
          </a:p>
          <a:p>
            <a:r>
              <a:rPr lang="en-US" altLang="zh-TW" dirty="0"/>
              <a:t>Please include program source codes and documents</a:t>
            </a:r>
          </a:p>
          <a:p>
            <a:pPr lvl="1"/>
            <a:r>
              <a:rPr lang="en-US" altLang="zh-TW" dirty="0"/>
              <a:t>Specifying your team members and responsible parts in the homework</a:t>
            </a:r>
          </a:p>
          <a:p>
            <a:pPr lvl="1"/>
            <a:r>
              <a:rPr lang="en-US" altLang="zh-TW" dirty="0"/>
              <a:t>Indicating configuration and installation steps of necessary packages on the specified platform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169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Attention!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1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294</Words>
  <Application>Microsoft Office PowerPoint</Application>
  <PresentationFormat>寬螢幕</PresentationFormat>
  <Paragraphs>50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Natural Language Processing and Text Mining: HW#1</vt:lpstr>
      <vt:lpstr>Programming Exercise: Sentiment Analysis</vt:lpstr>
      <vt:lpstr>Tasks and Data </vt:lpstr>
      <vt:lpstr>Input Data </vt:lpstr>
      <vt:lpstr>Tasks in this Homework</vt:lpstr>
      <vt:lpstr>Output Format</vt:lpstr>
      <vt:lpstr>Homework Submission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HW#1</dc:title>
  <dc:creator>jhwang</dc:creator>
  <cp:lastModifiedBy>王正豪</cp:lastModifiedBy>
  <cp:revision>28</cp:revision>
  <dcterms:created xsi:type="dcterms:W3CDTF">2017-03-16T10:08:31Z</dcterms:created>
  <dcterms:modified xsi:type="dcterms:W3CDTF">2026-03-20T09:43:48Z</dcterms:modified>
</cp:coreProperties>
</file>