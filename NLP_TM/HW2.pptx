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72" r:id="rId5"/>
    <p:sldId id="266" r:id="rId6"/>
    <p:sldId id="276" r:id="rId7"/>
    <p:sldId id="275" r:id="rId8"/>
    <p:sldId id="268" r:id="rId9"/>
    <p:sldId id="271" r:id="rId10"/>
    <p:sldId id="269" r:id="rId11"/>
    <p:sldId id="273" r:id="rId12"/>
    <p:sldId id="274" r:id="rId13"/>
    <p:sldId id="263" r:id="rId14"/>
    <p:sldId id="270" r:id="rId15"/>
    <p:sldId id="262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92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797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042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006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32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752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19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42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9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644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3D06D-798D-41B2-8E09-945CDEC492D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5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h295.github.io/simlex.html" TargetMode="External"/><Relationship Id="rId2" Type="http://schemas.openxmlformats.org/officeDocument/2006/relationships/hyperlink" Target="https://gabrilovich.com/resources/data/wordsim353/wordsim353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vecto.space/projects/BATS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nlp.stanford.edu/projects/glove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lweb.org/anthology/N/N16/N16-2002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Natural Language Processing and Text Mining: HW#2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By J. H. Wang</a:t>
            </a:r>
          </a:p>
          <a:p>
            <a:r>
              <a:rPr lang="en-US" altLang="zh-TW" dirty="0"/>
              <a:t>Apr. 13, 2026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1868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Programming Exercise #2: Word </a:t>
            </a:r>
            <a:r>
              <a:rPr lang="en-US" altLang="zh-TW" dirty="0" err="1"/>
              <a:t>Embeddings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Goal: </a:t>
            </a:r>
            <a:r>
              <a:rPr lang="en-US" altLang="zh-TW" dirty="0">
                <a:solidFill>
                  <a:srgbClr val="0000FF"/>
                </a:solidFill>
              </a:rPr>
              <a:t>Deriving word embeddings for word similarity estimation and analogy prediction </a:t>
            </a:r>
            <a:r>
              <a:rPr lang="en-US" altLang="zh-TW" dirty="0"/>
              <a:t>on open datasets</a:t>
            </a:r>
          </a:p>
          <a:p>
            <a:endParaRPr lang="en-US" altLang="zh-TW" dirty="0"/>
          </a:p>
          <a:p>
            <a:r>
              <a:rPr lang="en-US" altLang="zh-TW" dirty="0"/>
              <a:t>Input: (to be detailed later)</a:t>
            </a:r>
          </a:p>
          <a:p>
            <a:pPr lvl="1"/>
            <a:r>
              <a:rPr lang="en-US" altLang="zh-TW" i="1" dirty="0">
                <a:solidFill>
                  <a:srgbClr val="0000FF"/>
                </a:solidFill>
              </a:rPr>
              <a:t>Word </a:t>
            </a:r>
            <a:r>
              <a:rPr lang="en-US" altLang="zh-TW" i="1" dirty="0" err="1">
                <a:solidFill>
                  <a:srgbClr val="0000FF"/>
                </a:solidFill>
              </a:rPr>
              <a:t>embeddings</a:t>
            </a:r>
            <a:r>
              <a:rPr lang="en-US" altLang="zh-TW" i="1" dirty="0">
                <a:solidFill>
                  <a:srgbClr val="0000FF"/>
                </a:solidFill>
              </a:rPr>
              <a:t>: fine-tuning </a:t>
            </a:r>
            <a:r>
              <a:rPr lang="en-US" altLang="zh-TW" i="1" dirty="0" err="1">
                <a:solidFill>
                  <a:srgbClr val="0000FF"/>
                </a:solidFill>
              </a:rPr>
              <a:t>pretrained</a:t>
            </a:r>
            <a:r>
              <a:rPr lang="en-US" altLang="zh-TW" i="1" dirty="0">
                <a:solidFill>
                  <a:srgbClr val="0000FF"/>
                </a:solidFill>
              </a:rPr>
              <a:t> models, or trained on your own</a:t>
            </a:r>
          </a:p>
          <a:p>
            <a:pPr lvl="1"/>
            <a:r>
              <a:rPr lang="en-US" altLang="zh-TW" i="1" dirty="0"/>
              <a:t>Text datasets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Output: (to be detailed later)</a:t>
            </a:r>
          </a:p>
          <a:p>
            <a:pPr lvl="1"/>
            <a:r>
              <a:rPr lang="en-US" altLang="zh-TW" dirty="0"/>
              <a:t>Results of word similarity and analogy prediction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6824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Tasks and Data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Tasks</a:t>
            </a:r>
          </a:p>
          <a:p>
            <a:pPr lvl="1"/>
            <a:r>
              <a:rPr lang="en-US" altLang="zh-TW" dirty="0"/>
              <a:t>Deriving word </a:t>
            </a:r>
            <a:r>
              <a:rPr lang="en-US" altLang="zh-TW" dirty="0" err="1"/>
              <a:t>embeddings</a:t>
            </a:r>
            <a:r>
              <a:rPr lang="en-US" altLang="zh-TW" dirty="0"/>
              <a:t> for estimating </a:t>
            </a:r>
            <a:r>
              <a:rPr lang="en-US" altLang="zh-TW" dirty="0">
                <a:solidFill>
                  <a:srgbClr val="0000FF"/>
                </a:solidFill>
              </a:rPr>
              <a:t>word similarity </a:t>
            </a:r>
            <a:r>
              <a:rPr lang="en-US" altLang="zh-TW" dirty="0"/>
              <a:t>and </a:t>
            </a:r>
            <a:r>
              <a:rPr lang="en-US" altLang="zh-TW" dirty="0">
                <a:solidFill>
                  <a:srgbClr val="0000FF"/>
                </a:solidFill>
              </a:rPr>
              <a:t>analogy prediction </a:t>
            </a:r>
            <a:r>
              <a:rPr lang="en-US" altLang="zh-TW" dirty="0"/>
              <a:t>on open data (as detailed in the following slides)</a:t>
            </a:r>
          </a:p>
          <a:p>
            <a:endParaRPr lang="en-US" altLang="zh-TW" dirty="0"/>
          </a:p>
          <a:p>
            <a:r>
              <a:rPr lang="en-US" altLang="zh-TW" dirty="0"/>
              <a:t>Data: open datasets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endParaRPr lang="en-US" altLang="zh-TW" dirty="0"/>
          </a:p>
          <a:p>
            <a:r>
              <a:rPr lang="en-US" altLang="zh-TW" dirty="0"/>
              <a:t>You have to submit the result of word similarity and analogy prediction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600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Word Embedding Models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Word2Vec</a:t>
            </a:r>
          </a:p>
          <a:p>
            <a:r>
              <a:rPr lang="en-US" altLang="zh-TW" dirty="0" err="1"/>
              <a:t>GloVe</a:t>
            </a:r>
            <a:endParaRPr lang="en-US" altLang="zh-TW" dirty="0"/>
          </a:p>
          <a:p>
            <a:r>
              <a:rPr lang="en-US" altLang="zh-TW" dirty="0" err="1"/>
              <a:t>fastText</a:t>
            </a:r>
            <a:endParaRPr lang="en-US" altLang="zh-TW" dirty="0"/>
          </a:p>
          <a:p>
            <a:r>
              <a:rPr lang="en-US" altLang="zh-TW" dirty="0"/>
              <a:t>…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521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 Data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Datasets: </a:t>
            </a:r>
          </a:p>
          <a:p>
            <a:pPr lvl="1"/>
            <a:r>
              <a:rPr lang="en-US" altLang="zh-TW" dirty="0"/>
              <a:t>[</a:t>
            </a:r>
            <a:r>
              <a:rPr lang="en-US" altLang="zh-TW" b="1" dirty="0"/>
              <a:t>WordSimilarity-353 Corpus</a:t>
            </a:r>
            <a:r>
              <a:rPr lang="en-US" altLang="zh-TW" dirty="0"/>
              <a:t>] by Evgeniy </a:t>
            </a:r>
            <a:r>
              <a:rPr lang="en-US" altLang="zh-TW" dirty="0" err="1"/>
              <a:t>Gabrilovich</a:t>
            </a:r>
            <a:endParaRPr lang="en-US" altLang="zh-TW" dirty="0"/>
          </a:p>
          <a:p>
            <a:pPr lvl="2"/>
            <a:r>
              <a:rPr lang="en-US" altLang="zh-TW" dirty="0"/>
              <a:t>Available at: </a:t>
            </a:r>
            <a:r>
              <a:rPr lang="en-US" altLang="zh-TW" dirty="0">
                <a:hlinkClick r:id="rId2"/>
              </a:rPr>
              <a:t>https://gabrilovich.com/resources/data/wordsim353/wordsim353.html</a:t>
            </a:r>
            <a:r>
              <a:rPr lang="en-US" altLang="zh-TW" dirty="0"/>
              <a:t> </a:t>
            </a:r>
          </a:p>
          <a:p>
            <a:pPr lvl="2"/>
            <a:r>
              <a:rPr lang="en-US" altLang="zh-TW" dirty="0"/>
              <a:t>Two sets of word pairs with human assigned relatedness judgement scores</a:t>
            </a:r>
          </a:p>
          <a:p>
            <a:pPr lvl="1"/>
            <a:r>
              <a:rPr lang="en-US" altLang="zh-TW" dirty="0"/>
              <a:t>[</a:t>
            </a:r>
            <a:r>
              <a:rPr lang="en-US" altLang="zh-TW" b="1" dirty="0"/>
              <a:t>SimLex-999 Corpus</a:t>
            </a:r>
            <a:r>
              <a:rPr lang="en-US" altLang="zh-TW" dirty="0"/>
              <a:t>] by Felix Hill</a:t>
            </a:r>
          </a:p>
          <a:p>
            <a:pPr lvl="2"/>
            <a:r>
              <a:rPr lang="en-US" altLang="zh-TW" dirty="0"/>
              <a:t>Available at: </a:t>
            </a:r>
            <a:r>
              <a:rPr lang="en-US" altLang="zh-TW" dirty="0">
                <a:hlinkClick r:id="rId3"/>
              </a:rPr>
              <a:t>https://fh295.github.io/simlex.html</a:t>
            </a:r>
            <a:endParaRPr lang="en-US" altLang="zh-TW" dirty="0"/>
          </a:p>
          <a:p>
            <a:pPr lvl="2"/>
            <a:r>
              <a:rPr lang="en-US" altLang="zh-TW" dirty="0"/>
              <a:t>Chosen pairs of words representing different ranges of similarity with either high or low association</a:t>
            </a:r>
          </a:p>
          <a:p>
            <a:pPr lvl="1"/>
            <a:r>
              <a:rPr lang="en-US" altLang="zh-TW" dirty="0"/>
              <a:t>[</a:t>
            </a:r>
            <a:r>
              <a:rPr lang="en-US" altLang="zh-TW" b="1" dirty="0"/>
              <a:t>Bigger Analogy Test Set (BATS)</a:t>
            </a:r>
            <a:r>
              <a:rPr lang="en-US" altLang="zh-TW" dirty="0"/>
              <a:t>] by </a:t>
            </a:r>
            <a:r>
              <a:rPr lang="hsb-DE" altLang="zh-TW" dirty="0"/>
              <a:t>Vecto team</a:t>
            </a:r>
          </a:p>
          <a:p>
            <a:pPr lvl="2"/>
            <a:r>
              <a:rPr lang="en-US" altLang="zh-TW" dirty="0"/>
              <a:t>Available at: </a:t>
            </a:r>
            <a:r>
              <a:rPr lang="en-US" altLang="zh-TW" dirty="0">
                <a:hlinkClick r:id="rId4"/>
              </a:rPr>
              <a:t>http://vecto.space/projects/BATS/</a:t>
            </a:r>
            <a:r>
              <a:rPr lang="en-US" altLang="zh-TW" dirty="0"/>
              <a:t>  </a:t>
            </a:r>
          </a:p>
          <a:p>
            <a:pPr lvl="2"/>
            <a:r>
              <a:rPr lang="en-US" altLang="zh-TW" dirty="0"/>
              <a:t>98,000 questions in 40 morphological and semantic </a:t>
            </a:r>
            <a:r>
              <a:rPr lang="hsb-DE" altLang="zh-TW" dirty="0"/>
              <a:t>categories</a:t>
            </a:r>
            <a:endParaRPr lang="en-US" altLang="zh-TW" dirty="0"/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79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9077A2-B245-DC4B-40A0-79E503BD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 Data Format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B0EA8C-C24B-BA4B-52A7-C05C00395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Format: </a:t>
            </a:r>
          </a:p>
          <a:p>
            <a:pPr lvl="1"/>
            <a:r>
              <a:rPr lang="en-US" altLang="zh-TW" dirty="0"/>
              <a:t>WordSim-353: Each set is available in two formats: CSV or Tab-delimited</a:t>
            </a:r>
          </a:p>
          <a:p>
            <a:pPr lvl="2"/>
            <a:r>
              <a:rPr lang="en-US" altLang="zh-TW" dirty="0"/>
              <a:t>The first two columns: word pairs</a:t>
            </a:r>
          </a:p>
          <a:p>
            <a:pPr lvl="2"/>
            <a:r>
              <a:rPr lang="en-US" altLang="zh-TW" dirty="0"/>
              <a:t>The third column: mean score for similarity (word relatedness: 0-10)</a:t>
            </a:r>
          </a:p>
          <a:p>
            <a:pPr lvl="1"/>
            <a:r>
              <a:rPr lang="en-US" altLang="zh-TW" dirty="0"/>
              <a:t>SimLex-999: a tab separated plaintext file, where rows correspond to concept pairs and columns correspond to properties of each pair</a:t>
            </a:r>
          </a:p>
          <a:p>
            <a:pPr lvl="2"/>
            <a:r>
              <a:rPr lang="en-US" altLang="zh-TW" dirty="0"/>
              <a:t>Word1, word2, POS, SimLex-999, conc(w1), conc(w2), </a:t>
            </a:r>
            <a:r>
              <a:rPr lang="en-US" altLang="zh-TW" dirty="0" err="1"/>
              <a:t>concQ</a:t>
            </a:r>
            <a:r>
              <a:rPr lang="en-US" altLang="zh-TW" dirty="0"/>
              <a:t>, Assoc(USF), SimAssoc333, SD(</a:t>
            </a:r>
            <a:r>
              <a:rPr lang="en-US" altLang="zh-TW" dirty="0" err="1"/>
              <a:t>SimLex</a:t>
            </a:r>
            <a:r>
              <a:rPr lang="en-US" altLang="zh-TW" dirty="0"/>
              <a:t>) </a:t>
            </a:r>
          </a:p>
          <a:p>
            <a:pPr lvl="2"/>
            <a:r>
              <a:rPr lang="en-US" altLang="zh-TW" dirty="0"/>
              <a:t>POS: noun-noun, verb-verb, adj-adj pairs</a:t>
            </a:r>
          </a:p>
          <a:p>
            <a:pPr lvl="1"/>
            <a:r>
              <a:rPr lang="en-US" altLang="zh-TW" dirty="0"/>
              <a:t>BATS: Word pairs with 40 different relations in 40 files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5665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0832CF-CFF7-47DD-8BB4-66A867B5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Regarding BATS dataset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B3AF20-D36E-4695-A7A9-1F95D6872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Four types of analogy</a:t>
            </a:r>
          </a:p>
          <a:p>
            <a:pPr lvl="1"/>
            <a:r>
              <a:rPr lang="en-US" altLang="zh-TW" dirty="0"/>
              <a:t>Inflectional morphology</a:t>
            </a:r>
          </a:p>
          <a:p>
            <a:pPr lvl="2"/>
            <a:r>
              <a:rPr lang="en-US" altLang="zh-TW" dirty="0"/>
              <a:t>E.g. noun -&gt; plural, adj. -&gt; comparative, … </a:t>
            </a:r>
          </a:p>
          <a:p>
            <a:pPr lvl="1"/>
            <a:r>
              <a:rPr lang="en-US" altLang="zh-TW" dirty="0"/>
              <a:t>Derivational morphology</a:t>
            </a:r>
          </a:p>
          <a:p>
            <a:pPr lvl="2"/>
            <a:r>
              <a:rPr lang="en-US" altLang="zh-TW" dirty="0"/>
              <a:t>E.g. adj.+</a:t>
            </a:r>
            <a:r>
              <a:rPr lang="en-US" altLang="zh-TW" dirty="0" err="1"/>
              <a:t>ly</a:t>
            </a:r>
            <a:r>
              <a:rPr lang="en-US" altLang="zh-TW" dirty="0"/>
              <a:t>, </a:t>
            </a:r>
            <a:r>
              <a:rPr lang="en-US" altLang="zh-TW" dirty="0" err="1"/>
              <a:t>verb.+able</a:t>
            </a:r>
            <a:r>
              <a:rPr lang="en-US" altLang="zh-TW" dirty="0"/>
              <a:t>, …</a:t>
            </a:r>
          </a:p>
          <a:p>
            <a:pPr lvl="1"/>
            <a:r>
              <a:rPr lang="en-US" altLang="zh-TW" dirty="0"/>
              <a:t>Encyclopedic semantics</a:t>
            </a:r>
          </a:p>
          <a:p>
            <a:pPr lvl="2"/>
            <a:r>
              <a:rPr lang="en-US" altLang="zh-TW" dirty="0"/>
              <a:t>E.g. country – capital, male – female, …</a:t>
            </a:r>
          </a:p>
          <a:p>
            <a:pPr lvl="1"/>
            <a:r>
              <a:rPr lang="en-US" altLang="zh-TW" dirty="0"/>
              <a:t>Lexicographic semantics</a:t>
            </a:r>
          </a:p>
          <a:p>
            <a:pPr lvl="2"/>
            <a:r>
              <a:rPr lang="en-US" altLang="zh-TW" dirty="0"/>
              <a:t>E.g. hypernyms – animal, synonyms – exact, …</a:t>
            </a:r>
          </a:p>
          <a:p>
            <a:pPr lvl="2"/>
            <a:endParaRPr lang="en-US" altLang="zh-TW" dirty="0"/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1869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Tasks in this Homework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Tasks:</a:t>
            </a:r>
            <a:endParaRPr lang="en-US" altLang="zh-TW" dirty="0">
              <a:solidFill>
                <a:srgbClr val="0000FF"/>
              </a:solidFill>
            </a:endParaRPr>
          </a:p>
          <a:p>
            <a:r>
              <a:rPr lang="en-US" altLang="zh-TW" dirty="0"/>
              <a:t>(40pt) (1) Deriving a word embedding model</a:t>
            </a:r>
          </a:p>
          <a:p>
            <a:pPr lvl="1"/>
            <a:r>
              <a:rPr lang="en-US" altLang="zh-TW" dirty="0"/>
              <a:t>Either fine-tuning a </a:t>
            </a:r>
            <a:r>
              <a:rPr lang="en-US" altLang="zh-TW" dirty="0" err="1"/>
              <a:t>pretrained</a:t>
            </a:r>
            <a:r>
              <a:rPr lang="en-US" altLang="zh-TW" dirty="0"/>
              <a:t> model</a:t>
            </a:r>
          </a:p>
          <a:p>
            <a:pPr lvl="1"/>
            <a:r>
              <a:rPr lang="en-US" altLang="zh-TW" dirty="0"/>
              <a:t>Or training a new model</a:t>
            </a:r>
          </a:p>
          <a:p>
            <a:r>
              <a:rPr lang="en-US" altLang="zh-TW" dirty="0"/>
              <a:t>(30pt) (2) Estimating word similarity of </a:t>
            </a:r>
            <a:r>
              <a:rPr lang="en-US" altLang="zh-TW" dirty="0">
                <a:solidFill>
                  <a:srgbClr val="0000FF"/>
                </a:solidFill>
              </a:rPr>
              <a:t>WordSim-353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0000FF"/>
                </a:solidFill>
              </a:rPr>
              <a:t>SimLex-999 </a:t>
            </a:r>
            <a:r>
              <a:rPr lang="en-US" altLang="zh-TW" dirty="0"/>
              <a:t>corpora based on your word embedding model </a:t>
            </a:r>
          </a:p>
          <a:p>
            <a:r>
              <a:rPr lang="en-US" altLang="zh-TW" dirty="0"/>
              <a:t>(30pt) (3) Conduct analogy prediction of </a:t>
            </a:r>
            <a:r>
              <a:rPr lang="en-US" altLang="zh-TW" dirty="0">
                <a:solidFill>
                  <a:srgbClr val="0000FF"/>
                </a:solidFill>
              </a:rPr>
              <a:t>BATS dataset </a:t>
            </a:r>
            <a:r>
              <a:rPr lang="en-US" altLang="zh-TW" dirty="0"/>
              <a:t>based on your word embedding model</a:t>
            </a:r>
          </a:p>
          <a:p>
            <a:r>
              <a:rPr lang="en-US" altLang="zh-TW" dirty="0"/>
              <a:t>[</a:t>
            </a:r>
            <a:r>
              <a:rPr lang="en-US" altLang="zh-TW" dirty="0">
                <a:solidFill>
                  <a:srgbClr val="0000FF"/>
                </a:solidFill>
              </a:rPr>
              <a:t>Optional</a:t>
            </a:r>
            <a:r>
              <a:rPr lang="en-US" altLang="zh-TW" dirty="0"/>
              <a:t>]:</a:t>
            </a:r>
          </a:p>
          <a:p>
            <a:pPr lvl="1"/>
            <a:r>
              <a:rPr lang="en-US" altLang="zh-TW" dirty="0"/>
              <a:t>(20pt) (4) Compare with other document similarity estimation methods</a:t>
            </a:r>
          </a:p>
          <a:p>
            <a:pPr lvl="2"/>
            <a:r>
              <a:rPr lang="en-US" altLang="zh-TW" dirty="0"/>
              <a:t>For example, co-occurrence matrix with TF-IDF, SVD, …</a:t>
            </a:r>
          </a:p>
          <a:p>
            <a:pPr lvl="1"/>
            <a:r>
              <a:rPr lang="en-US" altLang="zh-TW" dirty="0"/>
              <a:t>(20pt) (5) Apply word embeddings in other tasks</a:t>
            </a:r>
          </a:p>
          <a:p>
            <a:pPr lvl="2"/>
            <a:r>
              <a:rPr lang="en-US" altLang="zh-TW" dirty="0"/>
              <a:t>For example, classification, NER, …</a:t>
            </a:r>
          </a:p>
        </p:txBody>
      </p:sp>
    </p:spTree>
    <p:extLst>
      <p:ext uri="{BB962C8B-B14F-4D97-AF65-F5344CB8AC3E}">
        <p14:creationId xmlns:p14="http://schemas.microsoft.com/office/powerpoint/2010/main" val="155469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Note on the implementation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You can write your own models or call existing APIs in your program</a:t>
            </a:r>
          </a:p>
          <a:p>
            <a:r>
              <a:rPr lang="en-US" altLang="zh-TW" dirty="0"/>
              <a:t>The program could be written in any programming language</a:t>
            </a:r>
          </a:p>
          <a:p>
            <a:r>
              <a:rPr lang="en-US" altLang="zh-TW" dirty="0"/>
              <a:t>Please specify the platform and compilation instructions in your documentation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300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Output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Results</a:t>
            </a:r>
          </a:p>
          <a:p>
            <a:pPr lvl="1"/>
            <a:r>
              <a:rPr lang="en-US" altLang="zh-TW" dirty="0"/>
              <a:t>Word </a:t>
            </a:r>
            <a:r>
              <a:rPr lang="en-US" altLang="zh-TW" dirty="0" err="1"/>
              <a:t>embeddings</a:t>
            </a:r>
            <a:endParaRPr lang="en-US" altLang="zh-TW" dirty="0"/>
          </a:p>
          <a:p>
            <a:pPr lvl="1"/>
            <a:r>
              <a:rPr lang="en-US" altLang="zh-TW" dirty="0"/>
              <a:t>Word similarity</a:t>
            </a:r>
          </a:p>
          <a:p>
            <a:pPr lvl="2"/>
            <a:r>
              <a:rPr lang="en-US" altLang="zh-TW" dirty="0"/>
              <a:t>Correlation on WordSim353</a:t>
            </a:r>
          </a:p>
          <a:p>
            <a:pPr lvl="2"/>
            <a:r>
              <a:rPr lang="en-US" altLang="zh-TW" dirty="0"/>
              <a:t>Similarity on SimLex-999</a:t>
            </a:r>
          </a:p>
          <a:p>
            <a:pPr lvl="1"/>
            <a:r>
              <a:rPr lang="en-US" altLang="zh-TW" dirty="0"/>
              <a:t>Analogy prediction</a:t>
            </a:r>
          </a:p>
          <a:p>
            <a:pPr lvl="2"/>
            <a:r>
              <a:rPr lang="en-US" altLang="zh-TW" dirty="0"/>
              <a:t>Accuracy for BATS categories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1030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 Issues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You can train your Word2Vec models using packages like </a:t>
            </a:r>
            <a:r>
              <a:rPr lang="en-US" altLang="zh-TW" dirty="0" err="1"/>
              <a:t>gensim</a:t>
            </a:r>
            <a:endParaRPr lang="en-US" altLang="zh-TW" dirty="0"/>
          </a:p>
          <a:p>
            <a:r>
              <a:rPr lang="en-US" altLang="zh-TW" dirty="0"/>
              <a:t>You can also implement your own codes using platforms like </a:t>
            </a:r>
            <a:r>
              <a:rPr lang="en-US" altLang="zh-TW" dirty="0" err="1"/>
              <a:t>PyTorch</a:t>
            </a:r>
            <a:r>
              <a:rPr lang="en-US" altLang="zh-TW" dirty="0"/>
              <a:t>, </a:t>
            </a:r>
            <a:r>
              <a:rPr lang="en-US" altLang="zh-TW" dirty="0" err="1"/>
              <a:t>Keras</a:t>
            </a:r>
            <a:r>
              <a:rPr lang="en-US" altLang="zh-TW" dirty="0"/>
              <a:t>, or </a:t>
            </a:r>
            <a:r>
              <a:rPr lang="en-US" altLang="zh-TW" dirty="0" err="1"/>
              <a:t>TensorFlow</a:t>
            </a:r>
            <a:endParaRPr lang="en-US" altLang="zh-TW" dirty="0"/>
          </a:p>
          <a:p>
            <a:r>
              <a:rPr lang="en-US" altLang="zh-TW" dirty="0"/>
              <a:t>You can use the </a:t>
            </a:r>
            <a:r>
              <a:rPr lang="en-US" altLang="zh-TW" dirty="0" err="1"/>
              <a:t>pretrained</a:t>
            </a:r>
            <a:r>
              <a:rPr lang="en-US" altLang="zh-TW" dirty="0"/>
              <a:t> word </a:t>
            </a:r>
            <a:r>
              <a:rPr lang="en-US" altLang="zh-TW" dirty="0" err="1"/>
              <a:t>embeddings</a:t>
            </a:r>
            <a:r>
              <a:rPr lang="en-US" altLang="zh-TW" dirty="0"/>
              <a:t> from the following:</a:t>
            </a:r>
          </a:p>
          <a:p>
            <a:pPr lvl="1"/>
            <a:r>
              <a:rPr lang="en-US" altLang="zh-TW" dirty="0" err="1"/>
              <a:t>GloVe</a:t>
            </a:r>
            <a:r>
              <a:rPr lang="en-US" altLang="zh-TW" dirty="0"/>
              <a:t>: </a:t>
            </a:r>
            <a:r>
              <a:rPr lang="en-US" altLang="zh-TW" dirty="0">
                <a:hlinkClick r:id="rId2"/>
              </a:rPr>
              <a:t>https://nlp.stanford.edu/projects/glove/</a:t>
            </a:r>
            <a:endParaRPr lang="en-US" altLang="zh-TW" dirty="0"/>
          </a:p>
          <a:p>
            <a:pPr lvl="2"/>
            <a:r>
              <a:rPr lang="en-US" altLang="zh-TW" dirty="0" err="1"/>
              <a:t>Pretrained</a:t>
            </a:r>
            <a:r>
              <a:rPr lang="en-US" altLang="zh-TW" dirty="0"/>
              <a:t> on Twitter, Wikipedia, …</a:t>
            </a:r>
          </a:p>
          <a:p>
            <a:pPr lvl="1"/>
            <a:r>
              <a:rPr lang="en-US" altLang="zh-TW" dirty="0"/>
              <a:t>Word2Vec: </a:t>
            </a:r>
            <a:r>
              <a:rPr lang="en-US" altLang="zh-TW" dirty="0" err="1"/>
              <a:t>pretrained</a:t>
            </a:r>
            <a:r>
              <a:rPr lang="en-US" altLang="zh-TW" dirty="0"/>
              <a:t> on Google News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0847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Notes on Analogy Prediction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accuracy of many categories in BATS will be zero</a:t>
            </a:r>
          </a:p>
          <a:p>
            <a:r>
              <a:rPr lang="en-US" altLang="zh-TW" dirty="0"/>
              <a:t>Please focus on the categories with nonzero accuracies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3013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Submission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Due: two weeks, </a:t>
            </a:r>
            <a:r>
              <a:rPr lang="en-US" altLang="zh-TW" dirty="0">
                <a:solidFill>
                  <a:srgbClr val="FF0000"/>
                </a:solidFill>
              </a:rPr>
              <a:t>Apr. 27</a:t>
            </a:r>
            <a:r>
              <a:rPr lang="en-US" altLang="zh-TW">
                <a:solidFill>
                  <a:srgbClr val="FF0000"/>
                </a:solidFill>
              </a:rPr>
              <a:t>, 2026 </a:t>
            </a:r>
            <a:r>
              <a:rPr lang="en-US" altLang="zh-TW" dirty="0">
                <a:solidFill>
                  <a:srgbClr val="FF0000"/>
                </a:solidFill>
              </a:rPr>
              <a:t>(Mon.)</a:t>
            </a:r>
          </a:p>
          <a:p>
            <a:endParaRPr lang="en-US" altLang="zh-TW" dirty="0"/>
          </a:p>
          <a:p>
            <a:r>
              <a:rPr lang="en-US" altLang="zh-TW" dirty="0"/>
              <a:t>For programming exercises, please submit it online to </a:t>
            </a:r>
            <a:r>
              <a:rPr lang="en-US" altLang="zh-TW" dirty="0" err="1">
                <a:solidFill>
                  <a:srgbClr val="0000FF"/>
                </a:solidFill>
              </a:rPr>
              <a:t>iSchool</a:t>
            </a:r>
            <a:r>
              <a:rPr lang="en-US" altLang="zh-TW" dirty="0">
                <a:solidFill>
                  <a:srgbClr val="0000FF"/>
                </a:solidFill>
              </a:rPr>
              <a:t>+</a:t>
            </a:r>
          </a:p>
          <a:p>
            <a:pPr lvl="1"/>
            <a:r>
              <a:rPr lang="en-US" altLang="zh-TW" dirty="0"/>
              <a:t>Under the item [Assignments]\[HW#2]</a:t>
            </a:r>
          </a:p>
          <a:p>
            <a:endParaRPr lang="en-US" altLang="zh-TW" dirty="0"/>
          </a:p>
          <a:p>
            <a:r>
              <a:rPr lang="en-US" altLang="zh-TW" dirty="0"/>
              <a:t>Please include program source codes and documents</a:t>
            </a:r>
          </a:p>
          <a:p>
            <a:pPr lvl="1"/>
            <a:r>
              <a:rPr lang="en-US" altLang="zh-TW" dirty="0"/>
              <a:t>specifying your team members and responsible parts in the homework</a:t>
            </a:r>
          </a:p>
          <a:p>
            <a:pPr lvl="1"/>
            <a:r>
              <a:rPr lang="en-US" altLang="zh-TW" dirty="0"/>
              <a:t>Indicating configuration and installation steps of necessary packages on the specified platform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169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sb-DE" altLang="zh-TW" dirty="0"/>
              <a:t>Lev Finkelstein, Evgeniy Gabrilovich, Yossi Matias, Ehud Rivlin, Zach Solan, Gadi Wolfman, and Eytan Ruppin, "Placing Search in Context: The Concept Revisited", </a:t>
            </a:r>
            <a:r>
              <a:rPr lang="hsb-DE" altLang="zh-TW" i="1" dirty="0"/>
              <a:t>ACM Transactions on Information Systems, 20(1</a:t>
            </a:r>
            <a:r>
              <a:rPr lang="hsb-DE" altLang="zh-TW" dirty="0"/>
              <a:t>):116-131, 2002.</a:t>
            </a:r>
          </a:p>
          <a:p>
            <a:r>
              <a:rPr lang="hsb-DE" altLang="zh-TW" dirty="0"/>
              <a:t>Felix Hill, Roi Reichart, and Anna Korhonen, ‘‘SimLex-999: Evaluating Semantic Models with (Genuine) Similarity Estimation,‘‘ </a:t>
            </a:r>
            <a:r>
              <a:rPr lang="hsb-DE" altLang="zh-TW" i="1" dirty="0"/>
              <a:t>Computational Linguistics, 41(4)</a:t>
            </a:r>
            <a:r>
              <a:rPr lang="hsb-DE" altLang="zh-TW" dirty="0"/>
              <a:t>: 665-695, 2015</a:t>
            </a:r>
          </a:p>
          <a:p>
            <a:r>
              <a:rPr lang="en-US" altLang="zh-TW" dirty="0" err="1"/>
              <a:t>Gladkova</a:t>
            </a:r>
            <a:r>
              <a:rPr lang="en-US" altLang="zh-TW" dirty="0"/>
              <a:t>, A., </a:t>
            </a:r>
            <a:r>
              <a:rPr lang="en-US" altLang="zh-TW" dirty="0" err="1"/>
              <a:t>Drozd</a:t>
            </a:r>
            <a:r>
              <a:rPr lang="en-US" altLang="zh-TW" dirty="0"/>
              <a:t>, A., &amp; Matsuoka, S., ‘’Analogy-based detection of morphological and semantic relations with word embeddings: what works and what doesn’t,’’ In Proceedings of the NAACL-HLT SRW (pp. 47–54), 2016: ACL. </a:t>
            </a:r>
            <a:r>
              <a:rPr lang="en-US" altLang="zh-TW" dirty="0">
                <a:hlinkClick r:id="rId2"/>
              </a:rPr>
              <a:t>https://www.aclweb.org/anthology/N/N16/N16-2002.pdf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5201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Thanks for Your Attention!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91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876</Words>
  <Application>Microsoft Office PowerPoint</Application>
  <PresentationFormat>寬螢幕</PresentationFormat>
  <Paragraphs>106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佈景主題</vt:lpstr>
      <vt:lpstr>Natural Language Processing and Text Mining: HW#2</vt:lpstr>
      <vt:lpstr>Programming Exercise #2: Word Embeddings</vt:lpstr>
      <vt:lpstr>Tasks and Data </vt:lpstr>
      <vt:lpstr>Example Word Embedding Models</vt:lpstr>
      <vt:lpstr>Input Data </vt:lpstr>
      <vt:lpstr>Input Data Format</vt:lpstr>
      <vt:lpstr>Regarding BATS dataset</vt:lpstr>
      <vt:lpstr>Tasks in this Homework</vt:lpstr>
      <vt:lpstr>Note on the implementation</vt:lpstr>
      <vt:lpstr>Output </vt:lpstr>
      <vt:lpstr>Implementation Issues</vt:lpstr>
      <vt:lpstr>Notes on Analogy Prediction</vt:lpstr>
      <vt:lpstr>Homework Submission</vt:lpstr>
      <vt:lpstr>References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HW#1</dc:title>
  <dc:creator>jhwang</dc:creator>
  <cp:lastModifiedBy>王正豪</cp:lastModifiedBy>
  <cp:revision>61</cp:revision>
  <dcterms:created xsi:type="dcterms:W3CDTF">2017-03-16T10:08:31Z</dcterms:created>
  <dcterms:modified xsi:type="dcterms:W3CDTF">2026-04-13T04:39:03Z</dcterms:modified>
</cp:coreProperties>
</file>