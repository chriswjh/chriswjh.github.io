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handoutMasterIdLst>
    <p:handoutMasterId r:id="rId33"/>
  </p:handoutMasterIdLst>
  <p:sldIdLst>
    <p:sldId id="256" r:id="rId2"/>
    <p:sldId id="257" r:id="rId3"/>
    <p:sldId id="258" r:id="rId4"/>
    <p:sldId id="259" r:id="rId5"/>
    <p:sldId id="261" r:id="rId6"/>
    <p:sldId id="260" r:id="rId7"/>
    <p:sldId id="275" r:id="rId8"/>
    <p:sldId id="276" r:id="rId9"/>
    <p:sldId id="277" r:id="rId10"/>
    <p:sldId id="278" r:id="rId11"/>
    <p:sldId id="279" r:id="rId12"/>
    <p:sldId id="262" r:id="rId13"/>
    <p:sldId id="264" r:id="rId14"/>
    <p:sldId id="265" r:id="rId15"/>
    <p:sldId id="266" r:id="rId16"/>
    <p:sldId id="280" r:id="rId17"/>
    <p:sldId id="267" r:id="rId18"/>
    <p:sldId id="268" r:id="rId19"/>
    <p:sldId id="269" r:id="rId20"/>
    <p:sldId id="270" r:id="rId21"/>
    <p:sldId id="271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72" r:id="rId30"/>
    <p:sldId id="263" r:id="rId31"/>
  </p:sldIdLst>
  <p:sldSz cx="12192000" cy="6858000"/>
  <p:notesSz cx="7104063" cy="10234613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EEEDA64F-9691-4C16-A5F5-351C9E284E88}" type="datetimeFigureOut">
              <a:rPr lang="zh-TW" altLang="en-US" smtClean="0"/>
              <a:t>2026/2/23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AA6D4E8-32EA-4E6B-A5A0-C5876A0EA53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407043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237A1F7D-5885-4D4C-9A33-90047810F50B}" type="datetimeFigureOut">
              <a:rPr lang="zh-TW" altLang="en-US" smtClean="0"/>
              <a:t>2026/2/23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8708057D-D965-426B-A1AC-D5D39CFBB7B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64826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08057D-D965-426B-A1AC-D5D39CFBB7BB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964071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08057D-D965-426B-A1AC-D5D39CFBB7BB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556241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08057D-D965-426B-A1AC-D5D39CFBB7BB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52733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08057D-D965-426B-A1AC-D5D39CFBB7BB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01035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08057D-D965-426B-A1AC-D5D39CFBB7BB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28771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08057D-D965-426B-A1AC-D5D39CFBB7BB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86785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09" name="Slide Image Placeholder 1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endParaRPr lang="en-US" dirty="0"/>
          </a:p>
        </p:txBody>
      </p:sp>
      <p:sp>
        <p:nvSpPr>
          <p:cNvPr id="68611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9pPr>
          </a:lstStyle>
          <a:p>
            <a:pPr eaLnBrk="1" hangingPunct="1"/>
            <a:fld id="{68EF387A-3E9B-974F-BE09-FF3123AB2DEB}" type="slidenum">
              <a:rPr lang="en-US" sz="1200">
                <a:solidFill>
                  <a:srgbClr val="000000"/>
                </a:solidFill>
              </a:rPr>
              <a:pPr eaLnBrk="1" hangingPunct="1"/>
              <a:t>11</a:t>
            </a:fld>
            <a:endParaRPr lang="en-US" sz="12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69968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08057D-D965-426B-A1AC-D5D39CFBB7BB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92402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08057D-D965-426B-A1AC-D5D39CFBB7BB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1043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08057D-D965-426B-A1AC-D5D39CFBB7BB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536864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08057D-D965-426B-A1AC-D5D39CFBB7BB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65773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3" name="Slide Image Placeholder 1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84994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dirty="0">
              <a:latin typeface="Times New Roman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84995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9pPr>
          </a:lstStyle>
          <a:p>
            <a:pPr eaLnBrk="1" hangingPunct="1"/>
            <a:fld id="{63142E8C-B3F4-CE44-AB38-F03AE219B10F}" type="slidenum">
              <a:rPr lang="en-US" sz="1200"/>
              <a:pPr eaLnBrk="1" hangingPunct="1"/>
              <a:t>16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9996231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08057D-D965-426B-A1AC-D5D39CFBB7BB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5907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08057D-D965-426B-A1AC-D5D39CFBB7BB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09725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08057D-D965-426B-A1AC-D5D39CFBB7BB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51177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08057D-D965-426B-A1AC-D5D39CFBB7BB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92895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08057D-D965-426B-A1AC-D5D39CFBB7BB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127292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08057D-D965-426B-A1AC-D5D39CFBB7BB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021611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08057D-D965-426B-A1AC-D5D39CFBB7BB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10212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284706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12642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73169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2444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224629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151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27252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1665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77147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10582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5741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9C0C93-978E-4CB8-B3AB-755C1D36D54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1001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jp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Introduction to Natural Language Processing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en-US" altLang="zh-TW" dirty="0"/>
              <a:t>By J. H. Wang</a:t>
            </a:r>
          </a:p>
          <a:p>
            <a:r>
              <a:rPr lang="en-US" altLang="zh-TW" dirty="0"/>
              <a:t>Feb. </a:t>
            </a:r>
            <a:r>
              <a:rPr lang="en-US" altLang="zh-TW"/>
              <a:t>23, </a:t>
            </a:r>
            <a:r>
              <a:rPr lang="en-US" altLang="zh-TW" dirty="0"/>
              <a:t>2026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86723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What is NLP?</a:t>
            </a:r>
          </a:p>
          <a:p>
            <a:r>
              <a:rPr lang="en-US" altLang="zh-TW" dirty="0"/>
              <a:t>Example Tasks</a:t>
            </a:r>
          </a:p>
          <a:p>
            <a:r>
              <a:rPr lang="en-US" altLang="zh-TW" dirty="0"/>
              <a:t>The state-of-the-art</a:t>
            </a:r>
          </a:p>
          <a:p>
            <a:endParaRPr lang="en-US" altLang="zh-TW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043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What is Natural Language Processing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(speech and) language processing</a:t>
            </a:r>
          </a:p>
          <a:p>
            <a:r>
              <a:rPr lang="en-US" altLang="zh-TW" dirty="0"/>
              <a:t>Human language technology</a:t>
            </a:r>
          </a:p>
          <a:p>
            <a:r>
              <a:rPr lang="en-US" altLang="zh-TW" dirty="0"/>
              <a:t>Computational linguistics</a:t>
            </a:r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To give computers ability to process human language</a:t>
            </a:r>
          </a:p>
          <a:p>
            <a:r>
              <a:rPr lang="en-US" altLang="zh-TW" dirty="0"/>
              <a:t>To enable </a:t>
            </a:r>
            <a:r>
              <a:rPr lang="en-US" altLang="zh-TW" dirty="0">
                <a:solidFill>
                  <a:srgbClr val="0000FF"/>
                </a:solidFill>
              </a:rPr>
              <a:t>human-machine communication</a:t>
            </a:r>
          </a:p>
          <a:p>
            <a:r>
              <a:rPr lang="en-US" altLang="zh-TW" dirty="0"/>
              <a:t>E.g. conversational agent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074072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2001: A Space Odyssey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 1968 epic science fiction film produced and directed by Stanley Kubrick</a:t>
            </a:r>
          </a:p>
          <a:p>
            <a:pPr lvl="1"/>
            <a:r>
              <a:rPr lang="en-US" altLang="zh-TW" dirty="0"/>
              <a:t>Based on a novel by Arthur C. Clarke</a:t>
            </a:r>
          </a:p>
          <a:p>
            <a:r>
              <a:rPr lang="en-US" altLang="zh-TW" dirty="0"/>
              <a:t>HAL 9000 computer</a:t>
            </a:r>
          </a:p>
          <a:p>
            <a:pPr lvl="1"/>
            <a:r>
              <a:rPr lang="en-US" altLang="zh-TW" dirty="0"/>
              <a:t>Speaking and understanding English</a:t>
            </a:r>
          </a:p>
          <a:p>
            <a:pPr lvl="1"/>
            <a:r>
              <a:rPr lang="en-US" altLang="zh-TW" dirty="0"/>
              <a:t>Even reading lips</a:t>
            </a:r>
          </a:p>
          <a:p>
            <a:r>
              <a:rPr lang="en-US" altLang="zh-TW" dirty="0"/>
              <a:t>Conversational agent, dialog system</a:t>
            </a:r>
          </a:p>
          <a:p>
            <a:pPr lvl="1"/>
            <a:r>
              <a:rPr lang="en-US" altLang="zh-TW" dirty="0"/>
              <a:t>Input: automatic speech recognition, natural language understanding</a:t>
            </a:r>
          </a:p>
          <a:p>
            <a:pPr lvl="1"/>
            <a:r>
              <a:rPr lang="en-US" altLang="zh-TW" dirty="0"/>
              <a:t>Output: dialogue and response planning, speech synthesis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4687" y="2457554"/>
            <a:ext cx="925600" cy="2675822"/>
          </a:xfrm>
          <a:prstGeom prst="rect">
            <a:avLst/>
          </a:prstGeom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889" y="2457554"/>
            <a:ext cx="1612900" cy="247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3857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Modern Examples: </a:t>
            </a:r>
            <a:r>
              <a:rPr lang="en-US" altLang="zh-TW" dirty="0" err="1"/>
              <a:t>Chatbots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ChatGPT</a:t>
            </a:r>
            <a:r>
              <a:rPr lang="en-US" altLang="zh-TW" dirty="0"/>
              <a:t>, </a:t>
            </a:r>
            <a:r>
              <a:rPr lang="en-US" altLang="zh-TW" dirty="0">
                <a:solidFill>
                  <a:srgbClr val="FF0000"/>
                </a:solidFill>
              </a:rPr>
              <a:t>Gemini</a:t>
            </a:r>
            <a:r>
              <a:rPr lang="en-US" altLang="zh-TW" dirty="0"/>
              <a:t> (Bard), </a:t>
            </a:r>
            <a:r>
              <a:rPr lang="en-US" altLang="zh-TW" dirty="0" err="1">
                <a:solidFill>
                  <a:srgbClr val="FF0000"/>
                </a:solidFill>
              </a:rPr>
              <a:t>DeepSeek</a:t>
            </a:r>
            <a:r>
              <a:rPr lang="en-US" altLang="zh-TW" dirty="0">
                <a:solidFill>
                  <a:srgbClr val="FF0000"/>
                </a:solidFill>
              </a:rPr>
              <a:t>, …</a:t>
            </a:r>
          </a:p>
          <a:p>
            <a:r>
              <a:rPr lang="en-US" altLang="zh-TW" dirty="0"/>
              <a:t>Mobile phone assistants</a:t>
            </a:r>
          </a:p>
          <a:p>
            <a:pPr lvl="1"/>
            <a:r>
              <a:rPr lang="en-US" altLang="zh-TW" dirty="0"/>
              <a:t>Apple Siri, …</a:t>
            </a:r>
          </a:p>
          <a:p>
            <a:r>
              <a:rPr lang="en-US" altLang="zh-TW" dirty="0"/>
              <a:t>Smart speakers</a:t>
            </a:r>
          </a:p>
          <a:p>
            <a:pPr lvl="1"/>
            <a:r>
              <a:rPr lang="en-US" altLang="zh-TW" dirty="0"/>
              <a:t>Google Home, Amazon Alexa, LINE </a:t>
            </a:r>
            <a:r>
              <a:rPr lang="en-US" altLang="zh-TW" dirty="0" err="1"/>
              <a:t>Clova</a:t>
            </a:r>
            <a:r>
              <a:rPr lang="en-US" altLang="zh-TW" dirty="0"/>
              <a:t>, …</a:t>
            </a:r>
          </a:p>
          <a:p>
            <a:r>
              <a:rPr lang="en-US" altLang="zh-TW" dirty="0"/>
              <a:t>Some application scenarios:</a:t>
            </a:r>
          </a:p>
          <a:p>
            <a:pPr lvl="1"/>
            <a:r>
              <a:rPr lang="en-US" altLang="zh-TW" dirty="0"/>
              <a:t>Social networking platforms</a:t>
            </a:r>
          </a:p>
          <a:p>
            <a:pPr lvl="1"/>
            <a:r>
              <a:rPr lang="en-US" altLang="zh-TW" dirty="0"/>
              <a:t>Healthcare</a:t>
            </a:r>
          </a:p>
          <a:p>
            <a:pPr lvl="1"/>
            <a:r>
              <a:rPr lang="en-US" altLang="zh-TW" dirty="0"/>
              <a:t>Banking</a:t>
            </a:r>
          </a:p>
          <a:p>
            <a:pPr lvl="1"/>
            <a:r>
              <a:rPr lang="en-US" altLang="zh-TW" dirty="0"/>
              <a:t>…</a:t>
            </a:r>
          </a:p>
          <a:p>
            <a:pPr lvl="1"/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5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9679" y="2221715"/>
            <a:ext cx="1257622" cy="1257622"/>
          </a:xfrm>
          <a:prstGeom prst="rect">
            <a:avLst/>
          </a:prstGeom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00" y="3658724"/>
            <a:ext cx="2318158" cy="807842"/>
          </a:xfrm>
          <a:prstGeom prst="rect">
            <a:avLst/>
          </a:prstGeom>
        </p:spPr>
      </p:pic>
      <p:pic>
        <p:nvPicPr>
          <p:cNvPr id="9" name="圖片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6268" y="4645953"/>
            <a:ext cx="4219540" cy="613752"/>
          </a:xfrm>
          <a:prstGeom prst="rect">
            <a:avLst/>
          </a:prstGeom>
        </p:spPr>
      </p:pic>
      <p:pic>
        <p:nvPicPr>
          <p:cNvPr id="10" name="圖片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0320" y="5438305"/>
            <a:ext cx="1754516" cy="510404"/>
          </a:xfrm>
          <a:prstGeom prst="rect">
            <a:avLst/>
          </a:prstGeom>
        </p:spPr>
      </p:pic>
      <p:pic>
        <p:nvPicPr>
          <p:cNvPr id="11" name="圖片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2094" y="1125070"/>
            <a:ext cx="912792" cy="91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708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 Language-related Tasks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>
                <a:solidFill>
                  <a:srgbClr val="0000FF"/>
                </a:solidFill>
              </a:rPr>
              <a:t>Machine Translation </a:t>
            </a:r>
          </a:p>
          <a:p>
            <a:pPr lvl="1"/>
            <a:r>
              <a:rPr lang="en-US" altLang="zh-TW" dirty="0"/>
              <a:t>Automatically translate a document from one language to another</a:t>
            </a:r>
          </a:p>
          <a:p>
            <a:r>
              <a:rPr lang="en-US" altLang="zh-TW" dirty="0"/>
              <a:t>Web-based </a:t>
            </a:r>
            <a:r>
              <a:rPr lang="en-US" altLang="zh-TW" dirty="0">
                <a:solidFill>
                  <a:srgbClr val="0000FF"/>
                </a:solidFill>
              </a:rPr>
              <a:t>question answering</a:t>
            </a:r>
            <a:r>
              <a:rPr lang="en-US" altLang="zh-TW" dirty="0"/>
              <a:t>, for example:</a:t>
            </a:r>
          </a:p>
          <a:p>
            <a:pPr lvl="1"/>
            <a:r>
              <a:rPr lang="en-US" altLang="zh-TW" dirty="0"/>
              <a:t>What year was Abraham Lincoln born?</a:t>
            </a:r>
          </a:p>
          <a:p>
            <a:pPr lvl="1"/>
            <a:r>
              <a:rPr lang="en-US" altLang="zh-TW" dirty="0"/>
              <a:t>How many states were in the United States that year?</a:t>
            </a:r>
          </a:p>
          <a:p>
            <a:pPr lvl="1"/>
            <a:r>
              <a:rPr lang="en-US" altLang="zh-TW" dirty="0"/>
              <a:t>How much Chinese silk was exported to England by the end of the 18th century?</a:t>
            </a:r>
          </a:p>
          <a:p>
            <a:pPr lvl="1"/>
            <a:r>
              <a:rPr lang="en-US" altLang="zh-TW" dirty="0"/>
              <a:t>What do scientists think about the ethics of human cloning?</a:t>
            </a:r>
          </a:p>
          <a:p>
            <a:r>
              <a:rPr lang="en-US" altLang="zh-TW" dirty="0"/>
              <a:t>Information extraction, word sense disambiguation</a:t>
            </a:r>
          </a:p>
          <a:p>
            <a:r>
              <a:rPr lang="en-US" altLang="zh-TW" dirty="0"/>
              <a:t>Spelling correction, grammar checking, …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31539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Answering: IBM’s Watson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803400"/>
            <a:ext cx="11379200" cy="4445000"/>
          </a:xfrm>
        </p:spPr>
        <p:txBody>
          <a:bodyPr/>
          <a:lstStyle/>
          <a:p>
            <a:r>
              <a:rPr lang="en-US" dirty="0"/>
              <a:t>Won Jeopardy on February 16, 2011!</a:t>
            </a:r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47809-17FD-2840-9239-CDF5B11C5F8C}" type="slidenum">
              <a:rPr lang="en-US"/>
              <a:pPr/>
              <a:t>7</a:t>
            </a:fld>
            <a:endParaRPr lang="en-US"/>
          </a:p>
        </p:txBody>
      </p:sp>
      <p:sp>
        <p:nvSpPr>
          <p:cNvPr id="7" name="Rectangle 6"/>
          <p:cNvSpPr/>
          <p:nvPr/>
        </p:nvSpPr>
        <p:spPr bwMode="auto">
          <a:xfrm>
            <a:off x="508000" y="2717800"/>
            <a:ext cx="7010400" cy="2678131"/>
          </a:xfrm>
          <a:prstGeom prst="rect">
            <a:avLst/>
          </a:prstGeom>
          <a:solidFill>
            <a:srgbClr val="000099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121920" tIns="60960" rIns="121920" bIns="6096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667" dirty="0">
                <a:solidFill>
                  <a:schemeClr val="bg1"/>
                </a:solidFill>
              </a:rPr>
              <a:t>WILLIAM WILKINSON’S </a:t>
            </a:r>
          </a:p>
          <a:p>
            <a:pPr algn="ctr"/>
            <a:r>
              <a:rPr lang="en-US" sz="2667" dirty="0">
                <a:solidFill>
                  <a:schemeClr val="bg1"/>
                </a:solidFill>
              </a:rPr>
              <a:t>“AN ACCOUNT OF THE PRINCIPALITIES OF</a:t>
            </a:r>
            <a:br>
              <a:rPr lang="en-US" sz="2667" dirty="0">
                <a:solidFill>
                  <a:schemeClr val="bg1"/>
                </a:solidFill>
              </a:rPr>
            </a:br>
            <a:r>
              <a:rPr lang="en-US" sz="2667" dirty="0">
                <a:solidFill>
                  <a:schemeClr val="bg1"/>
                </a:solidFill>
              </a:rPr>
              <a:t>WALLACHIA AND MOLDOVIA”</a:t>
            </a:r>
          </a:p>
          <a:p>
            <a:pPr algn="ctr"/>
            <a:r>
              <a:rPr lang="en-US" sz="2667" dirty="0">
                <a:solidFill>
                  <a:schemeClr val="bg1"/>
                </a:solidFill>
              </a:rPr>
              <a:t>INSPIRED THIS AUTHOR’S</a:t>
            </a:r>
          </a:p>
          <a:p>
            <a:pPr algn="ctr"/>
            <a:r>
              <a:rPr lang="en-US" sz="2667" dirty="0">
                <a:solidFill>
                  <a:schemeClr val="bg1"/>
                </a:solidFill>
              </a:rPr>
              <a:t>MOST FAMOUS NOVEL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0" y="3727848"/>
            <a:ext cx="17075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Bram Stoker</a:t>
            </a:r>
          </a:p>
        </p:txBody>
      </p:sp>
      <p:sp>
        <p:nvSpPr>
          <p:cNvPr id="9" name="Right Arrow 8"/>
          <p:cNvSpPr/>
          <p:nvPr/>
        </p:nvSpPr>
        <p:spPr bwMode="auto">
          <a:xfrm>
            <a:off x="7924800" y="3733800"/>
            <a:ext cx="1524000" cy="711200"/>
          </a:xfrm>
          <a:prstGeom prst="rightArrow">
            <a:avLst/>
          </a:prstGeom>
          <a:solidFill>
            <a:schemeClr val="bg1">
              <a:lumMod val="6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121920" tIns="60960" rIns="121920" bIns="60960" numCol="1" rtlCol="0" anchor="ctr" anchorCtr="0" compatLnSpc="1">
            <a:prstTxWarp prst="textNoShape">
              <a:avLst/>
            </a:prstTxWarp>
          </a:bodyPr>
          <a:lstStyle/>
          <a:p>
            <a:pPr defTabSz="1219170" fontAlgn="base">
              <a:spcBef>
                <a:spcPct val="0"/>
              </a:spcBef>
              <a:spcAft>
                <a:spcPct val="0"/>
              </a:spcAft>
            </a:pPr>
            <a:endParaRPr lang="en-US" sz="3200">
              <a:latin typeface="Lucida Sans" pitchFamily="-65" charset="0"/>
            </a:endParaRP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00677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Information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Subject: </a:t>
            </a:r>
            <a:r>
              <a:rPr lang="en-US" b="1" dirty="0"/>
              <a:t>curriculum meeting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Date: </a:t>
            </a:r>
            <a:r>
              <a:rPr lang="en-US" dirty="0"/>
              <a:t>January 15, 2012</a:t>
            </a:r>
          </a:p>
          <a:p>
            <a:pPr marL="0" indent="0" algn="ctr">
              <a:buNone/>
            </a:pPr>
            <a:r>
              <a:rPr lang="en-US" dirty="0"/>
              <a:t>       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To: </a:t>
            </a:r>
            <a:r>
              <a:rPr lang="en-US" dirty="0"/>
              <a:t>Dan Jurafsky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Hi Dan, we’ve now scheduled the curriculum meeting.</a:t>
            </a:r>
          </a:p>
          <a:p>
            <a:pPr marL="0" indent="0">
              <a:buNone/>
            </a:pPr>
            <a:r>
              <a:rPr lang="en-US" dirty="0"/>
              <a:t>It will be in Gates 159 tomorrow from 10:00-11:30.</a:t>
            </a:r>
          </a:p>
          <a:p>
            <a:pPr marL="0" indent="0">
              <a:buNone/>
            </a:pPr>
            <a:r>
              <a:rPr lang="en-US" dirty="0"/>
              <a:t>-Chris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35DC5-7E65-8247-99AB-4E984F8A921E}" type="slidenum">
              <a:rPr lang="en-US" smtClean="0"/>
              <a:pPr/>
              <a:t>8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 bwMode="auto">
          <a:xfrm>
            <a:off x="508000" y="3632200"/>
            <a:ext cx="11379200" cy="0"/>
          </a:xfrm>
          <a:prstGeom prst="line">
            <a:avLst/>
          </a:prstGeom>
          <a:gradFill rotWithShape="0">
            <a:gsLst>
              <a:gs pos="0">
                <a:srgbClr val="A50021"/>
              </a:gs>
              <a:gs pos="100000">
                <a:schemeClr val="tx1"/>
              </a:gs>
            </a:gsLst>
            <a:lin ang="0" scaled="1"/>
          </a:gradFill>
          <a:ln w="9525" cap="flat" cmpd="sng" algn="ctr">
            <a:solidFill>
              <a:schemeClr val="bg1">
                <a:lumMod val="6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sp>
        <p:nvSpPr>
          <p:cNvPr id="8" name="Rectangle 7"/>
          <p:cNvSpPr/>
          <p:nvPr/>
        </p:nvSpPr>
        <p:spPr bwMode="auto">
          <a:xfrm>
            <a:off x="2540000" y="4292600"/>
            <a:ext cx="6201328" cy="581404"/>
          </a:xfrm>
          <a:prstGeom prst="rect">
            <a:avLst/>
          </a:prstGeom>
          <a:noFill/>
          <a:ln w="9525" cap="flat" cmpd="sng" algn="ctr">
            <a:solidFill>
              <a:srgbClr val="3366FF"/>
            </a:solidFill>
            <a:prstDash val="sysDash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121920" tIns="60960" rIns="121920" bIns="60960" numCol="1" rtlCol="0" anchor="ctr" anchorCtr="0" compatLnSpc="1">
            <a:prstTxWarp prst="textNoShape">
              <a:avLst/>
            </a:prstTxWarp>
          </a:bodyPr>
          <a:lstStyle/>
          <a:p>
            <a:pPr defTabSz="1219170" fontAlgn="base">
              <a:spcBef>
                <a:spcPct val="0"/>
              </a:spcBef>
              <a:spcAft>
                <a:spcPct val="0"/>
              </a:spcAft>
            </a:pPr>
            <a:endParaRPr lang="en-US" sz="3200">
              <a:latin typeface="Lucida Sans" pitchFamily="-65" charset="0"/>
            </a:endParaRPr>
          </a:p>
        </p:txBody>
      </p:sp>
      <p:sp>
        <p:nvSpPr>
          <p:cNvPr id="9" name="Action Button: Forward or Next 8">
            <a:hlinkClick r:id="" action="ppaction://hlinkshowjump?jump=nextslide" highlightClick="1"/>
          </p:cNvPr>
          <p:cNvSpPr/>
          <p:nvPr/>
        </p:nvSpPr>
        <p:spPr bwMode="auto">
          <a:xfrm rot="5400000">
            <a:off x="8741328" y="4913502"/>
            <a:ext cx="406400" cy="406400"/>
          </a:xfrm>
          <a:prstGeom prst="actionButtonForwardNext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121920" tIns="60960" rIns="121920" bIns="60960" numCol="1" rtlCol="0" anchor="ctr" anchorCtr="0" compatLnSpc="1">
            <a:prstTxWarp prst="textNoShape">
              <a:avLst/>
            </a:prstTxWarp>
          </a:bodyPr>
          <a:lstStyle/>
          <a:p>
            <a:pPr defTabSz="1219170" fontAlgn="base">
              <a:spcBef>
                <a:spcPct val="0"/>
              </a:spcBef>
              <a:spcAft>
                <a:spcPct val="0"/>
              </a:spcAft>
            </a:pPr>
            <a:endParaRPr lang="en-US" sz="3200">
              <a:latin typeface="Lucida Sans" pitchFamily="-65" charset="0"/>
            </a:endParaRPr>
          </a:p>
        </p:txBody>
      </p:sp>
      <p:sp>
        <p:nvSpPr>
          <p:cNvPr id="11" name="Rounded Rectangle 10"/>
          <p:cNvSpPr/>
          <p:nvPr/>
        </p:nvSpPr>
        <p:spPr bwMode="auto">
          <a:xfrm>
            <a:off x="4368800" y="5359400"/>
            <a:ext cx="5994400" cy="711200"/>
          </a:xfrm>
          <a:prstGeom prst="roundRect">
            <a:avLst/>
          </a:prstGeom>
          <a:solidFill>
            <a:schemeClr val="bg1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none" lIns="121920" tIns="60960" rIns="121920" bIns="60960" numCol="1" rtlCol="0" anchor="ctr" anchorCtr="0" compatLnSpc="1">
            <a:prstTxWarp prst="textNoShape">
              <a:avLst/>
            </a:prstTxWarp>
          </a:bodyPr>
          <a:lstStyle/>
          <a:p>
            <a:pPr defTabSz="1219170" fontAlgn="base">
              <a:spcBef>
                <a:spcPct val="0"/>
              </a:spcBef>
              <a:spcAft>
                <a:spcPct val="0"/>
              </a:spcAft>
            </a:pPr>
            <a:endParaRPr lang="en-US" sz="3200">
              <a:latin typeface="Lucida Sans" pitchFamily="-65" charset="0"/>
            </a:endParaRPr>
          </a:p>
        </p:txBody>
      </p:sp>
      <p:sp>
        <p:nvSpPr>
          <p:cNvPr id="12" name="Rectangle 11"/>
          <p:cNvSpPr/>
          <p:nvPr/>
        </p:nvSpPr>
        <p:spPr bwMode="auto">
          <a:xfrm>
            <a:off x="4267200" y="5461000"/>
            <a:ext cx="5994400" cy="508000"/>
          </a:xfrm>
          <a:prstGeom prst="rect">
            <a:avLst/>
          </a:prstGeom>
          <a:solidFill>
            <a:srgbClr val="0000CC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121920" tIns="60960" rIns="121920" bIns="60960" numCol="1" rtlCol="0" anchor="ctr" anchorCtr="0" compatLnSpc="1">
            <a:prstTxWarp prst="textNoShape">
              <a:avLst/>
            </a:prstTxWarp>
          </a:bodyPr>
          <a:lstStyle/>
          <a:p>
            <a:pPr defTabSz="1219170" fontAlgn="base">
              <a:spcBef>
                <a:spcPct val="0"/>
              </a:spcBef>
              <a:spcAft>
                <a:spcPct val="0"/>
              </a:spcAft>
            </a:pPr>
            <a:r>
              <a:rPr lang="en-US" sz="2400" dirty="0">
                <a:solidFill>
                  <a:schemeClr val="bg1"/>
                </a:solidFill>
                <a:latin typeface="Lucida Sans" pitchFamily="-65" charset="0"/>
              </a:rPr>
              <a:t> Create new Calendar entry</a:t>
            </a:r>
            <a:endParaRPr lang="en-US" sz="3200" dirty="0">
              <a:solidFill>
                <a:schemeClr val="bg1"/>
              </a:solidFill>
              <a:latin typeface="Lucida Sans" pitchFamily="-65" charset="0"/>
            </a:endParaRPr>
          </a:p>
        </p:txBody>
      </p:sp>
      <p:sp>
        <p:nvSpPr>
          <p:cNvPr id="13" name="Rounded Rectangle 12"/>
          <p:cNvSpPr/>
          <p:nvPr/>
        </p:nvSpPr>
        <p:spPr bwMode="auto">
          <a:xfrm>
            <a:off x="7213600" y="787400"/>
            <a:ext cx="4978400" cy="29464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txBody>
          <a:bodyPr vert="horz" wrap="none" lIns="121920" tIns="60960" rIns="121920" bIns="60960" numCol="1" rtlCol="0" anchor="ctr" anchorCtr="0" compatLnSpc="1">
            <a:prstTxWarp prst="textNoShape">
              <a:avLst/>
            </a:prstTxWarp>
          </a:bodyPr>
          <a:lstStyle/>
          <a:p>
            <a:pPr defTabSz="1219170" fontAlgn="base">
              <a:spcBef>
                <a:spcPct val="0"/>
              </a:spcBef>
              <a:spcAft>
                <a:spcPct val="0"/>
              </a:spcAft>
            </a:pP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Lucida Sans" pitchFamily="-65" charset="0"/>
              </a:rPr>
              <a:t>Event:  </a:t>
            </a:r>
            <a:r>
              <a:rPr lang="en-US" sz="2400" dirty="0">
                <a:latin typeface="Lucida Sans" pitchFamily="-65" charset="0"/>
              </a:rPr>
              <a:t>Curriculum </a:t>
            </a:r>
            <a:r>
              <a:rPr lang="en-US" sz="2400" dirty="0" err="1">
                <a:latin typeface="Lucida Sans" pitchFamily="-65" charset="0"/>
              </a:rPr>
              <a:t>mtg</a:t>
            </a:r>
            <a:endParaRPr lang="en-US" sz="2400" dirty="0">
              <a:latin typeface="Lucida Sans" pitchFamily="-65" charset="0"/>
            </a:endParaRPr>
          </a:p>
          <a:p>
            <a:pPr defTabSz="1219170" fontAlgn="base">
              <a:spcBef>
                <a:spcPct val="0"/>
              </a:spcBef>
              <a:spcAft>
                <a:spcPct val="0"/>
              </a:spcAft>
            </a:pPr>
            <a:r>
              <a:rPr lang="en-US" sz="3200" dirty="0">
                <a:solidFill>
                  <a:schemeClr val="bg1">
                    <a:lumMod val="50000"/>
                  </a:schemeClr>
                </a:solidFill>
                <a:latin typeface="Lucida Sans" pitchFamily="-65" charset="0"/>
              </a:rPr>
              <a:t>Date:   </a:t>
            </a:r>
            <a:r>
              <a:rPr lang="en-US" sz="3200" dirty="0">
                <a:latin typeface="Lucida Sans" pitchFamily="-65" charset="0"/>
              </a:rPr>
              <a:t>Jan-16-2012</a:t>
            </a:r>
          </a:p>
          <a:p>
            <a:pPr defTabSz="1219170" fontAlgn="base">
              <a:spcBef>
                <a:spcPct val="0"/>
              </a:spcBef>
              <a:spcAft>
                <a:spcPct val="0"/>
              </a:spcAft>
            </a:pP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Lucida Sans" pitchFamily="-65" charset="0"/>
              </a:rPr>
              <a:t>Start</a:t>
            </a:r>
            <a:r>
              <a:rPr lang="en-US" sz="2400" dirty="0">
                <a:solidFill>
                  <a:srgbClr val="7F7F7F"/>
                </a:solidFill>
                <a:latin typeface="Lucida Sans" pitchFamily="-65" charset="0"/>
              </a:rPr>
              <a:t>:</a:t>
            </a:r>
            <a:r>
              <a:rPr lang="en-US" sz="2400" dirty="0">
                <a:latin typeface="Lucida Sans" pitchFamily="-65" charset="0"/>
              </a:rPr>
              <a:t>   10:00am</a:t>
            </a:r>
          </a:p>
          <a:p>
            <a:pPr defTabSz="1219170" fontAlgn="base">
              <a:spcBef>
                <a:spcPct val="0"/>
              </a:spcBef>
              <a:spcAft>
                <a:spcPct val="0"/>
              </a:spcAft>
            </a:pPr>
            <a:r>
              <a:rPr lang="en-US" sz="3200" dirty="0">
                <a:solidFill>
                  <a:schemeClr val="bg1">
                    <a:lumMod val="50000"/>
                  </a:schemeClr>
                </a:solidFill>
                <a:latin typeface="Lucida Sans" pitchFamily="-65" charset="0"/>
              </a:rPr>
              <a:t>End:    </a:t>
            </a:r>
            <a:r>
              <a:rPr lang="en-US" sz="3200" dirty="0">
                <a:latin typeface="Lucida Sans" pitchFamily="-65" charset="0"/>
              </a:rPr>
              <a:t>11:30am</a:t>
            </a:r>
          </a:p>
          <a:p>
            <a:pPr defTabSz="1219170" fontAlgn="base">
              <a:spcBef>
                <a:spcPct val="0"/>
              </a:spcBef>
              <a:spcAft>
                <a:spcPct val="0"/>
              </a:spcAft>
            </a:pP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Lucida Sans" pitchFamily="-65" charset="0"/>
              </a:rPr>
              <a:t>Where: </a:t>
            </a:r>
            <a:r>
              <a:rPr lang="en-US" sz="2400" dirty="0">
                <a:latin typeface="Lucida Sans" pitchFamily="-65" charset="0"/>
              </a:rPr>
              <a:t>Gates 159</a:t>
            </a:r>
            <a:endParaRPr lang="en-US" sz="3200" dirty="0">
              <a:latin typeface="Lucida Sans" pitchFamily="-65" charset="0"/>
            </a:endParaRP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2753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2" grpId="0" animBg="1"/>
      <p:bldP spid="1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>
          <a:xfrm>
            <a:off x="1828800" y="76200"/>
            <a:ext cx="10363200" cy="990600"/>
          </a:xfrm>
        </p:spPr>
        <p:txBody>
          <a:bodyPr/>
          <a:lstStyle/>
          <a:p>
            <a:r>
              <a:rPr lang="en-US" dirty="0"/>
              <a:t>Information Extraction &amp; Sentiment Analysis</a:t>
            </a:r>
          </a:p>
        </p:txBody>
      </p:sp>
      <p:sp>
        <p:nvSpPr>
          <p:cNvPr id="24579" name="Content Placeholder 2"/>
          <p:cNvSpPr>
            <a:spLocks noGrp="1"/>
          </p:cNvSpPr>
          <p:nvPr>
            <p:ph idx="1"/>
          </p:nvPr>
        </p:nvSpPr>
        <p:spPr>
          <a:xfrm>
            <a:off x="1320800" y="3965001"/>
            <a:ext cx="10871200" cy="2870200"/>
          </a:xfrm>
        </p:spPr>
        <p:txBody>
          <a:bodyPr/>
          <a:lstStyle/>
          <a:p>
            <a:r>
              <a:rPr lang="en-US" dirty="0"/>
              <a:t>nice and compact to carry! </a:t>
            </a:r>
          </a:p>
          <a:p>
            <a:r>
              <a:rPr lang="en-US" dirty="0"/>
              <a:t>since the camera is small and light, I won't need to carry around those heavy, bulky professional cameras either! </a:t>
            </a:r>
          </a:p>
          <a:p>
            <a:r>
              <a:rPr lang="en-US" dirty="0"/>
              <a:t>the camera feels flimsy, is plastic and very light in weight you have to be very delicate in the handling of this camera</a:t>
            </a:r>
          </a:p>
        </p:txBody>
      </p:sp>
      <p:sp>
        <p:nvSpPr>
          <p:cNvPr id="2458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378B6F6-83F4-A34F-830E-A516F91731F8}" type="slidenum">
              <a:rPr lang="en-US"/>
              <a:pPr/>
              <a:t>9</a:t>
            </a:fld>
            <a:endParaRPr 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600" y="1295401"/>
            <a:ext cx="2020293" cy="19637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6401" y="3429001"/>
            <a:ext cx="21214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Size and weight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81601" y="1193800"/>
            <a:ext cx="2335191" cy="24929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>
                <a:solidFill>
                  <a:srgbClr val="000000"/>
                </a:solidFill>
              </a:rPr>
              <a:t>Attributes</a:t>
            </a:r>
            <a:r>
              <a:rPr lang="en-US" sz="2600" dirty="0">
                <a:solidFill>
                  <a:srgbClr val="800000"/>
                </a:solidFill>
              </a:rPr>
              <a:t>:</a:t>
            </a:r>
          </a:p>
          <a:p>
            <a:r>
              <a:rPr lang="en-US" sz="2600" dirty="0">
                <a:solidFill>
                  <a:srgbClr val="800000"/>
                </a:solidFill>
              </a:rPr>
              <a:t> zoom</a:t>
            </a:r>
          </a:p>
          <a:p>
            <a:r>
              <a:rPr lang="en-US" sz="2600" dirty="0">
                <a:solidFill>
                  <a:srgbClr val="800000"/>
                </a:solidFill>
              </a:rPr>
              <a:t> affordability</a:t>
            </a:r>
          </a:p>
          <a:p>
            <a:r>
              <a:rPr lang="en-US" sz="2600" dirty="0">
                <a:solidFill>
                  <a:srgbClr val="800000"/>
                </a:solidFill>
              </a:rPr>
              <a:t> size and weight</a:t>
            </a:r>
          </a:p>
          <a:p>
            <a:r>
              <a:rPr lang="en-US" sz="2600" dirty="0">
                <a:solidFill>
                  <a:srgbClr val="800000"/>
                </a:solidFill>
              </a:rPr>
              <a:t> flash </a:t>
            </a:r>
          </a:p>
          <a:p>
            <a:r>
              <a:rPr lang="en-US" sz="2600" dirty="0">
                <a:solidFill>
                  <a:srgbClr val="800000"/>
                </a:solidFill>
              </a:rPr>
              <a:t> ease of use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7620000" y="1701800"/>
            <a:ext cx="3149600" cy="1930400"/>
            <a:chOff x="3886200" y="1123950"/>
            <a:chExt cx="2362200" cy="1447800"/>
          </a:xfrm>
        </p:grpSpPr>
        <p:sp>
          <p:nvSpPr>
            <p:cNvPr id="5" name="Rectangle 4"/>
            <p:cNvSpPr/>
            <p:nvPr/>
          </p:nvSpPr>
          <p:spPr bwMode="auto">
            <a:xfrm>
              <a:off x="3886200" y="1123950"/>
              <a:ext cx="2362200" cy="228600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solidFill>
                <a:schemeClr val="tx1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121920" tIns="60960" rIns="121920" bIns="60960" numCol="1" rtlCol="0" anchor="ctr" anchorCtr="0" compatLnSpc="1">
              <a:prstTxWarp prst="textNoShape">
                <a:avLst/>
              </a:prstTxWarp>
            </a:bodyPr>
            <a:lstStyle/>
            <a:p>
              <a:pPr defTabSz="1219170" fontAlgn="base">
                <a:spcBef>
                  <a:spcPct val="0"/>
                </a:spcBef>
                <a:spcAft>
                  <a:spcPct val="0"/>
                </a:spcAft>
              </a:pPr>
              <a:endParaRPr lang="en-US" sz="3200">
                <a:latin typeface="Lucida Sans" pitchFamily="-65" charset="0"/>
              </a:endParaRPr>
            </a:p>
          </p:txBody>
        </p:sp>
        <p:sp>
          <p:nvSpPr>
            <p:cNvPr id="12" name="Rectangle 11"/>
            <p:cNvSpPr/>
            <p:nvPr/>
          </p:nvSpPr>
          <p:spPr bwMode="auto">
            <a:xfrm>
              <a:off x="3886200" y="1123950"/>
              <a:ext cx="1828800" cy="22860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121920" tIns="60960" rIns="121920" bIns="60960" numCol="1" rtlCol="0" anchor="ctr" anchorCtr="0" compatLnSpc="1">
              <a:prstTxWarp prst="textNoShape">
                <a:avLst/>
              </a:prstTxWarp>
            </a:bodyPr>
            <a:lstStyle/>
            <a:p>
              <a:pPr defTabSz="1219170" fontAlgn="base">
                <a:spcBef>
                  <a:spcPct val="0"/>
                </a:spcBef>
                <a:spcAft>
                  <a:spcPct val="0"/>
                </a:spcAft>
              </a:pPr>
              <a:endParaRPr lang="en-US" sz="3200">
                <a:latin typeface="Lucida Sans" pitchFamily="-65" charset="0"/>
              </a:endParaRPr>
            </a:p>
          </p:txBody>
        </p:sp>
        <p:sp>
          <p:nvSpPr>
            <p:cNvPr id="13" name="Rectangle 12"/>
            <p:cNvSpPr/>
            <p:nvPr/>
          </p:nvSpPr>
          <p:spPr bwMode="auto">
            <a:xfrm>
              <a:off x="3886200" y="1428750"/>
              <a:ext cx="2362200" cy="228600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solidFill>
                <a:schemeClr val="tx1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121920" tIns="60960" rIns="121920" bIns="60960" numCol="1" rtlCol="0" anchor="ctr" anchorCtr="0" compatLnSpc="1">
              <a:prstTxWarp prst="textNoShape">
                <a:avLst/>
              </a:prstTxWarp>
            </a:bodyPr>
            <a:lstStyle/>
            <a:p>
              <a:pPr defTabSz="1219170" fontAlgn="base">
                <a:spcBef>
                  <a:spcPct val="0"/>
                </a:spcBef>
                <a:spcAft>
                  <a:spcPct val="0"/>
                </a:spcAft>
              </a:pPr>
              <a:endParaRPr lang="en-US" sz="3200">
                <a:latin typeface="Lucida Sans" pitchFamily="-65" charset="0"/>
              </a:endParaRPr>
            </a:p>
          </p:txBody>
        </p:sp>
        <p:sp>
          <p:nvSpPr>
            <p:cNvPr id="14" name="Rectangle 13"/>
            <p:cNvSpPr/>
            <p:nvPr/>
          </p:nvSpPr>
          <p:spPr bwMode="auto">
            <a:xfrm>
              <a:off x="3886200" y="1428750"/>
              <a:ext cx="2133600" cy="22860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121920" tIns="60960" rIns="121920" bIns="60960" numCol="1" rtlCol="0" anchor="ctr" anchorCtr="0" compatLnSpc="1">
              <a:prstTxWarp prst="textNoShape">
                <a:avLst/>
              </a:prstTxWarp>
            </a:bodyPr>
            <a:lstStyle/>
            <a:p>
              <a:pPr defTabSz="1219170" fontAlgn="base">
                <a:spcBef>
                  <a:spcPct val="0"/>
                </a:spcBef>
                <a:spcAft>
                  <a:spcPct val="0"/>
                </a:spcAft>
              </a:pPr>
              <a:endParaRPr lang="en-US" sz="3200">
                <a:latin typeface="Lucida Sans" pitchFamily="-65" charset="0"/>
              </a:endParaRPr>
            </a:p>
          </p:txBody>
        </p:sp>
        <p:sp>
          <p:nvSpPr>
            <p:cNvPr id="15" name="Rectangle 14"/>
            <p:cNvSpPr/>
            <p:nvPr/>
          </p:nvSpPr>
          <p:spPr bwMode="auto">
            <a:xfrm>
              <a:off x="3886200" y="1733550"/>
              <a:ext cx="2362200" cy="228600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solidFill>
                <a:schemeClr val="tx1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121920" tIns="60960" rIns="121920" bIns="60960" numCol="1" rtlCol="0" anchor="ctr" anchorCtr="0" compatLnSpc="1">
              <a:prstTxWarp prst="textNoShape">
                <a:avLst/>
              </a:prstTxWarp>
            </a:bodyPr>
            <a:lstStyle/>
            <a:p>
              <a:pPr defTabSz="1219170" fontAlgn="base">
                <a:spcBef>
                  <a:spcPct val="0"/>
                </a:spcBef>
                <a:spcAft>
                  <a:spcPct val="0"/>
                </a:spcAft>
              </a:pPr>
              <a:endParaRPr lang="en-US" sz="3200">
                <a:latin typeface="Lucida Sans" pitchFamily="-65" charset="0"/>
              </a:endParaRPr>
            </a:p>
          </p:txBody>
        </p:sp>
        <p:sp>
          <p:nvSpPr>
            <p:cNvPr id="16" name="Rectangle 15"/>
            <p:cNvSpPr/>
            <p:nvPr/>
          </p:nvSpPr>
          <p:spPr bwMode="auto">
            <a:xfrm>
              <a:off x="3886200" y="1733550"/>
              <a:ext cx="1600200" cy="22860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121920" tIns="60960" rIns="121920" bIns="60960" numCol="1" rtlCol="0" anchor="ctr" anchorCtr="0" compatLnSpc="1">
              <a:prstTxWarp prst="textNoShape">
                <a:avLst/>
              </a:prstTxWarp>
            </a:bodyPr>
            <a:lstStyle/>
            <a:p>
              <a:pPr defTabSz="1219170" fontAlgn="base">
                <a:spcBef>
                  <a:spcPct val="0"/>
                </a:spcBef>
                <a:spcAft>
                  <a:spcPct val="0"/>
                </a:spcAft>
              </a:pPr>
              <a:endParaRPr lang="en-US" sz="3200">
                <a:latin typeface="Lucida Sans" pitchFamily="-65" charset="0"/>
              </a:endParaRPr>
            </a:p>
          </p:txBody>
        </p:sp>
        <p:sp>
          <p:nvSpPr>
            <p:cNvPr id="17" name="Rectangle 16"/>
            <p:cNvSpPr/>
            <p:nvPr/>
          </p:nvSpPr>
          <p:spPr bwMode="auto">
            <a:xfrm>
              <a:off x="3886200" y="2038350"/>
              <a:ext cx="2362200" cy="228600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solidFill>
                <a:schemeClr val="tx1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121920" tIns="60960" rIns="121920" bIns="60960" numCol="1" rtlCol="0" anchor="ctr" anchorCtr="0" compatLnSpc="1">
              <a:prstTxWarp prst="textNoShape">
                <a:avLst/>
              </a:prstTxWarp>
            </a:bodyPr>
            <a:lstStyle/>
            <a:p>
              <a:pPr defTabSz="1219170" fontAlgn="base">
                <a:spcBef>
                  <a:spcPct val="0"/>
                </a:spcBef>
                <a:spcAft>
                  <a:spcPct val="0"/>
                </a:spcAft>
              </a:pPr>
              <a:endParaRPr lang="en-US" sz="3200">
                <a:latin typeface="Lucida Sans" pitchFamily="-65" charset="0"/>
              </a:endParaRPr>
            </a:p>
          </p:txBody>
        </p:sp>
        <p:sp>
          <p:nvSpPr>
            <p:cNvPr id="18" name="Rectangle 17"/>
            <p:cNvSpPr/>
            <p:nvPr/>
          </p:nvSpPr>
          <p:spPr bwMode="auto">
            <a:xfrm>
              <a:off x="3886200" y="2038349"/>
              <a:ext cx="2362200" cy="22860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121920" tIns="60960" rIns="121920" bIns="60960" numCol="1" rtlCol="0" anchor="ctr" anchorCtr="0" compatLnSpc="1">
              <a:prstTxWarp prst="textNoShape">
                <a:avLst/>
              </a:prstTxWarp>
            </a:bodyPr>
            <a:lstStyle/>
            <a:p>
              <a:pPr defTabSz="1219170" fontAlgn="base">
                <a:spcBef>
                  <a:spcPct val="0"/>
                </a:spcBef>
                <a:spcAft>
                  <a:spcPct val="0"/>
                </a:spcAft>
              </a:pPr>
              <a:endParaRPr lang="en-US" sz="3200">
                <a:latin typeface="Lucida Sans" pitchFamily="-65" charset="0"/>
              </a:endParaRPr>
            </a:p>
          </p:txBody>
        </p:sp>
        <p:sp>
          <p:nvSpPr>
            <p:cNvPr id="19" name="Rectangle 18"/>
            <p:cNvSpPr/>
            <p:nvPr/>
          </p:nvSpPr>
          <p:spPr bwMode="auto">
            <a:xfrm>
              <a:off x="3886200" y="2343150"/>
              <a:ext cx="2362200" cy="228600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solidFill>
                <a:schemeClr val="tx1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121920" tIns="60960" rIns="121920" bIns="60960" numCol="1" rtlCol="0" anchor="ctr" anchorCtr="0" compatLnSpc="1">
              <a:prstTxWarp prst="textNoShape">
                <a:avLst/>
              </a:prstTxWarp>
            </a:bodyPr>
            <a:lstStyle/>
            <a:p>
              <a:pPr defTabSz="1219170" fontAlgn="base">
                <a:spcBef>
                  <a:spcPct val="0"/>
                </a:spcBef>
                <a:spcAft>
                  <a:spcPct val="0"/>
                </a:spcAft>
              </a:pPr>
              <a:endParaRPr lang="en-US" sz="3200">
                <a:latin typeface="Lucida Sans" pitchFamily="-65" charset="0"/>
              </a:endParaRPr>
            </a:p>
          </p:txBody>
        </p:sp>
        <p:sp>
          <p:nvSpPr>
            <p:cNvPr id="20" name="Rectangle 19"/>
            <p:cNvSpPr/>
            <p:nvPr/>
          </p:nvSpPr>
          <p:spPr bwMode="auto">
            <a:xfrm>
              <a:off x="3886200" y="2343150"/>
              <a:ext cx="1295400" cy="22860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121920" tIns="60960" rIns="121920" bIns="60960" numCol="1" rtlCol="0" anchor="ctr" anchorCtr="0" compatLnSpc="1">
              <a:prstTxWarp prst="textNoShape">
                <a:avLst/>
              </a:prstTxWarp>
            </a:bodyPr>
            <a:lstStyle/>
            <a:p>
              <a:pPr defTabSz="1219170" fontAlgn="base">
                <a:spcBef>
                  <a:spcPct val="0"/>
                </a:spcBef>
                <a:spcAft>
                  <a:spcPct val="0"/>
                </a:spcAft>
              </a:pPr>
              <a:endParaRPr lang="en-US" sz="3200">
                <a:latin typeface="Lucida Sans" pitchFamily="-65" charset="0"/>
              </a:endParaRP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711200" y="4038600"/>
            <a:ext cx="731290" cy="748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267" dirty="0">
                <a:solidFill>
                  <a:srgbClr val="3366FF"/>
                </a:solidFill>
                <a:latin typeface="Zapf Dingbats"/>
                <a:ea typeface="Zapf Dingbats"/>
                <a:cs typeface="Zapf Dingbats"/>
                <a:sym typeface="Zapf Dingbats"/>
              </a:rPr>
              <a:t>✓</a:t>
            </a:r>
            <a:endParaRPr lang="en-US" sz="4267" dirty="0">
              <a:solidFill>
                <a:srgbClr val="3366FF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49704" y="5664200"/>
            <a:ext cx="731290" cy="748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267" dirty="0">
                <a:solidFill>
                  <a:srgbClr val="FF0000"/>
                </a:solidFill>
                <a:latin typeface="Zapf Dingbats"/>
                <a:ea typeface="Zapf Dingbats"/>
                <a:cs typeface="Zapf Dingbats"/>
                <a:sym typeface="Zapf Dingbats"/>
              </a:rPr>
              <a:t>✗</a:t>
            </a:r>
            <a:endParaRPr lang="en-US" sz="4267" dirty="0">
              <a:solidFill>
                <a:srgbClr val="FF0000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11200" y="4851400"/>
            <a:ext cx="731290" cy="748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267" dirty="0">
                <a:solidFill>
                  <a:srgbClr val="3366FF"/>
                </a:solidFill>
                <a:latin typeface="Zapf Dingbats"/>
                <a:ea typeface="Zapf Dingbats"/>
                <a:cs typeface="Zapf Dingbats"/>
                <a:sym typeface="Zapf Dingbats"/>
              </a:rPr>
              <a:t>✓</a:t>
            </a:r>
            <a:endParaRPr lang="en-US" sz="4267" dirty="0">
              <a:solidFill>
                <a:srgbClr val="3366FF"/>
              </a:solidFill>
            </a:endParaRPr>
          </a:p>
        </p:txBody>
      </p:sp>
      <p:pic>
        <p:nvPicPr>
          <p:cNvPr id="7" name="Picture 6" descr="camera5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3200" y="1092200"/>
            <a:ext cx="3268133" cy="4792133"/>
          </a:xfrm>
          <a:prstGeom prst="rect">
            <a:avLst/>
          </a:prstGeom>
        </p:spPr>
      </p:pic>
      <p:sp>
        <p:nvSpPr>
          <p:cNvPr id="9" name="日期版面配置區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10" name="頁尾版面配置區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79552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79" grpId="0" build="p"/>
      <p:bldP spid="3" grpId="0"/>
      <p:bldP spid="4" grpId="0"/>
      <p:bldP spid="6" grpId="0"/>
      <p:bldP spid="22" grpId="0"/>
      <p:bldP spid="2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5200" y="76200"/>
            <a:ext cx="9956800" cy="990600"/>
          </a:xfrm>
        </p:spPr>
        <p:txBody>
          <a:bodyPr/>
          <a:lstStyle/>
          <a:p>
            <a:r>
              <a:rPr lang="en-US" dirty="0"/>
              <a:t>Machine Translation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17600" y="1803400"/>
            <a:ext cx="5892800" cy="4445000"/>
          </a:xfrm>
        </p:spPr>
        <p:txBody>
          <a:bodyPr/>
          <a:lstStyle/>
          <a:p>
            <a:r>
              <a:rPr lang="en-US" sz="3733" dirty="0"/>
              <a:t>Fully automatic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35DC5-7E65-8247-99AB-4E984F8A921E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0991" y="2209800"/>
            <a:ext cx="5825428" cy="4749800"/>
          </a:xfrm>
          <a:prstGeom prst="rect">
            <a:avLst/>
          </a:prstGeom>
        </p:spPr>
      </p:pic>
      <p:sp>
        <p:nvSpPr>
          <p:cNvPr id="6" name="Content Placeholder 2"/>
          <p:cNvSpPr txBox="1">
            <a:spLocks/>
          </p:cNvSpPr>
          <p:nvPr/>
        </p:nvSpPr>
        <p:spPr bwMode="auto">
          <a:xfrm>
            <a:off x="5892800" y="1397000"/>
            <a:ext cx="6197600" cy="444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Font typeface="Times" charset="0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pitchFamily="-65" charset="-128"/>
                <a:cs typeface="ＭＳ Ｐゴシック" pitchFamily="-65" charset="-128"/>
              </a:defRPr>
            </a:lvl1pPr>
            <a:lvl2pPr marL="685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Times" charset="0"/>
              <a:buChar char="•"/>
              <a:defRPr sz="2000">
                <a:solidFill>
                  <a:schemeClr val="tx1"/>
                </a:solidFill>
                <a:latin typeface="+mn-lt"/>
                <a:ea typeface="ＭＳ Ｐゴシック" pitchFamily="-65" charset="-128"/>
              </a:defRPr>
            </a:lvl2pPr>
            <a:lvl3pPr marL="10287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Font typeface="Times" charset="0"/>
              <a:buChar char="•"/>
              <a:defRPr sz="2000">
                <a:solidFill>
                  <a:schemeClr val="tx1"/>
                </a:solidFill>
                <a:latin typeface="+mn-lt"/>
                <a:ea typeface="ＭＳ Ｐゴシック" pitchFamily="-65" charset="-128"/>
              </a:defRPr>
            </a:lvl3pPr>
            <a:lvl4pPr marL="1371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Times" charset="0"/>
              <a:buChar char="•"/>
              <a:defRPr>
                <a:solidFill>
                  <a:schemeClr val="tx1"/>
                </a:solidFill>
                <a:latin typeface="+mn-lt"/>
                <a:ea typeface="ＭＳ Ｐゴシック" pitchFamily="-65" charset="-128"/>
              </a:defRPr>
            </a:lvl4pPr>
            <a:lvl5pPr marL="17145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Font typeface="Times" charset="0"/>
              <a:buChar char="•"/>
              <a:defRPr>
                <a:solidFill>
                  <a:schemeClr val="tx1"/>
                </a:solidFill>
                <a:latin typeface="+mn-lt"/>
                <a:ea typeface="ＭＳ Ｐゴシック" pitchFamily="-65" charset="-128"/>
              </a:defRPr>
            </a:lvl5pPr>
            <a:lvl6pPr marL="21717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Font typeface="Times" pitchFamily="-65" charset="0"/>
              <a:buChar char="•"/>
              <a:defRPr sz="1400">
                <a:solidFill>
                  <a:schemeClr val="tx1"/>
                </a:solidFill>
                <a:latin typeface="+mn-lt"/>
                <a:ea typeface="ＭＳ Ｐゴシック" pitchFamily="-65" charset="-128"/>
              </a:defRPr>
            </a:lvl6pPr>
            <a:lvl7pPr marL="26289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Font typeface="Times" pitchFamily="-65" charset="0"/>
              <a:buChar char="•"/>
              <a:defRPr sz="1400">
                <a:solidFill>
                  <a:schemeClr val="tx1"/>
                </a:solidFill>
                <a:latin typeface="+mn-lt"/>
                <a:ea typeface="ＭＳ Ｐゴシック" pitchFamily="-65" charset="-128"/>
              </a:defRPr>
            </a:lvl7pPr>
            <a:lvl8pPr marL="30861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Font typeface="Times" pitchFamily="-65" charset="0"/>
              <a:buChar char="•"/>
              <a:defRPr sz="1400">
                <a:solidFill>
                  <a:schemeClr val="tx1"/>
                </a:solidFill>
                <a:latin typeface="+mn-lt"/>
                <a:ea typeface="ＭＳ Ｐゴシック" pitchFamily="-65" charset="-128"/>
              </a:defRPr>
            </a:lvl8pPr>
            <a:lvl9pPr marL="35433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Font typeface="Times" pitchFamily="-65" charset="0"/>
              <a:buChar char="•"/>
              <a:defRPr sz="1400">
                <a:solidFill>
                  <a:schemeClr val="tx1"/>
                </a:solidFill>
                <a:latin typeface="+mn-lt"/>
                <a:ea typeface="ＭＳ Ｐゴシック" pitchFamily="-65" charset="-128"/>
              </a:defRPr>
            </a:lvl9pPr>
          </a:lstStyle>
          <a:p>
            <a:r>
              <a:rPr lang="en-US" sz="3733" dirty="0"/>
              <a:t>Helping human translators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4800" y="2717801"/>
            <a:ext cx="24350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Enter Source Text:</a:t>
            </a:r>
          </a:p>
        </p:txBody>
      </p:sp>
      <p:sp>
        <p:nvSpPr>
          <p:cNvPr id="8" name="Rounded Rectangle 7"/>
          <p:cNvSpPr/>
          <p:nvPr/>
        </p:nvSpPr>
        <p:spPr bwMode="auto">
          <a:xfrm>
            <a:off x="508000" y="3327400"/>
            <a:ext cx="5689600" cy="711200"/>
          </a:xfrm>
          <a:prstGeom prst="roundRect">
            <a:avLst/>
          </a:prstGeom>
          <a:solidFill>
            <a:schemeClr val="bg2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none" lIns="121920" tIns="60960" rIns="121920" bIns="60960" numCol="1" rtlCol="0" anchor="ctr" anchorCtr="0" compatLnSpc="1">
            <a:prstTxWarp prst="textNoShape">
              <a:avLst/>
            </a:prstTxWarp>
          </a:bodyPr>
          <a:lstStyle/>
          <a:p>
            <a:endParaRPr lang="en-US" altLang="zh-TW" sz="2400" dirty="0">
              <a:latin typeface="华文仿宋"/>
              <a:ea typeface="华文仿宋"/>
              <a:cs typeface="华文仿宋"/>
            </a:endParaRPr>
          </a:p>
        </p:txBody>
      </p:sp>
      <p:sp>
        <p:nvSpPr>
          <p:cNvPr id="9" name="Rounded Rectangle 8"/>
          <p:cNvSpPr/>
          <p:nvPr/>
        </p:nvSpPr>
        <p:spPr bwMode="auto">
          <a:xfrm>
            <a:off x="508000" y="5156200"/>
            <a:ext cx="5588000" cy="711200"/>
          </a:xfrm>
          <a:prstGeom prst="roundRect">
            <a:avLst/>
          </a:prstGeom>
          <a:solidFill>
            <a:schemeClr val="bg2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none" lIns="121920" tIns="60960" rIns="121920" bIns="60960" numCol="1" rtlCol="0" anchor="ctr" anchorCtr="0" compatLnSpc="1">
            <a:prstTxWarp prst="textNoShape">
              <a:avLst/>
            </a:prstTxWarp>
          </a:bodyPr>
          <a:lstStyle/>
          <a:p>
            <a:endParaRPr lang="en-US" sz="2400" dirty="0">
              <a:latin typeface="Calibri"/>
              <a:ea typeface="华文仿宋"/>
              <a:cs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04801" y="4358958"/>
            <a:ext cx="46240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Translation from Stanford’s </a:t>
            </a:r>
            <a:r>
              <a:rPr lang="en-US" sz="2400" i="1" dirty="0"/>
              <a:t>Phrasal</a:t>
            </a:r>
            <a:r>
              <a:rPr lang="en-US" sz="2400" dirty="0"/>
              <a:t>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401" y="3410989"/>
            <a:ext cx="436369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latin typeface="华文仿宋"/>
                <a:ea typeface="华文仿宋"/>
                <a:cs typeface="华文仿宋"/>
              </a:rPr>
              <a:t> 這 不過 是 一 個 時間 的 問題 </a:t>
            </a:r>
            <a:r>
              <a:rPr lang="en-US" altLang="zh-TW" sz="2400" dirty="0">
                <a:latin typeface="华文仿宋"/>
                <a:ea typeface="华文仿宋"/>
                <a:cs typeface="华文仿宋"/>
              </a:rPr>
              <a:t>.</a:t>
            </a:r>
          </a:p>
          <a:p>
            <a:endParaRPr lang="en-US" sz="2400" dirty="0"/>
          </a:p>
        </p:txBody>
      </p:sp>
      <p:sp>
        <p:nvSpPr>
          <p:cNvPr id="12" name="TextBox 11"/>
          <p:cNvSpPr txBox="1"/>
          <p:nvPr/>
        </p:nvSpPr>
        <p:spPr>
          <a:xfrm>
            <a:off x="609600" y="5239789"/>
            <a:ext cx="372794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alibri"/>
                <a:ea typeface="华文仿宋"/>
                <a:cs typeface="Calibri"/>
              </a:rPr>
              <a:t>This is only a matter of time.</a:t>
            </a:r>
          </a:p>
          <a:p>
            <a:endParaRPr lang="en-US" sz="2400" dirty="0"/>
          </a:p>
        </p:txBody>
      </p:sp>
      <p:sp>
        <p:nvSpPr>
          <p:cNvPr id="13" name="日期版面配置區 1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14" name="頁尾版面配置區 1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1140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 animBg="1"/>
      <p:bldP spid="9" grpId="0" animBg="1"/>
      <p:bldP spid="10" grpId="0"/>
      <p:bldP spid="11" grpId="0"/>
      <p:bldP spid="1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5" name="Title 1"/>
          <p:cNvSpPr>
            <a:spLocks noGrp="1"/>
          </p:cNvSpPr>
          <p:nvPr>
            <p:ph type="title"/>
          </p:nvPr>
        </p:nvSpPr>
        <p:spPr>
          <a:xfrm>
            <a:off x="1828800" y="279400"/>
            <a:ext cx="9956800" cy="711200"/>
          </a:xfrm>
        </p:spPr>
        <p:txBody>
          <a:bodyPr/>
          <a:lstStyle/>
          <a:p>
            <a:pPr eaLnBrk="1" hangingPunct="1"/>
            <a:r>
              <a:rPr lang="en-US" dirty="0">
                <a:latin typeface="Calibri" charset="0"/>
                <a:ea typeface="ＭＳ Ｐゴシック" charset="0"/>
                <a:cs typeface="ＭＳ Ｐゴシック" charset="0"/>
              </a:rPr>
              <a:t>Language Technology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355602" y="2581975"/>
            <a:ext cx="3505199" cy="954448"/>
          </a:xfrm>
          <a:prstGeom prst="rect">
            <a:avLst/>
          </a:prstGeom>
          <a:solidFill>
            <a:srgbClr val="DEF1DE"/>
          </a:solidFill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09585">
              <a:defRPr/>
            </a:pPr>
            <a:endParaRPr lang="en-US" sz="1867">
              <a:solidFill>
                <a:prstClr val="white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064001" y="1532111"/>
            <a:ext cx="4063999" cy="954448"/>
          </a:xfrm>
          <a:prstGeom prst="rect">
            <a:avLst/>
          </a:prstGeom>
          <a:solidFill>
            <a:srgbClr val="FFFDD4"/>
          </a:solidFill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09585">
              <a:defRPr/>
            </a:pPr>
            <a:endParaRPr lang="en-US" sz="1867">
              <a:solidFill>
                <a:prstClr val="white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396583" y="2040469"/>
            <a:ext cx="3708399" cy="952500"/>
          </a:xfrm>
          <a:prstGeom prst="rect">
            <a:avLst/>
          </a:prstGeom>
          <a:solidFill>
            <a:srgbClr val="F0DCDC"/>
          </a:solidFill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09585">
              <a:defRPr/>
            </a:pPr>
            <a:endParaRPr lang="en-US" sz="1867">
              <a:solidFill>
                <a:prstClr val="white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064001" y="2548995"/>
            <a:ext cx="4063999" cy="812800"/>
          </a:xfrm>
          <a:prstGeom prst="rect">
            <a:avLst/>
          </a:prstGeom>
          <a:solidFill>
            <a:srgbClr val="FFFDD4"/>
          </a:solidFill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09585">
              <a:defRPr/>
            </a:pPr>
            <a:endParaRPr lang="en-US" sz="1867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402227" y="3103261"/>
            <a:ext cx="3708399" cy="954448"/>
          </a:xfrm>
          <a:prstGeom prst="rect">
            <a:avLst/>
          </a:prstGeom>
          <a:solidFill>
            <a:srgbClr val="F0DCDC"/>
          </a:solidFill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09585">
              <a:defRPr/>
            </a:pPr>
            <a:endParaRPr lang="en-US" sz="1867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55602" y="3733800"/>
            <a:ext cx="3505199" cy="954448"/>
          </a:xfrm>
          <a:prstGeom prst="rect">
            <a:avLst/>
          </a:prstGeom>
          <a:solidFill>
            <a:srgbClr val="DEF1DE"/>
          </a:solidFill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09585">
              <a:defRPr/>
            </a:pPr>
            <a:endParaRPr lang="en-US" sz="1867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069927" y="3408706"/>
            <a:ext cx="4057813" cy="731495"/>
          </a:xfrm>
          <a:prstGeom prst="rect">
            <a:avLst/>
          </a:prstGeom>
          <a:solidFill>
            <a:srgbClr val="FFFDD4"/>
          </a:solidFill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09585">
              <a:defRPr/>
            </a:pPr>
            <a:endParaRPr lang="en-US" sz="1867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402231" y="4134549"/>
            <a:ext cx="3708399" cy="954448"/>
          </a:xfrm>
          <a:prstGeom prst="rect">
            <a:avLst/>
          </a:prstGeom>
          <a:solidFill>
            <a:srgbClr val="F0DCDC"/>
          </a:solidFill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09585">
              <a:defRPr/>
            </a:pPr>
            <a:endParaRPr lang="en-US" sz="1867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55602" y="4851401"/>
            <a:ext cx="3505199" cy="954448"/>
          </a:xfrm>
          <a:prstGeom prst="rect">
            <a:avLst/>
          </a:prstGeom>
          <a:solidFill>
            <a:srgbClr val="DEF1DE"/>
          </a:solidFill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09585">
              <a:defRPr/>
            </a:pPr>
            <a:endParaRPr lang="en-US" sz="1867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064001" y="4219223"/>
            <a:ext cx="4063999" cy="711199"/>
          </a:xfrm>
          <a:prstGeom prst="rect">
            <a:avLst/>
          </a:prstGeom>
          <a:solidFill>
            <a:srgbClr val="FFFDD4"/>
          </a:solidFill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09585">
              <a:defRPr/>
            </a:pPr>
            <a:endParaRPr lang="en-US" sz="1867" dirty="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402231" y="5321299"/>
            <a:ext cx="3708399" cy="952501"/>
          </a:xfrm>
          <a:prstGeom prst="rect">
            <a:avLst/>
          </a:prstGeom>
          <a:solidFill>
            <a:srgbClr val="F0DCDC"/>
          </a:solidFill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09585">
              <a:defRPr/>
            </a:pPr>
            <a:endParaRPr lang="en-US" sz="1867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064000" y="5970410"/>
            <a:ext cx="4064000" cy="850901"/>
          </a:xfrm>
          <a:prstGeom prst="rect">
            <a:avLst/>
          </a:prstGeom>
          <a:solidFill>
            <a:srgbClr val="FFFFCC"/>
          </a:solidFill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09585">
              <a:defRPr/>
            </a:pPr>
            <a:endParaRPr lang="en-US" sz="1867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064001" y="5002126"/>
            <a:ext cx="4063999" cy="895791"/>
          </a:xfrm>
          <a:prstGeom prst="rect">
            <a:avLst/>
          </a:prstGeom>
          <a:solidFill>
            <a:srgbClr val="FFFDD4"/>
          </a:solidFill>
          <a:ln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09585">
              <a:defRPr/>
            </a:pPr>
            <a:endParaRPr lang="en-US" sz="1867">
              <a:solidFill>
                <a:prstClr val="white"/>
              </a:solidFill>
              <a:latin typeface="Calibri"/>
            </a:endParaRPr>
          </a:p>
        </p:txBody>
      </p:sp>
      <p:sp>
        <p:nvSpPr>
          <p:cNvPr id="67602" name="TextBox 24"/>
          <p:cNvSpPr txBox="1">
            <a:spLocks noChangeArrowheads="1"/>
          </p:cNvSpPr>
          <p:nvPr/>
        </p:nvSpPr>
        <p:spPr bwMode="auto">
          <a:xfrm>
            <a:off x="4165602" y="2514600"/>
            <a:ext cx="2404954" cy="379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  <a:cs typeface="ＭＳ Ｐゴシック" charset="0"/>
              </a:defRPr>
            </a:lvl1pPr>
            <a:lvl2pPr marL="742950" indent="-28575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2pPr>
            <a:lvl3pPr marL="11430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3pPr>
            <a:lvl4pPr marL="16002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4pPr>
            <a:lvl5pPr marL="20574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9pPr>
          </a:lstStyle>
          <a:p>
            <a:pPr algn="l" eaLnBrk="1" hangingPunct="1"/>
            <a:r>
              <a:rPr lang="en-US" sz="1867" dirty="0">
                <a:solidFill>
                  <a:srgbClr val="000000"/>
                </a:solidFill>
                <a:latin typeface="Calibri" charset="0"/>
              </a:rPr>
              <a:t>Coreference resolution</a:t>
            </a:r>
          </a:p>
        </p:txBody>
      </p:sp>
      <p:sp>
        <p:nvSpPr>
          <p:cNvPr id="67603" name="TextBox 25"/>
          <p:cNvSpPr txBox="1">
            <a:spLocks noChangeArrowheads="1"/>
          </p:cNvSpPr>
          <p:nvPr/>
        </p:nvSpPr>
        <p:spPr bwMode="auto">
          <a:xfrm>
            <a:off x="8357072" y="2006600"/>
            <a:ext cx="2612062" cy="379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  <a:cs typeface="ＭＳ Ｐゴシック" charset="0"/>
              </a:defRPr>
            </a:lvl1pPr>
            <a:lvl2pPr marL="742950" indent="-28575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2pPr>
            <a:lvl3pPr marL="11430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3pPr>
            <a:lvl4pPr marL="16002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4pPr>
            <a:lvl5pPr marL="20574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9pPr>
          </a:lstStyle>
          <a:p>
            <a:pPr algn="l" eaLnBrk="1" hangingPunct="1"/>
            <a:r>
              <a:rPr lang="en-US" sz="1867" dirty="0">
                <a:solidFill>
                  <a:srgbClr val="000000"/>
                </a:solidFill>
                <a:latin typeface="Calibri" charset="0"/>
              </a:rPr>
              <a:t>Question answering (QA)</a:t>
            </a:r>
          </a:p>
        </p:txBody>
      </p:sp>
      <p:sp>
        <p:nvSpPr>
          <p:cNvPr id="67604" name="TextBox 26"/>
          <p:cNvSpPr txBox="1">
            <a:spLocks noChangeArrowheads="1"/>
          </p:cNvSpPr>
          <p:nvPr/>
        </p:nvSpPr>
        <p:spPr bwMode="auto">
          <a:xfrm>
            <a:off x="355602" y="3733800"/>
            <a:ext cx="2968057" cy="379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  <a:cs typeface="ＭＳ Ｐゴシック" charset="0"/>
              </a:defRPr>
            </a:lvl1pPr>
            <a:lvl2pPr marL="742950" indent="-28575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2pPr>
            <a:lvl3pPr marL="11430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3pPr>
            <a:lvl4pPr marL="16002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4pPr>
            <a:lvl5pPr marL="20574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9pPr>
          </a:lstStyle>
          <a:p>
            <a:pPr algn="l" eaLnBrk="1" hangingPunct="1"/>
            <a:r>
              <a:rPr lang="en-US" sz="1867" dirty="0">
                <a:solidFill>
                  <a:srgbClr val="000000"/>
                </a:solidFill>
                <a:latin typeface="Calibri" charset="0"/>
              </a:rPr>
              <a:t>Part-of-speech (POS) tagging</a:t>
            </a:r>
          </a:p>
        </p:txBody>
      </p:sp>
      <p:sp>
        <p:nvSpPr>
          <p:cNvPr id="67605" name="TextBox 27"/>
          <p:cNvSpPr txBox="1">
            <a:spLocks noChangeArrowheads="1"/>
          </p:cNvSpPr>
          <p:nvPr/>
        </p:nvSpPr>
        <p:spPr bwMode="auto">
          <a:xfrm>
            <a:off x="4064000" y="3327400"/>
            <a:ext cx="3352800" cy="3590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  <a:cs typeface="ＭＳ Ｐゴシック" charset="0"/>
              </a:defRPr>
            </a:lvl1pPr>
            <a:lvl2pPr marL="742950" indent="-28575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2pPr>
            <a:lvl3pPr marL="11430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3pPr>
            <a:lvl4pPr marL="16002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4pPr>
            <a:lvl5pPr marL="20574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9pPr>
          </a:lstStyle>
          <a:p>
            <a:pPr algn="l" eaLnBrk="1" hangingPunct="1"/>
            <a:r>
              <a:rPr lang="en-US" sz="1733" dirty="0">
                <a:solidFill>
                  <a:srgbClr val="000000"/>
                </a:solidFill>
                <a:latin typeface="Calibri" charset="0"/>
              </a:rPr>
              <a:t>Word sense disambiguation (WSD)</a:t>
            </a:r>
          </a:p>
        </p:txBody>
      </p:sp>
      <p:sp>
        <p:nvSpPr>
          <p:cNvPr id="67606" name="TextBox 28"/>
          <p:cNvSpPr txBox="1">
            <a:spLocks noChangeArrowheads="1"/>
          </p:cNvSpPr>
          <p:nvPr/>
        </p:nvSpPr>
        <p:spPr bwMode="auto">
          <a:xfrm>
            <a:off x="8357074" y="3022600"/>
            <a:ext cx="1267719" cy="379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  <a:cs typeface="ＭＳ Ｐゴシック" charset="0"/>
              </a:defRPr>
            </a:lvl1pPr>
            <a:lvl2pPr marL="742950" indent="-28575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2pPr>
            <a:lvl3pPr marL="11430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3pPr>
            <a:lvl4pPr marL="16002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4pPr>
            <a:lvl5pPr marL="20574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9pPr>
          </a:lstStyle>
          <a:p>
            <a:pPr algn="l" eaLnBrk="1" hangingPunct="1"/>
            <a:r>
              <a:rPr lang="en-US" sz="1867" dirty="0">
                <a:solidFill>
                  <a:srgbClr val="000000"/>
                </a:solidFill>
                <a:latin typeface="Calibri" charset="0"/>
              </a:rPr>
              <a:t>Paraphrase</a:t>
            </a:r>
          </a:p>
        </p:txBody>
      </p:sp>
      <p:sp>
        <p:nvSpPr>
          <p:cNvPr id="67607" name="TextBox 29"/>
          <p:cNvSpPr txBox="1">
            <a:spLocks noChangeArrowheads="1"/>
          </p:cNvSpPr>
          <p:nvPr/>
        </p:nvSpPr>
        <p:spPr bwMode="auto">
          <a:xfrm>
            <a:off x="457202" y="4851400"/>
            <a:ext cx="3264676" cy="379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  <a:cs typeface="ＭＳ Ｐゴシック" charset="0"/>
              </a:defRPr>
            </a:lvl1pPr>
            <a:lvl2pPr marL="742950" indent="-28575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2pPr>
            <a:lvl3pPr marL="11430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3pPr>
            <a:lvl4pPr marL="16002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4pPr>
            <a:lvl5pPr marL="20574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9pPr>
          </a:lstStyle>
          <a:p>
            <a:pPr algn="l" eaLnBrk="1" hangingPunct="1"/>
            <a:r>
              <a:rPr lang="en-US" sz="1867" dirty="0">
                <a:solidFill>
                  <a:srgbClr val="000000"/>
                </a:solidFill>
                <a:latin typeface="Calibri" charset="0"/>
              </a:rPr>
              <a:t>Named entity recognition (NER)</a:t>
            </a:r>
          </a:p>
        </p:txBody>
      </p:sp>
      <p:sp>
        <p:nvSpPr>
          <p:cNvPr id="67608" name="TextBox 30"/>
          <p:cNvSpPr txBox="1">
            <a:spLocks noChangeArrowheads="1"/>
          </p:cNvSpPr>
          <p:nvPr/>
        </p:nvSpPr>
        <p:spPr bwMode="auto">
          <a:xfrm>
            <a:off x="4165601" y="4241800"/>
            <a:ext cx="882357" cy="379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  <a:cs typeface="ＭＳ Ｐゴシック" charset="0"/>
              </a:defRPr>
            </a:lvl1pPr>
            <a:lvl2pPr marL="742950" indent="-28575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2pPr>
            <a:lvl3pPr marL="11430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3pPr>
            <a:lvl4pPr marL="16002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4pPr>
            <a:lvl5pPr marL="20574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9pPr>
          </a:lstStyle>
          <a:p>
            <a:pPr algn="l" eaLnBrk="1" hangingPunct="1"/>
            <a:r>
              <a:rPr lang="en-US" sz="1867" dirty="0">
                <a:solidFill>
                  <a:srgbClr val="000000"/>
                </a:solidFill>
                <a:latin typeface="Calibri" charset="0"/>
              </a:rPr>
              <a:t>Parsing</a:t>
            </a:r>
          </a:p>
        </p:txBody>
      </p:sp>
      <p:sp>
        <p:nvSpPr>
          <p:cNvPr id="67609" name="TextBox 31"/>
          <p:cNvSpPr txBox="1">
            <a:spLocks noChangeArrowheads="1"/>
          </p:cNvSpPr>
          <p:nvPr/>
        </p:nvSpPr>
        <p:spPr bwMode="auto">
          <a:xfrm>
            <a:off x="8345784" y="4078101"/>
            <a:ext cx="1645194" cy="379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  <a:cs typeface="ＭＳ Ｐゴシック" charset="0"/>
              </a:defRPr>
            </a:lvl1pPr>
            <a:lvl2pPr marL="742950" indent="-28575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2pPr>
            <a:lvl3pPr marL="11430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3pPr>
            <a:lvl4pPr marL="16002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4pPr>
            <a:lvl5pPr marL="20574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9pPr>
          </a:lstStyle>
          <a:p>
            <a:pPr algn="l" eaLnBrk="1" hangingPunct="1"/>
            <a:r>
              <a:rPr lang="en-US" sz="1867" dirty="0">
                <a:solidFill>
                  <a:srgbClr val="000000"/>
                </a:solidFill>
                <a:latin typeface="Calibri" charset="0"/>
              </a:rPr>
              <a:t>Summarization</a:t>
            </a:r>
          </a:p>
        </p:txBody>
      </p:sp>
      <p:sp>
        <p:nvSpPr>
          <p:cNvPr id="67610" name="TextBox 32"/>
          <p:cNvSpPr txBox="1">
            <a:spLocks noChangeArrowheads="1"/>
          </p:cNvSpPr>
          <p:nvPr/>
        </p:nvSpPr>
        <p:spPr bwMode="auto">
          <a:xfrm>
            <a:off x="4205283" y="5902942"/>
            <a:ext cx="2951428" cy="379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  <a:cs typeface="ＭＳ Ｐゴシック" charset="0"/>
              </a:defRPr>
            </a:lvl1pPr>
            <a:lvl2pPr marL="742950" indent="-28575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2pPr>
            <a:lvl3pPr marL="11430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3pPr>
            <a:lvl4pPr marL="16002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4pPr>
            <a:lvl5pPr marL="20574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9pPr>
          </a:lstStyle>
          <a:p>
            <a:pPr algn="l" eaLnBrk="1" hangingPunct="1"/>
            <a:r>
              <a:rPr lang="en-US" sz="1867" dirty="0">
                <a:solidFill>
                  <a:srgbClr val="000000"/>
                </a:solidFill>
                <a:latin typeface="Calibri" charset="0"/>
              </a:rPr>
              <a:t>Information extraction (IE)</a:t>
            </a:r>
          </a:p>
        </p:txBody>
      </p:sp>
      <p:sp>
        <p:nvSpPr>
          <p:cNvPr id="67611" name="TextBox 33"/>
          <p:cNvSpPr txBox="1">
            <a:spLocks noChangeArrowheads="1"/>
          </p:cNvSpPr>
          <p:nvPr/>
        </p:nvSpPr>
        <p:spPr bwMode="auto">
          <a:xfrm>
            <a:off x="4165602" y="4953000"/>
            <a:ext cx="2650919" cy="379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  <a:cs typeface="ＭＳ Ｐゴシック" charset="0"/>
              </a:defRPr>
            </a:lvl1pPr>
            <a:lvl2pPr marL="742950" indent="-28575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2pPr>
            <a:lvl3pPr marL="11430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3pPr>
            <a:lvl4pPr marL="16002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4pPr>
            <a:lvl5pPr marL="20574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9pPr>
          </a:lstStyle>
          <a:p>
            <a:pPr algn="l" eaLnBrk="1" hangingPunct="1"/>
            <a:r>
              <a:rPr lang="en-US" sz="1867" dirty="0">
                <a:solidFill>
                  <a:srgbClr val="000000"/>
                </a:solidFill>
                <a:latin typeface="Calibri" charset="0"/>
              </a:rPr>
              <a:t>Machine translation (MT)</a:t>
            </a:r>
          </a:p>
        </p:txBody>
      </p:sp>
      <p:sp>
        <p:nvSpPr>
          <p:cNvPr id="67612" name="TextBox 34"/>
          <p:cNvSpPr txBox="1">
            <a:spLocks noChangeArrowheads="1"/>
          </p:cNvSpPr>
          <p:nvPr/>
        </p:nvSpPr>
        <p:spPr bwMode="auto">
          <a:xfrm>
            <a:off x="8345785" y="5226757"/>
            <a:ext cx="795411" cy="379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  <a:cs typeface="ＭＳ Ｐゴシック" charset="0"/>
              </a:defRPr>
            </a:lvl1pPr>
            <a:lvl2pPr marL="742950" indent="-28575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2pPr>
            <a:lvl3pPr marL="11430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3pPr>
            <a:lvl4pPr marL="16002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4pPr>
            <a:lvl5pPr marL="20574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9pPr>
          </a:lstStyle>
          <a:p>
            <a:pPr algn="l" eaLnBrk="1" hangingPunct="1"/>
            <a:r>
              <a:rPr lang="en-US" sz="1867" dirty="0">
                <a:solidFill>
                  <a:srgbClr val="000000"/>
                </a:solidFill>
                <a:latin typeface="Calibri" charset="0"/>
              </a:rPr>
              <a:t>Dialog</a:t>
            </a:r>
          </a:p>
        </p:txBody>
      </p:sp>
      <p:sp>
        <p:nvSpPr>
          <p:cNvPr id="67613" name="TextBox 36"/>
          <p:cNvSpPr txBox="1">
            <a:spLocks noChangeArrowheads="1"/>
          </p:cNvSpPr>
          <p:nvPr/>
        </p:nvSpPr>
        <p:spPr bwMode="auto">
          <a:xfrm>
            <a:off x="4165602" y="1498600"/>
            <a:ext cx="1995739" cy="379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  <a:cs typeface="ＭＳ Ｐゴシック" charset="0"/>
              </a:defRPr>
            </a:lvl1pPr>
            <a:lvl2pPr marL="742950" indent="-28575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2pPr>
            <a:lvl3pPr marL="11430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3pPr>
            <a:lvl4pPr marL="16002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4pPr>
            <a:lvl5pPr marL="20574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9pPr>
          </a:lstStyle>
          <a:p>
            <a:pPr algn="l" eaLnBrk="1" hangingPunct="1"/>
            <a:r>
              <a:rPr lang="en-US" sz="1867" dirty="0">
                <a:solidFill>
                  <a:srgbClr val="000000"/>
                </a:solidFill>
                <a:latin typeface="Calibri" charset="0"/>
              </a:rPr>
              <a:t>Sentiment analysis</a:t>
            </a:r>
          </a:p>
        </p:txBody>
      </p:sp>
      <p:sp>
        <p:nvSpPr>
          <p:cNvPr id="67614" name="TextBox 37"/>
          <p:cNvSpPr txBox="1">
            <a:spLocks noChangeArrowheads="1"/>
          </p:cNvSpPr>
          <p:nvPr/>
        </p:nvSpPr>
        <p:spPr bwMode="auto">
          <a:xfrm>
            <a:off x="8345783" y="5181600"/>
            <a:ext cx="293670" cy="379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  <a:cs typeface="ＭＳ Ｐゴシック" charset="0"/>
              </a:defRPr>
            </a:lvl1pPr>
            <a:lvl2pPr marL="742950" indent="-28575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2pPr>
            <a:lvl3pPr marL="11430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3pPr>
            <a:lvl4pPr marL="16002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4pPr>
            <a:lvl5pPr marL="20574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9pPr>
          </a:lstStyle>
          <a:p>
            <a:pPr algn="l" eaLnBrk="1" hangingPunct="1"/>
            <a:r>
              <a:rPr lang="en-US" sz="1867">
                <a:solidFill>
                  <a:srgbClr val="000000"/>
                </a:solidFill>
                <a:latin typeface="Calibri" charset="0"/>
              </a:rPr>
              <a:t>  </a:t>
            </a:r>
          </a:p>
        </p:txBody>
      </p:sp>
      <p:sp>
        <p:nvSpPr>
          <p:cNvPr id="67615" name="TextBox 38"/>
          <p:cNvSpPr txBox="1">
            <a:spLocks noChangeArrowheads="1"/>
          </p:cNvSpPr>
          <p:nvPr/>
        </p:nvSpPr>
        <p:spPr bwMode="auto">
          <a:xfrm>
            <a:off x="406401" y="1818958"/>
            <a:ext cx="329141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  <a:cs typeface="ＭＳ Ｐゴシック" charset="0"/>
              </a:defRPr>
            </a:lvl1pPr>
            <a:lvl2pPr marL="742950" indent="-28575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2pPr>
            <a:lvl3pPr marL="11430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3pPr>
            <a:lvl4pPr marL="16002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4pPr>
            <a:lvl5pPr marL="20574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dirty="0">
                <a:solidFill>
                  <a:srgbClr val="000000"/>
                </a:solidFill>
                <a:latin typeface="Calibri" charset="0"/>
              </a:rPr>
              <a:t>mostly solved</a:t>
            </a:r>
          </a:p>
        </p:txBody>
      </p:sp>
      <p:sp>
        <p:nvSpPr>
          <p:cNvPr id="67616" name="TextBox 39"/>
          <p:cNvSpPr txBox="1">
            <a:spLocks noChangeArrowheads="1"/>
          </p:cNvSpPr>
          <p:nvPr/>
        </p:nvSpPr>
        <p:spPr bwMode="auto">
          <a:xfrm>
            <a:off x="4368801" y="990601"/>
            <a:ext cx="329141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  <a:cs typeface="ＭＳ Ｐゴシック" charset="0"/>
              </a:defRPr>
            </a:lvl1pPr>
            <a:lvl2pPr marL="742950" indent="-28575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2pPr>
            <a:lvl3pPr marL="11430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3pPr>
            <a:lvl4pPr marL="16002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4pPr>
            <a:lvl5pPr marL="20574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dirty="0">
                <a:solidFill>
                  <a:srgbClr val="000000"/>
                </a:solidFill>
                <a:latin typeface="Calibri" charset="0"/>
              </a:rPr>
              <a:t>making good progress</a:t>
            </a:r>
          </a:p>
        </p:txBody>
      </p:sp>
      <p:sp>
        <p:nvSpPr>
          <p:cNvPr id="67617" name="TextBox 40"/>
          <p:cNvSpPr txBox="1">
            <a:spLocks noChangeArrowheads="1"/>
          </p:cNvSpPr>
          <p:nvPr/>
        </p:nvSpPr>
        <p:spPr bwMode="auto">
          <a:xfrm>
            <a:off x="8432801" y="1498601"/>
            <a:ext cx="329141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  <a:cs typeface="ＭＳ Ｐゴシック" charset="0"/>
              </a:defRPr>
            </a:lvl1pPr>
            <a:lvl2pPr marL="742950" indent="-28575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2pPr>
            <a:lvl3pPr marL="11430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3pPr>
            <a:lvl4pPr marL="16002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4pPr>
            <a:lvl5pPr marL="20574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dirty="0">
                <a:solidFill>
                  <a:srgbClr val="000000"/>
                </a:solidFill>
                <a:latin typeface="Calibri" charset="0"/>
              </a:rPr>
              <a:t>still really hard</a:t>
            </a:r>
          </a:p>
        </p:txBody>
      </p:sp>
      <p:sp>
        <p:nvSpPr>
          <p:cNvPr id="67618" name="TextBox 41"/>
          <p:cNvSpPr txBox="1">
            <a:spLocks noChangeArrowheads="1"/>
          </p:cNvSpPr>
          <p:nvPr/>
        </p:nvSpPr>
        <p:spPr bwMode="auto">
          <a:xfrm>
            <a:off x="457201" y="2548465"/>
            <a:ext cx="1778000" cy="379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  <a:cs typeface="ＭＳ Ｐゴシック" charset="0"/>
              </a:defRPr>
            </a:lvl1pPr>
            <a:lvl2pPr marL="742950" indent="-28575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2pPr>
            <a:lvl3pPr marL="11430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3pPr>
            <a:lvl4pPr marL="16002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4pPr>
            <a:lvl5pPr marL="2057400" indent="-228600" defTabSz="457200" eaLnBrk="0" hangingPunct="0"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Lucida Sans" charset="0"/>
                <a:ea typeface="ＭＳ Ｐゴシック" charset="0"/>
              </a:defRPr>
            </a:lvl9pPr>
          </a:lstStyle>
          <a:p>
            <a:pPr algn="l" eaLnBrk="1" hangingPunct="1"/>
            <a:r>
              <a:rPr lang="en-US" sz="1867" dirty="0">
                <a:solidFill>
                  <a:srgbClr val="000000"/>
                </a:solidFill>
                <a:latin typeface="Calibri" charset="0"/>
              </a:rPr>
              <a:t>Spam detection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784576" y="2940973"/>
            <a:ext cx="2252136" cy="238744"/>
          </a:xfrm>
          <a:prstGeom prst="rect">
            <a:avLst/>
          </a:prstGeom>
          <a:solidFill>
            <a:schemeClr val="bg1"/>
          </a:solidFill>
          <a:ln w="317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5400" dist="12700" dir="270000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609585">
              <a:defRPr/>
            </a:pPr>
            <a:r>
              <a:rPr lang="en-US" sz="1333" dirty="0">
                <a:solidFill>
                  <a:prstClr val="black"/>
                </a:solidFill>
                <a:latin typeface="Calibri"/>
                <a:cs typeface="Times New Roman"/>
              </a:rPr>
              <a:t>Let’s go to Agra!</a:t>
            </a:r>
          </a:p>
        </p:txBody>
      </p:sp>
      <p:sp>
        <p:nvSpPr>
          <p:cNvPr id="45" name="Rectangle 44"/>
          <p:cNvSpPr/>
          <p:nvPr/>
        </p:nvSpPr>
        <p:spPr bwMode="auto">
          <a:xfrm>
            <a:off x="803100" y="3224609"/>
            <a:ext cx="2216677" cy="226967"/>
          </a:xfrm>
          <a:prstGeom prst="rect">
            <a:avLst/>
          </a:prstGeom>
          <a:solidFill>
            <a:schemeClr val="bg1"/>
          </a:solidFill>
          <a:ln w="317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5400" dist="12700" dir="270000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609585">
              <a:defRPr/>
            </a:pPr>
            <a:r>
              <a:rPr lang="en-US" sz="1333" dirty="0">
                <a:solidFill>
                  <a:prstClr val="black"/>
                </a:solidFill>
                <a:latin typeface="Calibri"/>
                <a:cs typeface="Times New Roman"/>
              </a:rPr>
              <a:t>Buy V1AGRA …</a:t>
            </a:r>
          </a:p>
        </p:txBody>
      </p:sp>
      <p:sp>
        <p:nvSpPr>
          <p:cNvPr id="67678" name="Rectangle 45"/>
          <p:cNvSpPr>
            <a:spLocks noChangeArrowheads="1"/>
          </p:cNvSpPr>
          <p:nvPr/>
        </p:nvSpPr>
        <p:spPr bwMode="auto">
          <a:xfrm>
            <a:off x="3166538" y="2730934"/>
            <a:ext cx="40602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defTabSz="609585"/>
            <a:r>
              <a:rPr lang="en-US" sz="2400" dirty="0">
                <a:solidFill>
                  <a:srgbClr val="008000"/>
                </a:solidFill>
                <a:latin typeface="Zapf Dingbats" charset="0"/>
                <a:cs typeface="Zapf Dingbats" charset="0"/>
              </a:rPr>
              <a:t>✓</a:t>
            </a:r>
            <a:endParaRPr lang="en-US" sz="2400" dirty="0">
              <a:solidFill>
                <a:srgbClr val="008000"/>
              </a:solidFill>
              <a:latin typeface="Arial" charset="0"/>
            </a:endParaRPr>
          </a:p>
        </p:txBody>
      </p:sp>
      <p:sp>
        <p:nvSpPr>
          <p:cNvPr id="67679" name="Rectangle 46"/>
          <p:cNvSpPr>
            <a:spLocks noChangeArrowheads="1"/>
          </p:cNvSpPr>
          <p:nvPr/>
        </p:nvSpPr>
        <p:spPr bwMode="auto">
          <a:xfrm>
            <a:off x="3177175" y="3083496"/>
            <a:ext cx="44091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defTabSz="609585"/>
            <a:r>
              <a:rPr lang="en-US" sz="2400" dirty="0">
                <a:solidFill>
                  <a:srgbClr val="FF0000"/>
                </a:solidFill>
                <a:latin typeface="Zapf Dingbats" charset="0"/>
                <a:cs typeface="Zapf Dingbats" charset="0"/>
              </a:rPr>
              <a:t>✗</a:t>
            </a:r>
            <a:endParaRPr lang="en-US" sz="2400" dirty="0">
              <a:solidFill>
                <a:srgbClr val="FF0000"/>
              </a:solidFill>
              <a:latin typeface="Arial" charset="0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457203" y="4345686"/>
            <a:ext cx="3454400" cy="203199"/>
          </a:xfrm>
          <a:prstGeom prst="rect">
            <a:avLst/>
          </a:prstGeom>
          <a:solidFill>
            <a:schemeClr val="bg1"/>
          </a:solidFill>
          <a:ln w="317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5400" dist="12700" dir="270000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anchor="ctr"/>
          <a:lstStyle/>
          <a:p>
            <a:pPr algn="ctr" defTabSz="609585">
              <a:defRPr/>
            </a:pPr>
            <a:r>
              <a:rPr lang="en-US" sz="1467" dirty="0">
                <a:solidFill>
                  <a:prstClr val="black"/>
                </a:solidFill>
                <a:latin typeface="Calibri"/>
                <a:cs typeface="Times New Roman"/>
              </a:rPr>
              <a:t>Colorless   green   ideas   sleep   furiously.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0110" y="4142485"/>
            <a:ext cx="2873164" cy="166688"/>
          </a:xfrm>
          <a:prstGeom prst="rect">
            <a:avLst/>
          </a:prstGeom>
          <a:solidFill>
            <a:srgbClr val="DEF1DE"/>
          </a:solidFill>
          <a:ln w="31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609585">
              <a:defRPr/>
            </a:pPr>
            <a:r>
              <a:rPr lang="en-US" sz="1333" dirty="0">
                <a:solidFill>
                  <a:prstClr val="black"/>
                </a:solidFill>
                <a:latin typeface="Calibri"/>
                <a:cs typeface="Times New Roman"/>
              </a:rPr>
              <a:t>     ADJ         ADJ    NOUN  VERB      ADV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06400" y="5442239"/>
            <a:ext cx="3454400" cy="262011"/>
          </a:xfrm>
          <a:prstGeom prst="rect">
            <a:avLst/>
          </a:prstGeom>
          <a:solidFill>
            <a:schemeClr val="bg1"/>
          </a:solidFill>
          <a:ln w="317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5400" dist="12700" dir="270000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anchor="ctr"/>
          <a:lstStyle/>
          <a:p>
            <a:pPr algn="ctr" defTabSz="609585">
              <a:defRPr/>
            </a:pPr>
            <a:r>
              <a:rPr lang="en-US" sz="1467" dirty="0">
                <a:solidFill>
                  <a:prstClr val="black"/>
                </a:solidFill>
                <a:latin typeface="Calibri"/>
                <a:cs typeface="Times New Roman"/>
              </a:rPr>
              <a:t>Einstein met with UN officials in Princeton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95497" y="5276153"/>
            <a:ext cx="2875491" cy="166687"/>
          </a:xfrm>
          <a:prstGeom prst="rect">
            <a:avLst/>
          </a:prstGeom>
          <a:solidFill>
            <a:srgbClr val="DEF1DE"/>
          </a:solidFill>
          <a:ln w="31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609585">
              <a:defRPr/>
            </a:pPr>
            <a:r>
              <a:rPr lang="en-US" sz="1333" dirty="0">
                <a:solidFill>
                  <a:prstClr val="black"/>
                </a:solidFill>
                <a:latin typeface="Calibri"/>
                <a:cs typeface="Times New Roman"/>
              </a:rPr>
              <a:t>PERSON              ORG                      LOC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328786" y="6313313"/>
            <a:ext cx="2441724" cy="406399"/>
          </a:xfrm>
          <a:prstGeom prst="rect">
            <a:avLst/>
          </a:prstGeom>
          <a:solidFill>
            <a:schemeClr val="bg1"/>
          </a:solidFill>
          <a:ln w="317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5400" dist="12700" dir="270000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anchor="ctr"/>
          <a:lstStyle/>
          <a:p>
            <a:pPr defTabSz="609585">
              <a:lnSpc>
                <a:spcPct val="90000"/>
              </a:lnSpc>
              <a:defRPr/>
            </a:pPr>
            <a:r>
              <a:rPr lang="en-US" sz="1400" dirty="0">
                <a:solidFill>
                  <a:prstClr val="black"/>
                </a:solidFill>
                <a:latin typeface="Calibri"/>
                <a:cs typeface="Times New Roman"/>
              </a:rPr>
              <a:t>You’re invited to our dinner party, Friday May 27 at 8:30</a:t>
            </a:r>
          </a:p>
        </p:txBody>
      </p:sp>
      <p:pic>
        <p:nvPicPr>
          <p:cNvPr id="67673" name="Picture 6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0075" y="6256158"/>
            <a:ext cx="385368" cy="2581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6" name="Rectangle 65"/>
          <p:cNvSpPr/>
          <p:nvPr/>
        </p:nvSpPr>
        <p:spPr bwMode="auto">
          <a:xfrm>
            <a:off x="7181287" y="6211711"/>
            <a:ext cx="751980" cy="461963"/>
          </a:xfrm>
          <a:prstGeom prst="rect">
            <a:avLst/>
          </a:prstGeom>
          <a:noFill/>
          <a:ln w="31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609585">
              <a:defRPr/>
            </a:pPr>
            <a:r>
              <a:rPr lang="en-US" sz="1200" dirty="0">
                <a:solidFill>
                  <a:prstClr val="white">
                    <a:lumMod val="50000"/>
                  </a:prstClr>
                </a:solidFill>
                <a:latin typeface="Calibri"/>
                <a:cs typeface="Times New Roman"/>
              </a:rPr>
              <a:t>Party</a:t>
            </a:r>
            <a:br>
              <a:rPr lang="en-US" sz="1200" dirty="0">
                <a:solidFill>
                  <a:prstClr val="white">
                    <a:lumMod val="50000"/>
                  </a:prstClr>
                </a:solidFill>
                <a:latin typeface="Calibri"/>
                <a:cs typeface="Times New Roman"/>
              </a:rPr>
            </a:br>
            <a:r>
              <a:rPr lang="en-US" sz="1200" dirty="0">
                <a:solidFill>
                  <a:prstClr val="white">
                    <a:lumMod val="50000"/>
                  </a:prstClr>
                </a:solidFill>
                <a:latin typeface="Calibri"/>
                <a:cs typeface="Times New Roman"/>
              </a:rPr>
              <a:t>May 27</a:t>
            </a:r>
            <a:br>
              <a:rPr lang="en-US" sz="1200" dirty="0">
                <a:solidFill>
                  <a:prstClr val="white">
                    <a:lumMod val="50000"/>
                  </a:prstClr>
                </a:solidFill>
                <a:latin typeface="Calibri"/>
                <a:cs typeface="Times New Roman"/>
              </a:rPr>
            </a:br>
            <a:r>
              <a:rPr lang="en-US" sz="1200" dirty="0">
                <a:solidFill>
                  <a:srgbClr val="0000FF"/>
                </a:solidFill>
                <a:latin typeface="Calibri"/>
                <a:cs typeface="Times New Roman"/>
              </a:rPr>
              <a:t>add</a:t>
            </a:r>
          </a:p>
        </p:txBody>
      </p:sp>
      <p:cxnSp>
        <p:nvCxnSpPr>
          <p:cNvPr id="69" name="Straight Connector 68"/>
          <p:cNvCxnSpPr/>
          <p:nvPr/>
        </p:nvCxnSpPr>
        <p:spPr bwMode="auto">
          <a:xfrm flipV="1">
            <a:off x="7343984" y="6821311"/>
            <a:ext cx="216747" cy="1725"/>
          </a:xfrm>
          <a:prstGeom prst="line">
            <a:avLst/>
          </a:prstGeom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4504545" y="1901227"/>
            <a:ext cx="2849880" cy="206973"/>
          </a:xfrm>
          <a:prstGeom prst="rect">
            <a:avLst/>
          </a:prstGeom>
          <a:solidFill>
            <a:schemeClr val="bg1"/>
          </a:solidFill>
          <a:ln w="317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5400" dist="12700" dir="270000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609585">
              <a:defRPr/>
            </a:pPr>
            <a:r>
              <a:rPr lang="en-US" sz="1333" dirty="0">
                <a:solidFill>
                  <a:prstClr val="black"/>
                </a:solidFill>
                <a:latin typeface="Calibri"/>
                <a:cs typeface="Times New Roman"/>
              </a:rPr>
              <a:t>Best roast chicken in San Francisco!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504545" y="2209800"/>
            <a:ext cx="2849880" cy="203200"/>
          </a:xfrm>
          <a:prstGeom prst="rect">
            <a:avLst/>
          </a:prstGeom>
          <a:solidFill>
            <a:schemeClr val="bg1"/>
          </a:solidFill>
          <a:ln w="317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5400" dist="12700" dir="270000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609585">
              <a:defRPr/>
            </a:pPr>
            <a:r>
              <a:rPr lang="en-US" sz="1333" dirty="0">
                <a:solidFill>
                  <a:prstClr val="black"/>
                </a:solidFill>
                <a:latin typeface="Calibri"/>
                <a:cs typeface="Times New Roman"/>
              </a:rPr>
              <a:t>The waiter ignored us for 20 minutes.</a:t>
            </a:r>
          </a:p>
        </p:txBody>
      </p:sp>
      <p:pic>
        <p:nvPicPr>
          <p:cNvPr id="67630" name="Picture 8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5825" y="1803401"/>
            <a:ext cx="367904" cy="2547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7631" name="Picture 8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7495825" y="2209800"/>
            <a:ext cx="366889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5" name="Rectangle 84"/>
          <p:cNvSpPr/>
          <p:nvPr/>
        </p:nvSpPr>
        <p:spPr>
          <a:xfrm>
            <a:off x="4470400" y="3095525"/>
            <a:ext cx="3520440" cy="196167"/>
          </a:xfrm>
          <a:prstGeom prst="rect">
            <a:avLst/>
          </a:prstGeom>
          <a:solidFill>
            <a:schemeClr val="bg1"/>
          </a:solidFill>
          <a:ln w="317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5400" dist="12700" dir="270000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609585">
              <a:defRPr/>
            </a:pPr>
            <a:r>
              <a:rPr lang="en-US" sz="1333" dirty="0">
                <a:solidFill>
                  <a:prstClr val="black"/>
                </a:solidFill>
                <a:latin typeface="Calibri"/>
                <a:cs typeface="Times New Roman"/>
              </a:rPr>
              <a:t>Carter told Mubarak he shouldn’t run again.</a:t>
            </a:r>
          </a:p>
        </p:txBody>
      </p:sp>
      <p:sp>
        <p:nvSpPr>
          <p:cNvPr id="100" name="Arc 99"/>
          <p:cNvSpPr/>
          <p:nvPr/>
        </p:nvSpPr>
        <p:spPr>
          <a:xfrm>
            <a:off x="4775200" y="2955393"/>
            <a:ext cx="1422400" cy="304800"/>
          </a:xfrm>
          <a:prstGeom prst="arc">
            <a:avLst>
              <a:gd name="adj1" fmla="val 10822610"/>
              <a:gd name="adj2" fmla="val 0"/>
            </a:avLst>
          </a:prstGeom>
          <a:ln w="12700" cap="flat" cmpd="sng" algn="ctr">
            <a:solidFill>
              <a:srgbClr val="FF0000"/>
            </a:solidFill>
            <a:prstDash val="solid"/>
            <a:round/>
            <a:headEnd type="triangl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defTabSz="609585">
              <a:defRPr/>
            </a:pPr>
            <a:endParaRPr lang="en-US" sz="24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1" name="Arc 100"/>
          <p:cNvSpPr/>
          <p:nvPr/>
        </p:nvSpPr>
        <p:spPr>
          <a:xfrm>
            <a:off x="5689601" y="2977972"/>
            <a:ext cx="501649" cy="383821"/>
          </a:xfrm>
          <a:prstGeom prst="arc">
            <a:avLst>
              <a:gd name="adj1" fmla="val 10830349"/>
              <a:gd name="adj2" fmla="val 10"/>
            </a:avLst>
          </a:prstGeom>
          <a:ln w="12700" cap="flat" cmpd="sng" algn="ctr">
            <a:solidFill>
              <a:srgbClr val="008000"/>
            </a:solidFill>
            <a:prstDash val="solid"/>
            <a:round/>
            <a:headEnd type="triangl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defTabSz="609585">
              <a:defRPr/>
            </a:pPr>
            <a:endParaRPr lang="en-US" sz="24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7635" name="Picture 10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16800" y="3835400"/>
            <a:ext cx="508000" cy="2641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104" name="Rectangle 103"/>
          <p:cNvSpPr/>
          <p:nvPr/>
        </p:nvSpPr>
        <p:spPr>
          <a:xfrm>
            <a:off x="4165600" y="3736084"/>
            <a:ext cx="3048000" cy="304800"/>
          </a:xfrm>
          <a:prstGeom prst="rect">
            <a:avLst/>
          </a:prstGeom>
          <a:solidFill>
            <a:schemeClr val="bg1"/>
          </a:solidFill>
          <a:ln w="317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5400" dist="12700" dir="270000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anchor="ctr"/>
          <a:lstStyle/>
          <a:p>
            <a:pPr algn="ctr" defTabSz="609585">
              <a:defRPr/>
            </a:pPr>
            <a:r>
              <a:rPr lang="en-US" sz="1600" dirty="0">
                <a:solidFill>
                  <a:prstClr val="black"/>
                </a:solidFill>
                <a:latin typeface="Calibri"/>
                <a:cs typeface="Times New Roman"/>
              </a:rPr>
              <a:t>I need new batteries for my </a:t>
            </a:r>
            <a:r>
              <a:rPr lang="en-US" sz="1600" b="1" i="1" dirty="0">
                <a:solidFill>
                  <a:srgbClr val="FF0000"/>
                </a:solidFill>
                <a:latin typeface="Calibri"/>
                <a:cs typeface="Times New Roman"/>
              </a:rPr>
              <a:t>mouse</a:t>
            </a:r>
            <a:r>
              <a:rPr lang="en-US" sz="1600" dirty="0">
                <a:solidFill>
                  <a:prstClr val="black"/>
                </a:solidFill>
                <a:latin typeface="Calibri"/>
                <a:cs typeface="Times New Roman"/>
              </a:rPr>
              <a:t>.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143136" y="5575613"/>
            <a:ext cx="3476865" cy="220704"/>
          </a:xfrm>
          <a:prstGeom prst="rect">
            <a:avLst/>
          </a:prstGeom>
          <a:solidFill>
            <a:schemeClr val="bg1"/>
          </a:solidFill>
          <a:ln w="317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5400" dist="12700" dir="270000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609585">
              <a:defRPr/>
            </a:pPr>
            <a:r>
              <a:rPr lang="en-US" sz="1333" dirty="0">
                <a:solidFill>
                  <a:prstClr val="black"/>
                </a:solidFill>
                <a:latin typeface="Calibri"/>
                <a:cs typeface="Times New Roman"/>
              </a:rPr>
              <a:t>The 13</a:t>
            </a:r>
            <a:r>
              <a:rPr lang="en-US" sz="1333" baseline="30000" dirty="0">
                <a:solidFill>
                  <a:prstClr val="black"/>
                </a:solidFill>
                <a:latin typeface="Calibri"/>
                <a:cs typeface="Times New Roman"/>
              </a:rPr>
              <a:t>th</a:t>
            </a:r>
            <a:r>
              <a:rPr lang="en-US" sz="1333" dirty="0">
                <a:solidFill>
                  <a:prstClr val="black"/>
                </a:solidFill>
                <a:latin typeface="Calibri"/>
                <a:cs typeface="Times New Roman"/>
              </a:rPr>
              <a:t> Shanghai International Film Festival…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165600" y="5310278"/>
            <a:ext cx="2754485" cy="192525"/>
          </a:xfrm>
          <a:prstGeom prst="rect">
            <a:avLst/>
          </a:prstGeom>
          <a:solidFill>
            <a:schemeClr val="bg1"/>
          </a:solidFill>
          <a:ln w="317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5400" dist="12700" dir="270000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609585">
              <a:defRPr/>
            </a:pPr>
            <a:r>
              <a:rPr lang="zh-TW" altLang="en-US" sz="1333" dirty="0">
                <a:solidFill>
                  <a:srgbClr val="000000"/>
                </a:solidFill>
                <a:cs typeface="Times New Roman"/>
              </a:rPr>
              <a:t>第</a:t>
            </a:r>
            <a:r>
              <a:rPr lang="en-US" altLang="zh-TW" sz="1333" dirty="0">
                <a:solidFill>
                  <a:srgbClr val="000000"/>
                </a:solidFill>
                <a:cs typeface="Times New Roman"/>
              </a:rPr>
              <a:t>13</a:t>
            </a:r>
            <a:r>
              <a:rPr lang="zh-TW" altLang="en-US" sz="1333" dirty="0">
                <a:solidFill>
                  <a:srgbClr val="000000"/>
                </a:solidFill>
                <a:cs typeface="Times New Roman"/>
              </a:rPr>
              <a:t>届上海国际电影节开幕</a:t>
            </a:r>
            <a:r>
              <a:rPr lang="en-US" altLang="zh-TW" sz="1333" dirty="0">
                <a:solidFill>
                  <a:srgbClr val="000000"/>
                </a:solidFill>
                <a:cs typeface="Times New Roman"/>
              </a:rPr>
              <a:t>…</a:t>
            </a:r>
            <a:endParaRPr lang="zh-TW" altLang="en-US" sz="1333" dirty="0">
              <a:solidFill>
                <a:srgbClr val="000000"/>
              </a:solidFill>
              <a:cs typeface="Times New Roman"/>
            </a:endParaRPr>
          </a:p>
        </p:txBody>
      </p:sp>
      <p:sp>
        <p:nvSpPr>
          <p:cNvPr id="110" name="Right Arrow 109"/>
          <p:cNvSpPr/>
          <p:nvPr/>
        </p:nvSpPr>
        <p:spPr>
          <a:xfrm>
            <a:off x="7179732" y="5310896"/>
            <a:ext cx="289413" cy="183357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09585">
              <a:defRPr/>
            </a:pPr>
            <a:endParaRPr lang="en-US" sz="24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1" name="Rectangle 110"/>
          <p:cNvSpPr/>
          <p:nvPr/>
        </p:nvSpPr>
        <p:spPr>
          <a:xfrm>
            <a:off x="8636000" y="4456376"/>
            <a:ext cx="1758949" cy="158485"/>
          </a:xfrm>
          <a:prstGeom prst="rect">
            <a:avLst/>
          </a:prstGeom>
          <a:solidFill>
            <a:schemeClr val="bg1"/>
          </a:solidFill>
          <a:ln w="317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5400" dist="12700" dir="270000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609585">
              <a:defRPr/>
            </a:pPr>
            <a:r>
              <a:rPr lang="en-US" sz="1333" dirty="0">
                <a:solidFill>
                  <a:prstClr val="black"/>
                </a:solidFill>
                <a:latin typeface="Calibri"/>
                <a:cs typeface="Times New Roman"/>
              </a:rPr>
              <a:t>The Dow Jones is up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940801" y="4851400"/>
            <a:ext cx="1589383" cy="208181"/>
          </a:xfrm>
          <a:prstGeom prst="rect">
            <a:avLst/>
          </a:prstGeom>
          <a:solidFill>
            <a:schemeClr val="bg1"/>
          </a:solidFill>
          <a:ln w="317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5400" dist="12700" dir="270000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609585">
              <a:defRPr/>
            </a:pPr>
            <a:r>
              <a:rPr lang="en-US" sz="1333" dirty="0">
                <a:solidFill>
                  <a:prstClr val="black"/>
                </a:solidFill>
                <a:latin typeface="Calibri"/>
                <a:cs typeface="Times New Roman"/>
              </a:rPr>
              <a:t>Housing prices rose</a:t>
            </a:r>
          </a:p>
        </p:txBody>
      </p:sp>
      <p:sp>
        <p:nvSpPr>
          <p:cNvPr id="114" name="Right Arrow 113"/>
          <p:cNvSpPr/>
          <p:nvPr/>
        </p:nvSpPr>
        <p:spPr>
          <a:xfrm>
            <a:off x="10595801" y="4614862"/>
            <a:ext cx="239183" cy="166687"/>
          </a:xfrm>
          <a:prstGeom prst="rightArrow">
            <a:avLst/>
          </a:prstGeom>
          <a:solidFill>
            <a:schemeClr val="tx2">
              <a:lumMod val="20000"/>
              <a:lumOff val="80000"/>
            </a:scheme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09585">
              <a:defRPr/>
            </a:pPr>
            <a:endParaRPr lang="en-US" sz="24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5" name="Rectangle 114"/>
          <p:cNvSpPr/>
          <p:nvPr/>
        </p:nvSpPr>
        <p:spPr>
          <a:xfrm>
            <a:off x="10997966" y="4506103"/>
            <a:ext cx="1022349" cy="413559"/>
          </a:xfrm>
          <a:prstGeom prst="rect">
            <a:avLst/>
          </a:prstGeom>
          <a:solidFill>
            <a:schemeClr val="bg1"/>
          </a:solidFill>
          <a:ln w="317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5400" dist="12700" dir="270000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09585">
              <a:defRPr/>
            </a:pPr>
            <a:r>
              <a:rPr lang="en-US" sz="1333" dirty="0">
                <a:solidFill>
                  <a:prstClr val="black"/>
                </a:solidFill>
                <a:latin typeface="Calibri"/>
                <a:cs typeface="Times New Roman"/>
              </a:rPr>
              <a:t>Economy is good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518192" y="2413529"/>
            <a:ext cx="3165808" cy="405871"/>
          </a:xfrm>
          <a:prstGeom prst="rect">
            <a:avLst/>
          </a:prstGeom>
          <a:solidFill>
            <a:schemeClr val="bg1"/>
          </a:solidFill>
          <a:ln w="317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5400" dist="12700" dir="270000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609585">
              <a:defRPr/>
            </a:pPr>
            <a:r>
              <a:rPr lang="en-US" sz="1333" dirty="0">
                <a:solidFill>
                  <a:prstClr val="black"/>
                </a:solidFill>
                <a:latin typeface="Calibri"/>
                <a:cs typeface="Times New Roman"/>
              </a:rPr>
              <a:t>Q. How effective is ibuprofen in reducing fever in patients with acute febrile illness?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080000" y="4707467"/>
            <a:ext cx="2946400" cy="203200"/>
          </a:xfrm>
          <a:prstGeom prst="rect">
            <a:avLst/>
          </a:prstGeom>
          <a:solidFill>
            <a:schemeClr val="bg1"/>
          </a:solidFill>
          <a:ln w="317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5400" dist="12700" dir="270000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609585">
              <a:defRPr/>
            </a:pPr>
            <a:r>
              <a:rPr lang="en-US" sz="1400" dirty="0">
                <a:solidFill>
                  <a:prstClr val="black"/>
                </a:solidFill>
                <a:latin typeface="Calibri"/>
                <a:cs typeface="Times New Roman"/>
              </a:rPr>
              <a:t>I can see Alcatraz from the window!</a:t>
            </a:r>
          </a:p>
        </p:txBody>
      </p:sp>
      <p:cxnSp>
        <p:nvCxnSpPr>
          <p:cNvPr id="121" name="Straight Connector 120"/>
          <p:cNvCxnSpPr/>
          <p:nvPr/>
        </p:nvCxnSpPr>
        <p:spPr>
          <a:xfrm rot="10800000">
            <a:off x="7010402" y="4612389"/>
            <a:ext cx="124884" cy="79375"/>
          </a:xfrm>
          <a:prstGeom prst="line">
            <a:avLst/>
          </a:prstGeom>
          <a:ln w="63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/>
          <p:cNvCxnSpPr/>
          <p:nvPr/>
        </p:nvCxnSpPr>
        <p:spPr>
          <a:xfrm flipV="1">
            <a:off x="6887633" y="4612389"/>
            <a:ext cx="127000" cy="79375"/>
          </a:xfrm>
          <a:prstGeom prst="line">
            <a:avLst/>
          </a:prstGeom>
          <a:ln w="63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/>
          <p:cNvCxnSpPr/>
          <p:nvPr/>
        </p:nvCxnSpPr>
        <p:spPr>
          <a:xfrm rot="10800000">
            <a:off x="6815669" y="4533013"/>
            <a:ext cx="198967" cy="79375"/>
          </a:xfrm>
          <a:prstGeom prst="line">
            <a:avLst/>
          </a:prstGeom>
          <a:ln w="63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/>
          <p:cNvCxnSpPr/>
          <p:nvPr/>
        </p:nvCxnSpPr>
        <p:spPr>
          <a:xfrm rot="5400000" flipH="1" flipV="1">
            <a:off x="6649510" y="4525605"/>
            <a:ext cx="158751" cy="173567"/>
          </a:xfrm>
          <a:prstGeom prst="line">
            <a:avLst/>
          </a:prstGeom>
          <a:ln w="63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/>
          <p:cNvCxnSpPr/>
          <p:nvPr/>
        </p:nvCxnSpPr>
        <p:spPr>
          <a:xfrm rot="10800000">
            <a:off x="6616702" y="4455225"/>
            <a:ext cx="198967" cy="77788"/>
          </a:xfrm>
          <a:prstGeom prst="line">
            <a:avLst/>
          </a:prstGeom>
          <a:ln w="63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/>
          <p:cNvCxnSpPr/>
          <p:nvPr/>
        </p:nvCxnSpPr>
        <p:spPr>
          <a:xfrm flipV="1">
            <a:off x="6292852" y="4455224"/>
            <a:ext cx="323849" cy="236539"/>
          </a:xfrm>
          <a:prstGeom prst="line">
            <a:avLst/>
          </a:prstGeom>
          <a:ln w="63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/>
          <p:cNvCxnSpPr/>
          <p:nvPr/>
        </p:nvCxnSpPr>
        <p:spPr>
          <a:xfrm flipV="1">
            <a:off x="5969002" y="4455224"/>
            <a:ext cx="647700" cy="236539"/>
          </a:xfrm>
          <a:prstGeom prst="line">
            <a:avLst/>
          </a:prstGeom>
          <a:ln w="63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/>
          <p:cNvCxnSpPr/>
          <p:nvPr/>
        </p:nvCxnSpPr>
        <p:spPr>
          <a:xfrm rot="10800000">
            <a:off x="6413502" y="4375850"/>
            <a:ext cx="198967" cy="79375"/>
          </a:xfrm>
          <a:prstGeom prst="line">
            <a:avLst/>
          </a:prstGeom>
          <a:ln w="63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/>
          <p:cNvCxnSpPr/>
          <p:nvPr/>
        </p:nvCxnSpPr>
        <p:spPr>
          <a:xfrm rot="10800000">
            <a:off x="6214535" y="4296475"/>
            <a:ext cx="198967" cy="79375"/>
          </a:xfrm>
          <a:prstGeom prst="line">
            <a:avLst/>
          </a:prstGeom>
          <a:ln w="63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/>
          <p:cNvCxnSpPr/>
          <p:nvPr/>
        </p:nvCxnSpPr>
        <p:spPr>
          <a:xfrm flipV="1">
            <a:off x="5767919" y="4379024"/>
            <a:ext cx="645583" cy="312739"/>
          </a:xfrm>
          <a:prstGeom prst="line">
            <a:avLst/>
          </a:prstGeom>
          <a:ln w="63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/>
          <p:cNvCxnSpPr/>
          <p:nvPr/>
        </p:nvCxnSpPr>
        <p:spPr>
          <a:xfrm flipV="1">
            <a:off x="5486401" y="4302824"/>
            <a:ext cx="723900" cy="446976"/>
          </a:xfrm>
          <a:prstGeom prst="line">
            <a:avLst/>
          </a:prstGeom>
          <a:ln w="63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ectangle 147"/>
          <p:cNvSpPr/>
          <p:nvPr/>
        </p:nvSpPr>
        <p:spPr>
          <a:xfrm>
            <a:off x="8541047" y="3494278"/>
            <a:ext cx="2828924" cy="203613"/>
          </a:xfrm>
          <a:prstGeom prst="rect">
            <a:avLst/>
          </a:prstGeom>
          <a:solidFill>
            <a:schemeClr val="bg1"/>
          </a:solidFill>
          <a:ln w="317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5400" dist="12700" dir="270000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609585">
              <a:defRPr/>
            </a:pPr>
            <a:r>
              <a:rPr lang="en-US" sz="1333" dirty="0">
                <a:solidFill>
                  <a:prstClr val="black"/>
                </a:solidFill>
                <a:latin typeface="Calibri"/>
                <a:cs typeface="Times New Roman"/>
              </a:rPr>
              <a:t>XYZ acquired ABC yesterday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8541047" y="3719986"/>
            <a:ext cx="2828924" cy="207805"/>
          </a:xfrm>
          <a:prstGeom prst="rect">
            <a:avLst/>
          </a:prstGeom>
          <a:solidFill>
            <a:schemeClr val="bg1"/>
          </a:solidFill>
          <a:ln w="317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5400" dist="12700" dir="270000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609585">
              <a:defRPr/>
            </a:pPr>
            <a:r>
              <a:rPr lang="en-US" sz="1333" dirty="0">
                <a:solidFill>
                  <a:prstClr val="black"/>
                </a:solidFill>
                <a:latin typeface="Calibri"/>
                <a:cs typeface="Times New Roman"/>
              </a:rPr>
              <a:t>ABC has been taken over by XYZ</a:t>
            </a:r>
          </a:p>
        </p:txBody>
      </p:sp>
      <p:sp>
        <p:nvSpPr>
          <p:cNvPr id="151" name="Rectangular Callout 150"/>
          <p:cNvSpPr/>
          <p:nvPr/>
        </p:nvSpPr>
        <p:spPr>
          <a:xfrm>
            <a:off x="9314643" y="5359401"/>
            <a:ext cx="2739540" cy="277577"/>
          </a:xfrm>
          <a:prstGeom prst="wedgeRectCallout">
            <a:avLst>
              <a:gd name="adj1" fmla="val -67569"/>
              <a:gd name="adj2" fmla="val 96660"/>
            </a:avLst>
          </a:prstGeom>
          <a:solidFill>
            <a:schemeClr val="bg1"/>
          </a:solidFill>
          <a:ln w="317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5400" dist="127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09585">
              <a:defRPr/>
            </a:pPr>
            <a:r>
              <a:rPr lang="en-US" sz="1333" dirty="0">
                <a:solidFill>
                  <a:srgbClr val="000000"/>
                </a:solidFill>
                <a:latin typeface="Calibri"/>
              </a:rPr>
              <a:t>Where is Citizen Kane playing in SF? </a:t>
            </a:r>
          </a:p>
        </p:txBody>
      </p:sp>
      <p:sp>
        <p:nvSpPr>
          <p:cNvPr id="152" name="Rectangular Callout 151"/>
          <p:cNvSpPr/>
          <p:nvPr/>
        </p:nvSpPr>
        <p:spPr>
          <a:xfrm>
            <a:off x="9248465" y="5765801"/>
            <a:ext cx="2286424" cy="436393"/>
          </a:xfrm>
          <a:prstGeom prst="wedgeRectCallout">
            <a:avLst>
              <a:gd name="adj1" fmla="val 63386"/>
              <a:gd name="adj2" fmla="val -39734"/>
            </a:avLst>
          </a:prstGeom>
          <a:solidFill>
            <a:schemeClr val="bg1"/>
          </a:solidFill>
          <a:ln w="317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5400" dist="127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09585">
              <a:defRPr/>
            </a:pPr>
            <a:r>
              <a:rPr lang="en-US" sz="1333" dirty="0">
                <a:solidFill>
                  <a:srgbClr val="000000"/>
                </a:solidFill>
                <a:latin typeface="Calibri"/>
              </a:rPr>
              <a:t>Castro Theatre at 7:30. Do you want a ticket?</a:t>
            </a:r>
          </a:p>
        </p:txBody>
      </p:sp>
      <p:pic>
        <p:nvPicPr>
          <p:cNvPr id="67666" name="Picture 1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flipH="1">
            <a:off x="8398364" y="5787474"/>
            <a:ext cx="506219" cy="3847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2" name="Rectangle 111"/>
          <p:cNvSpPr/>
          <p:nvPr/>
        </p:nvSpPr>
        <p:spPr>
          <a:xfrm>
            <a:off x="8737600" y="4648200"/>
            <a:ext cx="1727200" cy="203200"/>
          </a:xfrm>
          <a:prstGeom prst="rect">
            <a:avLst/>
          </a:prstGeom>
          <a:solidFill>
            <a:schemeClr val="bg1"/>
          </a:solidFill>
          <a:ln w="3175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5400" dist="12700" dir="270000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609585">
              <a:defRPr/>
            </a:pPr>
            <a:r>
              <a:rPr lang="en-US" sz="1333" dirty="0">
                <a:solidFill>
                  <a:prstClr val="black"/>
                </a:solidFill>
                <a:latin typeface="Calibri"/>
                <a:cs typeface="Times New Roman"/>
              </a:rPr>
              <a:t>The S&amp;P500 jumped</a:t>
            </a:r>
          </a:p>
        </p:txBody>
      </p:sp>
      <p:pic>
        <p:nvPicPr>
          <p:cNvPr id="2" name="Picture 1" descr="BU009519.png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0565" y="3429000"/>
            <a:ext cx="587436" cy="584200"/>
          </a:xfrm>
          <a:prstGeom prst="rect">
            <a:avLst/>
          </a:prstGeom>
        </p:spPr>
      </p:pic>
      <p:pic>
        <p:nvPicPr>
          <p:cNvPr id="3" name="Picture 2" descr="skd186802sdc.png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49384" y="5427661"/>
            <a:ext cx="544217" cy="584200"/>
          </a:xfrm>
          <a:prstGeom prst="rect">
            <a:avLst/>
          </a:prstGeom>
        </p:spPr>
      </p:pic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11</a:t>
            </a:fld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4448C0D-B45B-CD9A-6FCA-30E5DF9C8CBB}"/>
              </a:ext>
            </a:extLst>
          </p:cNvPr>
          <p:cNvSpPr txBox="1"/>
          <p:nvPr/>
        </p:nvSpPr>
        <p:spPr>
          <a:xfrm>
            <a:off x="8623875" y="798523"/>
            <a:ext cx="3396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Improved a lot with LLMs!</a:t>
            </a:r>
            <a:br>
              <a:rPr lang="en-US" altLang="zh-TW" dirty="0">
                <a:solidFill>
                  <a:srgbClr val="FF0000"/>
                </a:solidFill>
              </a:rPr>
            </a:br>
            <a:r>
              <a:rPr lang="en-US" altLang="zh-TW" dirty="0">
                <a:solidFill>
                  <a:srgbClr val="FF0000"/>
                </a:solidFill>
              </a:rPr>
              <a:t>But still many issues…</a:t>
            </a:r>
            <a:endParaRPr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079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Knowledge of Language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Phonetics and Phonology - knowledge about linguistic sounds</a:t>
            </a:r>
          </a:p>
          <a:p>
            <a:r>
              <a:rPr lang="en-US" altLang="zh-TW" dirty="0">
                <a:solidFill>
                  <a:srgbClr val="FF0000"/>
                </a:solidFill>
              </a:rPr>
              <a:t>Morphology</a:t>
            </a:r>
            <a:r>
              <a:rPr lang="en-US" altLang="zh-TW" dirty="0"/>
              <a:t> - knowledge of the meaningful components of </a:t>
            </a:r>
            <a:r>
              <a:rPr lang="en-US" altLang="zh-TW" dirty="0">
                <a:solidFill>
                  <a:srgbClr val="0000FF"/>
                </a:solidFill>
              </a:rPr>
              <a:t>words</a:t>
            </a:r>
          </a:p>
          <a:p>
            <a:r>
              <a:rPr lang="en-US" altLang="zh-TW" dirty="0">
                <a:solidFill>
                  <a:srgbClr val="FF0000"/>
                </a:solidFill>
              </a:rPr>
              <a:t>Syntax</a:t>
            </a:r>
            <a:r>
              <a:rPr lang="en-US" altLang="zh-TW" dirty="0"/>
              <a:t> - knowledge of the </a:t>
            </a:r>
            <a:r>
              <a:rPr lang="en-US" altLang="zh-TW" dirty="0">
                <a:solidFill>
                  <a:srgbClr val="0000FF"/>
                </a:solidFill>
              </a:rPr>
              <a:t>structural relationships </a:t>
            </a:r>
            <a:r>
              <a:rPr lang="en-US" altLang="zh-TW" dirty="0"/>
              <a:t>between words</a:t>
            </a:r>
          </a:p>
          <a:p>
            <a:r>
              <a:rPr lang="en-US" altLang="zh-TW" dirty="0">
                <a:solidFill>
                  <a:srgbClr val="FF0000"/>
                </a:solidFill>
              </a:rPr>
              <a:t>Semantics </a:t>
            </a:r>
            <a:r>
              <a:rPr lang="en-US" altLang="zh-TW" dirty="0"/>
              <a:t>- knowledge of </a:t>
            </a:r>
            <a:r>
              <a:rPr lang="en-US" altLang="zh-TW" dirty="0">
                <a:solidFill>
                  <a:srgbClr val="0000FF"/>
                </a:solidFill>
              </a:rPr>
              <a:t>meaning</a:t>
            </a:r>
          </a:p>
          <a:p>
            <a:r>
              <a:rPr lang="en-US" altLang="zh-TW" dirty="0"/>
              <a:t>Pragmatics - knowledge of the relationship of meaning to the goals and intentions of the speaker</a:t>
            </a:r>
          </a:p>
          <a:p>
            <a:r>
              <a:rPr lang="en-US" altLang="zh-TW" dirty="0"/>
              <a:t>Discourse - knowledge about linguistic units larger than a single utterance</a:t>
            </a:r>
          </a:p>
          <a:p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39874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Ambiguity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Some input is </a:t>
            </a:r>
            <a:r>
              <a:rPr lang="en-US" altLang="zh-TW" b="1" dirty="0"/>
              <a:t>ambiguous </a:t>
            </a:r>
            <a:r>
              <a:rPr lang="en-US" altLang="zh-TW" dirty="0"/>
              <a:t>if multiple, alternative linguistic structures can be built for it</a:t>
            </a:r>
          </a:p>
          <a:p>
            <a:r>
              <a:rPr lang="en-US" altLang="zh-TW" dirty="0"/>
              <a:t>For example: </a:t>
            </a:r>
            <a:r>
              <a:rPr lang="en-US" altLang="zh-TW" i="1" dirty="0">
                <a:solidFill>
                  <a:srgbClr val="0000FF"/>
                </a:solidFill>
              </a:rPr>
              <a:t>I made her duck.</a:t>
            </a:r>
          </a:p>
          <a:p>
            <a:r>
              <a:rPr lang="en-US" altLang="zh-TW" dirty="0"/>
              <a:t>What’s the meaning?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13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9696" y="3592443"/>
            <a:ext cx="2312504" cy="1541670"/>
          </a:xfrm>
          <a:prstGeom prst="rect">
            <a:avLst/>
          </a:prstGeom>
        </p:spPr>
      </p:pic>
      <p:sp>
        <p:nvSpPr>
          <p:cNvPr id="8" name="文字方塊 7"/>
          <p:cNvSpPr txBox="1"/>
          <p:nvPr/>
        </p:nvSpPr>
        <p:spPr>
          <a:xfrm>
            <a:off x="8531086" y="2811175"/>
            <a:ext cx="4141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b="1" dirty="0">
                <a:solidFill>
                  <a:srgbClr val="FF0000"/>
                </a:solidFill>
              </a:rPr>
              <a:t>?</a:t>
            </a:r>
            <a:endParaRPr lang="zh-TW" alt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85314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Possible Answers: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(1.5) I cooked waterfowl for her.</a:t>
            </a:r>
          </a:p>
          <a:p>
            <a:r>
              <a:rPr lang="en-US" altLang="zh-TW" dirty="0"/>
              <a:t>(1.6) I cooked waterfowl belonging to her.</a:t>
            </a:r>
          </a:p>
          <a:p>
            <a:r>
              <a:rPr lang="en-US" altLang="zh-TW" dirty="0"/>
              <a:t>(1.7) I created the (plaster?) duck she owns.</a:t>
            </a:r>
          </a:p>
          <a:p>
            <a:r>
              <a:rPr lang="en-US" altLang="zh-TW" dirty="0"/>
              <a:t>(1.8) I caused her to quickly lower her head or body.</a:t>
            </a:r>
          </a:p>
          <a:p>
            <a:r>
              <a:rPr lang="en-US" altLang="zh-TW" dirty="0"/>
              <a:t>(1.9) I waved my magic wand and turned her into undifferentiated waterfowl.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14</a:t>
            </a:fld>
            <a:endParaRPr lang="zh-TW" altLang="en-US"/>
          </a:p>
        </p:txBody>
      </p:sp>
      <p:pic>
        <p:nvPicPr>
          <p:cNvPr id="9" name="內容版面配置區 8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7331" y="1825625"/>
            <a:ext cx="435133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983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Resolving Ambiguities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Lexical disambiguation</a:t>
            </a:r>
          </a:p>
          <a:p>
            <a:pPr lvl="1"/>
            <a:r>
              <a:rPr lang="en-US" altLang="zh-TW" dirty="0"/>
              <a:t>Part-of-Speech (POS) Tagging</a:t>
            </a:r>
          </a:p>
          <a:p>
            <a:pPr lvl="2"/>
            <a:r>
              <a:rPr lang="en-US" altLang="zh-TW" dirty="0"/>
              <a:t>E.g. duck: noun vs. verb</a:t>
            </a:r>
          </a:p>
          <a:p>
            <a:pPr lvl="1"/>
            <a:r>
              <a:rPr lang="en-US" altLang="zh-TW" dirty="0"/>
              <a:t>Word sense disambiguation</a:t>
            </a:r>
          </a:p>
          <a:p>
            <a:pPr lvl="2"/>
            <a:r>
              <a:rPr lang="en-US" altLang="zh-TW" dirty="0"/>
              <a:t>E.g. make: create vs. cook</a:t>
            </a:r>
          </a:p>
          <a:p>
            <a:r>
              <a:rPr lang="en-US" altLang="zh-TW" dirty="0"/>
              <a:t>Syntactic disambiguation</a:t>
            </a:r>
          </a:p>
          <a:p>
            <a:pPr lvl="1"/>
            <a:r>
              <a:rPr lang="en-US" altLang="zh-TW" dirty="0"/>
              <a:t>Parsing</a:t>
            </a:r>
          </a:p>
          <a:p>
            <a:pPr lvl="1"/>
            <a:endParaRPr lang="en-US" altLang="zh-TW" dirty="0"/>
          </a:p>
          <a:p>
            <a:pPr lvl="1"/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23366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508000" y="1694637"/>
            <a:ext cx="3688080" cy="2140763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5867">
              <a:latin typeface="Calibri"/>
              <a:cs typeface="Calibr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391237" y="1694637"/>
            <a:ext cx="3688080" cy="2140763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5867">
              <a:latin typeface="Calibri"/>
              <a:cs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73391" y="1600201"/>
            <a:ext cx="3471143" cy="5436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933" b="1" dirty="0">
                <a:latin typeface="Calibri"/>
                <a:cs typeface="Calibri"/>
              </a:rPr>
              <a:t>non-standard English</a:t>
            </a:r>
            <a:endParaRPr lang="en-US" sz="2933" dirty="0">
              <a:latin typeface="Calibri"/>
              <a:cs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04760" y="2177547"/>
            <a:ext cx="38608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latin typeface="Calibri"/>
                <a:cs typeface="Calibri"/>
              </a:rPr>
              <a:t>Great job @</a:t>
            </a:r>
            <a:r>
              <a:rPr lang="en-US" sz="2000" dirty="0" err="1">
                <a:latin typeface="Calibri"/>
                <a:cs typeface="Calibri"/>
              </a:rPr>
              <a:t>justinbieber</a:t>
            </a:r>
            <a:r>
              <a:rPr lang="en-US" sz="2000" dirty="0">
                <a:latin typeface="Calibri"/>
                <a:cs typeface="Calibri"/>
              </a:rPr>
              <a:t>! Were SOO PROUD of what </a:t>
            </a:r>
            <a:r>
              <a:rPr lang="en-US" sz="2000" dirty="0" err="1">
                <a:latin typeface="Calibri"/>
                <a:cs typeface="Calibri"/>
              </a:rPr>
              <a:t>youve</a:t>
            </a:r>
            <a:r>
              <a:rPr lang="en-US" sz="2000" dirty="0">
                <a:latin typeface="Calibri"/>
                <a:cs typeface="Calibri"/>
              </a:rPr>
              <a:t> accomplished! U taught us 2 #</a:t>
            </a:r>
            <a:r>
              <a:rPr lang="en-US" sz="2000" dirty="0" err="1">
                <a:latin typeface="Calibri"/>
                <a:cs typeface="Calibri"/>
              </a:rPr>
              <a:t>neversaynever</a:t>
            </a:r>
            <a:r>
              <a:rPr lang="en-US" sz="2000" dirty="0">
                <a:latin typeface="Calibri"/>
                <a:cs typeface="Calibri"/>
              </a:rPr>
              <a:t> &amp; you yourself should never give up either♥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8801" y="1594248"/>
            <a:ext cx="277915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 b="1" dirty="0">
                <a:latin typeface="Calibri"/>
                <a:cs typeface="Calibri"/>
              </a:rPr>
              <a:t>segmentation issues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99120" y="1694637"/>
            <a:ext cx="3688080" cy="2140763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5867">
              <a:latin typeface="Calibri"/>
              <a:cs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281843" y="1600201"/>
            <a:ext cx="1039067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 b="1" dirty="0">
                <a:latin typeface="Calibri"/>
                <a:cs typeface="Calibri"/>
              </a:rPr>
              <a:t>idioms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9120" y="2346325"/>
            <a:ext cx="3688080" cy="1405256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2133" dirty="0">
                <a:latin typeface="Calibri"/>
                <a:cs typeface="Calibri"/>
              </a:rPr>
              <a:t>dark horse</a:t>
            </a:r>
          </a:p>
          <a:p>
            <a:pPr algn="ctr">
              <a:defRPr/>
            </a:pPr>
            <a:r>
              <a:rPr lang="en-US" sz="2133" dirty="0">
                <a:latin typeface="Calibri"/>
                <a:cs typeface="Calibri"/>
              </a:rPr>
              <a:t>get cold feet</a:t>
            </a:r>
          </a:p>
          <a:p>
            <a:pPr algn="ctr">
              <a:defRPr/>
            </a:pPr>
            <a:r>
              <a:rPr lang="en-US" sz="2133" dirty="0">
                <a:latin typeface="Calibri"/>
                <a:cs typeface="Calibri"/>
              </a:rPr>
              <a:t>lose face</a:t>
            </a:r>
          </a:p>
          <a:p>
            <a:pPr algn="ctr">
              <a:defRPr/>
            </a:pPr>
            <a:r>
              <a:rPr lang="en-US" sz="2133" dirty="0">
                <a:latin typeface="Calibri"/>
                <a:cs typeface="Calibri"/>
              </a:rPr>
              <a:t>throw in the towel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8000" y="4034533"/>
            <a:ext cx="3688080" cy="213766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5867">
              <a:latin typeface="Calibri"/>
              <a:cs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181173" y="3931048"/>
            <a:ext cx="1628972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 b="1" dirty="0">
                <a:latin typeface="Calibri"/>
                <a:cs typeface="Calibri"/>
              </a:rPr>
              <a:t>neologisms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4560211"/>
            <a:ext cx="3688080" cy="1405256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2133" dirty="0" err="1">
                <a:latin typeface="Calibri"/>
                <a:cs typeface="Calibri"/>
              </a:rPr>
              <a:t>unfriend</a:t>
            </a:r>
            <a:endParaRPr lang="en-US" sz="2133" dirty="0">
              <a:latin typeface="Calibri"/>
              <a:cs typeface="Calibri"/>
            </a:endParaRPr>
          </a:p>
          <a:p>
            <a:pPr algn="ctr">
              <a:defRPr/>
            </a:pPr>
            <a:r>
              <a:rPr lang="en-US" sz="2133" dirty="0" err="1">
                <a:latin typeface="Calibri"/>
                <a:cs typeface="Calibri"/>
              </a:rPr>
              <a:t>Retweet</a:t>
            </a:r>
            <a:endParaRPr lang="en-US" sz="2133" dirty="0">
              <a:latin typeface="Calibri"/>
              <a:cs typeface="Calibri"/>
            </a:endParaRPr>
          </a:p>
          <a:p>
            <a:pPr algn="ctr">
              <a:defRPr/>
            </a:pPr>
            <a:r>
              <a:rPr lang="en-US" sz="2133" dirty="0" err="1">
                <a:latin typeface="Calibri"/>
                <a:cs typeface="Calibri"/>
              </a:rPr>
              <a:t>bromance</a:t>
            </a:r>
            <a:endParaRPr lang="en-US" sz="2133" dirty="0">
              <a:latin typeface="Calibri"/>
              <a:cs typeface="Calibri"/>
            </a:endParaRPr>
          </a:p>
          <a:p>
            <a:pPr algn="ctr">
              <a:defRPr/>
            </a:pPr>
            <a:endParaRPr lang="en-US" sz="2133" dirty="0">
              <a:latin typeface="Calibri"/>
              <a:cs typeface="Calibri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8199120" y="4014725"/>
            <a:ext cx="3688080" cy="2140763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5867">
              <a:latin typeface="Calibri"/>
              <a:cs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331200" y="3863381"/>
            <a:ext cx="2635978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 b="1" dirty="0">
                <a:latin typeface="Calibri"/>
                <a:cs typeface="Calibri"/>
              </a:rPr>
              <a:t>tricky entity names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1200" y="4616161"/>
            <a:ext cx="3740573" cy="11796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/>
            </a:pPr>
            <a:r>
              <a:rPr lang="en-US" sz="2133" dirty="0">
                <a:latin typeface="Calibri"/>
                <a:cs typeface="Calibri"/>
              </a:rPr>
              <a:t>Where is </a:t>
            </a:r>
            <a:r>
              <a:rPr lang="en-US" sz="2133" i="1" dirty="0">
                <a:latin typeface="Calibri"/>
                <a:cs typeface="Calibri"/>
              </a:rPr>
              <a:t>A Bug’s Life</a:t>
            </a:r>
            <a:r>
              <a:rPr lang="en-US" sz="2133" dirty="0">
                <a:latin typeface="Calibri"/>
                <a:cs typeface="Calibri"/>
              </a:rPr>
              <a:t> playing …</a:t>
            </a:r>
            <a:endParaRPr lang="en-US" sz="2133" i="1" dirty="0">
              <a:latin typeface="Calibri"/>
              <a:cs typeface="Calibri"/>
            </a:endParaRPr>
          </a:p>
          <a:p>
            <a:pPr>
              <a:spcBef>
                <a:spcPts val="400"/>
              </a:spcBef>
              <a:defRPr/>
            </a:pPr>
            <a:r>
              <a:rPr lang="en-US" sz="2133" i="1" dirty="0">
                <a:latin typeface="Calibri"/>
                <a:cs typeface="Calibri"/>
              </a:rPr>
              <a:t>Let It Be</a:t>
            </a:r>
            <a:r>
              <a:rPr lang="en-US" sz="2133" dirty="0">
                <a:latin typeface="Calibri"/>
                <a:cs typeface="Calibri"/>
              </a:rPr>
              <a:t> was recorded …</a:t>
            </a:r>
          </a:p>
          <a:p>
            <a:pPr>
              <a:spcBef>
                <a:spcPts val="400"/>
              </a:spcBef>
              <a:defRPr/>
            </a:pPr>
            <a:r>
              <a:rPr lang="en-US" sz="2133" dirty="0">
                <a:latin typeface="Calibri"/>
                <a:cs typeface="Calibri"/>
              </a:rPr>
              <a:t>… a mutation on the </a:t>
            </a:r>
            <a:r>
              <a:rPr lang="en-US" sz="2133" i="1" dirty="0">
                <a:latin typeface="Calibri"/>
                <a:cs typeface="Calibri"/>
              </a:rPr>
              <a:t>for</a:t>
            </a:r>
            <a:r>
              <a:rPr lang="en-US" sz="2133" dirty="0">
                <a:latin typeface="Calibri"/>
                <a:cs typeface="Calibri"/>
              </a:rPr>
              <a:t> gene …</a:t>
            </a:r>
            <a:endParaRPr lang="en-US" sz="2133" i="1" dirty="0">
              <a:latin typeface="Calibri"/>
              <a:cs typeface="Calibri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4439920" y="3996431"/>
            <a:ext cx="3688080" cy="213766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5867">
              <a:latin typeface="Calibri"/>
              <a:cs typeface="Calibr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775200" y="3867654"/>
            <a:ext cx="2395143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 b="1" dirty="0">
                <a:latin typeface="Calibri"/>
                <a:cs typeface="Calibri"/>
              </a:rPr>
              <a:t>world knowledge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9920" y="4633237"/>
            <a:ext cx="3688080" cy="800091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>
              <a:spcBef>
                <a:spcPts val="400"/>
              </a:spcBef>
              <a:defRPr/>
            </a:pPr>
            <a:r>
              <a:rPr lang="en-US" sz="2133" dirty="0">
                <a:latin typeface="Calibri"/>
                <a:cs typeface="Calibri"/>
              </a:rPr>
              <a:t>Mary and Sue are sisters.</a:t>
            </a:r>
          </a:p>
          <a:p>
            <a:pPr algn="ctr">
              <a:spcBef>
                <a:spcPts val="400"/>
              </a:spcBef>
              <a:defRPr/>
            </a:pPr>
            <a:r>
              <a:rPr lang="en-US" sz="2133" dirty="0">
                <a:latin typeface="Calibri"/>
                <a:cs typeface="Calibri"/>
              </a:rPr>
              <a:t>Mary and Sue are mothers.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2801" y="6233174"/>
            <a:ext cx="3778791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 dirty="0"/>
              <a:t>But that’s what makes it fun!</a:t>
            </a:r>
          </a:p>
        </p:txBody>
      </p:sp>
      <p:grpSp>
        <p:nvGrpSpPr>
          <p:cNvPr id="83999" name="Group 80"/>
          <p:cNvGrpSpPr>
            <a:grpSpLocks/>
          </p:cNvGrpSpPr>
          <p:nvPr/>
        </p:nvGrpSpPr>
        <p:grpSpPr bwMode="auto">
          <a:xfrm>
            <a:off x="4384927" y="2583947"/>
            <a:ext cx="3673727" cy="711200"/>
            <a:chOff x="3686175" y="2535809"/>
            <a:chExt cx="1774825" cy="337261"/>
          </a:xfrm>
        </p:grpSpPr>
        <p:sp>
          <p:nvSpPr>
            <p:cNvPr id="69" name="Rectangle 68"/>
            <p:cNvSpPr/>
            <p:nvPr/>
          </p:nvSpPr>
          <p:spPr>
            <a:xfrm>
              <a:off x="3686175" y="2535809"/>
              <a:ext cx="182101" cy="145262"/>
            </a:xfrm>
            <a:prstGeom prst="rect">
              <a:avLst/>
            </a:prstGeom>
            <a:solidFill>
              <a:srgbClr val="7A9FE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5867">
                <a:latin typeface="Calibri"/>
                <a:cs typeface="Calibri"/>
              </a:endParaRPr>
            </a:p>
          </p:txBody>
        </p:sp>
        <p:sp>
          <p:nvSpPr>
            <p:cNvPr id="71" name="Rectangle 70"/>
            <p:cNvSpPr/>
            <p:nvPr/>
          </p:nvSpPr>
          <p:spPr>
            <a:xfrm>
              <a:off x="3897307" y="2535809"/>
              <a:ext cx="237523" cy="145262"/>
            </a:xfrm>
            <a:prstGeom prst="rect">
              <a:avLst/>
            </a:prstGeom>
            <a:solidFill>
              <a:srgbClr val="7A9FE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5867">
                <a:latin typeface="Calibri"/>
                <a:cs typeface="Calibri"/>
              </a:endParaRPr>
            </a:p>
          </p:txBody>
        </p:sp>
        <p:sp>
          <p:nvSpPr>
            <p:cNvPr id="72" name="Rectangle 71"/>
            <p:cNvSpPr/>
            <p:nvPr/>
          </p:nvSpPr>
          <p:spPr>
            <a:xfrm>
              <a:off x="4159901" y="2535809"/>
              <a:ext cx="493520" cy="145262"/>
            </a:xfrm>
            <a:prstGeom prst="rect">
              <a:avLst/>
            </a:prstGeom>
            <a:solidFill>
              <a:srgbClr val="7A9FE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5867">
                <a:latin typeface="Calibri"/>
                <a:cs typeface="Calibri"/>
              </a:endParaRP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4678494" y="2535809"/>
              <a:ext cx="328573" cy="145262"/>
            </a:xfrm>
            <a:prstGeom prst="rect">
              <a:avLst/>
            </a:prstGeom>
            <a:solidFill>
              <a:srgbClr val="7A9FE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5867">
                <a:latin typeface="Calibri"/>
                <a:cs typeface="Calibri"/>
              </a:endParaRPr>
            </a:p>
          </p:txBody>
        </p:sp>
        <p:sp>
          <p:nvSpPr>
            <p:cNvPr id="74" name="Rectangle 73"/>
            <p:cNvSpPr/>
            <p:nvPr/>
          </p:nvSpPr>
          <p:spPr>
            <a:xfrm>
              <a:off x="5029500" y="2535809"/>
              <a:ext cx="431500" cy="145262"/>
            </a:xfrm>
            <a:prstGeom prst="rect">
              <a:avLst/>
            </a:prstGeom>
            <a:solidFill>
              <a:srgbClr val="7A9FE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5867">
                <a:latin typeface="Calibri"/>
                <a:cs typeface="Calibri"/>
              </a:endParaRPr>
            </a:p>
          </p:txBody>
        </p:sp>
        <p:sp>
          <p:nvSpPr>
            <p:cNvPr id="75" name="Rectangle 74"/>
            <p:cNvSpPr/>
            <p:nvPr/>
          </p:nvSpPr>
          <p:spPr>
            <a:xfrm>
              <a:off x="3686175" y="2727808"/>
              <a:ext cx="182101" cy="145262"/>
            </a:xfrm>
            <a:prstGeom prst="rect">
              <a:avLst/>
            </a:prstGeom>
            <a:solidFill>
              <a:srgbClr val="7A9FE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5867">
                <a:latin typeface="Calibri"/>
                <a:cs typeface="Calibri"/>
              </a:endParaRPr>
            </a:p>
          </p:txBody>
        </p:sp>
        <p:sp>
          <p:nvSpPr>
            <p:cNvPr id="76" name="Rectangle 75"/>
            <p:cNvSpPr/>
            <p:nvPr/>
          </p:nvSpPr>
          <p:spPr>
            <a:xfrm>
              <a:off x="3897307" y="2727808"/>
              <a:ext cx="484283" cy="145262"/>
            </a:xfrm>
            <a:prstGeom prst="rect">
              <a:avLst/>
            </a:prstGeom>
            <a:solidFill>
              <a:srgbClr val="7A9FE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5867">
                <a:latin typeface="Calibri"/>
                <a:cs typeface="Calibri"/>
              </a:endParaRPr>
            </a:p>
          </p:txBody>
        </p:sp>
        <p:sp>
          <p:nvSpPr>
            <p:cNvPr id="78" name="Rectangle 77"/>
            <p:cNvSpPr/>
            <p:nvPr/>
          </p:nvSpPr>
          <p:spPr>
            <a:xfrm>
              <a:off x="4413259" y="2727808"/>
              <a:ext cx="593808" cy="145262"/>
            </a:xfrm>
            <a:prstGeom prst="rect">
              <a:avLst/>
            </a:prstGeom>
            <a:solidFill>
              <a:srgbClr val="7A9FE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5867">
                <a:latin typeface="Calibri"/>
                <a:cs typeface="Calibri"/>
              </a:endParaRPr>
            </a:p>
          </p:txBody>
        </p:sp>
        <p:sp>
          <p:nvSpPr>
            <p:cNvPr id="79" name="Rectangle 78"/>
            <p:cNvSpPr/>
            <p:nvPr/>
          </p:nvSpPr>
          <p:spPr>
            <a:xfrm>
              <a:off x="5029500" y="2727808"/>
              <a:ext cx="431500" cy="145262"/>
            </a:xfrm>
            <a:prstGeom prst="rect">
              <a:avLst/>
            </a:prstGeom>
            <a:solidFill>
              <a:srgbClr val="7A9FE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5867">
                <a:latin typeface="Calibri"/>
                <a:cs typeface="Calibri"/>
              </a:endParaRP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283327" y="2514601"/>
            <a:ext cx="3860800" cy="7591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400"/>
              </a:spcBef>
              <a:defRPr/>
            </a:pPr>
            <a:r>
              <a:rPr lang="en-US" sz="2000" dirty="0">
                <a:latin typeface="Calibri"/>
                <a:cs typeface="Calibri"/>
              </a:rPr>
              <a:t>the New York-New Haven Railroad</a:t>
            </a:r>
          </a:p>
          <a:p>
            <a:pPr algn="ctr">
              <a:spcBef>
                <a:spcPts val="400"/>
              </a:spcBef>
              <a:defRPr/>
            </a:pPr>
            <a:r>
              <a:rPr lang="en-US" sz="2000" dirty="0">
                <a:latin typeface="Calibri"/>
                <a:cs typeface="Calibri"/>
              </a:rPr>
              <a:t>the New York-New Haven Railroad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0" y="508000"/>
            <a:ext cx="10160000" cy="990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Lucida Sans" charset="0"/>
                <a:ea typeface="ＭＳ Ｐゴシック" charset="0"/>
                <a:cs typeface="ＭＳ Ｐゴシック" charset="0"/>
              </a:rPr>
              <a:t>Why else is natural language understanding difficult?</a:t>
            </a:r>
            <a:endParaRPr 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14" name="投影片編號版面配置區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706754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Models and Algorithms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State machines, rule systems, logic, probabilistic models, vector-space models</a:t>
            </a:r>
          </a:p>
          <a:p>
            <a:r>
              <a:rPr lang="en-US" altLang="zh-TW" dirty="0"/>
              <a:t>State space search algorithm: dynamic programming</a:t>
            </a:r>
          </a:p>
          <a:p>
            <a:r>
              <a:rPr lang="en-US" altLang="zh-TW" dirty="0"/>
              <a:t>Machine learning algorithm: classification, expectation-maximization (EM), …</a:t>
            </a:r>
          </a:p>
          <a:p>
            <a:r>
              <a:rPr lang="en-US" altLang="zh-TW" dirty="0"/>
              <a:t>Deterministic and non-deterministic finite state automata, finite-state transducers</a:t>
            </a:r>
          </a:p>
          <a:p>
            <a:r>
              <a:rPr lang="en-US" altLang="zh-TW" dirty="0"/>
              <a:t>Regular grammars, context free grammars, …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6178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Language, Thought, Understanding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zh-TW" dirty="0"/>
              <a:t>The ability to process language as skillfully as humans do</a:t>
            </a:r>
          </a:p>
          <a:p>
            <a:pPr lvl="1"/>
            <a:r>
              <a:rPr lang="en-US" altLang="zh-TW" dirty="0"/>
              <a:t>“Can machines </a:t>
            </a:r>
            <a:r>
              <a:rPr lang="en-US" altLang="zh-TW" dirty="0">
                <a:solidFill>
                  <a:srgbClr val="0000FF"/>
                </a:solidFill>
              </a:rPr>
              <a:t>think</a:t>
            </a:r>
            <a:r>
              <a:rPr lang="en-US" altLang="zh-TW" dirty="0"/>
              <a:t>?”</a:t>
            </a:r>
          </a:p>
          <a:p>
            <a:r>
              <a:rPr lang="en-US" altLang="zh-TW" dirty="0"/>
              <a:t>Turing test: by Alan Turing (1950)</a:t>
            </a:r>
          </a:p>
          <a:p>
            <a:pPr lvl="1"/>
            <a:r>
              <a:rPr lang="en-US" altLang="zh-TW" dirty="0"/>
              <a:t>“Imitation game”</a:t>
            </a:r>
          </a:p>
          <a:p>
            <a:pPr lvl="1"/>
            <a:r>
              <a:rPr lang="en-US" altLang="zh-TW" dirty="0"/>
              <a:t>“Can machines </a:t>
            </a:r>
            <a:r>
              <a:rPr lang="en-US" altLang="zh-TW" dirty="0">
                <a:solidFill>
                  <a:srgbClr val="0000FF"/>
                </a:solidFill>
              </a:rPr>
              <a:t>do</a:t>
            </a:r>
            <a:r>
              <a:rPr lang="en-US" altLang="zh-TW" dirty="0"/>
              <a:t> what we can do?”</a:t>
            </a:r>
          </a:p>
          <a:p>
            <a:r>
              <a:rPr lang="en-US" altLang="zh-TW" dirty="0"/>
              <a:t>Conversational agents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5581" y="2397919"/>
            <a:ext cx="2505272" cy="3206750"/>
          </a:xfrm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397919"/>
            <a:ext cx="2505274" cy="3206750"/>
          </a:xfrm>
          <a:prstGeom prst="rect">
            <a:avLst/>
          </a:prstGeom>
        </p:spPr>
      </p:pic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8" name="投影片編號版面配置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18</a:t>
            </a:fld>
            <a:endParaRPr lang="zh-TW" altLang="en-US"/>
          </a:p>
        </p:txBody>
      </p:sp>
      <p:pic>
        <p:nvPicPr>
          <p:cNvPr id="9" name="圖片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7905" y="1825625"/>
            <a:ext cx="4855352" cy="3702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366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內容版面配置區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Q: Please write me a sonnet on the topic of the Forth Bridge.</a:t>
            </a:r>
          </a:p>
          <a:p>
            <a:r>
              <a:rPr lang="en-US" altLang="zh-TW" dirty="0"/>
              <a:t>A: Count me out on this one. I never could write poetry.</a:t>
            </a:r>
          </a:p>
          <a:p>
            <a:r>
              <a:rPr lang="en-US" altLang="zh-TW" dirty="0"/>
              <a:t>Q: Add 34957 to 70764.</a:t>
            </a:r>
          </a:p>
          <a:p>
            <a:r>
              <a:rPr lang="en-US" altLang="zh-TW" dirty="0"/>
              <a:t>A: (Pause about 30 seconds and then give answer as) 105621.</a:t>
            </a:r>
            <a:endParaRPr lang="zh-TW" altLang="en-US" dirty="0"/>
          </a:p>
        </p:txBody>
      </p:sp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640021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 dialog of ELIZA (1966)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User1: You are like my father in some ways.</a:t>
            </a:r>
          </a:p>
          <a:p>
            <a:r>
              <a:rPr lang="en-US" altLang="zh-TW" dirty="0"/>
              <a:t>ELIZA1: WHAT RESEMBLANCE DO YOU SEE</a:t>
            </a:r>
          </a:p>
          <a:p>
            <a:r>
              <a:rPr lang="en-US" altLang="zh-TW" dirty="0"/>
              <a:t>User2: You are not very aggressive but I think you don’t want me to notice that.</a:t>
            </a:r>
          </a:p>
          <a:p>
            <a:r>
              <a:rPr lang="en-US" altLang="zh-TW" dirty="0"/>
              <a:t>ELIZA2: WHAT MAKES YOU THINK I AM NOT AGGRESSIVE</a:t>
            </a:r>
          </a:p>
          <a:p>
            <a:r>
              <a:rPr lang="en-US" altLang="zh-TW" dirty="0"/>
              <a:t>User3: You don’t argue with me.</a:t>
            </a:r>
          </a:p>
          <a:p>
            <a:r>
              <a:rPr lang="en-US" altLang="zh-TW" dirty="0"/>
              <a:t>ELIZA3: WHY DO YOU THINK I DON’T ARGUE WITH YOU</a:t>
            </a:r>
          </a:p>
          <a:p>
            <a:r>
              <a:rPr lang="en-US" altLang="zh-TW" dirty="0"/>
              <a:t>User4: You are afraid of me.</a:t>
            </a:r>
          </a:p>
          <a:p>
            <a:r>
              <a:rPr lang="en-US" altLang="zh-TW" dirty="0"/>
              <a:t>ELIZA4: DOES IT PLEASE YOU TO BELIEVE I AM AFRAID OF YOU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20</a:t>
            </a:fld>
            <a:endParaRPr lang="zh-TW" altLang="en-US"/>
          </a:p>
        </p:txBody>
      </p:sp>
      <p:sp>
        <p:nvSpPr>
          <p:cNvPr id="7" name="圓角矩形圖說文字 6"/>
          <p:cNvSpPr/>
          <p:nvPr/>
        </p:nvSpPr>
        <p:spPr>
          <a:xfrm>
            <a:off x="8414158" y="998289"/>
            <a:ext cx="2726422" cy="1400961"/>
          </a:xfrm>
          <a:prstGeom prst="wedgeRoundRectCallout">
            <a:avLst>
              <a:gd name="adj1" fmla="val -49031"/>
              <a:gd name="adj2" fmla="val 65799"/>
              <a:gd name="adj3" fmla="val 16667"/>
            </a:avLst>
          </a:prstGeom>
          <a:solidFill>
            <a:srgbClr val="FFFF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rgbClr val="FF0000"/>
                </a:solidFill>
              </a:rPr>
              <a:t>Rogerian Psychotherapy (person-centered therapy)</a:t>
            </a:r>
            <a:endParaRPr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2255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The State of the Art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Travelers calling travel providers interact with conversational agents</a:t>
            </a:r>
          </a:p>
          <a:p>
            <a:r>
              <a:rPr lang="en-US" altLang="zh-TW" dirty="0"/>
              <a:t>Cars that allow drivers to control by voice</a:t>
            </a:r>
          </a:p>
          <a:p>
            <a:r>
              <a:rPr lang="en-US" altLang="zh-TW" dirty="0"/>
              <a:t>Searching video on the Web by speech</a:t>
            </a:r>
          </a:p>
          <a:p>
            <a:r>
              <a:rPr lang="en-US" altLang="zh-TW" dirty="0"/>
              <a:t>Cross-language information retrieval and translation by Google</a:t>
            </a:r>
          </a:p>
          <a:p>
            <a:r>
              <a:rPr lang="en-US" altLang="zh-TW" dirty="0"/>
              <a:t>Grading and assessing student essays by automated systems</a:t>
            </a:r>
          </a:p>
          <a:p>
            <a:r>
              <a:rPr lang="en-US" altLang="zh-TW" dirty="0"/>
              <a:t>Interactive virtual agents</a:t>
            </a:r>
          </a:p>
          <a:p>
            <a:r>
              <a:rPr lang="en-US" altLang="zh-TW" dirty="0"/>
              <a:t>Automated measurement of user opinions, preferences, attitudes in social media</a:t>
            </a:r>
          </a:p>
          <a:p>
            <a:r>
              <a:rPr lang="en-US" altLang="zh-TW" dirty="0"/>
              <a:t>…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686731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Brief History of NLP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Different fields in different departments</a:t>
            </a:r>
          </a:p>
          <a:p>
            <a:pPr lvl="1"/>
            <a:r>
              <a:rPr lang="en-US" altLang="zh-TW" dirty="0"/>
              <a:t>Computational linguistics: in linguistics</a:t>
            </a:r>
          </a:p>
          <a:p>
            <a:pPr lvl="1"/>
            <a:r>
              <a:rPr lang="en-US" altLang="zh-TW" dirty="0"/>
              <a:t>Natural language processing: in computer science</a:t>
            </a:r>
          </a:p>
          <a:p>
            <a:pPr lvl="1"/>
            <a:r>
              <a:rPr lang="en-US" altLang="zh-TW" dirty="0"/>
              <a:t>Speech recognition: in electrical engineering</a:t>
            </a:r>
          </a:p>
          <a:p>
            <a:pPr lvl="1"/>
            <a:r>
              <a:rPr lang="en-US" altLang="zh-TW" dirty="0"/>
              <a:t>Computational psycholinguistics: in psychology</a:t>
            </a:r>
          </a:p>
          <a:p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04518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Foundational Insights: 1940s and 1950s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Automaton: 1950s</a:t>
            </a:r>
          </a:p>
          <a:p>
            <a:pPr lvl="1"/>
            <a:r>
              <a:rPr lang="en-US" altLang="zh-TW" dirty="0"/>
              <a:t>Turing (1936)</a:t>
            </a:r>
          </a:p>
          <a:p>
            <a:pPr lvl="1"/>
            <a:r>
              <a:rPr lang="en-US" altLang="zh-TW" dirty="0"/>
              <a:t>McCulloch-Pitts neuron (1943)</a:t>
            </a:r>
          </a:p>
          <a:p>
            <a:pPr lvl="1"/>
            <a:r>
              <a:rPr lang="en-US" altLang="zh-TW" dirty="0"/>
              <a:t>Finite automata, regular expressions (1951, 1956)</a:t>
            </a:r>
          </a:p>
          <a:p>
            <a:pPr lvl="1"/>
            <a:r>
              <a:rPr lang="en-US" altLang="zh-TW" dirty="0"/>
              <a:t>Shannon (1948)</a:t>
            </a:r>
          </a:p>
          <a:p>
            <a:pPr lvl="1"/>
            <a:r>
              <a:rPr lang="en-US" altLang="zh-TW" dirty="0"/>
              <a:t>Context-free grammar: Chomsky (1956), Backus (1959), </a:t>
            </a:r>
            <a:r>
              <a:rPr lang="en-US" altLang="zh-TW" dirty="0" err="1"/>
              <a:t>Naur</a:t>
            </a:r>
            <a:r>
              <a:rPr lang="en-US" altLang="zh-TW" dirty="0"/>
              <a:t> (1960)</a:t>
            </a:r>
          </a:p>
          <a:p>
            <a:r>
              <a:rPr lang="en-US" altLang="zh-TW" dirty="0"/>
              <a:t>Probabilistic or information-theoretic models</a:t>
            </a:r>
          </a:p>
          <a:p>
            <a:pPr lvl="1"/>
            <a:r>
              <a:rPr lang="en-US" altLang="zh-TW" dirty="0"/>
              <a:t>Shannon: communication, entropy</a:t>
            </a:r>
          </a:p>
          <a:p>
            <a:pPr lvl="1"/>
            <a:r>
              <a:rPr lang="en-US" altLang="zh-TW" dirty="0">
                <a:solidFill>
                  <a:schemeClr val="bg1">
                    <a:lumMod val="85000"/>
                  </a:schemeClr>
                </a:solidFill>
              </a:rPr>
              <a:t>Koenig: sound spectrogram (1946)</a:t>
            </a:r>
          </a:p>
          <a:p>
            <a:pPr lvl="1"/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23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3353" y="1426128"/>
            <a:ext cx="1698570" cy="1321110"/>
          </a:xfrm>
          <a:prstGeom prst="rect">
            <a:avLst/>
          </a:prstGeom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1451" y="1426128"/>
            <a:ext cx="1701498" cy="1315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4571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sb-DE" altLang="zh-TW" dirty="0"/>
              <a:t>The Two Camps: 1957–1970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Two paradigms</a:t>
            </a:r>
          </a:p>
          <a:p>
            <a:pPr lvl="1"/>
            <a:r>
              <a:rPr lang="en-US" altLang="zh-TW" dirty="0"/>
              <a:t>Symbolic</a:t>
            </a:r>
          </a:p>
          <a:p>
            <a:pPr lvl="2"/>
            <a:r>
              <a:rPr lang="en-US" altLang="zh-TW" dirty="0"/>
              <a:t>Formal language theory, parsing</a:t>
            </a:r>
          </a:p>
          <a:p>
            <a:pPr lvl="2"/>
            <a:r>
              <a:rPr lang="en-US" altLang="zh-TW" dirty="0">
                <a:solidFill>
                  <a:srgbClr val="0000FF"/>
                </a:solidFill>
              </a:rPr>
              <a:t>Artificial intelligence</a:t>
            </a:r>
            <a:r>
              <a:rPr lang="en-US" altLang="zh-TW" dirty="0"/>
              <a:t>: John McCarthy, Marvin Minsky, Claude Shannon, and Nathaniel Rochester (1956)</a:t>
            </a:r>
          </a:p>
          <a:p>
            <a:pPr lvl="1"/>
            <a:r>
              <a:rPr lang="en-US" altLang="zh-TW" dirty="0"/>
              <a:t>Stochastic</a:t>
            </a:r>
          </a:p>
          <a:p>
            <a:pPr lvl="2"/>
            <a:r>
              <a:rPr lang="en-US" altLang="zh-TW" dirty="0"/>
              <a:t>Bayesian method</a:t>
            </a:r>
          </a:p>
          <a:p>
            <a:pPr lvl="2"/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24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3159" y="3540154"/>
            <a:ext cx="3194882" cy="2529282"/>
          </a:xfrm>
          <a:prstGeom prst="rect">
            <a:avLst/>
          </a:prstGeom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3200" y="3647507"/>
            <a:ext cx="4114800" cy="2314576"/>
          </a:xfrm>
          <a:prstGeom prst="rect">
            <a:avLst/>
          </a:prstGeom>
        </p:spPr>
      </p:pic>
      <p:pic>
        <p:nvPicPr>
          <p:cNvPr id="9" name="圖片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3200" y="3647507"/>
            <a:ext cx="4300756" cy="2311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904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sb-DE" altLang="zh-TW" dirty="0"/>
              <a:t>Four Paradigms: 1970–1983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Stochastic</a:t>
            </a:r>
          </a:p>
          <a:p>
            <a:pPr lvl="1"/>
            <a:r>
              <a:rPr lang="en-US" altLang="zh-TW" dirty="0"/>
              <a:t>Hidden Markov model</a:t>
            </a:r>
          </a:p>
          <a:p>
            <a:r>
              <a:rPr lang="en-US" altLang="zh-TW" dirty="0"/>
              <a:t>Logic-based</a:t>
            </a:r>
          </a:p>
          <a:p>
            <a:r>
              <a:rPr lang="en-US" altLang="zh-TW" dirty="0"/>
              <a:t>Natural language understanding</a:t>
            </a:r>
          </a:p>
          <a:p>
            <a:r>
              <a:rPr lang="en-US" altLang="zh-TW" dirty="0"/>
              <a:t>Discourse modeling</a:t>
            </a:r>
          </a:p>
          <a:p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25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2014" y="1646238"/>
            <a:ext cx="3267260" cy="2613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5892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Empiricism and Finite-State Models </a:t>
            </a:r>
            <a:r>
              <a:rPr lang="en-US" altLang="zh-TW" dirty="0" err="1"/>
              <a:t>Redux</a:t>
            </a:r>
            <a:r>
              <a:rPr lang="en-US" altLang="zh-TW" dirty="0"/>
              <a:t>: 1983–1993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Finite-state models</a:t>
            </a:r>
          </a:p>
          <a:p>
            <a:r>
              <a:rPr lang="en-US" altLang="zh-TW" dirty="0"/>
              <a:t>Probabilistic models</a:t>
            </a:r>
          </a:p>
          <a:p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16530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The Field Comes Together: 1994–1999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>
                <a:solidFill>
                  <a:srgbClr val="0000FF"/>
                </a:solidFill>
              </a:rPr>
              <a:t>Probabilistic</a:t>
            </a:r>
            <a:r>
              <a:rPr lang="en-US" altLang="zh-TW" dirty="0"/>
              <a:t> and </a:t>
            </a:r>
            <a:r>
              <a:rPr lang="en-US" altLang="zh-TW" dirty="0">
                <a:solidFill>
                  <a:srgbClr val="0000FF"/>
                </a:solidFill>
              </a:rPr>
              <a:t>data-driven</a:t>
            </a:r>
            <a:r>
              <a:rPr lang="en-US" altLang="zh-TW" dirty="0"/>
              <a:t> models had become quite standard throughout natural language processing</a:t>
            </a:r>
          </a:p>
          <a:p>
            <a:r>
              <a:rPr lang="en-US" altLang="zh-TW" dirty="0"/>
              <a:t>The increases in the speed and memory of computers had allowed commercial exploitation of a number of subareas of speech and language processing, in particular, speech recognition, and spelling and grammar correction</a:t>
            </a:r>
          </a:p>
          <a:p>
            <a:r>
              <a:rPr lang="en-US" altLang="zh-TW" dirty="0"/>
              <a:t>The rise of the Web emphasized the need </a:t>
            </a:r>
            <a:r>
              <a:rPr lang="hsb-DE" altLang="zh-TW" dirty="0"/>
              <a:t>for language-based information retrieval and information extraction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262399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The Rise of Machine Learning: 2000–2008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Large amounts of spoken and written material became widely available through the auspices of the Linguistic Data Consortium (LDC) and other similar organizations</a:t>
            </a:r>
          </a:p>
          <a:p>
            <a:r>
              <a:rPr lang="en-US" altLang="zh-TW" dirty="0"/>
              <a:t>This increased focus on learning led to a more serious interplay with the statistical machine learning community</a:t>
            </a:r>
          </a:p>
          <a:p>
            <a:pPr lvl="1"/>
            <a:r>
              <a:rPr lang="en-US" altLang="zh-TW" dirty="0"/>
              <a:t>SVM, maximum entropy, multinomial logistic regression, graphical Bayesian models</a:t>
            </a:r>
          </a:p>
          <a:p>
            <a:r>
              <a:rPr lang="en-US" altLang="zh-TW" dirty="0"/>
              <a:t>The widespread availability of high-performance computing systems facilitated the training and deployment of systems that could not have been imagined a decade earlier</a:t>
            </a:r>
          </a:p>
          <a:p>
            <a:r>
              <a:rPr lang="en-US" altLang="zh-TW" dirty="0"/>
              <a:t>Near the end of this period, largely unsupervised statistical approaches began to receive renewed attention</a:t>
            </a:r>
          </a:p>
          <a:p>
            <a:pPr lvl="1"/>
            <a:r>
              <a:rPr lang="en-US" altLang="zh-TW" dirty="0"/>
              <a:t>Topic modeling, …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00385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New Potentials for NLP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Powerful computing resources</a:t>
            </a:r>
          </a:p>
          <a:p>
            <a:r>
              <a:rPr lang="en-US" altLang="zh-TW" dirty="0"/>
              <a:t>Web as the massive source of information </a:t>
            </a:r>
          </a:p>
          <a:p>
            <a:r>
              <a:rPr lang="en-US" altLang="zh-TW" dirty="0"/>
              <a:t>Availability of wireless mobile access</a:t>
            </a:r>
          </a:p>
          <a:p>
            <a:r>
              <a:rPr lang="en-US" altLang="zh-TW" dirty="0"/>
              <a:t>Many new application scenarios</a:t>
            </a:r>
          </a:p>
          <a:p>
            <a:pPr marL="0" indent="0">
              <a:buNone/>
            </a:pP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65998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Thanks for Your Attention!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NLP &amp; TM, Spring 2025</a:t>
            </a:r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NTUT CSIE</a:t>
            </a: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C0C93-978E-4CB8-B3AB-755C1D36D541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61327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533</TotalTime>
  <Words>1934</Words>
  <Application>Microsoft Office PowerPoint</Application>
  <PresentationFormat>寬螢幕</PresentationFormat>
  <Paragraphs>377</Paragraphs>
  <Slides>30</Slides>
  <Notes>19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30</vt:i4>
      </vt:variant>
    </vt:vector>
  </HeadingPairs>
  <TitlesOfParts>
    <vt:vector size="38" baseType="lpstr">
      <vt:lpstr>华文仿宋</vt:lpstr>
      <vt:lpstr>Zapf Dingbats</vt:lpstr>
      <vt:lpstr>Arial</vt:lpstr>
      <vt:lpstr>Calibri</vt:lpstr>
      <vt:lpstr>Calibri Light</vt:lpstr>
      <vt:lpstr>Lucida Sans</vt:lpstr>
      <vt:lpstr>Times New Roman</vt:lpstr>
      <vt:lpstr>Office 佈景主題</vt:lpstr>
      <vt:lpstr>Introduction to Natural Language Processing</vt:lpstr>
      <vt:lpstr>Outline</vt:lpstr>
      <vt:lpstr>What is Natural Language Processing</vt:lpstr>
      <vt:lpstr>Example: 2001: A Space Odyssey</vt:lpstr>
      <vt:lpstr>Modern Examples: Chatbots</vt:lpstr>
      <vt:lpstr>Example Language-related Tasks</vt:lpstr>
      <vt:lpstr>Question Answering: IBM’s Watson</vt:lpstr>
      <vt:lpstr>Information Extraction</vt:lpstr>
      <vt:lpstr>Information Extraction &amp; Sentiment Analysis</vt:lpstr>
      <vt:lpstr>Machine Translation</vt:lpstr>
      <vt:lpstr>Language Technology</vt:lpstr>
      <vt:lpstr>Knowledge of Language</vt:lpstr>
      <vt:lpstr>Ambiguity</vt:lpstr>
      <vt:lpstr>Possible Answers:</vt:lpstr>
      <vt:lpstr>Resolving Ambiguities</vt:lpstr>
      <vt:lpstr>Why else is natural language understanding difficult?</vt:lpstr>
      <vt:lpstr>Models and Algorithms</vt:lpstr>
      <vt:lpstr>Language, Thought, Understanding</vt:lpstr>
      <vt:lpstr>PowerPoint 簡報</vt:lpstr>
      <vt:lpstr>Example dialog of ELIZA (1966)</vt:lpstr>
      <vt:lpstr>The State of the Art</vt:lpstr>
      <vt:lpstr>Brief History of NLP</vt:lpstr>
      <vt:lpstr>Foundational Insights: 1940s and 1950s</vt:lpstr>
      <vt:lpstr>The Two Camps: 1957–1970</vt:lpstr>
      <vt:lpstr>Four Paradigms: 1970–1983</vt:lpstr>
      <vt:lpstr>Empiricism and Finite-State Models Redux: 1983–1993</vt:lpstr>
      <vt:lpstr>The Field Comes Together: 1994–1999</vt:lpstr>
      <vt:lpstr>The Rise of Machine Learning: 2000–2008</vt:lpstr>
      <vt:lpstr>New Potentials for NLP</vt:lpstr>
      <vt:lpstr>Thanks for Your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Natural Language Processing</dc:title>
  <dc:creator>Chris Wang</dc:creator>
  <cp:lastModifiedBy>王正豪</cp:lastModifiedBy>
  <cp:revision>61</cp:revision>
  <dcterms:created xsi:type="dcterms:W3CDTF">2020-02-23T03:43:36Z</dcterms:created>
  <dcterms:modified xsi:type="dcterms:W3CDTF">2026-02-23T04:15:28Z</dcterms:modified>
</cp:coreProperties>
</file>