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2"/>
  </p:notesMasterIdLst>
  <p:sldIdLst>
    <p:sldId id="256" r:id="rId2"/>
    <p:sldId id="321" r:id="rId3"/>
    <p:sldId id="264" r:id="rId4"/>
    <p:sldId id="286" r:id="rId5"/>
    <p:sldId id="287" r:id="rId6"/>
    <p:sldId id="288" r:id="rId7"/>
    <p:sldId id="289" r:id="rId8"/>
    <p:sldId id="290" r:id="rId9"/>
    <p:sldId id="291" r:id="rId10"/>
    <p:sldId id="284" r:id="rId11"/>
    <p:sldId id="292" r:id="rId12"/>
    <p:sldId id="322" r:id="rId13"/>
    <p:sldId id="283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4" r:id="rId24"/>
    <p:sldId id="305" r:id="rId25"/>
    <p:sldId id="306" r:id="rId26"/>
    <p:sldId id="307" r:id="rId27"/>
    <p:sldId id="303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  <p:sldId id="319" r:id="rId40"/>
    <p:sldId id="320" r:id="rId41"/>
    <p:sldId id="355" r:id="rId42"/>
    <p:sldId id="293" r:id="rId43"/>
    <p:sldId id="282" r:id="rId44"/>
    <p:sldId id="323" r:id="rId45"/>
    <p:sldId id="324" r:id="rId46"/>
    <p:sldId id="325" r:id="rId47"/>
    <p:sldId id="326" r:id="rId48"/>
    <p:sldId id="327" r:id="rId49"/>
    <p:sldId id="257" r:id="rId50"/>
    <p:sldId id="328" r:id="rId51"/>
    <p:sldId id="329" r:id="rId52"/>
    <p:sldId id="330" r:id="rId53"/>
    <p:sldId id="331" r:id="rId54"/>
    <p:sldId id="258" r:id="rId55"/>
    <p:sldId id="259" r:id="rId56"/>
    <p:sldId id="260" r:id="rId57"/>
    <p:sldId id="261" r:id="rId58"/>
    <p:sldId id="262" r:id="rId59"/>
    <p:sldId id="334" r:id="rId60"/>
    <p:sldId id="335" r:id="rId61"/>
    <p:sldId id="336" r:id="rId62"/>
    <p:sldId id="337" r:id="rId63"/>
    <p:sldId id="338" r:id="rId64"/>
    <p:sldId id="263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67" r:id="rId74"/>
    <p:sldId id="268" r:id="rId75"/>
    <p:sldId id="269" r:id="rId76"/>
    <p:sldId id="347" r:id="rId77"/>
    <p:sldId id="348" r:id="rId78"/>
    <p:sldId id="270" r:id="rId79"/>
    <p:sldId id="349" r:id="rId80"/>
    <p:sldId id="350" r:id="rId81"/>
    <p:sldId id="351" r:id="rId82"/>
    <p:sldId id="352" r:id="rId83"/>
    <p:sldId id="353" r:id="rId84"/>
    <p:sldId id="354" r:id="rId85"/>
    <p:sldId id="271" r:id="rId86"/>
    <p:sldId id="272" r:id="rId87"/>
    <p:sldId id="356" r:id="rId88"/>
    <p:sldId id="357" r:id="rId89"/>
    <p:sldId id="273" r:id="rId90"/>
    <p:sldId id="275" r:id="rId91"/>
    <p:sldId id="358" r:id="rId92"/>
    <p:sldId id="359" r:id="rId93"/>
    <p:sldId id="360" r:id="rId94"/>
    <p:sldId id="361" r:id="rId95"/>
    <p:sldId id="362" r:id="rId96"/>
    <p:sldId id="363" r:id="rId97"/>
    <p:sldId id="364" r:id="rId98"/>
    <p:sldId id="365" r:id="rId99"/>
    <p:sldId id="366" r:id="rId100"/>
    <p:sldId id="367" r:id="rId101"/>
    <p:sldId id="274" r:id="rId102"/>
    <p:sldId id="276" r:id="rId103"/>
    <p:sldId id="368" r:id="rId104"/>
    <p:sldId id="369" r:id="rId105"/>
    <p:sldId id="370" r:id="rId106"/>
    <p:sldId id="371" r:id="rId107"/>
    <p:sldId id="372" r:id="rId108"/>
    <p:sldId id="373" r:id="rId109"/>
    <p:sldId id="277" r:id="rId110"/>
    <p:sldId id="374" r:id="rId111"/>
    <p:sldId id="375" r:id="rId112"/>
    <p:sldId id="376" r:id="rId113"/>
    <p:sldId id="377" r:id="rId114"/>
    <p:sldId id="378" r:id="rId115"/>
    <p:sldId id="379" r:id="rId116"/>
    <p:sldId id="380" r:id="rId117"/>
    <p:sldId id="278" r:id="rId118"/>
    <p:sldId id="280" r:id="rId119"/>
    <p:sldId id="281" r:id="rId120"/>
    <p:sldId id="285" r:id="rId121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14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B669B-B66F-400C-B090-F76AD6B13D3B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0F8A4-2F4A-4481-955E-2EB832F9CF5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2462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63613"/>
            <a:fld id="{2CF7154E-FE2C-4094-9169-5F6DACF2D87A}" type="slidenum">
              <a:rPr lang="en-US" smtClean="0"/>
              <a:pPr defTabSz="963613"/>
              <a:t>5</a:t>
            </a:fld>
            <a:endParaRPr lang="en-US"/>
          </a:p>
        </p:txBody>
      </p:sp>
      <p:sp>
        <p:nvSpPr>
          <p:cNvPr id="55299" name="Text Box 2"/>
          <p:cNvSpPr txBox="1">
            <a:spLocks noChangeArrowheads="1"/>
          </p:cNvSpPr>
          <p:nvPr/>
        </p:nvSpPr>
        <p:spPr bwMode="auto">
          <a:xfrm>
            <a:off x="1219200" y="720725"/>
            <a:ext cx="4876800" cy="3598863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4650" tIns="47325" rIns="94650" bIns="47325" anchor="ctr"/>
          <a:lstStyle/>
          <a:p>
            <a:endParaRPr lang="en-US"/>
          </a:p>
        </p:txBody>
      </p:sp>
      <p:sp>
        <p:nvSpPr>
          <p:cNvPr id="55300" name="Rectangle 3"/>
          <p:cNvSpPr>
            <a:spLocks noGrp="1" noChangeArrowheads="1"/>
          </p:cNvSpPr>
          <p:nvPr>
            <p:ph type="body"/>
          </p:nvPr>
        </p:nvSpPr>
        <p:spPr>
          <a:xfrm>
            <a:off x="731838" y="4560888"/>
            <a:ext cx="5845175" cy="4319587"/>
          </a:xfrm>
          <a:noFill/>
          <a:ln/>
        </p:spPr>
        <p:txBody>
          <a:bodyPr wrap="none" anchor="ctr"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798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63613"/>
            <a:fld id="{E0E3AECE-B484-4CCE-BBA3-71147881B3B6}" type="slidenum">
              <a:rPr lang="en-US" smtClean="0"/>
              <a:pPr defTabSz="963613"/>
              <a:t>6</a:t>
            </a:fld>
            <a:endParaRPr lang="en-US"/>
          </a:p>
        </p:txBody>
      </p:sp>
      <p:sp>
        <p:nvSpPr>
          <p:cNvPr id="56323" name="Text Box 2"/>
          <p:cNvSpPr txBox="1">
            <a:spLocks noChangeArrowheads="1"/>
          </p:cNvSpPr>
          <p:nvPr/>
        </p:nvSpPr>
        <p:spPr bwMode="auto">
          <a:xfrm>
            <a:off x="1219200" y="720725"/>
            <a:ext cx="4876800" cy="3598863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4650" tIns="47325" rIns="94650" bIns="47325" anchor="ctr"/>
          <a:lstStyle/>
          <a:p>
            <a:endParaRPr lang="en-US"/>
          </a:p>
        </p:txBody>
      </p:sp>
      <p:sp>
        <p:nvSpPr>
          <p:cNvPr id="56324" name="Rectangle 3"/>
          <p:cNvSpPr>
            <a:spLocks noGrp="1" noChangeArrowheads="1"/>
          </p:cNvSpPr>
          <p:nvPr>
            <p:ph type="body"/>
          </p:nvPr>
        </p:nvSpPr>
        <p:spPr>
          <a:xfrm>
            <a:off x="731838" y="4560888"/>
            <a:ext cx="5845175" cy="4319587"/>
          </a:xfrm>
          <a:noFill/>
          <a:ln/>
        </p:spPr>
        <p:txBody>
          <a:bodyPr wrap="none" anchor="ctr"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978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63613"/>
            <a:fld id="{4EE3B3EE-3CD6-4E0D-BD42-34D565D868CA}" type="slidenum">
              <a:rPr lang="en-US" smtClean="0"/>
              <a:pPr defTabSz="963613"/>
              <a:t>7</a:t>
            </a:fld>
            <a:endParaRPr lang="en-US"/>
          </a:p>
        </p:txBody>
      </p:sp>
      <p:sp>
        <p:nvSpPr>
          <p:cNvPr id="57347" name="Text Box 2"/>
          <p:cNvSpPr txBox="1">
            <a:spLocks noChangeArrowheads="1"/>
          </p:cNvSpPr>
          <p:nvPr/>
        </p:nvSpPr>
        <p:spPr bwMode="auto">
          <a:xfrm>
            <a:off x="1219200" y="720725"/>
            <a:ext cx="4876800" cy="3598863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4650" tIns="47325" rIns="94650" bIns="47325" anchor="ctr"/>
          <a:lstStyle/>
          <a:p>
            <a:endParaRPr lang="en-US"/>
          </a:p>
        </p:txBody>
      </p:sp>
      <p:sp>
        <p:nvSpPr>
          <p:cNvPr id="57348" name="Rectangle 3"/>
          <p:cNvSpPr>
            <a:spLocks noGrp="1" noChangeArrowheads="1"/>
          </p:cNvSpPr>
          <p:nvPr>
            <p:ph type="body"/>
          </p:nvPr>
        </p:nvSpPr>
        <p:spPr>
          <a:xfrm>
            <a:off x="731838" y="4560888"/>
            <a:ext cx="5845175" cy="4319587"/>
          </a:xfrm>
          <a:noFill/>
          <a:ln/>
        </p:spPr>
        <p:txBody>
          <a:bodyPr wrap="none" anchor="ctr"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19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9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63613"/>
            <a:fld id="{F3593648-B6B4-48DF-B44C-E3693731EC71}" type="slidenum">
              <a:rPr lang="en-GB" smtClean="0"/>
              <a:pPr defTabSz="963613"/>
              <a:t>17</a:t>
            </a:fld>
            <a:endParaRPr lang="en-GB"/>
          </a:p>
        </p:txBody>
      </p:sp>
      <p:sp>
        <p:nvSpPr>
          <p:cNvPr id="107523" name="Text Box 1"/>
          <p:cNvSpPr txBox="1">
            <a:spLocks noChangeArrowheads="1"/>
          </p:cNvSpPr>
          <p:nvPr/>
        </p:nvSpPr>
        <p:spPr bwMode="auto">
          <a:xfrm>
            <a:off x="1219200" y="720725"/>
            <a:ext cx="4876800" cy="3598863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6657" tIns="48328" rIns="96657" bIns="48328" anchor="ctr"/>
          <a:lstStyle/>
          <a:p>
            <a:endParaRPr lang="en-US"/>
          </a:p>
        </p:txBody>
      </p:sp>
      <p:sp>
        <p:nvSpPr>
          <p:cNvPr id="107524" name="Rectangle 2"/>
          <p:cNvSpPr>
            <a:spLocks noGrp="1" noChangeArrowheads="1"/>
          </p:cNvSpPr>
          <p:nvPr>
            <p:ph type="body"/>
          </p:nvPr>
        </p:nvSpPr>
        <p:spPr>
          <a:xfrm>
            <a:off x="731838" y="4560888"/>
            <a:ext cx="5848350" cy="4319587"/>
          </a:xfrm>
          <a:noFill/>
          <a:ln/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7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9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63613"/>
            <a:fld id="{F3593648-B6B4-48DF-B44C-E3693731EC71}" type="slidenum">
              <a:rPr lang="en-GB" smtClean="0"/>
              <a:pPr defTabSz="963613"/>
              <a:t>21</a:t>
            </a:fld>
            <a:endParaRPr lang="en-GB"/>
          </a:p>
        </p:txBody>
      </p:sp>
      <p:sp>
        <p:nvSpPr>
          <p:cNvPr id="107523" name="Text Box 1"/>
          <p:cNvSpPr txBox="1">
            <a:spLocks noChangeArrowheads="1"/>
          </p:cNvSpPr>
          <p:nvPr/>
        </p:nvSpPr>
        <p:spPr bwMode="auto">
          <a:xfrm>
            <a:off x="1219200" y="720725"/>
            <a:ext cx="4876800" cy="3598863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lIns="96657" tIns="48328" rIns="96657" bIns="48328" anchor="ctr"/>
          <a:lstStyle/>
          <a:p>
            <a:endParaRPr lang="en-US"/>
          </a:p>
        </p:txBody>
      </p:sp>
      <p:sp>
        <p:nvSpPr>
          <p:cNvPr id="107524" name="Rectangle 2"/>
          <p:cNvSpPr>
            <a:spLocks noGrp="1" noChangeArrowheads="1"/>
          </p:cNvSpPr>
          <p:nvPr>
            <p:ph type="body"/>
          </p:nvPr>
        </p:nvSpPr>
        <p:spPr>
          <a:xfrm>
            <a:off x="731838" y="4560888"/>
            <a:ext cx="5848350" cy="4319587"/>
          </a:xfrm>
          <a:noFill/>
          <a:ln/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89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325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91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363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391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6049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4176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7131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861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100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0187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3735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D524B-7B34-4234-8034-DF4A15522CAE}" type="datetimeFigureOut">
              <a:rPr lang="zh-TW" altLang="en-US" smtClean="0"/>
              <a:t>2025/12/16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835836-2FAF-4928-97F8-16D8C10CB63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373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5.wmf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16.wmf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MapReduce Basics &amp; Algorithm Design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By J. H. Wang</a:t>
            </a:r>
          </a:p>
          <a:p>
            <a:r>
              <a:rPr lang="en-US" altLang="zh-TW" dirty="0"/>
              <a:t>Dec. 16, 2025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31253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Introduction</a:t>
            </a:r>
          </a:p>
          <a:p>
            <a:r>
              <a:rPr lang="en-US" altLang="zh-TW" dirty="0"/>
              <a:t>MapReduce Basics</a:t>
            </a:r>
          </a:p>
          <a:p>
            <a:r>
              <a:rPr lang="en-US" altLang="zh-TW" dirty="0">
                <a:solidFill>
                  <a:schemeClr val="bg1">
                    <a:lumMod val="75000"/>
                  </a:schemeClr>
                </a:solidFill>
              </a:rPr>
              <a:t>MapReduce Algorithm Design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0415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Reference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Jimmy Lin </a:t>
            </a:r>
            <a:r>
              <a:rPr lang="en-US" altLang="zh-TW"/>
              <a:t>and Chris Dyer, “Data-Intensive </a:t>
            </a:r>
            <a:r>
              <a:rPr lang="en-US" altLang="zh-TW" dirty="0"/>
              <a:t>Text Processing with MapReduce”, Ch.1-3 </a:t>
            </a:r>
          </a:p>
          <a:p>
            <a:r>
              <a:rPr lang="en-US" altLang="zh-TW" dirty="0"/>
              <a:t>Slides from Jimmy Lin’s “Big Data Infrastructure” course, Univ. Maryland (and Univ. Waterloo)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0380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Divide and Conquer</a:t>
            </a: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57400" y="1676400"/>
            <a:ext cx="3505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800" b="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“Work”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447800" y="28194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b="0" i="1" baseline="-2500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cxnSp>
        <p:nvCxnSpPr>
          <p:cNvPr id="8" name="Straight Arrow Connector 7"/>
          <p:cNvCxnSpPr>
            <a:cxnSpLocks noChangeShapeType="1"/>
          </p:cNvCxnSpPr>
          <p:nvPr/>
        </p:nvCxnSpPr>
        <p:spPr bwMode="auto">
          <a:xfrm rot="5400000">
            <a:off x="3504407" y="2439194"/>
            <a:ext cx="609600" cy="1587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cxnSpLocks noChangeShapeType="1"/>
          </p:cNvCxnSpPr>
          <p:nvPr/>
        </p:nvCxnSpPr>
        <p:spPr bwMode="auto">
          <a:xfrm>
            <a:off x="4572000" y="2133600"/>
            <a:ext cx="762000" cy="609600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 noChangeShapeType="1"/>
          </p:cNvCxnSpPr>
          <p:nvPr/>
        </p:nvCxnSpPr>
        <p:spPr bwMode="auto">
          <a:xfrm flipH="1">
            <a:off x="2286000" y="2133600"/>
            <a:ext cx="762000" cy="609600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3200400" y="28194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b="0" i="1" baseline="-2500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4876800" y="28194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b="0" i="1" baseline="-25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1447800" y="40386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800" b="0" i="1" baseline="-25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auto">
          <a:xfrm>
            <a:off x="3200400" y="40386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800" b="0" i="1" baseline="-2500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4876800" y="4038600"/>
            <a:ext cx="1219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tIns="0" anchor="ctr"/>
          <a:lstStyle/>
          <a:p>
            <a:pPr algn="ctr"/>
            <a:r>
              <a:rPr lang="en-US" sz="1800" b="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sz="1800" b="0" i="1" baseline="-25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cxnSp>
        <p:nvCxnSpPr>
          <p:cNvPr id="18" name="Straight Arrow Connector 17"/>
          <p:cNvCxnSpPr>
            <a:cxnSpLocks noChangeShapeType="1"/>
          </p:cNvCxnSpPr>
          <p:nvPr/>
        </p:nvCxnSpPr>
        <p:spPr bwMode="auto">
          <a:xfrm rot="5400000">
            <a:off x="3505994" y="3656806"/>
            <a:ext cx="609600" cy="1588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cxnSpLocks noChangeShapeType="1"/>
          </p:cNvCxnSpPr>
          <p:nvPr/>
        </p:nvCxnSpPr>
        <p:spPr bwMode="auto">
          <a:xfrm rot="5400000">
            <a:off x="5180807" y="3656806"/>
            <a:ext cx="609600" cy="1587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cxnSpLocks noChangeShapeType="1"/>
          </p:cNvCxnSpPr>
          <p:nvPr/>
        </p:nvCxnSpPr>
        <p:spPr bwMode="auto">
          <a:xfrm rot="5400000">
            <a:off x="1753394" y="3656806"/>
            <a:ext cx="609600" cy="1588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2057400" y="5334000"/>
            <a:ext cx="3505200" cy="3810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800" b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“Result”</a:t>
            </a:r>
          </a:p>
        </p:txBody>
      </p:sp>
      <p:cxnSp>
        <p:nvCxnSpPr>
          <p:cNvPr id="22" name="Straight Arrow Connector 21"/>
          <p:cNvCxnSpPr>
            <a:cxnSpLocks noChangeShapeType="1"/>
          </p:cNvCxnSpPr>
          <p:nvPr/>
        </p:nvCxnSpPr>
        <p:spPr bwMode="auto">
          <a:xfrm rot="5400000">
            <a:off x="3505994" y="4876006"/>
            <a:ext cx="609600" cy="1588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cxnSpLocks noChangeShapeType="1"/>
          </p:cNvCxnSpPr>
          <p:nvPr/>
        </p:nvCxnSpPr>
        <p:spPr bwMode="auto">
          <a:xfrm flipH="1">
            <a:off x="4572000" y="4572000"/>
            <a:ext cx="762000" cy="609600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2286000" y="4572000"/>
            <a:ext cx="762000" cy="609600"/>
          </a:xfrm>
          <a:prstGeom prst="straightConnector1">
            <a:avLst/>
          </a:prstGeom>
          <a:ln w="15875">
            <a:headEnd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Rounded Rectangle 28"/>
          <p:cNvSpPr>
            <a:spLocks noChangeArrowheads="1"/>
          </p:cNvSpPr>
          <p:nvPr/>
        </p:nvSpPr>
        <p:spPr bwMode="auto">
          <a:xfrm>
            <a:off x="1600200" y="3429000"/>
            <a:ext cx="9144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worker</a:t>
            </a:r>
          </a:p>
        </p:txBody>
      </p:sp>
      <p:sp>
        <p:nvSpPr>
          <p:cNvPr id="30" name="Rounded Rectangle 29"/>
          <p:cNvSpPr>
            <a:spLocks noChangeArrowheads="1"/>
          </p:cNvSpPr>
          <p:nvPr/>
        </p:nvSpPr>
        <p:spPr bwMode="auto">
          <a:xfrm>
            <a:off x="3352800" y="3429000"/>
            <a:ext cx="9144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worker</a:t>
            </a:r>
          </a:p>
        </p:txBody>
      </p:sp>
      <p:sp>
        <p:nvSpPr>
          <p:cNvPr id="31" name="Rounded Rectangle 30"/>
          <p:cNvSpPr>
            <a:spLocks noChangeArrowheads="1"/>
          </p:cNvSpPr>
          <p:nvPr/>
        </p:nvSpPr>
        <p:spPr bwMode="auto">
          <a:xfrm>
            <a:off x="5029200" y="3429000"/>
            <a:ext cx="914400" cy="3810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worker</a:t>
            </a:r>
          </a:p>
        </p:txBody>
      </p:sp>
      <p:sp>
        <p:nvSpPr>
          <p:cNvPr id="32" name="TextBox 31"/>
          <p:cNvSpPr txBox="1">
            <a:spLocks noChangeArrowheads="1"/>
          </p:cNvSpPr>
          <p:nvPr/>
        </p:nvSpPr>
        <p:spPr bwMode="auto">
          <a:xfrm>
            <a:off x="6148388" y="1752600"/>
            <a:ext cx="1444576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b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</a:p>
        </p:txBody>
      </p:sp>
      <p:sp>
        <p:nvSpPr>
          <p:cNvPr id="33" name="TextBox 32"/>
          <p:cNvSpPr txBox="1">
            <a:spLocks noChangeArrowheads="1"/>
          </p:cNvSpPr>
          <p:nvPr/>
        </p:nvSpPr>
        <p:spPr bwMode="auto">
          <a:xfrm>
            <a:off x="6096000" y="5176838"/>
            <a:ext cx="1523649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b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Combine</a:t>
            </a:r>
          </a:p>
        </p:txBody>
      </p:sp>
      <p:cxnSp>
        <p:nvCxnSpPr>
          <p:cNvPr id="34" name="Straight Arrow Connector 33"/>
          <p:cNvCxnSpPr>
            <a:cxnSpLocks noChangeShapeType="1"/>
          </p:cNvCxnSpPr>
          <p:nvPr/>
        </p:nvCxnSpPr>
        <p:spPr bwMode="auto">
          <a:xfrm rot="5400000">
            <a:off x="6414294" y="2704306"/>
            <a:ext cx="839788" cy="3175"/>
          </a:xfrm>
          <a:prstGeom prst="straightConnector1">
            <a:avLst/>
          </a:prstGeom>
          <a:noFill/>
          <a:ln w="19050" algn="ctr">
            <a:solidFill>
              <a:srgbClr val="FF0000"/>
            </a:solidFill>
            <a:round/>
            <a:headEnd/>
            <a:tailEnd type="triangle" w="med" len="med"/>
          </a:ln>
        </p:spPr>
      </p:cxnSp>
      <p:cxnSp>
        <p:nvCxnSpPr>
          <p:cNvPr id="38" name="Straight Arrow Connector 37"/>
          <p:cNvCxnSpPr>
            <a:cxnSpLocks noChangeShapeType="1"/>
          </p:cNvCxnSpPr>
          <p:nvPr/>
        </p:nvCxnSpPr>
        <p:spPr bwMode="auto">
          <a:xfrm rot="5400000">
            <a:off x="6415088" y="4760913"/>
            <a:ext cx="839787" cy="1587"/>
          </a:xfrm>
          <a:prstGeom prst="straightConnector1">
            <a:avLst/>
          </a:prstGeom>
          <a:noFill/>
          <a:ln w="19050" algn="ctr">
            <a:solidFill>
              <a:srgbClr val="FF0000"/>
            </a:solidFill>
            <a:round/>
            <a:headEnd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1368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1" grpId="0" animBg="1"/>
      <p:bldP spid="29" grpId="0" animBg="1"/>
      <p:bldP spid="30" grpId="0" animBg="1"/>
      <p:bldP spid="31" grpId="0" animBg="1"/>
      <p:bldP spid="32" grpId="0"/>
      <p:bldP spid="3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Parallelization Challenges</a:t>
            </a:r>
          </a:p>
        </p:txBody>
      </p:sp>
      <p:sp>
        <p:nvSpPr>
          <p:cNvPr id="41987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How do we assign work units to workers?</a:t>
            </a:r>
          </a:p>
          <a:p>
            <a:pPr eaLnBrk="1" hangingPunct="1"/>
            <a:r>
              <a:rPr lang="en-GB" dirty="0"/>
              <a:t>What if we have more work units than workers?</a:t>
            </a:r>
          </a:p>
          <a:p>
            <a:pPr eaLnBrk="1" hangingPunct="1"/>
            <a:r>
              <a:rPr lang="en-GB" dirty="0"/>
              <a:t>What if workers need to share partial results?</a:t>
            </a:r>
          </a:p>
          <a:p>
            <a:pPr eaLnBrk="1" hangingPunct="1"/>
            <a:r>
              <a:rPr lang="en-GB" dirty="0"/>
              <a:t>How do we aggregate partial results?</a:t>
            </a:r>
          </a:p>
          <a:p>
            <a:pPr eaLnBrk="1" hangingPunct="1"/>
            <a:r>
              <a:rPr lang="en-GB" dirty="0"/>
              <a:t>How do we know all the workers have finished?</a:t>
            </a:r>
          </a:p>
          <a:p>
            <a:pPr eaLnBrk="1" hangingPunct="1"/>
            <a:r>
              <a:rPr lang="en-GB" dirty="0"/>
              <a:t>What if workers die?</a:t>
            </a:r>
          </a:p>
        </p:txBody>
      </p:sp>
      <p:sp>
        <p:nvSpPr>
          <p:cNvPr id="20484" name="Text Box 10"/>
          <p:cNvSpPr txBox="1">
            <a:spLocks noChangeArrowheads="1"/>
          </p:cNvSpPr>
          <p:nvPr/>
        </p:nvSpPr>
        <p:spPr bwMode="auto">
          <a:xfrm>
            <a:off x="1907704" y="6157439"/>
            <a:ext cx="624722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0" dirty="0">
                <a:solidFill>
                  <a:srgbClr val="FF0000"/>
                </a:solidFill>
                <a:latin typeface="Gill Sans"/>
                <a:cs typeface="Gill Sans"/>
              </a:rPr>
              <a:t>What's the common theme of all of these problems?</a:t>
            </a:r>
          </a:p>
        </p:txBody>
      </p:sp>
    </p:spTree>
    <p:extLst>
      <p:ext uri="{BB962C8B-B14F-4D97-AF65-F5344CB8AC3E}">
        <p14:creationId xmlns:p14="http://schemas.microsoft.com/office/powerpoint/2010/main" val="174624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0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Common Theme?</a:t>
            </a:r>
          </a:p>
        </p:txBody>
      </p:sp>
      <p:sp>
        <p:nvSpPr>
          <p:cNvPr id="4301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Parallelization problems arise from:</a:t>
            </a:r>
          </a:p>
          <a:p>
            <a:pPr lvl="1" eaLnBrk="1" hangingPunct="1"/>
            <a:r>
              <a:rPr lang="en-GB" dirty="0"/>
              <a:t>Communication between workers (e.g., to exchange state)</a:t>
            </a:r>
          </a:p>
          <a:p>
            <a:pPr lvl="1" eaLnBrk="1" hangingPunct="1"/>
            <a:r>
              <a:rPr lang="en-GB" dirty="0"/>
              <a:t>Access to shared resources (e.g., data)</a:t>
            </a:r>
          </a:p>
          <a:p>
            <a:pPr eaLnBrk="1" hangingPunct="1"/>
            <a:r>
              <a:rPr lang="en-GB" dirty="0"/>
              <a:t>Thus, we need a </a:t>
            </a:r>
            <a:r>
              <a:rPr lang="en-GB" dirty="0">
                <a:solidFill>
                  <a:srgbClr val="0000FF"/>
                </a:solidFill>
              </a:rPr>
              <a:t>synchronization</a:t>
            </a:r>
            <a:r>
              <a:rPr lang="en-GB" dirty="0"/>
              <a:t> mechanism</a:t>
            </a:r>
          </a:p>
          <a:p>
            <a:pPr lvl="1" eaLnBrk="1"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396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/>
              <a:t>Managing Multiple Workers</a:t>
            </a:r>
          </a:p>
        </p:txBody>
      </p:sp>
      <p:sp>
        <p:nvSpPr>
          <p:cNvPr id="4403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pPr eaLnBrk="1" hangingPunct="1"/>
            <a:r>
              <a:rPr lang="en-GB" dirty="0"/>
              <a:t>Difficult because</a:t>
            </a:r>
          </a:p>
          <a:p>
            <a:pPr lvl="1" eaLnBrk="1" hangingPunct="1"/>
            <a:r>
              <a:rPr lang="en-GB" dirty="0"/>
              <a:t>We don’t know the order in which workers run</a:t>
            </a:r>
          </a:p>
          <a:p>
            <a:pPr lvl="1" eaLnBrk="1" hangingPunct="1"/>
            <a:r>
              <a:rPr lang="en-GB" dirty="0"/>
              <a:t>We don’t know when workers interrupt each other</a:t>
            </a:r>
          </a:p>
          <a:p>
            <a:pPr lvl="1" eaLnBrk="1" hangingPunct="1"/>
            <a:r>
              <a:rPr lang="en-GB" dirty="0"/>
              <a:t>We don’t know when workers need to communicate partial results</a:t>
            </a:r>
          </a:p>
          <a:p>
            <a:pPr lvl="1" eaLnBrk="1" hangingPunct="1"/>
            <a:r>
              <a:rPr lang="en-GB" dirty="0"/>
              <a:t>We don’t know the order in which workers access shared data</a:t>
            </a:r>
          </a:p>
          <a:p>
            <a:pPr eaLnBrk="1" hangingPunct="1"/>
            <a:r>
              <a:rPr lang="en-GB" dirty="0"/>
              <a:t>Thus, we need:</a:t>
            </a:r>
          </a:p>
          <a:p>
            <a:pPr lvl="1" eaLnBrk="1" hangingPunct="1"/>
            <a:r>
              <a:rPr lang="en-GB" dirty="0"/>
              <a:t>Semaphores (lock, unlock)</a:t>
            </a:r>
          </a:p>
          <a:p>
            <a:pPr lvl="1" eaLnBrk="1" hangingPunct="1"/>
            <a:r>
              <a:rPr lang="en-GB" dirty="0"/>
              <a:t>Conditional variables (wait, notify, broadcast)</a:t>
            </a:r>
          </a:p>
          <a:p>
            <a:pPr lvl="1" eaLnBrk="1" hangingPunct="1"/>
            <a:r>
              <a:rPr lang="en-GB" dirty="0"/>
              <a:t>Barriers</a:t>
            </a:r>
          </a:p>
          <a:p>
            <a:pPr eaLnBrk="1" hangingPunct="1"/>
            <a:r>
              <a:rPr lang="en-GB" dirty="0"/>
              <a:t>Still, lots of problems:</a:t>
            </a:r>
          </a:p>
          <a:p>
            <a:pPr lvl="1" eaLnBrk="1" hangingPunct="1"/>
            <a:r>
              <a:rPr lang="en-GB" dirty="0"/>
              <a:t>Deadlock, </a:t>
            </a:r>
            <a:r>
              <a:rPr lang="en-GB" dirty="0" err="1"/>
              <a:t>livelock</a:t>
            </a:r>
            <a:r>
              <a:rPr lang="en-GB" dirty="0"/>
              <a:t>, race conditions...</a:t>
            </a:r>
          </a:p>
          <a:p>
            <a:pPr lvl="1" eaLnBrk="1" hangingPunct="1"/>
            <a:r>
              <a:rPr lang="en-GB" dirty="0"/>
              <a:t>Dining philosophers, sleeping barbers, cigarette smokers...</a:t>
            </a:r>
          </a:p>
          <a:p>
            <a:pPr eaLnBrk="1" hangingPunct="1"/>
            <a:r>
              <a:rPr lang="en-GB" dirty="0"/>
              <a:t>Moral of the story: be careful!</a:t>
            </a:r>
          </a:p>
        </p:txBody>
      </p:sp>
    </p:spTree>
    <p:extLst>
      <p:ext uri="{BB962C8B-B14F-4D97-AF65-F5344CB8AC3E}">
        <p14:creationId xmlns:p14="http://schemas.microsoft.com/office/powerpoint/2010/main" val="328085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Programming models</a:t>
            </a:r>
          </a:p>
          <a:p>
            <a:pPr lvl="1"/>
            <a:r>
              <a:rPr lang="en-US" sz="2400" dirty="0"/>
              <a:t>Shared memory (</a:t>
            </a:r>
            <a:r>
              <a:rPr lang="en-US" sz="2400" dirty="0" err="1"/>
              <a:t>pthreads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Message passing (MPI)</a:t>
            </a:r>
          </a:p>
          <a:p>
            <a:r>
              <a:rPr lang="en-US" sz="2400" dirty="0"/>
              <a:t>Design Patterns</a:t>
            </a:r>
          </a:p>
          <a:p>
            <a:pPr lvl="1"/>
            <a:r>
              <a:rPr lang="en-US" sz="2400" dirty="0"/>
              <a:t>Master-slaves</a:t>
            </a:r>
          </a:p>
          <a:p>
            <a:pPr lvl="1"/>
            <a:r>
              <a:rPr lang="en-US" sz="2400" dirty="0"/>
              <a:t>Producer-consumer flows</a:t>
            </a:r>
          </a:p>
          <a:p>
            <a:pPr lvl="1"/>
            <a:r>
              <a:rPr lang="en-US" sz="2400" dirty="0"/>
              <a:t>Shared work queues</a:t>
            </a:r>
          </a:p>
          <a:p>
            <a:pPr lvl="1"/>
            <a:endParaRPr lang="en-US" sz="2400" dirty="0"/>
          </a:p>
        </p:txBody>
      </p:sp>
      <p:grpSp>
        <p:nvGrpSpPr>
          <p:cNvPr id="4" name="Group 41"/>
          <p:cNvGrpSpPr>
            <a:grpSpLocks/>
          </p:cNvGrpSpPr>
          <p:nvPr/>
        </p:nvGrpSpPr>
        <p:grpSpPr bwMode="auto">
          <a:xfrm>
            <a:off x="7230365" y="1786526"/>
            <a:ext cx="1476375" cy="1630362"/>
            <a:chOff x="2667000" y="1524000"/>
            <a:chExt cx="2032346" cy="2243288"/>
          </a:xfrm>
        </p:grpSpPr>
        <p:cxnSp>
          <p:nvCxnSpPr>
            <p:cNvPr id="5" name="Straight Arrow Connector 4"/>
            <p:cNvCxnSpPr>
              <a:cxnSpLocks noChangeShapeType="1"/>
            </p:cNvCxnSpPr>
            <p:nvPr/>
          </p:nvCxnSpPr>
          <p:spPr bwMode="auto">
            <a:xfrm rot="5400000">
              <a:off x="21343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6" name="TextBox 9"/>
            <p:cNvSpPr txBox="1">
              <a:spLocks noChangeArrowheads="1"/>
            </p:cNvSpPr>
            <p:nvPr/>
          </p:nvSpPr>
          <p:spPr bwMode="auto">
            <a:xfrm>
              <a:off x="2682875" y="1524000"/>
              <a:ext cx="20164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/>
                <a:t>Message Passing</a:t>
              </a:r>
            </a:p>
          </p:txBody>
        </p:sp>
        <p:sp>
          <p:nvSpPr>
            <p:cNvPr id="7" name="TextBox 10"/>
            <p:cNvSpPr txBox="1">
              <a:spLocks noChangeArrowheads="1"/>
            </p:cNvSpPr>
            <p:nvPr/>
          </p:nvSpPr>
          <p:spPr bwMode="auto">
            <a:xfrm>
              <a:off x="26670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1</a:t>
              </a:r>
            </a:p>
          </p:txBody>
        </p:sp>
        <p:cxnSp>
          <p:nvCxnSpPr>
            <p:cNvPr id="8" name="Straight Arrow Connector 11"/>
            <p:cNvCxnSpPr>
              <a:cxnSpLocks noChangeShapeType="1"/>
            </p:cNvCxnSpPr>
            <p:nvPr/>
          </p:nvCxnSpPr>
          <p:spPr bwMode="auto">
            <a:xfrm rot="5400000">
              <a:off x="25153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9" name="TextBox 12"/>
            <p:cNvSpPr txBox="1">
              <a:spLocks noChangeArrowheads="1"/>
            </p:cNvSpPr>
            <p:nvPr/>
          </p:nvSpPr>
          <p:spPr bwMode="auto">
            <a:xfrm>
              <a:off x="30480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2</a:t>
              </a:r>
            </a:p>
          </p:txBody>
        </p:sp>
        <p:cxnSp>
          <p:nvCxnSpPr>
            <p:cNvPr id="10" name="Straight Arrow Connector 13"/>
            <p:cNvCxnSpPr>
              <a:cxnSpLocks noChangeShapeType="1"/>
            </p:cNvCxnSpPr>
            <p:nvPr/>
          </p:nvCxnSpPr>
          <p:spPr bwMode="auto">
            <a:xfrm rot="5400000">
              <a:off x="28963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11" name="TextBox 14"/>
            <p:cNvSpPr txBox="1">
              <a:spLocks noChangeArrowheads="1"/>
            </p:cNvSpPr>
            <p:nvPr/>
          </p:nvSpPr>
          <p:spPr bwMode="auto">
            <a:xfrm>
              <a:off x="34290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3</a:t>
              </a:r>
            </a:p>
          </p:txBody>
        </p:sp>
        <p:cxnSp>
          <p:nvCxnSpPr>
            <p:cNvPr id="12" name="Straight Arrow Connector 15"/>
            <p:cNvCxnSpPr>
              <a:cxnSpLocks noChangeShapeType="1"/>
            </p:cNvCxnSpPr>
            <p:nvPr/>
          </p:nvCxnSpPr>
          <p:spPr bwMode="auto">
            <a:xfrm rot="5400000">
              <a:off x="32773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13" name="TextBox 16"/>
            <p:cNvSpPr txBox="1">
              <a:spLocks noChangeArrowheads="1"/>
            </p:cNvSpPr>
            <p:nvPr/>
          </p:nvSpPr>
          <p:spPr bwMode="auto">
            <a:xfrm>
              <a:off x="38100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4</a:t>
              </a:r>
            </a:p>
          </p:txBody>
        </p:sp>
        <p:cxnSp>
          <p:nvCxnSpPr>
            <p:cNvPr id="14" name="Straight Arrow Connector 17"/>
            <p:cNvCxnSpPr>
              <a:cxnSpLocks noChangeShapeType="1"/>
            </p:cNvCxnSpPr>
            <p:nvPr/>
          </p:nvCxnSpPr>
          <p:spPr bwMode="auto">
            <a:xfrm rot="5400000">
              <a:off x="36583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15" name="TextBox 18"/>
            <p:cNvSpPr txBox="1">
              <a:spLocks noChangeArrowheads="1"/>
            </p:cNvSpPr>
            <p:nvPr/>
          </p:nvSpPr>
          <p:spPr bwMode="auto">
            <a:xfrm>
              <a:off x="4191001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dirty="0">
                  <a:solidFill>
                    <a:srgbClr val="FF0000"/>
                  </a:solidFill>
                </a:rPr>
                <a:t>P</a:t>
              </a:r>
              <a:r>
                <a:rPr lang="en-US" sz="1200" baseline="-25000" dirty="0">
                  <a:solidFill>
                    <a:srgbClr val="FF0000"/>
                  </a:solidFill>
                </a:rPr>
                <a:t>5</a:t>
              </a:r>
            </a:p>
          </p:txBody>
        </p:sp>
        <p:cxnSp>
          <p:nvCxnSpPr>
            <p:cNvPr id="16" name="Straight Arrow Connector 43"/>
            <p:cNvCxnSpPr>
              <a:cxnSpLocks noChangeShapeType="1"/>
            </p:cNvCxnSpPr>
            <p:nvPr/>
          </p:nvCxnSpPr>
          <p:spPr bwMode="auto">
            <a:xfrm>
              <a:off x="2835275" y="1981200"/>
              <a:ext cx="381000" cy="762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48"/>
            <p:cNvCxnSpPr>
              <a:cxnSpLocks noChangeShapeType="1"/>
            </p:cNvCxnSpPr>
            <p:nvPr/>
          </p:nvCxnSpPr>
          <p:spPr bwMode="auto">
            <a:xfrm rot="10800000" flipV="1">
              <a:off x="3216275" y="2057400"/>
              <a:ext cx="1143000" cy="2286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58"/>
            <p:cNvCxnSpPr>
              <a:cxnSpLocks noChangeShapeType="1"/>
            </p:cNvCxnSpPr>
            <p:nvPr/>
          </p:nvCxnSpPr>
          <p:spPr bwMode="auto">
            <a:xfrm>
              <a:off x="3597275" y="2362200"/>
              <a:ext cx="381000" cy="762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59"/>
            <p:cNvCxnSpPr>
              <a:cxnSpLocks noChangeShapeType="1"/>
            </p:cNvCxnSpPr>
            <p:nvPr/>
          </p:nvCxnSpPr>
          <p:spPr bwMode="auto">
            <a:xfrm flipH="1">
              <a:off x="3978275" y="2590800"/>
              <a:ext cx="381000" cy="762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60"/>
            <p:cNvCxnSpPr>
              <a:cxnSpLocks noChangeShapeType="1"/>
            </p:cNvCxnSpPr>
            <p:nvPr/>
          </p:nvCxnSpPr>
          <p:spPr bwMode="auto">
            <a:xfrm rot="10800000" flipV="1">
              <a:off x="3597275" y="2819400"/>
              <a:ext cx="762000" cy="1524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62"/>
            <p:cNvCxnSpPr>
              <a:cxnSpLocks noChangeShapeType="1"/>
            </p:cNvCxnSpPr>
            <p:nvPr/>
          </p:nvCxnSpPr>
          <p:spPr bwMode="auto">
            <a:xfrm rot="10800000" flipH="1" flipV="1">
              <a:off x="2835275" y="2438400"/>
              <a:ext cx="762000" cy="1524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63"/>
            <p:cNvCxnSpPr>
              <a:cxnSpLocks noChangeShapeType="1"/>
            </p:cNvCxnSpPr>
            <p:nvPr/>
          </p:nvCxnSpPr>
          <p:spPr bwMode="auto">
            <a:xfrm flipH="1">
              <a:off x="2835275" y="2667000"/>
              <a:ext cx="381000" cy="762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64"/>
            <p:cNvCxnSpPr>
              <a:cxnSpLocks noChangeShapeType="1"/>
            </p:cNvCxnSpPr>
            <p:nvPr/>
          </p:nvCxnSpPr>
          <p:spPr bwMode="auto">
            <a:xfrm rot="10800000" flipH="1" flipV="1">
              <a:off x="2835275" y="2971800"/>
              <a:ext cx="762000" cy="152400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42"/>
          <p:cNvGrpSpPr>
            <a:grpSpLocks/>
          </p:cNvGrpSpPr>
          <p:nvPr/>
        </p:nvGrpSpPr>
        <p:grpSpPr bwMode="auto">
          <a:xfrm>
            <a:off x="5052720" y="1809821"/>
            <a:ext cx="2005012" cy="1630362"/>
            <a:chOff x="5181600" y="1524000"/>
            <a:chExt cx="2759075" cy="2243288"/>
          </a:xfrm>
        </p:grpSpPr>
        <p:cxnSp>
          <p:nvCxnSpPr>
            <p:cNvPr id="25" name="Straight Arrow Connector 30"/>
            <p:cNvCxnSpPr>
              <a:cxnSpLocks noChangeShapeType="1"/>
            </p:cNvCxnSpPr>
            <p:nvPr/>
          </p:nvCxnSpPr>
          <p:spPr bwMode="auto">
            <a:xfrm rot="5400000">
              <a:off x="46489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26" name="TextBox 31"/>
            <p:cNvSpPr txBox="1">
              <a:spLocks noChangeArrowheads="1"/>
            </p:cNvSpPr>
            <p:nvPr/>
          </p:nvSpPr>
          <p:spPr bwMode="auto">
            <a:xfrm>
              <a:off x="5273675" y="1524000"/>
              <a:ext cx="1840014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/>
                <a:t>Shared Memory</a:t>
              </a:r>
            </a:p>
          </p:txBody>
        </p:sp>
        <p:sp>
          <p:nvSpPr>
            <p:cNvPr id="27" name="TextBox 32"/>
            <p:cNvSpPr txBox="1">
              <a:spLocks noChangeArrowheads="1"/>
            </p:cNvSpPr>
            <p:nvPr/>
          </p:nvSpPr>
          <p:spPr bwMode="auto">
            <a:xfrm>
              <a:off x="51816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1</a:t>
              </a:r>
            </a:p>
          </p:txBody>
        </p:sp>
        <p:cxnSp>
          <p:nvCxnSpPr>
            <p:cNvPr id="28" name="Straight Arrow Connector 33"/>
            <p:cNvCxnSpPr>
              <a:cxnSpLocks noChangeShapeType="1"/>
            </p:cNvCxnSpPr>
            <p:nvPr/>
          </p:nvCxnSpPr>
          <p:spPr bwMode="auto">
            <a:xfrm rot="5400000">
              <a:off x="50299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29" name="TextBox 34"/>
            <p:cNvSpPr txBox="1">
              <a:spLocks noChangeArrowheads="1"/>
            </p:cNvSpPr>
            <p:nvPr/>
          </p:nvSpPr>
          <p:spPr bwMode="auto">
            <a:xfrm>
              <a:off x="55626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2</a:t>
              </a:r>
            </a:p>
          </p:txBody>
        </p:sp>
        <p:cxnSp>
          <p:nvCxnSpPr>
            <p:cNvPr id="30" name="Straight Arrow Connector 35"/>
            <p:cNvCxnSpPr>
              <a:cxnSpLocks noChangeShapeType="1"/>
            </p:cNvCxnSpPr>
            <p:nvPr/>
          </p:nvCxnSpPr>
          <p:spPr bwMode="auto">
            <a:xfrm rot="5400000">
              <a:off x="54109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31" name="TextBox 36"/>
            <p:cNvSpPr txBox="1">
              <a:spLocks noChangeArrowheads="1"/>
            </p:cNvSpPr>
            <p:nvPr/>
          </p:nvSpPr>
          <p:spPr bwMode="auto">
            <a:xfrm>
              <a:off x="5943601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3</a:t>
              </a:r>
            </a:p>
          </p:txBody>
        </p:sp>
        <p:cxnSp>
          <p:nvCxnSpPr>
            <p:cNvPr id="32" name="Straight Arrow Connector 37"/>
            <p:cNvCxnSpPr>
              <a:cxnSpLocks noChangeShapeType="1"/>
            </p:cNvCxnSpPr>
            <p:nvPr/>
          </p:nvCxnSpPr>
          <p:spPr bwMode="auto">
            <a:xfrm rot="5400000">
              <a:off x="57919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33" name="TextBox 38"/>
            <p:cNvSpPr txBox="1">
              <a:spLocks noChangeArrowheads="1"/>
            </p:cNvSpPr>
            <p:nvPr/>
          </p:nvSpPr>
          <p:spPr bwMode="auto">
            <a:xfrm>
              <a:off x="6324599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4</a:t>
              </a:r>
            </a:p>
          </p:txBody>
        </p:sp>
        <p:cxnSp>
          <p:nvCxnSpPr>
            <p:cNvPr id="34" name="Straight Arrow Connector 39"/>
            <p:cNvCxnSpPr>
              <a:cxnSpLocks noChangeShapeType="1"/>
            </p:cNvCxnSpPr>
            <p:nvPr/>
          </p:nvCxnSpPr>
          <p:spPr bwMode="auto">
            <a:xfrm rot="5400000">
              <a:off x="6172994" y="2661444"/>
              <a:ext cx="1447800" cy="1588"/>
            </a:xfrm>
            <a:prstGeom prst="straightConnector1">
              <a:avLst/>
            </a:prstGeom>
            <a:noFill/>
            <a:ln w="63500" cmpd="dbl" algn="ctr">
              <a:solidFill>
                <a:srgbClr val="FF0000"/>
              </a:solidFill>
              <a:round/>
              <a:headEnd/>
              <a:tailEnd type="triangle" w="sm" len="sm"/>
            </a:ln>
          </p:spPr>
        </p:cxnSp>
        <p:sp>
          <p:nvSpPr>
            <p:cNvPr id="35" name="TextBox 40"/>
            <p:cNvSpPr txBox="1">
              <a:spLocks noChangeArrowheads="1"/>
            </p:cNvSpPr>
            <p:nvPr/>
          </p:nvSpPr>
          <p:spPr bwMode="auto">
            <a:xfrm>
              <a:off x="6705600" y="3386139"/>
              <a:ext cx="47467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>
                  <a:solidFill>
                    <a:srgbClr val="FF0000"/>
                  </a:solidFill>
                </a:rPr>
                <a:t>P</a:t>
              </a:r>
              <a:r>
                <a:rPr lang="en-US" sz="1200" baseline="-25000">
                  <a:solidFill>
                    <a:srgbClr val="FF0000"/>
                  </a:solidFill>
                </a:rPr>
                <a:t>5</a:t>
              </a:r>
            </a:p>
          </p:txBody>
        </p:sp>
        <p:sp>
          <p:nvSpPr>
            <p:cNvPr id="36" name="Rectangle 41"/>
            <p:cNvSpPr>
              <a:spLocks noChangeArrowheads="1"/>
            </p:cNvSpPr>
            <p:nvPr/>
          </p:nvSpPr>
          <p:spPr bwMode="auto">
            <a:xfrm>
              <a:off x="7331075" y="1905000"/>
              <a:ext cx="609600" cy="1524000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37" name="Straight Arrow Connector 65"/>
            <p:cNvCxnSpPr>
              <a:cxnSpLocks noChangeShapeType="1"/>
            </p:cNvCxnSpPr>
            <p:nvPr/>
          </p:nvCxnSpPr>
          <p:spPr bwMode="auto">
            <a:xfrm>
              <a:off x="5349875" y="2133600"/>
              <a:ext cx="1981200" cy="1588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67"/>
            <p:cNvCxnSpPr>
              <a:cxnSpLocks noChangeShapeType="1"/>
            </p:cNvCxnSpPr>
            <p:nvPr/>
          </p:nvCxnSpPr>
          <p:spPr bwMode="auto">
            <a:xfrm>
              <a:off x="6111875" y="2286000"/>
              <a:ext cx="1219200" cy="1588"/>
            </a:xfrm>
            <a:prstGeom prst="straightConnector1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 type="triangle" w="med" len="med"/>
            </a:ln>
          </p:spPr>
        </p:cxnSp>
        <p:cxnSp>
          <p:nvCxnSpPr>
            <p:cNvPr id="39" name="Straight Arrow Connector 69"/>
            <p:cNvCxnSpPr>
              <a:cxnSpLocks noChangeShapeType="1"/>
            </p:cNvCxnSpPr>
            <p:nvPr/>
          </p:nvCxnSpPr>
          <p:spPr bwMode="auto">
            <a:xfrm rot="10800000">
              <a:off x="5730875" y="2438400"/>
              <a:ext cx="1600200" cy="1588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71"/>
            <p:cNvCxnSpPr>
              <a:cxnSpLocks noChangeShapeType="1"/>
            </p:cNvCxnSpPr>
            <p:nvPr/>
          </p:nvCxnSpPr>
          <p:spPr bwMode="auto">
            <a:xfrm rot="10800000">
              <a:off x="6492875" y="2667000"/>
              <a:ext cx="838200" cy="1588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74"/>
            <p:cNvCxnSpPr>
              <a:cxnSpLocks noChangeShapeType="1"/>
            </p:cNvCxnSpPr>
            <p:nvPr/>
          </p:nvCxnSpPr>
          <p:spPr bwMode="auto">
            <a:xfrm rot="10800000" flipH="1">
              <a:off x="6492875" y="2817813"/>
              <a:ext cx="838200" cy="1587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76"/>
            <p:cNvCxnSpPr>
              <a:cxnSpLocks noChangeShapeType="1"/>
            </p:cNvCxnSpPr>
            <p:nvPr/>
          </p:nvCxnSpPr>
          <p:spPr bwMode="auto">
            <a:xfrm flipH="1">
              <a:off x="5349875" y="2971800"/>
              <a:ext cx="1981200" cy="1588"/>
            </a:xfrm>
            <a:prstGeom prst="straightConnector1">
              <a:avLst/>
            </a:prstGeom>
            <a:ln>
              <a:headEnd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TextBox 77"/>
            <p:cNvSpPr txBox="1">
              <a:spLocks noChangeArrowheads="1"/>
            </p:cNvSpPr>
            <p:nvPr/>
          </p:nvSpPr>
          <p:spPr bwMode="auto">
            <a:xfrm rot="-5400000">
              <a:off x="6856413" y="2476425"/>
              <a:ext cx="1524001" cy="3811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2"/>
                  </a:solidFill>
                </a:rPr>
                <a:t>Memory</a:t>
              </a:r>
            </a:p>
          </p:txBody>
        </p:sp>
      </p:grpSp>
      <p:grpSp>
        <p:nvGrpSpPr>
          <p:cNvPr id="227" name="Group 226"/>
          <p:cNvGrpSpPr/>
          <p:nvPr/>
        </p:nvGrpSpPr>
        <p:grpSpPr>
          <a:xfrm>
            <a:off x="1148862" y="4908964"/>
            <a:ext cx="1471246" cy="1459672"/>
            <a:chOff x="1271954" y="4419600"/>
            <a:chExt cx="1471246" cy="1459672"/>
          </a:xfrm>
        </p:grpSpPr>
        <p:sp>
          <p:nvSpPr>
            <p:cNvPr id="59" name="AutoShape 4"/>
            <p:cNvSpPr>
              <a:spLocks noChangeArrowheads="1"/>
            </p:cNvSpPr>
            <p:nvPr/>
          </p:nvSpPr>
          <p:spPr bwMode="auto">
            <a:xfrm>
              <a:off x="1271954" y="53340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3" name="AutoShape 8"/>
            <p:cNvSpPr>
              <a:spLocks noChangeArrowheads="1"/>
            </p:cNvSpPr>
            <p:nvPr/>
          </p:nvSpPr>
          <p:spPr bwMode="auto">
            <a:xfrm>
              <a:off x="1828800" y="4648200"/>
              <a:ext cx="381000" cy="353786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8" name="Text Box 14"/>
            <p:cNvSpPr txBox="1">
              <a:spLocks noChangeArrowheads="1"/>
            </p:cNvSpPr>
            <p:nvPr/>
          </p:nvSpPr>
          <p:spPr bwMode="auto">
            <a:xfrm>
              <a:off x="1676400" y="4419600"/>
              <a:ext cx="6858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master</a:t>
              </a:r>
            </a:p>
          </p:txBody>
        </p:sp>
        <p:sp>
          <p:nvSpPr>
            <p:cNvPr id="134" name="AutoShape 4"/>
            <p:cNvSpPr>
              <a:spLocks noChangeArrowheads="1"/>
            </p:cNvSpPr>
            <p:nvPr/>
          </p:nvSpPr>
          <p:spPr bwMode="auto">
            <a:xfrm>
              <a:off x="1652954" y="53340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5" name="AutoShape 4"/>
            <p:cNvSpPr>
              <a:spLocks noChangeArrowheads="1"/>
            </p:cNvSpPr>
            <p:nvPr/>
          </p:nvSpPr>
          <p:spPr bwMode="auto">
            <a:xfrm>
              <a:off x="2033954" y="53340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6" name="AutoShape 4"/>
            <p:cNvSpPr>
              <a:spLocks noChangeArrowheads="1"/>
            </p:cNvSpPr>
            <p:nvPr/>
          </p:nvSpPr>
          <p:spPr bwMode="auto">
            <a:xfrm>
              <a:off x="2414954" y="53340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29" name="Straight Arrow Connector 128"/>
            <p:cNvCxnSpPr>
              <a:stCxn id="63" idx="2"/>
              <a:endCxn id="59" idx="0"/>
            </p:cNvCxnSpPr>
            <p:nvPr/>
          </p:nvCxnSpPr>
          <p:spPr bwMode="auto">
            <a:xfrm rot="5400000">
              <a:off x="1561682" y="4876382"/>
              <a:ext cx="332014" cy="583223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/>
            <p:cNvCxnSpPr>
              <a:stCxn id="63" idx="2"/>
              <a:endCxn id="134" idx="0"/>
            </p:cNvCxnSpPr>
            <p:nvPr/>
          </p:nvCxnSpPr>
          <p:spPr bwMode="auto">
            <a:xfrm rot="5400000">
              <a:off x="1752182" y="5066882"/>
              <a:ext cx="332014" cy="202223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/>
            <p:cNvCxnSpPr>
              <a:stCxn id="63" idx="2"/>
              <a:endCxn id="135" idx="0"/>
            </p:cNvCxnSpPr>
            <p:nvPr/>
          </p:nvCxnSpPr>
          <p:spPr bwMode="auto">
            <a:xfrm rot="16200000" flipH="1">
              <a:off x="1942681" y="5078604"/>
              <a:ext cx="332014" cy="178777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63" idx="2"/>
              <a:endCxn id="136" idx="0"/>
            </p:cNvCxnSpPr>
            <p:nvPr/>
          </p:nvCxnSpPr>
          <p:spPr bwMode="auto">
            <a:xfrm rot="16200000" flipH="1">
              <a:off x="2133181" y="4888104"/>
              <a:ext cx="332014" cy="559777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" name="Text Box 14"/>
            <p:cNvSpPr txBox="1">
              <a:spLocks noChangeArrowheads="1"/>
            </p:cNvSpPr>
            <p:nvPr/>
          </p:nvSpPr>
          <p:spPr bwMode="auto">
            <a:xfrm>
              <a:off x="1676400" y="5638800"/>
              <a:ext cx="6858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slaves</a:t>
              </a:r>
            </a:p>
          </p:txBody>
        </p:sp>
      </p:grpSp>
      <p:grpSp>
        <p:nvGrpSpPr>
          <p:cNvPr id="229" name="Group 228"/>
          <p:cNvGrpSpPr/>
          <p:nvPr/>
        </p:nvGrpSpPr>
        <p:grpSpPr>
          <a:xfrm>
            <a:off x="3069886" y="4832764"/>
            <a:ext cx="2743200" cy="1916872"/>
            <a:chOff x="3276600" y="4267200"/>
            <a:chExt cx="2743200" cy="1916872"/>
          </a:xfrm>
        </p:grpSpPr>
        <p:sp>
          <p:nvSpPr>
            <p:cNvPr id="149" name="AutoShape 8"/>
            <p:cNvSpPr>
              <a:spLocks noChangeArrowheads="1"/>
            </p:cNvSpPr>
            <p:nvPr/>
          </p:nvSpPr>
          <p:spPr bwMode="auto">
            <a:xfrm>
              <a:off x="3686908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0" name="AutoShape 4"/>
            <p:cNvSpPr>
              <a:spLocks noChangeArrowheads="1"/>
            </p:cNvSpPr>
            <p:nvPr/>
          </p:nvSpPr>
          <p:spPr bwMode="auto">
            <a:xfrm>
              <a:off x="4296508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51" name="Straight Arrow Connector 150"/>
            <p:cNvCxnSpPr>
              <a:stCxn id="149" idx="3"/>
              <a:endCxn id="150" idx="1"/>
            </p:cNvCxnSpPr>
            <p:nvPr/>
          </p:nvCxnSpPr>
          <p:spPr bwMode="auto">
            <a:xfrm>
              <a:off x="4015154" y="4648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8" name="AutoShape 8"/>
            <p:cNvSpPr>
              <a:spLocks noChangeArrowheads="1"/>
            </p:cNvSpPr>
            <p:nvPr/>
          </p:nvSpPr>
          <p:spPr bwMode="auto">
            <a:xfrm>
              <a:off x="3686908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9" name="AutoShape 4"/>
            <p:cNvSpPr>
              <a:spLocks noChangeArrowheads="1"/>
            </p:cNvSpPr>
            <p:nvPr/>
          </p:nvSpPr>
          <p:spPr bwMode="auto">
            <a:xfrm>
              <a:off x="4296508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60" name="Straight Arrow Connector 159"/>
            <p:cNvCxnSpPr>
              <a:stCxn id="158" idx="3"/>
              <a:endCxn id="159" idx="1"/>
            </p:cNvCxnSpPr>
            <p:nvPr/>
          </p:nvCxnSpPr>
          <p:spPr bwMode="auto">
            <a:xfrm>
              <a:off x="4015154" y="5029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AutoShape 8"/>
            <p:cNvSpPr>
              <a:spLocks noChangeArrowheads="1"/>
            </p:cNvSpPr>
            <p:nvPr/>
          </p:nvSpPr>
          <p:spPr bwMode="auto">
            <a:xfrm>
              <a:off x="3686908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62" name="AutoShape 4"/>
            <p:cNvSpPr>
              <a:spLocks noChangeArrowheads="1"/>
            </p:cNvSpPr>
            <p:nvPr/>
          </p:nvSpPr>
          <p:spPr bwMode="auto">
            <a:xfrm>
              <a:off x="4296508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63" name="Straight Arrow Connector 162"/>
            <p:cNvCxnSpPr>
              <a:stCxn id="161" idx="3"/>
              <a:endCxn id="162" idx="1"/>
            </p:cNvCxnSpPr>
            <p:nvPr/>
          </p:nvCxnSpPr>
          <p:spPr bwMode="auto">
            <a:xfrm>
              <a:off x="4015154" y="5410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AutoShape 8"/>
            <p:cNvSpPr>
              <a:spLocks noChangeArrowheads="1"/>
            </p:cNvSpPr>
            <p:nvPr/>
          </p:nvSpPr>
          <p:spPr bwMode="auto">
            <a:xfrm>
              <a:off x="3686908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65" name="AutoShape 4"/>
            <p:cNvSpPr>
              <a:spLocks noChangeArrowheads="1"/>
            </p:cNvSpPr>
            <p:nvPr/>
          </p:nvSpPr>
          <p:spPr bwMode="auto">
            <a:xfrm>
              <a:off x="4296508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66" name="Straight Arrow Connector 165"/>
            <p:cNvCxnSpPr>
              <a:stCxn id="164" idx="3"/>
              <a:endCxn id="165" idx="1"/>
            </p:cNvCxnSpPr>
            <p:nvPr/>
          </p:nvCxnSpPr>
          <p:spPr bwMode="auto">
            <a:xfrm>
              <a:off x="4015154" y="5791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7" name="AutoShape 8"/>
            <p:cNvSpPr>
              <a:spLocks noChangeArrowheads="1"/>
            </p:cNvSpPr>
            <p:nvPr/>
          </p:nvSpPr>
          <p:spPr bwMode="auto">
            <a:xfrm>
              <a:off x="4624754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68" name="AutoShape 4"/>
            <p:cNvSpPr>
              <a:spLocks noChangeArrowheads="1"/>
            </p:cNvSpPr>
            <p:nvPr/>
          </p:nvSpPr>
          <p:spPr bwMode="auto">
            <a:xfrm>
              <a:off x="5234354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69" name="Straight Arrow Connector 168"/>
            <p:cNvCxnSpPr>
              <a:stCxn id="167" idx="3"/>
              <a:endCxn id="168" idx="1"/>
            </p:cNvCxnSpPr>
            <p:nvPr/>
          </p:nvCxnSpPr>
          <p:spPr bwMode="auto">
            <a:xfrm>
              <a:off x="4953000" y="4648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0" name="AutoShape 8"/>
            <p:cNvSpPr>
              <a:spLocks noChangeArrowheads="1"/>
            </p:cNvSpPr>
            <p:nvPr/>
          </p:nvSpPr>
          <p:spPr bwMode="auto">
            <a:xfrm>
              <a:off x="4624754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1" name="AutoShape 4"/>
            <p:cNvSpPr>
              <a:spLocks noChangeArrowheads="1"/>
            </p:cNvSpPr>
            <p:nvPr/>
          </p:nvSpPr>
          <p:spPr bwMode="auto">
            <a:xfrm>
              <a:off x="5234354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72" name="Straight Arrow Connector 171"/>
            <p:cNvCxnSpPr>
              <a:stCxn id="170" idx="3"/>
              <a:endCxn id="171" idx="1"/>
            </p:cNvCxnSpPr>
            <p:nvPr/>
          </p:nvCxnSpPr>
          <p:spPr bwMode="auto">
            <a:xfrm>
              <a:off x="4953000" y="5029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3" name="AutoShape 8"/>
            <p:cNvSpPr>
              <a:spLocks noChangeArrowheads="1"/>
            </p:cNvSpPr>
            <p:nvPr/>
          </p:nvSpPr>
          <p:spPr bwMode="auto">
            <a:xfrm>
              <a:off x="4624754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4" name="AutoShape 4"/>
            <p:cNvSpPr>
              <a:spLocks noChangeArrowheads="1"/>
            </p:cNvSpPr>
            <p:nvPr/>
          </p:nvSpPr>
          <p:spPr bwMode="auto">
            <a:xfrm>
              <a:off x="5234354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75" name="Straight Arrow Connector 174"/>
            <p:cNvCxnSpPr>
              <a:stCxn id="173" idx="3"/>
              <a:endCxn id="174" idx="1"/>
            </p:cNvCxnSpPr>
            <p:nvPr/>
          </p:nvCxnSpPr>
          <p:spPr bwMode="auto">
            <a:xfrm>
              <a:off x="4953000" y="5410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6" name="AutoShape 8"/>
            <p:cNvSpPr>
              <a:spLocks noChangeArrowheads="1"/>
            </p:cNvSpPr>
            <p:nvPr/>
          </p:nvSpPr>
          <p:spPr bwMode="auto">
            <a:xfrm>
              <a:off x="4624754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7" name="AutoShape 4"/>
            <p:cNvSpPr>
              <a:spLocks noChangeArrowheads="1"/>
            </p:cNvSpPr>
            <p:nvPr/>
          </p:nvSpPr>
          <p:spPr bwMode="auto">
            <a:xfrm>
              <a:off x="5234354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78" name="Straight Arrow Connector 177"/>
            <p:cNvCxnSpPr>
              <a:stCxn id="176" idx="3"/>
              <a:endCxn id="177" idx="1"/>
            </p:cNvCxnSpPr>
            <p:nvPr/>
          </p:nvCxnSpPr>
          <p:spPr bwMode="auto">
            <a:xfrm>
              <a:off x="4953000" y="5791200"/>
              <a:ext cx="281354" cy="1588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9" name="Text Box 14"/>
            <p:cNvSpPr txBox="1">
              <a:spLocks noChangeArrowheads="1"/>
            </p:cNvSpPr>
            <p:nvPr/>
          </p:nvSpPr>
          <p:spPr bwMode="auto">
            <a:xfrm>
              <a:off x="3276600" y="4267200"/>
              <a:ext cx="9144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producer</a:t>
              </a:r>
            </a:p>
          </p:txBody>
        </p:sp>
        <p:sp>
          <p:nvSpPr>
            <p:cNvPr id="180" name="Text Box 14"/>
            <p:cNvSpPr txBox="1">
              <a:spLocks noChangeArrowheads="1"/>
            </p:cNvSpPr>
            <p:nvPr/>
          </p:nvSpPr>
          <p:spPr bwMode="auto">
            <a:xfrm>
              <a:off x="3962400" y="4267200"/>
              <a:ext cx="9906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consumer</a:t>
              </a:r>
            </a:p>
          </p:txBody>
        </p:sp>
        <p:sp>
          <p:nvSpPr>
            <p:cNvPr id="181" name="Text Box 14"/>
            <p:cNvSpPr txBox="1">
              <a:spLocks noChangeArrowheads="1"/>
            </p:cNvSpPr>
            <p:nvPr/>
          </p:nvSpPr>
          <p:spPr bwMode="auto">
            <a:xfrm>
              <a:off x="4343400" y="5943600"/>
              <a:ext cx="9144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producer</a:t>
              </a:r>
            </a:p>
          </p:txBody>
        </p:sp>
        <p:sp>
          <p:nvSpPr>
            <p:cNvPr id="182" name="Text Box 14"/>
            <p:cNvSpPr txBox="1">
              <a:spLocks noChangeArrowheads="1"/>
            </p:cNvSpPr>
            <p:nvPr/>
          </p:nvSpPr>
          <p:spPr bwMode="auto">
            <a:xfrm>
              <a:off x="5029200" y="5943600"/>
              <a:ext cx="9906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</a:rPr>
                <a:t>consumer</a:t>
              </a:r>
            </a:p>
          </p:txBody>
        </p:sp>
      </p:grpSp>
      <p:grpSp>
        <p:nvGrpSpPr>
          <p:cNvPr id="230" name="Group 229"/>
          <p:cNvGrpSpPr/>
          <p:nvPr/>
        </p:nvGrpSpPr>
        <p:grpSpPr>
          <a:xfrm>
            <a:off x="6203858" y="4908964"/>
            <a:ext cx="2133600" cy="1447800"/>
            <a:chOff x="6248400" y="4495800"/>
            <a:chExt cx="2133600" cy="1447800"/>
          </a:xfrm>
        </p:grpSpPr>
        <p:sp>
          <p:nvSpPr>
            <p:cNvPr id="184" name="AutoShape 4"/>
            <p:cNvSpPr>
              <a:spLocks noChangeArrowheads="1"/>
            </p:cNvSpPr>
            <p:nvPr/>
          </p:nvSpPr>
          <p:spPr bwMode="auto">
            <a:xfrm>
              <a:off x="8053754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6" name="AutoShape 4"/>
            <p:cNvSpPr>
              <a:spLocks noChangeArrowheads="1"/>
            </p:cNvSpPr>
            <p:nvPr/>
          </p:nvSpPr>
          <p:spPr bwMode="auto">
            <a:xfrm>
              <a:off x="8053754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8" name="AutoShape 4"/>
            <p:cNvSpPr>
              <a:spLocks noChangeArrowheads="1"/>
            </p:cNvSpPr>
            <p:nvPr/>
          </p:nvSpPr>
          <p:spPr bwMode="auto">
            <a:xfrm>
              <a:off x="8053754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0" name="AutoShape 4"/>
            <p:cNvSpPr>
              <a:spLocks noChangeArrowheads="1"/>
            </p:cNvSpPr>
            <p:nvPr/>
          </p:nvSpPr>
          <p:spPr bwMode="auto">
            <a:xfrm>
              <a:off x="8053754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1" name="AutoShape 4"/>
            <p:cNvSpPr>
              <a:spLocks noChangeArrowheads="1"/>
            </p:cNvSpPr>
            <p:nvPr/>
          </p:nvSpPr>
          <p:spPr bwMode="auto">
            <a:xfrm>
              <a:off x="6910754" y="5105400"/>
              <a:ext cx="175846" cy="2286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2" name="AutoShape 4"/>
            <p:cNvSpPr>
              <a:spLocks noChangeArrowheads="1"/>
            </p:cNvSpPr>
            <p:nvPr/>
          </p:nvSpPr>
          <p:spPr bwMode="auto">
            <a:xfrm>
              <a:off x="7086600" y="5105400"/>
              <a:ext cx="175846" cy="2286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3" name="AutoShape 4"/>
            <p:cNvSpPr>
              <a:spLocks noChangeArrowheads="1"/>
            </p:cNvSpPr>
            <p:nvPr/>
          </p:nvSpPr>
          <p:spPr bwMode="auto">
            <a:xfrm>
              <a:off x="7239000" y="5105400"/>
              <a:ext cx="175846" cy="2286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4" name="AutoShape 4"/>
            <p:cNvSpPr>
              <a:spLocks noChangeArrowheads="1"/>
            </p:cNvSpPr>
            <p:nvPr/>
          </p:nvSpPr>
          <p:spPr bwMode="auto">
            <a:xfrm>
              <a:off x="7391400" y="5105400"/>
              <a:ext cx="175846" cy="2286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5" name="AutoShape 4"/>
            <p:cNvSpPr>
              <a:spLocks noChangeArrowheads="1"/>
            </p:cNvSpPr>
            <p:nvPr/>
          </p:nvSpPr>
          <p:spPr bwMode="auto">
            <a:xfrm>
              <a:off x="7543800" y="5105400"/>
              <a:ext cx="175846" cy="2286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196" name="Straight Arrow Connector 195"/>
            <p:cNvCxnSpPr>
              <a:stCxn id="183" idx="3"/>
              <a:endCxn id="191" idx="1"/>
            </p:cNvCxnSpPr>
            <p:nvPr/>
          </p:nvCxnSpPr>
          <p:spPr bwMode="auto">
            <a:xfrm>
              <a:off x="6576646" y="4648200"/>
              <a:ext cx="334108" cy="571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Straight Arrow Connector 198"/>
            <p:cNvCxnSpPr>
              <a:stCxn id="189" idx="3"/>
              <a:endCxn id="191" idx="1"/>
            </p:cNvCxnSpPr>
            <p:nvPr/>
          </p:nvCxnSpPr>
          <p:spPr bwMode="auto">
            <a:xfrm flipV="1">
              <a:off x="6576646" y="5219700"/>
              <a:ext cx="334108" cy="571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Arrow Connector 201"/>
            <p:cNvCxnSpPr>
              <a:stCxn id="185" idx="3"/>
              <a:endCxn id="191" idx="1"/>
            </p:cNvCxnSpPr>
            <p:nvPr/>
          </p:nvCxnSpPr>
          <p:spPr bwMode="auto">
            <a:xfrm>
              <a:off x="6576646" y="5029200"/>
              <a:ext cx="334108" cy="190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5" name="Straight Arrow Connector 204"/>
            <p:cNvCxnSpPr>
              <a:endCxn id="191" idx="1"/>
            </p:cNvCxnSpPr>
            <p:nvPr/>
          </p:nvCxnSpPr>
          <p:spPr bwMode="auto">
            <a:xfrm flipV="1">
              <a:off x="6553200" y="5219700"/>
              <a:ext cx="357554" cy="190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" name="AutoShape 8"/>
            <p:cNvSpPr>
              <a:spLocks noChangeArrowheads="1"/>
            </p:cNvSpPr>
            <p:nvPr/>
          </p:nvSpPr>
          <p:spPr bwMode="auto">
            <a:xfrm>
              <a:off x="6248400" y="4495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5" name="AutoShape 8"/>
            <p:cNvSpPr>
              <a:spLocks noChangeArrowheads="1"/>
            </p:cNvSpPr>
            <p:nvPr/>
          </p:nvSpPr>
          <p:spPr bwMode="auto">
            <a:xfrm>
              <a:off x="6248400" y="4876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7" name="AutoShape 8"/>
            <p:cNvSpPr>
              <a:spLocks noChangeArrowheads="1"/>
            </p:cNvSpPr>
            <p:nvPr/>
          </p:nvSpPr>
          <p:spPr bwMode="auto">
            <a:xfrm>
              <a:off x="6248400" y="5257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89" name="AutoShape 8"/>
            <p:cNvSpPr>
              <a:spLocks noChangeArrowheads="1"/>
            </p:cNvSpPr>
            <p:nvPr/>
          </p:nvSpPr>
          <p:spPr bwMode="auto">
            <a:xfrm>
              <a:off x="6248400" y="5638800"/>
              <a:ext cx="328246" cy="304800"/>
            </a:xfrm>
            <a:prstGeom prst="roundRect">
              <a:avLst>
                <a:gd name="adj" fmla="val 319"/>
              </a:avLst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cxnSp>
          <p:nvCxnSpPr>
            <p:cNvPr id="214" name="Straight Arrow Connector 213"/>
            <p:cNvCxnSpPr>
              <a:stCxn id="195" idx="3"/>
              <a:endCxn id="184" idx="1"/>
            </p:cNvCxnSpPr>
            <p:nvPr/>
          </p:nvCxnSpPr>
          <p:spPr bwMode="auto">
            <a:xfrm flipV="1">
              <a:off x="7719646" y="4648200"/>
              <a:ext cx="334108" cy="571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7" name="Straight Arrow Connector 216"/>
            <p:cNvCxnSpPr>
              <a:stCxn id="195" idx="3"/>
              <a:endCxn id="186" idx="1"/>
            </p:cNvCxnSpPr>
            <p:nvPr/>
          </p:nvCxnSpPr>
          <p:spPr bwMode="auto">
            <a:xfrm flipV="1">
              <a:off x="7719646" y="5029200"/>
              <a:ext cx="334108" cy="190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0" name="Straight Arrow Connector 219"/>
            <p:cNvCxnSpPr>
              <a:stCxn id="195" idx="3"/>
              <a:endCxn id="188" idx="1"/>
            </p:cNvCxnSpPr>
            <p:nvPr/>
          </p:nvCxnSpPr>
          <p:spPr bwMode="auto">
            <a:xfrm>
              <a:off x="7719646" y="5219700"/>
              <a:ext cx="334108" cy="190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/>
            <p:cNvCxnSpPr>
              <a:stCxn id="195" idx="3"/>
              <a:endCxn id="190" idx="1"/>
            </p:cNvCxnSpPr>
            <p:nvPr/>
          </p:nvCxnSpPr>
          <p:spPr bwMode="auto">
            <a:xfrm>
              <a:off x="7719646" y="5219700"/>
              <a:ext cx="334108" cy="571500"/>
            </a:xfrm>
            <a:prstGeom prst="straightConnector1">
              <a:avLst/>
            </a:prstGeom>
            <a:ln w="15875">
              <a:headEnd type="none" w="med" len="me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6" name="Text Box 14"/>
            <p:cNvSpPr txBox="1">
              <a:spLocks noChangeArrowheads="1"/>
            </p:cNvSpPr>
            <p:nvPr/>
          </p:nvSpPr>
          <p:spPr bwMode="auto">
            <a:xfrm>
              <a:off x="6781800" y="5334000"/>
              <a:ext cx="990600" cy="240472"/>
            </a:xfrm>
            <a:prstGeom prst="rect">
              <a:avLst/>
            </a:prstGeom>
            <a:noFill/>
            <a:ln w="9525">
              <a:noFill/>
              <a:round/>
              <a:headEnd/>
              <a:tailEnd/>
            </a:ln>
          </p:spPr>
          <p:txBody>
            <a:bodyPr wrap="square" lIns="90000" tIns="45000" rIns="90000" bIns="4500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81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ct val="100000"/>
                <a:buFont typeface="Arial" charset="0"/>
                <a:buNone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/>
              </a:pPr>
              <a:r>
                <a:rPr lang="en-GB" sz="1200" b="0" kern="0" noProof="0" dirty="0">
                  <a:solidFill>
                    <a:sysClr val="windowText" lastClr="000000"/>
                  </a:solidFill>
                </a:rPr>
                <a:t>work queue</a:t>
              </a:r>
              <a:endParaRPr kumimoji="0" lang="en-GB" sz="12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3493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the rubber meets the road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Concurrency is difficult to reason about</a:t>
            </a:r>
          </a:p>
          <a:p>
            <a:r>
              <a:rPr lang="en-US" dirty="0"/>
              <a:t>Concurrency is even more difficult to reason about</a:t>
            </a:r>
          </a:p>
          <a:p>
            <a:pPr lvl="1"/>
            <a:r>
              <a:rPr lang="en-US" dirty="0"/>
              <a:t>At the scale of datacenters and across datacenters</a:t>
            </a:r>
          </a:p>
          <a:p>
            <a:pPr lvl="1"/>
            <a:r>
              <a:rPr lang="en-US" dirty="0"/>
              <a:t>In the presence of failures</a:t>
            </a:r>
          </a:p>
          <a:p>
            <a:pPr lvl="1"/>
            <a:r>
              <a:rPr lang="en-US" dirty="0"/>
              <a:t>In terms of multiple interacting services</a:t>
            </a:r>
          </a:p>
          <a:p>
            <a:r>
              <a:rPr lang="en-US" dirty="0"/>
              <a:t>Not to mention debugging…</a:t>
            </a:r>
          </a:p>
          <a:p>
            <a:pPr eaLnBrk="1" hangingPunct="1"/>
            <a:r>
              <a:rPr lang="en-US" dirty="0"/>
              <a:t>The reality:</a:t>
            </a:r>
          </a:p>
          <a:p>
            <a:pPr lvl="1" eaLnBrk="1" hangingPunct="1"/>
            <a:r>
              <a:rPr lang="en-US" dirty="0"/>
              <a:t>Lots of one-off solutions, custom code</a:t>
            </a:r>
          </a:p>
          <a:p>
            <a:pPr lvl="1" eaLnBrk="1" hangingPunct="1"/>
            <a:r>
              <a:rPr lang="en-US" dirty="0"/>
              <a:t>Write you own dedicated library, then program with it</a:t>
            </a:r>
          </a:p>
          <a:p>
            <a:pPr lvl="1" eaLnBrk="1" hangingPunct="1"/>
            <a:r>
              <a:rPr lang="en-US" dirty="0"/>
              <a:t>Burden on the programmer to explicitly manage everything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08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Big Ideas behind MapReduce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>
                <a:solidFill>
                  <a:srgbClr val="0000FF"/>
                </a:solidFill>
              </a:rPr>
              <a:t>Scale “out”</a:t>
            </a:r>
            <a:r>
              <a:rPr lang="en-US" altLang="zh-TW" dirty="0"/>
              <a:t>,</a:t>
            </a:r>
            <a:r>
              <a:rPr lang="en-US" altLang="zh-TW" dirty="0">
                <a:solidFill>
                  <a:srgbClr val="0000FF"/>
                </a:solidFill>
              </a:rPr>
              <a:t> </a:t>
            </a:r>
            <a:r>
              <a:rPr lang="en-US" altLang="zh-TW" dirty="0"/>
              <a:t>not “up”</a:t>
            </a:r>
          </a:p>
          <a:p>
            <a:pPr lvl="1"/>
            <a:r>
              <a:rPr lang="en-US" altLang="zh-TW" dirty="0"/>
              <a:t>A large number of commodity low-end servers is preferred over a small number of high-end servers</a:t>
            </a:r>
          </a:p>
          <a:p>
            <a:r>
              <a:rPr lang="en-US" altLang="zh-TW" dirty="0"/>
              <a:t>Assume failures are common</a:t>
            </a:r>
          </a:p>
          <a:p>
            <a:pPr lvl="1"/>
            <a:r>
              <a:rPr lang="en-US" altLang="zh-TW" dirty="0"/>
              <a:t>Fault-tolerant service must cope with failures without impacting the quality of service</a:t>
            </a:r>
          </a:p>
          <a:p>
            <a:r>
              <a:rPr lang="en-US" altLang="zh-TW" dirty="0">
                <a:solidFill>
                  <a:srgbClr val="0000FF"/>
                </a:solidFill>
              </a:rPr>
              <a:t>Moving processing to the data</a:t>
            </a:r>
          </a:p>
          <a:p>
            <a:pPr lvl="1"/>
            <a:r>
              <a:rPr lang="en-US" altLang="zh-TW" dirty="0"/>
              <a:t>MapReduce assumes an architecture where processors and storage are co-located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5984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Processing data sequentially and avoid random access</a:t>
            </a:r>
          </a:p>
          <a:p>
            <a:pPr lvl="1"/>
            <a:r>
              <a:rPr lang="en-US" altLang="zh-TW" dirty="0"/>
              <a:t>MapReduce is primarily designed for batch processing over large datasets</a:t>
            </a:r>
          </a:p>
          <a:p>
            <a:r>
              <a:rPr lang="en-US" altLang="zh-TW" dirty="0"/>
              <a:t>Hide system-level details from the application developer</a:t>
            </a:r>
          </a:p>
          <a:p>
            <a:pPr lvl="1"/>
            <a:r>
              <a:rPr lang="en-US" altLang="zh-TW" dirty="0"/>
              <a:t>Simple and well-defined interfaces between a small number of components</a:t>
            </a:r>
          </a:p>
          <a:p>
            <a:r>
              <a:rPr lang="en-US" altLang="zh-TW" dirty="0"/>
              <a:t>Seamless </a:t>
            </a:r>
            <a:r>
              <a:rPr lang="en-US" altLang="zh-TW" dirty="0">
                <a:solidFill>
                  <a:srgbClr val="0000FF"/>
                </a:solidFill>
              </a:rPr>
              <a:t>scalability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79685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MapReduce Basics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4245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MapReduce Programming Model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Functional programming roots</a:t>
            </a:r>
          </a:p>
          <a:p>
            <a:pPr lvl="1"/>
            <a:r>
              <a:rPr lang="en-US" altLang="zh-TW" dirty="0"/>
              <a:t>Map and fold</a:t>
            </a:r>
          </a:p>
          <a:p>
            <a:r>
              <a:rPr lang="en-US" altLang="zh-TW" dirty="0"/>
              <a:t>Mappers and reducers</a:t>
            </a:r>
          </a:p>
          <a:p>
            <a:r>
              <a:rPr lang="en-US" altLang="zh-TW" dirty="0"/>
              <a:t>Execution framework</a:t>
            </a:r>
          </a:p>
          <a:p>
            <a:r>
              <a:rPr lang="en-US" altLang="zh-TW" dirty="0"/>
              <a:t>Combiners and </a:t>
            </a:r>
            <a:r>
              <a:rPr lang="en-US" altLang="zh-TW" dirty="0" err="1"/>
              <a:t>partitioners</a:t>
            </a:r>
            <a:endParaRPr lang="en-US" altLang="zh-TW" dirty="0"/>
          </a:p>
          <a:p>
            <a:r>
              <a:rPr lang="en-US" altLang="zh-TW" dirty="0"/>
              <a:t>Distributed file system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68328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Big Data Problem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Iterate over a large number of records</a:t>
            </a:r>
          </a:p>
          <a:p>
            <a:r>
              <a:rPr lang="en-US" dirty="0"/>
              <a:t>Extract something of interest from each</a:t>
            </a:r>
          </a:p>
          <a:p>
            <a:r>
              <a:rPr lang="en-US" dirty="0"/>
              <a:t>Shuffle and sort intermediate results</a:t>
            </a:r>
          </a:p>
          <a:p>
            <a:r>
              <a:rPr lang="en-US" dirty="0"/>
              <a:t>Aggregate intermediate results</a:t>
            </a:r>
          </a:p>
          <a:p>
            <a:r>
              <a:rPr lang="en-US" dirty="0"/>
              <a:t>Generate final output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514600" y="5486400"/>
            <a:ext cx="5943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Gill Sans"/>
                <a:cs typeface="Gill Sans"/>
              </a:rPr>
              <a:t>Key idea: provide a functional abstraction for these two operations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 rot="816188">
            <a:off x="72452" y="1195377"/>
            <a:ext cx="967507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Gill Sans"/>
                <a:cs typeface="Gill Sans"/>
              </a:rPr>
              <a:t>Map</a:t>
            </a:r>
            <a:endParaRPr lang="en-US" sz="3600" dirty="0">
              <a:solidFill>
                <a:srgbClr val="FF0000"/>
              </a:solidFill>
              <a:latin typeface="Gill Sans"/>
              <a:cs typeface="Gill Sans"/>
            </a:endParaRP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 rot="-811533">
            <a:off x="7129491" y="2951089"/>
            <a:ext cx="1517162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Gill Sans"/>
                <a:cs typeface="Gill Sans"/>
              </a:rPr>
              <a:t>Reduce</a:t>
            </a:r>
            <a:endParaRPr lang="en-US" sz="3600" dirty="0">
              <a:solidFill>
                <a:srgbClr val="FF0000"/>
              </a:solidFill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462538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8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4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15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2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7"/>
          <p:cNvSpPr>
            <a:spLocks noChangeArrowheads="1"/>
          </p:cNvSpPr>
          <p:nvPr/>
        </p:nvSpPr>
        <p:spPr bwMode="auto">
          <a:xfrm>
            <a:off x="3331329" y="21717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Oval 13"/>
          <p:cNvSpPr>
            <a:spLocks noChangeArrowheads="1"/>
          </p:cNvSpPr>
          <p:nvPr/>
        </p:nvSpPr>
        <p:spPr bwMode="auto">
          <a:xfrm>
            <a:off x="4017129" y="21717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17"/>
          <p:cNvSpPr>
            <a:spLocks noChangeArrowheads="1"/>
          </p:cNvSpPr>
          <p:nvPr/>
        </p:nvSpPr>
        <p:spPr bwMode="auto">
          <a:xfrm>
            <a:off x="4702929" y="21717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Oval 21"/>
          <p:cNvSpPr>
            <a:spLocks noChangeArrowheads="1"/>
          </p:cNvSpPr>
          <p:nvPr/>
        </p:nvSpPr>
        <p:spPr bwMode="auto">
          <a:xfrm>
            <a:off x="5388729" y="21717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Oval 25"/>
          <p:cNvSpPr>
            <a:spLocks noChangeArrowheads="1"/>
          </p:cNvSpPr>
          <p:nvPr/>
        </p:nvSpPr>
        <p:spPr bwMode="auto">
          <a:xfrm>
            <a:off x="6074529" y="21717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29"/>
          <p:cNvSpPr>
            <a:spLocks noChangeArrowheads="1"/>
          </p:cNvSpPr>
          <p:nvPr/>
        </p:nvSpPr>
        <p:spPr bwMode="auto">
          <a:xfrm>
            <a:off x="2743200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ectangle 8"/>
          <p:cNvSpPr>
            <a:spLocks noChangeArrowheads="1"/>
          </p:cNvSpPr>
          <p:nvPr/>
        </p:nvSpPr>
        <p:spPr bwMode="auto">
          <a:xfrm>
            <a:off x="3407529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TextBox 12"/>
          <p:cNvSpPr txBox="1">
            <a:spLocks noChangeArrowheads="1"/>
          </p:cNvSpPr>
          <p:nvPr/>
        </p:nvSpPr>
        <p:spPr bwMode="auto">
          <a:xfrm>
            <a:off x="3443179" y="4495800"/>
            <a:ext cx="2936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41" name="Straight Arrow Connector 37"/>
          <p:cNvCxnSpPr>
            <a:cxnSpLocks noChangeShapeType="1"/>
            <a:stCxn id="37" idx="0"/>
            <a:endCxn id="40" idx="1"/>
          </p:cNvCxnSpPr>
          <p:nvPr/>
        </p:nvCxnSpPr>
        <p:spPr bwMode="auto">
          <a:xfrm flipV="1">
            <a:off x="2933700" y="4680466"/>
            <a:ext cx="509479" cy="501134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50"/>
          <p:cNvCxnSpPr>
            <a:cxnSpLocks noChangeShapeType="1"/>
            <a:stCxn id="70" idx="4"/>
            <a:endCxn id="40" idx="0"/>
          </p:cNvCxnSpPr>
          <p:nvPr/>
        </p:nvCxnSpPr>
        <p:spPr bwMode="auto">
          <a:xfrm flipH="1">
            <a:off x="3590014" y="4114800"/>
            <a:ext cx="8015" cy="381000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51"/>
          <p:cNvCxnSpPr>
            <a:cxnSpLocks noChangeShapeType="1"/>
            <a:stCxn id="40" idx="2"/>
            <a:endCxn id="39" idx="0"/>
          </p:cNvCxnSpPr>
          <p:nvPr/>
        </p:nvCxnSpPr>
        <p:spPr bwMode="auto">
          <a:xfrm>
            <a:off x="3590014" y="4865132"/>
            <a:ext cx="8015" cy="316468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Rectangle 14"/>
          <p:cNvSpPr>
            <a:spLocks noChangeArrowheads="1"/>
          </p:cNvSpPr>
          <p:nvPr/>
        </p:nvSpPr>
        <p:spPr bwMode="auto">
          <a:xfrm>
            <a:off x="4093329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TextBox 53"/>
          <p:cNvSpPr txBox="1">
            <a:spLocks noChangeArrowheads="1"/>
          </p:cNvSpPr>
          <p:nvPr/>
        </p:nvSpPr>
        <p:spPr bwMode="auto">
          <a:xfrm>
            <a:off x="4128979" y="4495800"/>
            <a:ext cx="2936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47" name="Straight Arrow Connector 54"/>
          <p:cNvCxnSpPr>
            <a:cxnSpLocks noChangeShapeType="1"/>
            <a:stCxn id="39" idx="0"/>
            <a:endCxn id="46" idx="1"/>
          </p:cNvCxnSpPr>
          <p:nvPr/>
        </p:nvCxnSpPr>
        <p:spPr bwMode="auto">
          <a:xfrm flipV="1">
            <a:off x="3598029" y="4680466"/>
            <a:ext cx="530950" cy="501134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55"/>
          <p:cNvCxnSpPr>
            <a:cxnSpLocks noChangeShapeType="1"/>
            <a:stCxn id="74" idx="4"/>
            <a:endCxn id="46" idx="0"/>
          </p:cNvCxnSpPr>
          <p:nvPr/>
        </p:nvCxnSpPr>
        <p:spPr bwMode="auto">
          <a:xfrm flipH="1">
            <a:off x="4275814" y="4114800"/>
            <a:ext cx="8015" cy="381000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56"/>
          <p:cNvCxnSpPr>
            <a:cxnSpLocks noChangeShapeType="1"/>
            <a:stCxn id="46" idx="2"/>
            <a:endCxn id="45" idx="0"/>
          </p:cNvCxnSpPr>
          <p:nvPr/>
        </p:nvCxnSpPr>
        <p:spPr bwMode="auto">
          <a:xfrm>
            <a:off x="4275814" y="4865132"/>
            <a:ext cx="8015" cy="316468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tangle 18"/>
          <p:cNvSpPr>
            <a:spLocks noChangeArrowheads="1"/>
          </p:cNvSpPr>
          <p:nvPr/>
        </p:nvSpPr>
        <p:spPr bwMode="auto">
          <a:xfrm>
            <a:off x="4779129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7"/>
          <p:cNvSpPr txBox="1">
            <a:spLocks noChangeArrowheads="1"/>
          </p:cNvSpPr>
          <p:nvPr/>
        </p:nvSpPr>
        <p:spPr bwMode="auto">
          <a:xfrm>
            <a:off x="4814779" y="4495800"/>
            <a:ext cx="2936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53" name="Straight Arrow Connector 58"/>
          <p:cNvCxnSpPr>
            <a:cxnSpLocks noChangeShapeType="1"/>
            <a:stCxn id="45" idx="0"/>
            <a:endCxn id="52" idx="1"/>
          </p:cNvCxnSpPr>
          <p:nvPr/>
        </p:nvCxnSpPr>
        <p:spPr bwMode="auto">
          <a:xfrm flipV="1">
            <a:off x="4283829" y="4680466"/>
            <a:ext cx="530950" cy="501134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9"/>
          <p:cNvCxnSpPr>
            <a:cxnSpLocks noChangeShapeType="1"/>
            <a:stCxn id="75" idx="4"/>
            <a:endCxn id="52" idx="0"/>
          </p:cNvCxnSpPr>
          <p:nvPr/>
        </p:nvCxnSpPr>
        <p:spPr bwMode="auto">
          <a:xfrm flipH="1">
            <a:off x="4961614" y="4114800"/>
            <a:ext cx="8015" cy="381000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60"/>
          <p:cNvCxnSpPr>
            <a:cxnSpLocks noChangeShapeType="1"/>
            <a:stCxn id="52" idx="2"/>
            <a:endCxn id="51" idx="0"/>
          </p:cNvCxnSpPr>
          <p:nvPr/>
        </p:nvCxnSpPr>
        <p:spPr bwMode="auto">
          <a:xfrm>
            <a:off x="4961614" y="4865132"/>
            <a:ext cx="8015" cy="316468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Rectangle 22"/>
          <p:cNvSpPr>
            <a:spLocks noChangeArrowheads="1"/>
          </p:cNvSpPr>
          <p:nvPr/>
        </p:nvSpPr>
        <p:spPr bwMode="auto">
          <a:xfrm>
            <a:off x="5464929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TextBox 61"/>
          <p:cNvSpPr txBox="1">
            <a:spLocks noChangeArrowheads="1"/>
          </p:cNvSpPr>
          <p:nvPr/>
        </p:nvSpPr>
        <p:spPr bwMode="auto">
          <a:xfrm>
            <a:off x="5500579" y="4495800"/>
            <a:ext cx="2936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59" name="Straight Arrow Connector 62"/>
          <p:cNvCxnSpPr>
            <a:cxnSpLocks noChangeShapeType="1"/>
            <a:stCxn id="51" idx="0"/>
            <a:endCxn id="58" idx="1"/>
          </p:cNvCxnSpPr>
          <p:nvPr/>
        </p:nvCxnSpPr>
        <p:spPr bwMode="auto">
          <a:xfrm flipV="1">
            <a:off x="4969629" y="4680466"/>
            <a:ext cx="530950" cy="501134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63"/>
          <p:cNvCxnSpPr>
            <a:cxnSpLocks noChangeShapeType="1"/>
            <a:stCxn id="76" idx="4"/>
            <a:endCxn id="58" idx="0"/>
          </p:cNvCxnSpPr>
          <p:nvPr/>
        </p:nvCxnSpPr>
        <p:spPr bwMode="auto">
          <a:xfrm flipH="1">
            <a:off x="5647414" y="4114800"/>
            <a:ext cx="8015" cy="381000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4"/>
          <p:cNvCxnSpPr>
            <a:cxnSpLocks noChangeShapeType="1"/>
            <a:stCxn id="58" idx="2"/>
            <a:endCxn id="57" idx="0"/>
          </p:cNvCxnSpPr>
          <p:nvPr/>
        </p:nvCxnSpPr>
        <p:spPr bwMode="auto">
          <a:xfrm>
            <a:off x="5647414" y="4865132"/>
            <a:ext cx="8015" cy="316468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ectangle 26"/>
          <p:cNvSpPr>
            <a:spLocks noChangeArrowheads="1"/>
          </p:cNvSpPr>
          <p:nvPr/>
        </p:nvSpPr>
        <p:spPr bwMode="auto">
          <a:xfrm>
            <a:off x="6150729" y="5181600"/>
            <a:ext cx="381000" cy="381000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TextBox 65"/>
          <p:cNvSpPr txBox="1">
            <a:spLocks noChangeArrowheads="1"/>
          </p:cNvSpPr>
          <p:nvPr/>
        </p:nvSpPr>
        <p:spPr bwMode="auto">
          <a:xfrm>
            <a:off x="6186379" y="4495800"/>
            <a:ext cx="2936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65" name="Straight Arrow Connector 66"/>
          <p:cNvCxnSpPr>
            <a:cxnSpLocks noChangeShapeType="1"/>
            <a:stCxn id="57" idx="0"/>
            <a:endCxn id="64" idx="1"/>
          </p:cNvCxnSpPr>
          <p:nvPr/>
        </p:nvCxnSpPr>
        <p:spPr bwMode="auto">
          <a:xfrm flipV="1">
            <a:off x="5655429" y="4680466"/>
            <a:ext cx="530950" cy="501134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7"/>
          <p:cNvCxnSpPr>
            <a:cxnSpLocks noChangeShapeType="1"/>
            <a:stCxn id="77" idx="4"/>
            <a:endCxn id="64" idx="0"/>
          </p:cNvCxnSpPr>
          <p:nvPr/>
        </p:nvCxnSpPr>
        <p:spPr bwMode="auto">
          <a:xfrm flipH="1">
            <a:off x="6333214" y="4114800"/>
            <a:ext cx="8015" cy="381000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8"/>
          <p:cNvCxnSpPr>
            <a:cxnSpLocks noChangeShapeType="1"/>
            <a:stCxn id="64" idx="2"/>
            <a:endCxn id="63" idx="0"/>
          </p:cNvCxnSpPr>
          <p:nvPr/>
        </p:nvCxnSpPr>
        <p:spPr bwMode="auto">
          <a:xfrm>
            <a:off x="6333214" y="4865132"/>
            <a:ext cx="8015" cy="316468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Oval 7"/>
          <p:cNvSpPr>
            <a:spLocks noChangeArrowheads="1"/>
          </p:cNvSpPr>
          <p:nvPr/>
        </p:nvSpPr>
        <p:spPr bwMode="auto">
          <a:xfrm>
            <a:off x="3331329" y="35814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74" name="Oval 7"/>
          <p:cNvSpPr>
            <a:spLocks noChangeArrowheads="1"/>
          </p:cNvSpPr>
          <p:nvPr/>
        </p:nvSpPr>
        <p:spPr bwMode="auto">
          <a:xfrm>
            <a:off x="4017129" y="35814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75" name="Oval 7"/>
          <p:cNvSpPr>
            <a:spLocks noChangeArrowheads="1"/>
          </p:cNvSpPr>
          <p:nvPr/>
        </p:nvSpPr>
        <p:spPr bwMode="auto">
          <a:xfrm>
            <a:off x="4702929" y="35814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76" name="Oval 7"/>
          <p:cNvSpPr>
            <a:spLocks noChangeArrowheads="1"/>
          </p:cNvSpPr>
          <p:nvPr/>
        </p:nvSpPr>
        <p:spPr bwMode="auto">
          <a:xfrm>
            <a:off x="5388729" y="35814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77" name="Oval 7"/>
          <p:cNvSpPr>
            <a:spLocks noChangeArrowheads="1"/>
          </p:cNvSpPr>
          <p:nvPr/>
        </p:nvSpPr>
        <p:spPr bwMode="auto">
          <a:xfrm>
            <a:off x="6074529" y="3581400"/>
            <a:ext cx="533400" cy="533400"/>
          </a:xfrm>
          <a:prstGeom prst="ellipse">
            <a:avLst/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TextBox 12"/>
          <p:cNvSpPr txBox="1">
            <a:spLocks noChangeArrowheads="1"/>
          </p:cNvSpPr>
          <p:nvPr/>
        </p:nvSpPr>
        <p:spPr bwMode="auto">
          <a:xfrm>
            <a:off x="3471231" y="2976146"/>
            <a:ext cx="2551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f</a:t>
            </a:r>
          </a:p>
        </p:txBody>
      </p:sp>
      <p:cxnSp>
        <p:nvCxnSpPr>
          <p:cNvPr id="84" name="Straight Arrow Connector 50"/>
          <p:cNvCxnSpPr>
            <a:cxnSpLocks noChangeShapeType="1"/>
            <a:stCxn id="27" idx="4"/>
            <a:endCxn id="82" idx="0"/>
          </p:cNvCxnSpPr>
          <p:nvPr/>
        </p:nvCxnSpPr>
        <p:spPr bwMode="auto">
          <a:xfrm>
            <a:off x="3598029" y="2705100"/>
            <a:ext cx="801" cy="271046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Arrow Connector 51"/>
          <p:cNvCxnSpPr>
            <a:cxnSpLocks noChangeShapeType="1"/>
            <a:stCxn id="82" idx="2"/>
            <a:endCxn id="70" idx="0"/>
          </p:cNvCxnSpPr>
          <p:nvPr/>
        </p:nvCxnSpPr>
        <p:spPr bwMode="auto">
          <a:xfrm flipH="1">
            <a:off x="3598029" y="3345478"/>
            <a:ext cx="801" cy="235922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53"/>
          <p:cNvSpPr txBox="1">
            <a:spLocks noChangeArrowheads="1"/>
          </p:cNvSpPr>
          <p:nvPr/>
        </p:nvSpPr>
        <p:spPr bwMode="auto">
          <a:xfrm>
            <a:off x="4157031" y="2976146"/>
            <a:ext cx="2551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f</a:t>
            </a:r>
          </a:p>
        </p:txBody>
      </p:sp>
      <p:cxnSp>
        <p:nvCxnSpPr>
          <p:cNvPr id="88" name="Straight Arrow Connector 55"/>
          <p:cNvCxnSpPr>
            <a:cxnSpLocks noChangeShapeType="1"/>
            <a:stCxn id="28" idx="4"/>
            <a:endCxn id="86" idx="0"/>
          </p:cNvCxnSpPr>
          <p:nvPr/>
        </p:nvCxnSpPr>
        <p:spPr bwMode="auto">
          <a:xfrm>
            <a:off x="4283829" y="2705100"/>
            <a:ext cx="801" cy="271046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56"/>
          <p:cNvCxnSpPr>
            <a:cxnSpLocks noChangeShapeType="1"/>
            <a:stCxn id="86" idx="2"/>
            <a:endCxn id="74" idx="0"/>
          </p:cNvCxnSpPr>
          <p:nvPr/>
        </p:nvCxnSpPr>
        <p:spPr bwMode="auto">
          <a:xfrm flipH="1">
            <a:off x="4283829" y="3345478"/>
            <a:ext cx="801" cy="235922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57"/>
          <p:cNvSpPr txBox="1">
            <a:spLocks noChangeArrowheads="1"/>
          </p:cNvSpPr>
          <p:nvPr/>
        </p:nvSpPr>
        <p:spPr bwMode="auto">
          <a:xfrm>
            <a:off x="4842831" y="2976146"/>
            <a:ext cx="2551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f</a:t>
            </a:r>
          </a:p>
        </p:txBody>
      </p:sp>
      <p:cxnSp>
        <p:nvCxnSpPr>
          <p:cNvPr id="92" name="Straight Arrow Connector 59"/>
          <p:cNvCxnSpPr>
            <a:cxnSpLocks noChangeShapeType="1"/>
            <a:stCxn id="29" idx="4"/>
            <a:endCxn id="90" idx="0"/>
          </p:cNvCxnSpPr>
          <p:nvPr/>
        </p:nvCxnSpPr>
        <p:spPr bwMode="auto">
          <a:xfrm>
            <a:off x="4969629" y="2705100"/>
            <a:ext cx="801" cy="271046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60"/>
          <p:cNvCxnSpPr>
            <a:cxnSpLocks noChangeShapeType="1"/>
            <a:stCxn id="90" idx="2"/>
            <a:endCxn id="75" idx="0"/>
          </p:cNvCxnSpPr>
          <p:nvPr/>
        </p:nvCxnSpPr>
        <p:spPr bwMode="auto">
          <a:xfrm flipH="1">
            <a:off x="4969629" y="3345478"/>
            <a:ext cx="801" cy="235922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TextBox 61"/>
          <p:cNvSpPr txBox="1">
            <a:spLocks noChangeArrowheads="1"/>
          </p:cNvSpPr>
          <p:nvPr/>
        </p:nvSpPr>
        <p:spPr bwMode="auto">
          <a:xfrm>
            <a:off x="5528631" y="2976146"/>
            <a:ext cx="2551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f</a:t>
            </a:r>
          </a:p>
        </p:txBody>
      </p:sp>
      <p:cxnSp>
        <p:nvCxnSpPr>
          <p:cNvPr id="96" name="Straight Arrow Connector 63"/>
          <p:cNvCxnSpPr>
            <a:cxnSpLocks noChangeShapeType="1"/>
            <a:stCxn id="30" idx="4"/>
            <a:endCxn id="94" idx="0"/>
          </p:cNvCxnSpPr>
          <p:nvPr/>
        </p:nvCxnSpPr>
        <p:spPr bwMode="auto">
          <a:xfrm>
            <a:off x="5655429" y="2705100"/>
            <a:ext cx="801" cy="271046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64"/>
          <p:cNvCxnSpPr>
            <a:cxnSpLocks noChangeShapeType="1"/>
            <a:stCxn id="94" idx="2"/>
            <a:endCxn id="76" idx="0"/>
          </p:cNvCxnSpPr>
          <p:nvPr/>
        </p:nvCxnSpPr>
        <p:spPr bwMode="auto">
          <a:xfrm flipH="1">
            <a:off x="5655429" y="3345478"/>
            <a:ext cx="801" cy="235922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8" name="TextBox 65"/>
          <p:cNvSpPr txBox="1">
            <a:spLocks noChangeArrowheads="1"/>
          </p:cNvSpPr>
          <p:nvPr/>
        </p:nvSpPr>
        <p:spPr bwMode="auto">
          <a:xfrm>
            <a:off x="6214431" y="2976146"/>
            <a:ext cx="2551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f</a:t>
            </a:r>
          </a:p>
        </p:txBody>
      </p:sp>
      <p:cxnSp>
        <p:nvCxnSpPr>
          <p:cNvPr id="100" name="Straight Arrow Connector 67"/>
          <p:cNvCxnSpPr>
            <a:cxnSpLocks noChangeShapeType="1"/>
            <a:stCxn id="31" idx="4"/>
            <a:endCxn id="98" idx="0"/>
          </p:cNvCxnSpPr>
          <p:nvPr/>
        </p:nvCxnSpPr>
        <p:spPr bwMode="auto">
          <a:xfrm>
            <a:off x="6341229" y="2705100"/>
            <a:ext cx="801" cy="271046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68"/>
          <p:cNvCxnSpPr>
            <a:cxnSpLocks noChangeShapeType="1"/>
            <a:stCxn id="98" idx="2"/>
            <a:endCxn id="77" idx="0"/>
          </p:cNvCxnSpPr>
          <p:nvPr/>
        </p:nvCxnSpPr>
        <p:spPr bwMode="auto">
          <a:xfrm flipH="1">
            <a:off x="6341229" y="3345478"/>
            <a:ext cx="801" cy="235922"/>
          </a:xfrm>
          <a:prstGeom prst="straightConnector1">
            <a:avLst/>
          </a:prstGeom>
          <a:ln w="9525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990600" y="2895600"/>
            <a:ext cx="967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"/>
                <a:cs typeface="Gill Sans"/>
              </a:rPr>
              <a:t>Map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585" y="4343400"/>
            <a:ext cx="9204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"/>
                <a:cs typeface="Gill Sans"/>
              </a:rPr>
              <a:t>Fold</a:t>
            </a:r>
          </a:p>
        </p:txBody>
      </p:sp>
      <p:sp>
        <p:nvSpPr>
          <p:cNvPr id="56" name="Title 5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Roots in Functional Programming</a:t>
            </a:r>
          </a:p>
        </p:txBody>
      </p:sp>
    </p:spTree>
    <p:extLst>
      <p:ext uri="{BB962C8B-B14F-4D97-AF65-F5344CB8AC3E}">
        <p14:creationId xmlns:p14="http://schemas.microsoft.com/office/powerpoint/2010/main" val="354285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7" grpId="0" animBg="1"/>
      <p:bldP spid="39" grpId="0" animBg="1"/>
      <p:bldP spid="40" grpId="0"/>
      <p:bldP spid="45" grpId="0" animBg="1"/>
      <p:bldP spid="46" grpId="0"/>
      <p:bldP spid="51" grpId="0" animBg="1"/>
      <p:bldP spid="52" grpId="0"/>
      <p:bldP spid="57" grpId="0" animBg="1"/>
      <p:bldP spid="58" grpId="0"/>
      <p:bldP spid="63" grpId="0" animBg="1"/>
      <p:bldP spid="64" grpId="0"/>
      <p:bldP spid="70" grpId="0" animBg="1"/>
      <p:bldP spid="74" grpId="0" animBg="1"/>
      <p:bldP spid="75" grpId="0" animBg="1"/>
      <p:bldP spid="76" grpId="0" animBg="1"/>
      <p:bldP spid="77" grpId="0" animBg="1"/>
      <p:bldP spid="82" grpId="0"/>
      <p:bldP spid="86" grpId="0"/>
      <p:bldP spid="90" grpId="0"/>
      <p:bldP spid="94" grpId="0"/>
      <p:bldP spid="98" grpId="0"/>
      <p:bldP spid="146" grpId="0"/>
      <p:bldP spid="14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MapReduce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Programmers specify two functions: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</a:rPr>
              <a:t>map</a:t>
            </a:r>
            <a:r>
              <a:rPr lang="en-US" dirty="0"/>
              <a:t> (k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1</a:t>
            </a:r>
            <a:r>
              <a:rPr lang="en-US" dirty="0"/>
              <a:t>) </a:t>
            </a:r>
            <a:r>
              <a:rPr lang="en-US" dirty="0">
                <a:cs typeface="Arial" charset="0"/>
              </a:rPr>
              <a:t>→ [&lt;k</a:t>
            </a:r>
            <a:r>
              <a:rPr lang="en-US" baseline="-25000" dirty="0"/>
              <a:t>2</a:t>
            </a:r>
            <a:r>
              <a:rPr lang="en-US" dirty="0">
                <a:cs typeface="Arial" charset="0"/>
              </a:rPr>
              <a:t>, v</a:t>
            </a:r>
            <a:r>
              <a:rPr lang="en-US" baseline="-25000" dirty="0"/>
              <a:t>2</a:t>
            </a:r>
            <a:r>
              <a:rPr lang="en-US" dirty="0">
                <a:cs typeface="Arial" charset="0"/>
              </a:rPr>
              <a:t>&gt;]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  <a:cs typeface="Arial" charset="0"/>
              </a:rPr>
              <a:t>reduce</a:t>
            </a:r>
            <a:r>
              <a:rPr lang="en-US" dirty="0">
                <a:cs typeface="Arial" charset="0"/>
              </a:rPr>
              <a:t> (k</a:t>
            </a:r>
            <a:r>
              <a:rPr lang="en-US" baseline="-25000" dirty="0"/>
              <a:t>2</a:t>
            </a:r>
            <a:r>
              <a:rPr lang="en-US" dirty="0">
                <a:cs typeface="Arial" charset="0"/>
              </a:rPr>
              <a:t>, [v</a:t>
            </a:r>
            <a:r>
              <a:rPr lang="en-US" baseline="-25000" dirty="0"/>
              <a:t>2</a:t>
            </a:r>
            <a:r>
              <a:rPr lang="en-US" dirty="0">
                <a:cs typeface="Arial" charset="0"/>
              </a:rPr>
              <a:t>]) → [&lt;k</a:t>
            </a:r>
            <a:r>
              <a:rPr lang="en-US" baseline="-25000" dirty="0"/>
              <a:t>3</a:t>
            </a:r>
            <a:r>
              <a:rPr lang="en-US" dirty="0">
                <a:cs typeface="Arial" charset="0"/>
              </a:rPr>
              <a:t>, v</a:t>
            </a:r>
            <a:r>
              <a:rPr lang="en-US" baseline="-25000" dirty="0"/>
              <a:t>3</a:t>
            </a:r>
            <a:r>
              <a:rPr lang="en-US" dirty="0">
                <a:cs typeface="Arial" charset="0"/>
              </a:rPr>
              <a:t>&gt;]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All values with the same key are sent to the same reducer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The execution framework handles everything else…</a:t>
            </a:r>
          </a:p>
        </p:txBody>
      </p:sp>
    </p:spTree>
    <p:extLst>
      <p:ext uri="{BB962C8B-B14F-4D97-AF65-F5344CB8AC3E}">
        <p14:creationId xmlns:p14="http://schemas.microsoft.com/office/powerpoint/2010/main" val="2967165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rot="5400000">
            <a:off x="2644776" y="3032125"/>
            <a:ext cx="273050" cy="3175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cxnSpLocks noChangeShapeType="1"/>
          </p:cNvCxnSpPr>
          <p:nvPr/>
        </p:nvCxnSpPr>
        <p:spPr bwMode="auto">
          <a:xfrm rot="5400000">
            <a:off x="3938588" y="3032125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 rot="5400000">
            <a:off x="5233988" y="3032125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cxnSpLocks noChangeShapeType="1"/>
          </p:cNvCxnSpPr>
          <p:nvPr/>
        </p:nvCxnSpPr>
        <p:spPr bwMode="auto">
          <a:xfrm rot="5400000">
            <a:off x="6605588" y="3032125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cxnSpLocks noChangeShapeType="1"/>
          </p:cNvCxnSpPr>
          <p:nvPr/>
        </p:nvCxnSpPr>
        <p:spPr bwMode="auto">
          <a:xfrm rot="5400000">
            <a:off x="3047207" y="4456906"/>
            <a:ext cx="533400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cxnSpLocks noChangeShapeType="1"/>
          </p:cNvCxnSpPr>
          <p:nvPr/>
        </p:nvCxnSpPr>
        <p:spPr bwMode="auto">
          <a:xfrm rot="5400000">
            <a:off x="3178175" y="55006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cxnSpLocks noChangeShapeType="1"/>
          </p:cNvCxnSpPr>
          <p:nvPr/>
        </p:nvCxnSpPr>
        <p:spPr bwMode="auto">
          <a:xfrm rot="5400000">
            <a:off x="4419601" y="4456112"/>
            <a:ext cx="533400" cy="3175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>
            <a:cxnSpLocks noChangeShapeType="1"/>
          </p:cNvCxnSpPr>
          <p:nvPr/>
        </p:nvCxnSpPr>
        <p:spPr bwMode="auto">
          <a:xfrm rot="5400000">
            <a:off x="4549775" y="55006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>
            <a:cxnSpLocks noChangeShapeType="1"/>
          </p:cNvCxnSpPr>
          <p:nvPr/>
        </p:nvCxnSpPr>
        <p:spPr bwMode="auto">
          <a:xfrm rot="5400000">
            <a:off x="5714207" y="4456906"/>
            <a:ext cx="533400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cxnSpLocks noChangeShapeType="1"/>
          </p:cNvCxnSpPr>
          <p:nvPr/>
        </p:nvCxnSpPr>
        <p:spPr bwMode="auto">
          <a:xfrm rot="5400000">
            <a:off x="5845175" y="55006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30" name="Rectangle 7"/>
          <p:cNvSpPr>
            <a:spLocks noChangeArrowheads="1"/>
          </p:cNvSpPr>
          <p:nvPr/>
        </p:nvSpPr>
        <p:spPr bwMode="auto">
          <a:xfrm>
            <a:off x="6324600" y="2286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4631" name="Straight Arrow Connector 27"/>
          <p:cNvCxnSpPr>
            <a:cxnSpLocks noChangeShapeType="1"/>
          </p:cNvCxnSpPr>
          <p:nvPr/>
        </p:nvCxnSpPr>
        <p:spPr bwMode="auto">
          <a:xfrm rot="16200000" flipH="1">
            <a:off x="6019800" y="1600200"/>
            <a:ext cx="609600" cy="6096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26" name="Rectangle 4"/>
          <p:cNvSpPr>
            <a:spLocks noChangeArrowheads="1"/>
          </p:cNvSpPr>
          <p:nvPr/>
        </p:nvSpPr>
        <p:spPr bwMode="auto">
          <a:xfrm>
            <a:off x="2362200" y="2286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 dirty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4627" name="Straight Arrow Connector 20"/>
          <p:cNvCxnSpPr>
            <a:cxnSpLocks noChangeShapeType="1"/>
          </p:cNvCxnSpPr>
          <p:nvPr/>
        </p:nvCxnSpPr>
        <p:spPr bwMode="auto">
          <a:xfrm rot="5400000">
            <a:off x="2819400" y="1600200"/>
            <a:ext cx="609600" cy="6096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23" name="Rectangle 5"/>
          <p:cNvSpPr>
            <a:spLocks noChangeArrowheads="1"/>
          </p:cNvSpPr>
          <p:nvPr/>
        </p:nvSpPr>
        <p:spPr bwMode="auto">
          <a:xfrm>
            <a:off x="3657600" y="2286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4624" name="Straight Arrow Connector 22"/>
          <p:cNvCxnSpPr>
            <a:cxnSpLocks noChangeShapeType="1"/>
          </p:cNvCxnSpPr>
          <p:nvPr/>
        </p:nvCxnSpPr>
        <p:spPr bwMode="auto">
          <a:xfrm rot="5400000">
            <a:off x="3771900" y="1866900"/>
            <a:ext cx="609600" cy="762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20" name="Rectangle 6"/>
          <p:cNvSpPr>
            <a:spLocks noChangeArrowheads="1"/>
          </p:cNvSpPr>
          <p:nvPr/>
        </p:nvSpPr>
        <p:spPr bwMode="auto">
          <a:xfrm>
            <a:off x="4953000" y="2286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4621" name="Straight Arrow Connector 28"/>
          <p:cNvCxnSpPr>
            <a:cxnSpLocks noChangeShapeType="1"/>
          </p:cNvCxnSpPr>
          <p:nvPr/>
        </p:nvCxnSpPr>
        <p:spPr bwMode="auto">
          <a:xfrm rot="16200000" flipH="1">
            <a:off x="4991100" y="1866900"/>
            <a:ext cx="609600" cy="762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1981200" y="3505200"/>
            <a:ext cx="54864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Shuffle and Sort:</a:t>
            </a:r>
            <a:r>
              <a:rPr lang="en-US" b="0" dirty="0">
                <a:solidFill>
                  <a:schemeClr val="tx1"/>
                </a:solidFill>
              </a:rPr>
              <a:t> aggregate values by keys</a:t>
            </a: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2895600" y="47244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sp>
        <p:nvSpPr>
          <p:cNvPr id="76" name="Rectangle 75"/>
          <p:cNvSpPr>
            <a:spLocks noChangeArrowheads="1"/>
          </p:cNvSpPr>
          <p:nvPr/>
        </p:nvSpPr>
        <p:spPr bwMode="auto">
          <a:xfrm>
            <a:off x="4267200" y="47244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sp>
        <p:nvSpPr>
          <p:cNvPr id="81" name="Rectangle 80"/>
          <p:cNvSpPr>
            <a:spLocks noChangeArrowheads="1"/>
          </p:cNvSpPr>
          <p:nvPr/>
        </p:nvSpPr>
        <p:spPr bwMode="auto">
          <a:xfrm>
            <a:off x="5562600" y="47244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grpSp>
        <p:nvGrpSpPr>
          <p:cNvPr id="114" name="Group 113"/>
          <p:cNvGrpSpPr/>
          <p:nvPr/>
        </p:nvGrpSpPr>
        <p:grpSpPr>
          <a:xfrm>
            <a:off x="3033713" y="1219200"/>
            <a:ext cx="3200284" cy="276999"/>
            <a:chOff x="3033713" y="1219200"/>
            <a:chExt cx="3200284" cy="276999"/>
          </a:xfrm>
        </p:grpSpPr>
        <p:sp>
          <p:nvSpPr>
            <p:cNvPr id="24677" name="Rectangle 56"/>
            <p:cNvSpPr>
              <a:spLocks noChangeArrowheads="1"/>
            </p:cNvSpPr>
            <p:nvPr/>
          </p:nvSpPr>
          <p:spPr bwMode="auto">
            <a:xfrm>
              <a:off x="3079069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8" name="Rectangle 102"/>
            <p:cNvSpPr>
              <a:spLocks noChangeArrowheads="1"/>
            </p:cNvSpPr>
            <p:nvPr/>
          </p:nvSpPr>
          <p:spPr bwMode="auto">
            <a:xfrm>
              <a:off x="3612430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9" name="Rectangle 109"/>
            <p:cNvSpPr>
              <a:spLocks noChangeArrowheads="1"/>
            </p:cNvSpPr>
            <p:nvPr/>
          </p:nvSpPr>
          <p:spPr bwMode="auto">
            <a:xfrm>
              <a:off x="4145792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0" name="Rectangle 116"/>
            <p:cNvSpPr>
              <a:spLocks noChangeArrowheads="1"/>
            </p:cNvSpPr>
            <p:nvPr/>
          </p:nvSpPr>
          <p:spPr bwMode="auto">
            <a:xfrm>
              <a:off x="4679154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1" name="Rectangle 123"/>
            <p:cNvSpPr>
              <a:spLocks noChangeArrowheads="1"/>
            </p:cNvSpPr>
            <p:nvPr/>
          </p:nvSpPr>
          <p:spPr bwMode="auto">
            <a:xfrm>
              <a:off x="5212515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2" name="Rectangle 130"/>
            <p:cNvSpPr>
              <a:spLocks noChangeArrowheads="1"/>
            </p:cNvSpPr>
            <p:nvPr/>
          </p:nvSpPr>
          <p:spPr bwMode="auto">
            <a:xfrm>
              <a:off x="5745877" y="1243331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3" name="TextBox 57"/>
            <p:cNvSpPr txBox="1">
              <a:spLocks noChangeArrowheads="1"/>
            </p:cNvSpPr>
            <p:nvPr/>
          </p:nvSpPr>
          <p:spPr bwMode="auto">
            <a:xfrm>
              <a:off x="3033713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k</a:t>
              </a:r>
              <a:r>
                <a:rPr lang="en-US" sz="1200" b="0" baseline="-25000" dirty="0"/>
                <a:t>1</a:t>
              </a:r>
              <a:endParaRPr lang="en-US" b="0" baseline="-25000" dirty="0"/>
            </a:p>
          </p:txBody>
        </p:sp>
        <p:sp>
          <p:nvSpPr>
            <p:cNvPr id="24684" name="TextBox 103"/>
            <p:cNvSpPr txBox="1">
              <a:spLocks noChangeArrowheads="1"/>
            </p:cNvSpPr>
            <p:nvPr/>
          </p:nvSpPr>
          <p:spPr bwMode="auto">
            <a:xfrm>
              <a:off x="3567075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k</a:t>
              </a:r>
              <a:r>
                <a:rPr lang="en-US" sz="1200" b="0" baseline="-25000" dirty="0"/>
                <a:t>2</a:t>
              </a:r>
              <a:endParaRPr lang="en-US" b="0" baseline="-25000" dirty="0"/>
            </a:p>
          </p:txBody>
        </p:sp>
        <p:sp>
          <p:nvSpPr>
            <p:cNvPr id="24685" name="TextBox 110"/>
            <p:cNvSpPr txBox="1">
              <a:spLocks noChangeArrowheads="1"/>
            </p:cNvSpPr>
            <p:nvPr/>
          </p:nvSpPr>
          <p:spPr bwMode="auto">
            <a:xfrm>
              <a:off x="4100436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24686" name="TextBox 117"/>
            <p:cNvSpPr txBox="1">
              <a:spLocks noChangeArrowheads="1"/>
            </p:cNvSpPr>
            <p:nvPr/>
          </p:nvSpPr>
          <p:spPr bwMode="auto">
            <a:xfrm>
              <a:off x="4633798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4</a:t>
              </a:r>
              <a:endParaRPr lang="en-US" b="0" baseline="-25000"/>
            </a:p>
          </p:txBody>
        </p:sp>
        <p:sp>
          <p:nvSpPr>
            <p:cNvPr id="24687" name="TextBox 124"/>
            <p:cNvSpPr txBox="1">
              <a:spLocks noChangeArrowheads="1"/>
            </p:cNvSpPr>
            <p:nvPr/>
          </p:nvSpPr>
          <p:spPr bwMode="auto">
            <a:xfrm>
              <a:off x="5167160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5</a:t>
              </a:r>
              <a:endParaRPr lang="en-US" b="0" baseline="-25000"/>
            </a:p>
          </p:txBody>
        </p:sp>
        <p:sp>
          <p:nvSpPr>
            <p:cNvPr id="24688" name="TextBox 131"/>
            <p:cNvSpPr txBox="1">
              <a:spLocks noChangeArrowheads="1"/>
            </p:cNvSpPr>
            <p:nvPr/>
          </p:nvSpPr>
          <p:spPr bwMode="auto">
            <a:xfrm>
              <a:off x="5700521" y="1219200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6</a:t>
              </a:r>
              <a:endParaRPr lang="en-US" b="0" baseline="-25000"/>
            </a:p>
          </p:txBody>
        </p:sp>
        <p:sp>
          <p:nvSpPr>
            <p:cNvPr id="24689" name="Rectangle 58"/>
            <p:cNvSpPr>
              <a:spLocks noChangeArrowheads="1"/>
            </p:cNvSpPr>
            <p:nvPr/>
          </p:nvSpPr>
          <p:spPr bwMode="auto">
            <a:xfrm>
              <a:off x="3307652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0" name="TextBox 59"/>
            <p:cNvSpPr txBox="1">
              <a:spLocks noChangeArrowheads="1"/>
            </p:cNvSpPr>
            <p:nvPr/>
          </p:nvSpPr>
          <p:spPr bwMode="auto">
            <a:xfrm>
              <a:off x="3262297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v</a:t>
              </a:r>
              <a:r>
                <a:rPr lang="en-US" sz="1200" b="0" baseline="-25000" dirty="0"/>
                <a:t>1</a:t>
              </a:r>
              <a:endParaRPr lang="en-US" b="0" baseline="-25000" dirty="0"/>
            </a:p>
          </p:txBody>
        </p:sp>
        <p:sp>
          <p:nvSpPr>
            <p:cNvPr id="24691" name="Rectangle 100"/>
            <p:cNvSpPr>
              <a:spLocks noChangeArrowheads="1"/>
            </p:cNvSpPr>
            <p:nvPr/>
          </p:nvSpPr>
          <p:spPr bwMode="auto">
            <a:xfrm>
              <a:off x="3841014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2" name="TextBox 101"/>
            <p:cNvSpPr txBox="1">
              <a:spLocks noChangeArrowheads="1"/>
            </p:cNvSpPr>
            <p:nvPr/>
          </p:nvSpPr>
          <p:spPr bwMode="auto">
            <a:xfrm>
              <a:off x="3795658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  <p:sp>
          <p:nvSpPr>
            <p:cNvPr id="24693" name="Rectangle 107"/>
            <p:cNvSpPr>
              <a:spLocks noChangeArrowheads="1"/>
            </p:cNvSpPr>
            <p:nvPr/>
          </p:nvSpPr>
          <p:spPr bwMode="auto">
            <a:xfrm>
              <a:off x="4374376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4" name="TextBox 108"/>
            <p:cNvSpPr txBox="1">
              <a:spLocks noChangeArrowheads="1"/>
            </p:cNvSpPr>
            <p:nvPr/>
          </p:nvSpPr>
          <p:spPr bwMode="auto">
            <a:xfrm>
              <a:off x="4329020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24695" name="Rectangle 114"/>
            <p:cNvSpPr>
              <a:spLocks noChangeArrowheads="1"/>
            </p:cNvSpPr>
            <p:nvPr/>
          </p:nvSpPr>
          <p:spPr bwMode="auto">
            <a:xfrm>
              <a:off x="4907737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6" name="TextBox 115"/>
            <p:cNvSpPr txBox="1">
              <a:spLocks noChangeArrowheads="1"/>
            </p:cNvSpPr>
            <p:nvPr/>
          </p:nvSpPr>
          <p:spPr bwMode="auto">
            <a:xfrm>
              <a:off x="4862382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4</a:t>
              </a:r>
              <a:endParaRPr lang="en-US" b="0" baseline="-25000"/>
            </a:p>
          </p:txBody>
        </p:sp>
        <p:sp>
          <p:nvSpPr>
            <p:cNvPr id="24697" name="Rectangle 121"/>
            <p:cNvSpPr>
              <a:spLocks noChangeArrowheads="1"/>
            </p:cNvSpPr>
            <p:nvPr/>
          </p:nvSpPr>
          <p:spPr bwMode="auto">
            <a:xfrm>
              <a:off x="5441099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8" name="TextBox 122"/>
            <p:cNvSpPr txBox="1">
              <a:spLocks noChangeArrowheads="1"/>
            </p:cNvSpPr>
            <p:nvPr/>
          </p:nvSpPr>
          <p:spPr bwMode="auto">
            <a:xfrm>
              <a:off x="5395743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5</a:t>
              </a:r>
              <a:endParaRPr lang="en-US" b="0" baseline="-25000"/>
            </a:p>
          </p:txBody>
        </p:sp>
        <p:sp>
          <p:nvSpPr>
            <p:cNvPr id="24699" name="Rectangle 128"/>
            <p:cNvSpPr>
              <a:spLocks noChangeArrowheads="1"/>
            </p:cNvSpPr>
            <p:nvPr/>
          </p:nvSpPr>
          <p:spPr bwMode="auto">
            <a:xfrm>
              <a:off x="5974461" y="1243331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00" name="TextBox 129"/>
            <p:cNvSpPr txBox="1">
              <a:spLocks noChangeArrowheads="1"/>
            </p:cNvSpPr>
            <p:nvPr/>
          </p:nvSpPr>
          <p:spPr bwMode="auto">
            <a:xfrm>
              <a:off x="5929105" y="1219200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6</a:t>
              </a:r>
              <a:endParaRPr lang="en-US" b="0" baseline="-25000"/>
            </a:p>
          </p:txBody>
        </p:sp>
      </p:grpSp>
      <p:grpSp>
        <p:nvGrpSpPr>
          <p:cNvPr id="115" name="Group 114"/>
          <p:cNvGrpSpPr/>
          <p:nvPr/>
        </p:nvGrpSpPr>
        <p:grpSpPr>
          <a:xfrm>
            <a:off x="2291678" y="3200400"/>
            <a:ext cx="991272" cy="276999"/>
            <a:chOff x="2291678" y="3200400"/>
            <a:chExt cx="991272" cy="276999"/>
          </a:xfrm>
        </p:grpSpPr>
        <p:sp>
          <p:nvSpPr>
            <p:cNvPr id="24669" name="Rectangle 144"/>
            <p:cNvSpPr>
              <a:spLocks noChangeArrowheads="1"/>
            </p:cNvSpPr>
            <p:nvPr/>
          </p:nvSpPr>
          <p:spPr bwMode="auto">
            <a:xfrm>
              <a:off x="2794665" y="3224531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0" name="TextBox 145"/>
            <p:cNvSpPr txBox="1">
              <a:spLocks noChangeArrowheads="1"/>
            </p:cNvSpPr>
            <p:nvPr/>
          </p:nvSpPr>
          <p:spPr bwMode="auto">
            <a:xfrm>
              <a:off x="2784475" y="3200400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b</a:t>
              </a:r>
              <a:endParaRPr lang="en-US" b="0" baseline="-25000" dirty="0"/>
            </a:p>
          </p:txBody>
        </p:sp>
        <p:sp>
          <p:nvSpPr>
            <p:cNvPr id="24671" name="Rectangle 137"/>
            <p:cNvSpPr>
              <a:spLocks noChangeArrowheads="1"/>
            </p:cNvSpPr>
            <p:nvPr/>
          </p:nvSpPr>
          <p:spPr bwMode="auto">
            <a:xfrm>
              <a:off x="2296190" y="3224531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2" name="TextBox 138"/>
            <p:cNvSpPr txBox="1">
              <a:spLocks noChangeArrowheads="1"/>
            </p:cNvSpPr>
            <p:nvPr/>
          </p:nvSpPr>
          <p:spPr bwMode="auto">
            <a:xfrm>
              <a:off x="2291678" y="3200400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a</a:t>
              </a:r>
              <a:endParaRPr lang="en-US" b="0" baseline="-25000" dirty="0"/>
            </a:p>
          </p:txBody>
        </p:sp>
        <p:sp>
          <p:nvSpPr>
            <p:cNvPr id="24673" name="Rectangle 135"/>
            <p:cNvSpPr>
              <a:spLocks noChangeArrowheads="1"/>
            </p:cNvSpPr>
            <p:nvPr/>
          </p:nvSpPr>
          <p:spPr bwMode="auto">
            <a:xfrm>
              <a:off x="2524904" y="3224531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4" name="TextBox 136"/>
            <p:cNvSpPr txBox="1">
              <a:spLocks noChangeArrowheads="1"/>
            </p:cNvSpPr>
            <p:nvPr/>
          </p:nvSpPr>
          <p:spPr bwMode="auto">
            <a:xfrm>
              <a:off x="2514714" y="3200400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1</a:t>
              </a:r>
              <a:endParaRPr lang="en-US" b="0" baseline="-25000" dirty="0"/>
            </a:p>
          </p:txBody>
        </p:sp>
        <p:sp>
          <p:nvSpPr>
            <p:cNvPr id="24675" name="Rectangle 142"/>
            <p:cNvSpPr>
              <a:spLocks noChangeArrowheads="1"/>
            </p:cNvSpPr>
            <p:nvPr/>
          </p:nvSpPr>
          <p:spPr bwMode="auto">
            <a:xfrm>
              <a:off x="3023379" y="3224531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6" name="TextBox 143"/>
            <p:cNvSpPr txBox="1">
              <a:spLocks noChangeArrowheads="1"/>
            </p:cNvSpPr>
            <p:nvPr/>
          </p:nvSpPr>
          <p:spPr bwMode="auto">
            <a:xfrm>
              <a:off x="3013189" y="3200400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116" name="Group 115"/>
          <p:cNvGrpSpPr/>
          <p:nvPr/>
        </p:nvGrpSpPr>
        <p:grpSpPr>
          <a:xfrm>
            <a:off x="3591085" y="3200400"/>
            <a:ext cx="987265" cy="276999"/>
            <a:chOff x="3591085" y="3200400"/>
            <a:chExt cx="987265" cy="276999"/>
          </a:xfrm>
        </p:grpSpPr>
        <p:sp>
          <p:nvSpPr>
            <p:cNvPr id="24661" name="Rectangle 151"/>
            <p:cNvSpPr>
              <a:spLocks noChangeArrowheads="1"/>
            </p:cNvSpPr>
            <p:nvPr/>
          </p:nvSpPr>
          <p:spPr bwMode="auto">
            <a:xfrm>
              <a:off x="3591590" y="3224531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2" name="Rectangle 158"/>
            <p:cNvSpPr>
              <a:spLocks noChangeArrowheads="1"/>
            </p:cNvSpPr>
            <p:nvPr/>
          </p:nvSpPr>
          <p:spPr bwMode="auto">
            <a:xfrm>
              <a:off x="4090065" y="3224531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3" name="TextBox 152"/>
            <p:cNvSpPr txBox="1">
              <a:spLocks noChangeArrowheads="1"/>
            </p:cNvSpPr>
            <p:nvPr/>
          </p:nvSpPr>
          <p:spPr bwMode="auto">
            <a:xfrm>
              <a:off x="3591085" y="3200400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4664" name="TextBox 159"/>
            <p:cNvSpPr txBox="1">
              <a:spLocks noChangeArrowheads="1"/>
            </p:cNvSpPr>
            <p:nvPr/>
          </p:nvSpPr>
          <p:spPr bwMode="auto">
            <a:xfrm>
              <a:off x="4089560" y="3200400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4665" name="Rectangle 149"/>
            <p:cNvSpPr>
              <a:spLocks noChangeArrowheads="1"/>
            </p:cNvSpPr>
            <p:nvPr/>
          </p:nvSpPr>
          <p:spPr bwMode="auto">
            <a:xfrm>
              <a:off x="3820304" y="3224531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6" name="TextBox 150"/>
            <p:cNvSpPr txBox="1">
              <a:spLocks noChangeArrowheads="1"/>
            </p:cNvSpPr>
            <p:nvPr/>
          </p:nvSpPr>
          <p:spPr bwMode="auto">
            <a:xfrm>
              <a:off x="3810114" y="3200400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3</a:t>
              </a:r>
              <a:endParaRPr lang="en-US" b="0" baseline="-25000"/>
            </a:p>
          </p:txBody>
        </p:sp>
        <p:sp>
          <p:nvSpPr>
            <p:cNvPr id="24667" name="Rectangle 156"/>
            <p:cNvSpPr>
              <a:spLocks noChangeArrowheads="1"/>
            </p:cNvSpPr>
            <p:nvPr/>
          </p:nvSpPr>
          <p:spPr bwMode="auto">
            <a:xfrm>
              <a:off x="4318779" y="3224531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8" name="TextBox 157"/>
            <p:cNvSpPr txBox="1">
              <a:spLocks noChangeArrowheads="1"/>
            </p:cNvSpPr>
            <p:nvPr/>
          </p:nvSpPr>
          <p:spPr bwMode="auto">
            <a:xfrm>
              <a:off x="4308589" y="3200400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6</a:t>
              </a:r>
              <a:endParaRPr lang="en-US" b="0" baseline="-25000"/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4882411" y="3200400"/>
            <a:ext cx="984989" cy="276999"/>
            <a:chOff x="4882411" y="3200400"/>
            <a:chExt cx="984989" cy="276999"/>
          </a:xfrm>
        </p:grpSpPr>
        <p:sp>
          <p:nvSpPr>
            <p:cNvPr id="24653" name="Rectangle 165"/>
            <p:cNvSpPr>
              <a:spLocks noChangeArrowheads="1"/>
            </p:cNvSpPr>
            <p:nvPr/>
          </p:nvSpPr>
          <p:spPr bwMode="auto">
            <a:xfrm>
              <a:off x="4886985" y="3224531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4" name="Rectangle 172"/>
            <p:cNvSpPr>
              <a:spLocks noChangeArrowheads="1"/>
            </p:cNvSpPr>
            <p:nvPr/>
          </p:nvSpPr>
          <p:spPr bwMode="auto">
            <a:xfrm>
              <a:off x="5379359" y="3224531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5" name="TextBox 166"/>
            <p:cNvSpPr txBox="1">
              <a:spLocks noChangeArrowheads="1"/>
            </p:cNvSpPr>
            <p:nvPr/>
          </p:nvSpPr>
          <p:spPr bwMode="auto">
            <a:xfrm>
              <a:off x="4882411" y="3200400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a</a:t>
              </a:r>
              <a:endParaRPr lang="en-US" b="0" baseline="-25000"/>
            </a:p>
          </p:txBody>
        </p:sp>
        <p:sp>
          <p:nvSpPr>
            <p:cNvPr id="24656" name="TextBox 173"/>
            <p:cNvSpPr txBox="1">
              <a:spLocks noChangeArrowheads="1"/>
            </p:cNvSpPr>
            <p:nvPr/>
          </p:nvSpPr>
          <p:spPr bwMode="auto">
            <a:xfrm>
              <a:off x="5374784" y="3200400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4657" name="Rectangle 163"/>
            <p:cNvSpPr>
              <a:spLocks noChangeArrowheads="1"/>
            </p:cNvSpPr>
            <p:nvPr/>
          </p:nvSpPr>
          <p:spPr bwMode="auto">
            <a:xfrm>
              <a:off x="5115585" y="3224531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8" name="TextBox 164"/>
            <p:cNvSpPr txBox="1">
              <a:spLocks noChangeArrowheads="1"/>
            </p:cNvSpPr>
            <p:nvPr/>
          </p:nvSpPr>
          <p:spPr bwMode="auto">
            <a:xfrm>
              <a:off x="5105400" y="3200400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5</a:t>
              </a:r>
              <a:endParaRPr lang="en-US" b="0" baseline="-25000"/>
            </a:p>
          </p:txBody>
        </p:sp>
        <p:sp>
          <p:nvSpPr>
            <p:cNvPr id="24659" name="Rectangle 170"/>
            <p:cNvSpPr>
              <a:spLocks noChangeArrowheads="1"/>
            </p:cNvSpPr>
            <p:nvPr/>
          </p:nvSpPr>
          <p:spPr bwMode="auto">
            <a:xfrm>
              <a:off x="5607959" y="3224531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0" name="TextBox 171"/>
            <p:cNvSpPr txBox="1">
              <a:spLocks noChangeArrowheads="1"/>
            </p:cNvSpPr>
            <p:nvPr/>
          </p:nvSpPr>
          <p:spPr bwMode="auto">
            <a:xfrm>
              <a:off x="5597774" y="3200400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248400" y="3200400"/>
            <a:ext cx="990600" cy="276999"/>
            <a:chOff x="6248400" y="3200400"/>
            <a:chExt cx="990600" cy="276999"/>
          </a:xfrm>
        </p:grpSpPr>
        <p:sp>
          <p:nvSpPr>
            <p:cNvPr id="24645" name="Rectangle 179"/>
            <p:cNvSpPr>
              <a:spLocks noChangeArrowheads="1"/>
            </p:cNvSpPr>
            <p:nvPr/>
          </p:nvSpPr>
          <p:spPr bwMode="auto">
            <a:xfrm>
              <a:off x="6258585" y="3224531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6" name="Rectangle 186"/>
            <p:cNvSpPr>
              <a:spLocks noChangeArrowheads="1"/>
            </p:cNvSpPr>
            <p:nvPr/>
          </p:nvSpPr>
          <p:spPr bwMode="auto">
            <a:xfrm>
              <a:off x="6750959" y="3224531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7" name="TextBox 180"/>
            <p:cNvSpPr txBox="1">
              <a:spLocks noChangeArrowheads="1"/>
            </p:cNvSpPr>
            <p:nvPr/>
          </p:nvSpPr>
          <p:spPr bwMode="auto">
            <a:xfrm>
              <a:off x="6248400" y="3200400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b</a:t>
              </a:r>
              <a:endParaRPr lang="en-US" b="0" baseline="-25000"/>
            </a:p>
          </p:txBody>
        </p:sp>
        <p:sp>
          <p:nvSpPr>
            <p:cNvPr id="24648" name="TextBox 187"/>
            <p:cNvSpPr txBox="1">
              <a:spLocks noChangeArrowheads="1"/>
            </p:cNvSpPr>
            <p:nvPr/>
          </p:nvSpPr>
          <p:spPr bwMode="auto">
            <a:xfrm>
              <a:off x="6746384" y="3200400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4649" name="Rectangle 177"/>
            <p:cNvSpPr>
              <a:spLocks noChangeArrowheads="1"/>
            </p:cNvSpPr>
            <p:nvPr/>
          </p:nvSpPr>
          <p:spPr bwMode="auto">
            <a:xfrm>
              <a:off x="6487185" y="3224531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0" name="TextBox 178"/>
            <p:cNvSpPr txBox="1">
              <a:spLocks noChangeArrowheads="1"/>
            </p:cNvSpPr>
            <p:nvPr/>
          </p:nvSpPr>
          <p:spPr bwMode="auto">
            <a:xfrm>
              <a:off x="6477000" y="3200400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7</a:t>
              </a:r>
              <a:endParaRPr lang="en-US" b="0" baseline="-25000"/>
            </a:p>
          </p:txBody>
        </p:sp>
        <p:sp>
          <p:nvSpPr>
            <p:cNvPr id="24651" name="Rectangle 184"/>
            <p:cNvSpPr>
              <a:spLocks noChangeArrowheads="1"/>
            </p:cNvSpPr>
            <p:nvPr/>
          </p:nvSpPr>
          <p:spPr bwMode="auto">
            <a:xfrm>
              <a:off x="6979559" y="3224531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2" name="TextBox 185"/>
            <p:cNvSpPr txBox="1">
              <a:spLocks noChangeArrowheads="1"/>
            </p:cNvSpPr>
            <p:nvPr/>
          </p:nvSpPr>
          <p:spPr bwMode="auto">
            <a:xfrm>
              <a:off x="6969374" y="3200400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8</a:t>
              </a:r>
              <a:endParaRPr lang="en-US" b="0" baseline="-25000" dirty="0"/>
            </a:p>
          </p:txBody>
        </p:sp>
      </p:grpSp>
      <p:grpSp>
        <p:nvGrpSpPr>
          <p:cNvPr id="121" name="Group 120"/>
          <p:cNvGrpSpPr/>
          <p:nvPr/>
        </p:nvGrpSpPr>
        <p:grpSpPr>
          <a:xfrm>
            <a:off x="3206053" y="3838575"/>
            <a:ext cx="797622" cy="276999"/>
            <a:chOff x="3206053" y="3838575"/>
            <a:chExt cx="797622" cy="276999"/>
          </a:xfrm>
        </p:grpSpPr>
        <p:sp>
          <p:nvSpPr>
            <p:cNvPr id="24639" name="Rectangle 193"/>
            <p:cNvSpPr>
              <a:spLocks noChangeArrowheads="1"/>
            </p:cNvSpPr>
            <p:nvPr/>
          </p:nvSpPr>
          <p:spPr bwMode="auto">
            <a:xfrm>
              <a:off x="3210588" y="3862706"/>
              <a:ext cx="228671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0" name="TextBox 194"/>
            <p:cNvSpPr txBox="1">
              <a:spLocks noChangeArrowheads="1"/>
            </p:cNvSpPr>
            <p:nvPr/>
          </p:nvSpPr>
          <p:spPr bwMode="auto">
            <a:xfrm>
              <a:off x="3206053" y="38385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a</a:t>
              </a:r>
              <a:endParaRPr lang="en-US" b="0" baseline="-25000"/>
            </a:p>
          </p:txBody>
        </p:sp>
        <p:sp>
          <p:nvSpPr>
            <p:cNvPr id="24641" name="Rectangle 191"/>
            <p:cNvSpPr>
              <a:spLocks noChangeArrowheads="1"/>
            </p:cNvSpPr>
            <p:nvPr/>
          </p:nvSpPr>
          <p:spPr bwMode="auto">
            <a:xfrm>
              <a:off x="3515483" y="38627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2" name="TextBox 192"/>
            <p:cNvSpPr txBox="1">
              <a:spLocks noChangeArrowheads="1"/>
            </p:cNvSpPr>
            <p:nvPr/>
          </p:nvSpPr>
          <p:spPr bwMode="auto">
            <a:xfrm>
              <a:off x="3505295" y="38385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1</a:t>
              </a:r>
              <a:endParaRPr lang="en-US" b="0" baseline="-25000"/>
            </a:p>
          </p:txBody>
        </p:sp>
        <p:sp>
          <p:nvSpPr>
            <p:cNvPr id="24643" name="Rectangle 196"/>
            <p:cNvSpPr>
              <a:spLocks noChangeArrowheads="1"/>
            </p:cNvSpPr>
            <p:nvPr/>
          </p:nvSpPr>
          <p:spPr bwMode="auto">
            <a:xfrm>
              <a:off x="3744154" y="38627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4" name="TextBox 197"/>
            <p:cNvSpPr txBox="1">
              <a:spLocks noChangeArrowheads="1"/>
            </p:cNvSpPr>
            <p:nvPr/>
          </p:nvSpPr>
          <p:spPr bwMode="auto">
            <a:xfrm>
              <a:off x="3733965" y="38385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5</a:t>
              </a:r>
              <a:endParaRPr lang="en-US" b="0" baseline="-25000"/>
            </a:p>
          </p:txBody>
        </p:sp>
      </p:grpSp>
      <p:grpSp>
        <p:nvGrpSpPr>
          <p:cNvPr id="120" name="Group 119"/>
          <p:cNvGrpSpPr/>
          <p:nvPr/>
        </p:nvGrpSpPr>
        <p:grpSpPr>
          <a:xfrm>
            <a:off x="4572000" y="3838575"/>
            <a:ext cx="803275" cy="276225"/>
            <a:chOff x="4572000" y="3838575"/>
            <a:chExt cx="803275" cy="276225"/>
          </a:xfrm>
        </p:grpSpPr>
        <p:sp>
          <p:nvSpPr>
            <p:cNvPr id="24633" name="Rectangle 199"/>
            <p:cNvSpPr>
              <a:spLocks noChangeArrowheads="1"/>
            </p:cNvSpPr>
            <p:nvPr/>
          </p:nvSpPr>
          <p:spPr bwMode="auto">
            <a:xfrm>
              <a:off x="4582188" y="3862706"/>
              <a:ext cx="228671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4" name="TextBox 200"/>
            <p:cNvSpPr txBox="1">
              <a:spLocks noChangeArrowheads="1"/>
            </p:cNvSpPr>
            <p:nvPr/>
          </p:nvSpPr>
          <p:spPr bwMode="auto">
            <a:xfrm>
              <a:off x="4572000" y="38385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b</a:t>
              </a:r>
              <a:endParaRPr lang="en-US" b="0" baseline="-25000"/>
            </a:p>
          </p:txBody>
        </p:sp>
        <p:sp>
          <p:nvSpPr>
            <p:cNvPr id="24635" name="Rectangle 202"/>
            <p:cNvSpPr>
              <a:spLocks noChangeArrowheads="1"/>
            </p:cNvSpPr>
            <p:nvPr/>
          </p:nvSpPr>
          <p:spPr bwMode="auto">
            <a:xfrm>
              <a:off x="4887083" y="38627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6" name="TextBox 203"/>
            <p:cNvSpPr txBox="1">
              <a:spLocks noChangeArrowheads="1"/>
            </p:cNvSpPr>
            <p:nvPr/>
          </p:nvSpPr>
          <p:spPr bwMode="auto">
            <a:xfrm>
              <a:off x="4876895" y="38385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  <p:sp>
          <p:nvSpPr>
            <p:cNvPr id="24637" name="Rectangle 205"/>
            <p:cNvSpPr>
              <a:spLocks noChangeArrowheads="1"/>
            </p:cNvSpPr>
            <p:nvPr/>
          </p:nvSpPr>
          <p:spPr bwMode="auto">
            <a:xfrm>
              <a:off x="5115754" y="38627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8" name="TextBox 206"/>
            <p:cNvSpPr txBox="1">
              <a:spLocks noChangeArrowheads="1"/>
            </p:cNvSpPr>
            <p:nvPr/>
          </p:nvSpPr>
          <p:spPr bwMode="auto">
            <a:xfrm>
              <a:off x="5105565" y="38385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7</a:t>
              </a:r>
              <a:endParaRPr lang="en-US" b="0" baseline="-25000"/>
            </a:p>
          </p:txBody>
        </p:sp>
      </p:grpSp>
      <p:grpSp>
        <p:nvGrpSpPr>
          <p:cNvPr id="119" name="Group 118"/>
          <p:cNvGrpSpPr/>
          <p:nvPr/>
        </p:nvGrpSpPr>
        <p:grpSpPr>
          <a:xfrm>
            <a:off x="5877044" y="3838575"/>
            <a:ext cx="1250831" cy="276999"/>
            <a:chOff x="5877044" y="3838575"/>
            <a:chExt cx="1250831" cy="276999"/>
          </a:xfrm>
        </p:grpSpPr>
        <p:sp>
          <p:nvSpPr>
            <p:cNvPr id="13" name="Rectangle 208"/>
            <p:cNvSpPr>
              <a:spLocks noChangeArrowheads="1"/>
            </p:cNvSpPr>
            <p:nvPr/>
          </p:nvSpPr>
          <p:spPr bwMode="auto">
            <a:xfrm>
              <a:off x="5877587" y="3862706"/>
              <a:ext cx="228645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209"/>
            <p:cNvSpPr txBox="1">
              <a:spLocks noChangeArrowheads="1"/>
            </p:cNvSpPr>
            <p:nvPr/>
          </p:nvSpPr>
          <p:spPr bwMode="auto">
            <a:xfrm>
              <a:off x="5877044" y="38385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4625" name="Rectangle 211"/>
            <p:cNvSpPr>
              <a:spLocks noChangeArrowheads="1"/>
            </p:cNvSpPr>
            <p:nvPr/>
          </p:nvSpPr>
          <p:spPr bwMode="auto">
            <a:xfrm>
              <a:off x="6182447" y="38627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212"/>
            <p:cNvSpPr txBox="1">
              <a:spLocks noChangeArrowheads="1"/>
            </p:cNvSpPr>
            <p:nvPr/>
          </p:nvSpPr>
          <p:spPr bwMode="auto">
            <a:xfrm>
              <a:off x="6172260" y="38385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  <p:sp>
          <p:nvSpPr>
            <p:cNvPr id="16" name="Rectangle 214"/>
            <p:cNvSpPr>
              <a:spLocks noChangeArrowheads="1"/>
            </p:cNvSpPr>
            <p:nvPr/>
          </p:nvSpPr>
          <p:spPr bwMode="auto">
            <a:xfrm>
              <a:off x="6411092" y="38627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8" name="TextBox 215"/>
            <p:cNvSpPr txBox="1">
              <a:spLocks noChangeArrowheads="1"/>
            </p:cNvSpPr>
            <p:nvPr/>
          </p:nvSpPr>
          <p:spPr bwMode="auto">
            <a:xfrm>
              <a:off x="6400905" y="38385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3</a:t>
              </a:r>
              <a:endParaRPr lang="en-US" b="0" baseline="-25000"/>
            </a:p>
          </p:txBody>
        </p:sp>
        <p:sp>
          <p:nvSpPr>
            <p:cNvPr id="24629" name="Rectangle 217"/>
            <p:cNvSpPr>
              <a:spLocks noChangeArrowheads="1"/>
            </p:cNvSpPr>
            <p:nvPr/>
          </p:nvSpPr>
          <p:spPr bwMode="auto">
            <a:xfrm>
              <a:off x="6639738" y="38627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218"/>
            <p:cNvSpPr txBox="1">
              <a:spLocks noChangeArrowheads="1"/>
            </p:cNvSpPr>
            <p:nvPr/>
          </p:nvSpPr>
          <p:spPr bwMode="auto">
            <a:xfrm>
              <a:off x="6629551" y="38385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6</a:t>
              </a:r>
              <a:endParaRPr lang="en-US" b="0" baseline="-25000"/>
            </a:p>
          </p:txBody>
        </p:sp>
        <p:sp>
          <p:nvSpPr>
            <p:cNvPr id="18" name="Rectangle 220"/>
            <p:cNvSpPr>
              <a:spLocks noChangeArrowheads="1"/>
            </p:cNvSpPr>
            <p:nvPr/>
          </p:nvSpPr>
          <p:spPr bwMode="auto">
            <a:xfrm>
              <a:off x="6868383" y="38627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2" name="TextBox 221"/>
            <p:cNvSpPr txBox="1">
              <a:spLocks noChangeArrowheads="1"/>
            </p:cNvSpPr>
            <p:nvPr/>
          </p:nvSpPr>
          <p:spPr bwMode="auto">
            <a:xfrm>
              <a:off x="6858196" y="38385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8</a:t>
              </a:r>
              <a:endParaRPr lang="en-US" b="0" baseline="-25000" dirty="0"/>
            </a:p>
          </p:txBody>
        </p:sp>
      </p:grpSp>
      <p:grpSp>
        <p:nvGrpSpPr>
          <p:cNvPr id="122" name="Group 121"/>
          <p:cNvGrpSpPr/>
          <p:nvPr/>
        </p:nvGrpSpPr>
        <p:grpSpPr>
          <a:xfrm>
            <a:off x="3048000" y="5667375"/>
            <a:ext cx="525380" cy="276999"/>
            <a:chOff x="3048000" y="5667375"/>
            <a:chExt cx="525380" cy="276999"/>
          </a:xfrm>
        </p:grpSpPr>
        <p:sp>
          <p:nvSpPr>
            <p:cNvPr id="24619" name="Rectangle 148"/>
            <p:cNvSpPr>
              <a:spLocks noChangeArrowheads="1"/>
            </p:cNvSpPr>
            <p:nvPr/>
          </p:nvSpPr>
          <p:spPr bwMode="auto">
            <a:xfrm>
              <a:off x="3093340" y="56915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55"/>
            <p:cNvSpPr txBox="1">
              <a:spLocks noChangeArrowheads="1"/>
            </p:cNvSpPr>
            <p:nvPr/>
          </p:nvSpPr>
          <p:spPr bwMode="auto">
            <a:xfrm>
              <a:off x="3048000" y="5667375"/>
              <a:ext cx="293547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1</a:t>
              </a:r>
              <a:endParaRPr lang="en-US" b="0" baseline="-25000"/>
            </a:p>
          </p:txBody>
        </p:sp>
        <p:sp>
          <p:nvSpPr>
            <p:cNvPr id="20" name="Rectangle 162"/>
            <p:cNvSpPr>
              <a:spLocks noChangeArrowheads="1"/>
            </p:cNvSpPr>
            <p:nvPr/>
          </p:nvSpPr>
          <p:spPr bwMode="auto">
            <a:xfrm>
              <a:off x="3321844" y="56915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2" name="TextBox 167"/>
            <p:cNvSpPr txBox="1">
              <a:spLocks noChangeArrowheads="1"/>
            </p:cNvSpPr>
            <p:nvPr/>
          </p:nvSpPr>
          <p:spPr bwMode="auto">
            <a:xfrm>
              <a:off x="3276504" y="56673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1</a:t>
              </a:r>
              <a:endParaRPr lang="en-US" b="0" baseline="-25000"/>
            </a:p>
          </p:txBody>
        </p:sp>
      </p:grpSp>
      <p:grpSp>
        <p:nvGrpSpPr>
          <p:cNvPr id="123" name="Group 122"/>
          <p:cNvGrpSpPr/>
          <p:nvPr/>
        </p:nvGrpSpPr>
        <p:grpSpPr>
          <a:xfrm>
            <a:off x="4405313" y="5667375"/>
            <a:ext cx="525380" cy="276999"/>
            <a:chOff x="4405313" y="5667375"/>
            <a:chExt cx="525380" cy="276999"/>
          </a:xfrm>
        </p:grpSpPr>
        <p:sp>
          <p:nvSpPr>
            <p:cNvPr id="24615" name="Rectangle 183"/>
            <p:cNvSpPr>
              <a:spLocks noChangeArrowheads="1"/>
            </p:cNvSpPr>
            <p:nvPr/>
          </p:nvSpPr>
          <p:spPr bwMode="auto">
            <a:xfrm>
              <a:off x="4450653" y="56915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6" name="TextBox 188"/>
            <p:cNvSpPr txBox="1">
              <a:spLocks noChangeArrowheads="1"/>
            </p:cNvSpPr>
            <p:nvPr/>
          </p:nvSpPr>
          <p:spPr bwMode="auto">
            <a:xfrm>
              <a:off x="4405313" y="5667375"/>
              <a:ext cx="29354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  <p:sp>
          <p:nvSpPr>
            <p:cNvPr id="24617" name="Rectangle 189"/>
            <p:cNvSpPr>
              <a:spLocks noChangeArrowheads="1"/>
            </p:cNvSpPr>
            <p:nvPr/>
          </p:nvSpPr>
          <p:spPr bwMode="auto">
            <a:xfrm>
              <a:off x="4679157" y="56915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8" name="TextBox 190"/>
            <p:cNvSpPr txBox="1">
              <a:spLocks noChangeArrowheads="1"/>
            </p:cNvSpPr>
            <p:nvPr/>
          </p:nvSpPr>
          <p:spPr bwMode="auto">
            <a:xfrm>
              <a:off x="4633817" y="56673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</p:grpSp>
      <p:grpSp>
        <p:nvGrpSpPr>
          <p:cNvPr id="124" name="Group 123"/>
          <p:cNvGrpSpPr/>
          <p:nvPr/>
        </p:nvGrpSpPr>
        <p:grpSpPr>
          <a:xfrm>
            <a:off x="5715000" y="5667375"/>
            <a:ext cx="525380" cy="276999"/>
            <a:chOff x="5715000" y="5667375"/>
            <a:chExt cx="525380" cy="276999"/>
          </a:xfrm>
        </p:grpSpPr>
        <p:sp>
          <p:nvSpPr>
            <p:cNvPr id="24611" name="Rectangle 195"/>
            <p:cNvSpPr>
              <a:spLocks noChangeArrowheads="1"/>
            </p:cNvSpPr>
            <p:nvPr/>
          </p:nvSpPr>
          <p:spPr bwMode="auto">
            <a:xfrm>
              <a:off x="5760340" y="56915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2" name="TextBox 198"/>
            <p:cNvSpPr txBox="1">
              <a:spLocks noChangeArrowheads="1"/>
            </p:cNvSpPr>
            <p:nvPr/>
          </p:nvSpPr>
          <p:spPr bwMode="auto">
            <a:xfrm>
              <a:off x="5715000" y="5667375"/>
              <a:ext cx="293547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24613" name="Rectangle 201"/>
            <p:cNvSpPr>
              <a:spLocks noChangeArrowheads="1"/>
            </p:cNvSpPr>
            <p:nvPr/>
          </p:nvSpPr>
          <p:spPr bwMode="auto">
            <a:xfrm>
              <a:off x="5988844" y="56915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4" name="TextBox 204"/>
            <p:cNvSpPr txBox="1">
              <a:spLocks noChangeArrowheads="1"/>
            </p:cNvSpPr>
            <p:nvPr/>
          </p:nvSpPr>
          <p:spPr bwMode="auto">
            <a:xfrm>
              <a:off x="5943504" y="56673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</p:grpSp>
    </p:spTree>
    <p:extLst>
      <p:ext uri="{BB962C8B-B14F-4D97-AF65-F5344CB8AC3E}">
        <p14:creationId xmlns:p14="http://schemas.microsoft.com/office/powerpoint/2010/main" val="425595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30" grpId="0" animBg="1"/>
      <p:bldP spid="24626" grpId="0" animBg="1"/>
      <p:bldP spid="24623" grpId="0" animBg="1"/>
      <p:bldP spid="24620" grpId="0" animBg="1"/>
      <p:bldP spid="69" grpId="0" animBg="1"/>
      <p:bldP spid="70" grpId="0" animBg="1"/>
      <p:bldP spid="76" grpId="0" animBg="1"/>
      <p:bldP spid="8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MapReduce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/>
              <a:t>Programmers specify two functions: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</a:rPr>
              <a:t>map</a:t>
            </a:r>
            <a:r>
              <a:rPr lang="en-US" dirty="0"/>
              <a:t> (k, v) </a:t>
            </a:r>
            <a:r>
              <a:rPr lang="en-US" dirty="0">
                <a:cs typeface="Arial" charset="0"/>
              </a:rPr>
              <a:t>→ &lt;k’, v’&gt;*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  <a:cs typeface="Arial" charset="0"/>
              </a:rPr>
              <a:t>reduce</a:t>
            </a:r>
            <a:r>
              <a:rPr lang="en-US" dirty="0">
                <a:cs typeface="Arial" charset="0"/>
              </a:rPr>
              <a:t> (k’, v’) → &lt;k’, v’&gt;*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All values with the same key are sent to the same reducer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The execution framework handles everything else…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4419600" y="6015335"/>
            <a:ext cx="44196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What’s “everything else”?</a:t>
            </a:r>
          </a:p>
        </p:txBody>
      </p:sp>
    </p:spTree>
    <p:extLst>
      <p:ext uri="{BB962C8B-B14F-4D97-AF65-F5344CB8AC3E}">
        <p14:creationId xmlns:p14="http://schemas.microsoft.com/office/powerpoint/2010/main" val="360333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“Runtime”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Handles scheduling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Assigns workers to map and reduce tasks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Handles “data distribution”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Moves processes to data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Handles synchronization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Gathers, sorts, and shuffles intermediate data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Handles errors and faults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Detects worker failures and restarts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Everything happens on top of a distributed FS</a:t>
            </a:r>
          </a:p>
        </p:txBody>
      </p:sp>
    </p:spTree>
    <p:extLst>
      <p:ext uri="{BB962C8B-B14F-4D97-AF65-F5344CB8AC3E}">
        <p14:creationId xmlns:p14="http://schemas.microsoft.com/office/powerpoint/2010/main" val="3171917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MapReduce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Programmers specify two functions: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</a:rPr>
              <a:t>map</a:t>
            </a:r>
            <a:r>
              <a:rPr lang="en-US" dirty="0"/>
              <a:t> (k, v) </a:t>
            </a:r>
            <a:r>
              <a:rPr lang="en-US" dirty="0">
                <a:cs typeface="Arial" charset="0"/>
              </a:rPr>
              <a:t>→ &lt;k’, v’&gt;*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  <a:cs typeface="Arial" charset="0"/>
              </a:rPr>
              <a:t>reduce</a:t>
            </a:r>
            <a:r>
              <a:rPr lang="en-US" dirty="0">
                <a:cs typeface="Arial" charset="0"/>
              </a:rPr>
              <a:t> (k’, v’) → &lt;k’, v’&gt;*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All values with the same key are reduced together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The execution framework handles everything else…</a:t>
            </a:r>
          </a:p>
          <a:p>
            <a:pPr>
              <a:lnSpc>
                <a:spcPct val="90000"/>
              </a:lnSpc>
            </a:pPr>
            <a:r>
              <a:rPr lang="en-US" dirty="0">
                <a:cs typeface="Arial" charset="0"/>
              </a:rPr>
              <a:t>Not quite…usually, programmers also specify: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b="1" dirty="0">
                <a:solidFill>
                  <a:srgbClr val="FF0000"/>
                </a:solidFill>
                <a:cs typeface="Arial" charset="0"/>
              </a:rPr>
              <a:t>partition</a:t>
            </a:r>
            <a:r>
              <a:rPr lang="en-US" dirty="0">
                <a:cs typeface="Arial" charset="0"/>
              </a:rPr>
              <a:t> (k’, number of partitions) → partition for k’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Often a simple hash of the key, e.g., hash(k’) mod n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Divides up key space for parallel reduce operations</a:t>
            </a:r>
          </a:p>
          <a:p>
            <a:pPr lvl="1">
              <a:lnSpc>
                <a:spcPct val="90000"/>
              </a:lnSpc>
              <a:buNone/>
            </a:pPr>
            <a:r>
              <a:rPr lang="en-US" b="1" dirty="0">
                <a:solidFill>
                  <a:srgbClr val="FF0000"/>
                </a:solidFill>
                <a:cs typeface="Arial" charset="0"/>
              </a:rPr>
              <a:t>combine</a:t>
            </a:r>
            <a:r>
              <a:rPr lang="en-US" dirty="0">
                <a:cs typeface="Arial" charset="0"/>
              </a:rPr>
              <a:t> (k’, v’) → &lt;k’, v’&gt;*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Mini-reducers that run in memory after the map phase</a:t>
            </a:r>
          </a:p>
          <a:p>
            <a:pPr lvl="1">
              <a:lnSpc>
                <a:spcPct val="90000"/>
              </a:lnSpc>
            </a:pPr>
            <a:r>
              <a:rPr lang="en-US" dirty="0">
                <a:cs typeface="Arial" charset="0"/>
              </a:rPr>
              <a:t>Used as an optimization to reduce network traffic</a:t>
            </a:r>
          </a:p>
        </p:txBody>
      </p:sp>
    </p:spTree>
    <p:extLst>
      <p:ext uri="{BB962C8B-B14F-4D97-AF65-F5344CB8AC3E}">
        <p14:creationId xmlns:p14="http://schemas.microsoft.com/office/powerpoint/2010/main" val="9006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Straight Arrow Connector 172"/>
          <p:cNvCxnSpPr>
            <a:cxnSpLocks noChangeShapeType="1"/>
          </p:cNvCxnSpPr>
          <p:nvPr/>
        </p:nvCxnSpPr>
        <p:spPr bwMode="auto">
          <a:xfrm rot="5400000">
            <a:off x="2644776" y="3213100"/>
            <a:ext cx="273050" cy="3175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cxnSpLocks noChangeShapeType="1"/>
          </p:cNvCxnSpPr>
          <p:nvPr/>
        </p:nvCxnSpPr>
        <p:spPr bwMode="auto">
          <a:xfrm rot="5400000">
            <a:off x="3938588" y="32131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cxnSpLocks noChangeShapeType="1"/>
          </p:cNvCxnSpPr>
          <p:nvPr/>
        </p:nvCxnSpPr>
        <p:spPr bwMode="auto">
          <a:xfrm rot="5400000">
            <a:off x="5233988" y="32131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6" name="Straight Arrow Connector 175"/>
          <p:cNvCxnSpPr>
            <a:cxnSpLocks noChangeShapeType="1"/>
          </p:cNvCxnSpPr>
          <p:nvPr/>
        </p:nvCxnSpPr>
        <p:spPr bwMode="auto">
          <a:xfrm rot="5400000">
            <a:off x="6605588" y="32131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Rectangle 7"/>
          <p:cNvSpPr>
            <a:spLocks noChangeArrowheads="1"/>
          </p:cNvSpPr>
          <p:nvPr/>
        </p:nvSpPr>
        <p:spPr bwMode="auto">
          <a:xfrm>
            <a:off x="6324600" y="2666999"/>
            <a:ext cx="838200" cy="4095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combine</a:t>
            </a:r>
          </a:p>
        </p:txBody>
      </p:sp>
      <p:sp>
        <p:nvSpPr>
          <p:cNvPr id="170" name="Rectangle 4"/>
          <p:cNvSpPr>
            <a:spLocks noChangeArrowheads="1"/>
          </p:cNvSpPr>
          <p:nvPr/>
        </p:nvSpPr>
        <p:spPr bwMode="auto">
          <a:xfrm>
            <a:off x="2362200" y="2666999"/>
            <a:ext cx="838200" cy="4095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combine</a:t>
            </a:r>
          </a:p>
        </p:txBody>
      </p:sp>
      <p:sp>
        <p:nvSpPr>
          <p:cNvPr id="171" name="Rectangle 5"/>
          <p:cNvSpPr>
            <a:spLocks noChangeArrowheads="1"/>
          </p:cNvSpPr>
          <p:nvPr/>
        </p:nvSpPr>
        <p:spPr bwMode="auto">
          <a:xfrm>
            <a:off x="3657600" y="2666999"/>
            <a:ext cx="838200" cy="4095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combine</a:t>
            </a:r>
          </a:p>
        </p:txBody>
      </p:sp>
      <p:sp>
        <p:nvSpPr>
          <p:cNvPr id="172" name="Rectangle 6"/>
          <p:cNvSpPr>
            <a:spLocks noChangeArrowheads="1"/>
          </p:cNvSpPr>
          <p:nvPr/>
        </p:nvSpPr>
        <p:spPr bwMode="auto">
          <a:xfrm>
            <a:off x="4953000" y="2666999"/>
            <a:ext cx="838200" cy="4095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combine</a:t>
            </a:r>
          </a:p>
        </p:txBody>
      </p:sp>
      <p:grpSp>
        <p:nvGrpSpPr>
          <p:cNvPr id="327" name="Group 326"/>
          <p:cNvGrpSpPr/>
          <p:nvPr/>
        </p:nvGrpSpPr>
        <p:grpSpPr>
          <a:xfrm>
            <a:off x="2291678" y="3381375"/>
            <a:ext cx="991272" cy="276999"/>
            <a:chOff x="2291678" y="3381375"/>
            <a:chExt cx="991272" cy="276999"/>
          </a:xfrm>
        </p:grpSpPr>
        <p:sp>
          <p:nvSpPr>
            <p:cNvPr id="178" name="Rectangle 144"/>
            <p:cNvSpPr>
              <a:spLocks noChangeArrowheads="1"/>
            </p:cNvSpPr>
            <p:nvPr/>
          </p:nvSpPr>
          <p:spPr bwMode="auto">
            <a:xfrm>
              <a:off x="2794665" y="34055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TextBox 145"/>
            <p:cNvSpPr txBox="1">
              <a:spLocks noChangeArrowheads="1"/>
            </p:cNvSpPr>
            <p:nvPr/>
          </p:nvSpPr>
          <p:spPr bwMode="auto">
            <a:xfrm>
              <a:off x="2784475" y="33813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b</a:t>
              </a:r>
              <a:endParaRPr lang="en-US" b="0" baseline="-25000" dirty="0"/>
            </a:p>
          </p:txBody>
        </p:sp>
        <p:sp>
          <p:nvSpPr>
            <p:cNvPr id="180" name="Rectangle 137"/>
            <p:cNvSpPr>
              <a:spLocks noChangeArrowheads="1"/>
            </p:cNvSpPr>
            <p:nvPr/>
          </p:nvSpPr>
          <p:spPr bwMode="auto">
            <a:xfrm>
              <a:off x="2296190" y="34055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TextBox 138"/>
            <p:cNvSpPr txBox="1">
              <a:spLocks noChangeArrowheads="1"/>
            </p:cNvSpPr>
            <p:nvPr/>
          </p:nvSpPr>
          <p:spPr bwMode="auto">
            <a:xfrm>
              <a:off x="2291678" y="33813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a</a:t>
              </a:r>
              <a:endParaRPr lang="en-US" b="0" baseline="-25000" dirty="0"/>
            </a:p>
          </p:txBody>
        </p:sp>
        <p:sp>
          <p:nvSpPr>
            <p:cNvPr id="182" name="Rectangle 135"/>
            <p:cNvSpPr>
              <a:spLocks noChangeArrowheads="1"/>
            </p:cNvSpPr>
            <p:nvPr/>
          </p:nvSpPr>
          <p:spPr bwMode="auto">
            <a:xfrm>
              <a:off x="2524904" y="34055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TextBox 136"/>
            <p:cNvSpPr txBox="1">
              <a:spLocks noChangeArrowheads="1"/>
            </p:cNvSpPr>
            <p:nvPr/>
          </p:nvSpPr>
          <p:spPr bwMode="auto">
            <a:xfrm>
              <a:off x="2514714" y="33813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1</a:t>
              </a:r>
              <a:endParaRPr lang="en-US" b="0" baseline="-25000"/>
            </a:p>
          </p:txBody>
        </p:sp>
        <p:sp>
          <p:nvSpPr>
            <p:cNvPr id="184" name="Rectangle 142"/>
            <p:cNvSpPr>
              <a:spLocks noChangeArrowheads="1"/>
            </p:cNvSpPr>
            <p:nvPr/>
          </p:nvSpPr>
          <p:spPr bwMode="auto">
            <a:xfrm>
              <a:off x="3023379" y="34055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TextBox 143"/>
            <p:cNvSpPr txBox="1">
              <a:spLocks noChangeArrowheads="1"/>
            </p:cNvSpPr>
            <p:nvPr/>
          </p:nvSpPr>
          <p:spPr bwMode="auto">
            <a:xfrm>
              <a:off x="3013189" y="33813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326" name="Group 325"/>
          <p:cNvGrpSpPr/>
          <p:nvPr/>
        </p:nvGrpSpPr>
        <p:grpSpPr>
          <a:xfrm>
            <a:off x="3854610" y="3381375"/>
            <a:ext cx="488790" cy="276999"/>
            <a:chOff x="3854610" y="3381375"/>
            <a:chExt cx="488790" cy="276999"/>
          </a:xfrm>
        </p:grpSpPr>
        <p:sp>
          <p:nvSpPr>
            <p:cNvPr id="187" name="Rectangle 151"/>
            <p:cNvSpPr>
              <a:spLocks noChangeArrowheads="1"/>
            </p:cNvSpPr>
            <p:nvPr/>
          </p:nvSpPr>
          <p:spPr bwMode="auto">
            <a:xfrm>
              <a:off x="3855115" y="34055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TextBox 152"/>
            <p:cNvSpPr txBox="1">
              <a:spLocks noChangeArrowheads="1"/>
            </p:cNvSpPr>
            <p:nvPr/>
          </p:nvSpPr>
          <p:spPr bwMode="auto">
            <a:xfrm>
              <a:off x="3854610" y="33813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191" name="Rectangle 149"/>
            <p:cNvSpPr>
              <a:spLocks noChangeArrowheads="1"/>
            </p:cNvSpPr>
            <p:nvPr/>
          </p:nvSpPr>
          <p:spPr bwMode="auto">
            <a:xfrm>
              <a:off x="4083829" y="34055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TextBox 150"/>
            <p:cNvSpPr txBox="1">
              <a:spLocks noChangeArrowheads="1"/>
            </p:cNvSpPr>
            <p:nvPr/>
          </p:nvSpPr>
          <p:spPr bwMode="auto">
            <a:xfrm>
              <a:off x="4073639" y="33813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9</a:t>
              </a:r>
              <a:endParaRPr lang="en-US" b="0" baseline="-25000" dirty="0"/>
            </a:p>
          </p:txBody>
        </p:sp>
      </p:grpSp>
      <p:grpSp>
        <p:nvGrpSpPr>
          <p:cNvPr id="325" name="Group 324"/>
          <p:cNvGrpSpPr/>
          <p:nvPr/>
        </p:nvGrpSpPr>
        <p:grpSpPr>
          <a:xfrm>
            <a:off x="4882411" y="3381375"/>
            <a:ext cx="984989" cy="276999"/>
            <a:chOff x="4882411" y="3381375"/>
            <a:chExt cx="984989" cy="276999"/>
          </a:xfrm>
        </p:grpSpPr>
        <p:sp>
          <p:nvSpPr>
            <p:cNvPr id="196" name="Rectangle 165"/>
            <p:cNvSpPr>
              <a:spLocks noChangeArrowheads="1"/>
            </p:cNvSpPr>
            <p:nvPr/>
          </p:nvSpPr>
          <p:spPr bwMode="auto">
            <a:xfrm>
              <a:off x="4886985" y="34055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Rectangle 172"/>
            <p:cNvSpPr>
              <a:spLocks noChangeArrowheads="1"/>
            </p:cNvSpPr>
            <p:nvPr/>
          </p:nvSpPr>
          <p:spPr bwMode="auto">
            <a:xfrm>
              <a:off x="5379359" y="34055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TextBox 166"/>
            <p:cNvSpPr txBox="1">
              <a:spLocks noChangeArrowheads="1"/>
            </p:cNvSpPr>
            <p:nvPr/>
          </p:nvSpPr>
          <p:spPr bwMode="auto">
            <a:xfrm>
              <a:off x="4882411" y="33813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a</a:t>
              </a:r>
              <a:endParaRPr lang="en-US" b="0" baseline="-25000"/>
            </a:p>
          </p:txBody>
        </p:sp>
        <p:sp>
          <p:nvSpPr>
            <p:cNvPr id="199" name="TextBox 173"/>
            <p:cNvSpPr txBox="1">
              <a:spLocks noChangeArrowheads="1"/>
            </p:cNvSpPr>
            <p:nvPr/>
          </p:nvSpPr>
          <p:spPr bwMode="auto">
            <a:xfrm>
              <a:off x="5374784" y="33813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00" name="Rectangle 163"/>
            <p:cNvSpPr>
              <a:spLocks noChangeArrowheads="1"/>
            </p:cNvSpPr>
            <p:nvPr/>
          </p:nvSpPr>
          <p:spPr bwMode="auto">
            <a:xfrm>
              <a:off x="5115585" y="34055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TextBox 164"/>
            <p:cNvSpPr txBox="1">
              <a:spLocks noChangeArrowheads="1"/>
            </p:cNvSpPr>
            <p:nvPr/>
          </p:nvSpPr>
          <p:spPr bwMode="auto">
            <a:xfrm>
              <a:off x="5105400" y="33813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5</a:t>
              </a:r>
              <a:endParaRPr lang="en-US" b="0" baseline="-25000"/>
            </a:p>
          </p:txBody>
        </p:sp>
        <p:sp>
          <p:nvSpPr>
            <p:cNvPr id="202" name="Rectangle 170"/>
            <p:cNvSpPr>
              <a:spLocks noChangeArrowheads="1"/>
            </p:cNvSpPr>
            <p:nvPr/>
          </p:nvSpPr>
          <p:spPr bwMode="auto">
            <a:xfrm>
              <a:off x="5607959" y="34055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TextBox 171"/>
            <p:cNvSpPr txBox="1">
              <a:spLocks noChangeArrowheads="1"/>
            </p:cNvSpPr>
            <p:nvPr/>
          </p:nvSpPr>
          <p:spPr bwMode="auto">
            <a:xfrm>
              <a:off x="5597774" y="33813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324" name="Group 323"/>
          <p:cNvGrpSpPr/>
          <p:nvPr/>
        </p:nvGrpSpPr>
        <p:grpSpPr>
          <a:xfrm>
            <a:off x="6248400" y="3381375"/>
            <a:ext cx="990600" cy="276999"/>
            <a:chOff x="6248400" y="3381375"/>
            <a:chExt cx="990600" cy="276999"/>
          </a:xfrm>
        </p:grpSpPr>
        <p:sp>
          <p:nvSpPr>
            <p:cNvPr id="205" name="Rectangle 179"/>
            <p:cNvSpPr>
              <a:spLocks noChangeArrowheads="1"/>
            </p:cNvSpPr>
            <p:nvPr/>
          </p:nvSpPr>
          <p:spPr bwMode="auto">
            <a:xfrm>
              <a:off x="6258585" y="34055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Rectangle 186"/>
            <p:cNvSpPr>
              <a:spLocks noChangeArrowheads="1"/>
            </p:cNvSpPr>
            <p:nvPr/>
          </p:nvSpPr>
          <p:spPr bwMode="auto">
            <a:xfrm>
              <a:off x="6750959" y="34055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TextBox 180"/>
            <p:cNvSpPr txBox="1">
              <a:spLocks noChangeArrowheads="1"/>
            </p:cNvSpPr>
            <p:nvPr/>
          </p:nvSpPr>
          <p:spPr bwMode="auto">
            <a:xfrm>
              <a:off x="6248400" y="33813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b</a:t>
              </a:r>
              <a:endParaRPr lang="en-US" b="0" baseline="-25000"/>
            </a:p>
          </p:txBody>
        </p:sp>
        <p:sp>
          <p:nvSpPr>
            <p:cNvPr id="208" name="TextBox 187"/>
            <p:cNvSpPr txBox="1">
              <a:spLocks noChangeArrowheads="1"/>
            </p:cNvSpPr>
            <p:nvPr/>
          </p:nvSpPr>
          <p:spPr bwMode="auto">
            <a:xfrm>
              <a:off x="6746384" y="33813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09" name="Rectangle 177"/>
            <p:cNvSpPr>
              <a:spLocks noChangeArrowheads="1"/>
            </p:cNvSpPr>
            <p:nvPr/>
          </p:nvSpPr>
          <p:spPr bwMode="auto">
            <a:xfrm>
              <a:off x="6487185" y="34055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TextBox 178"/>
            <p:cNvSpPr txBox="1">
              <a:spLocks noChangeArrowheads="1"/>
            </p:cNvSpPr>
            <p:nvPr/>
          </p:nvSpPr>
          <p:spPr bwMode="auto">
            <a:xfrm>
              <a:off x="6477000" y="33813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7</a:t>
              </a:r>
              <a:endParaRPr lang="en-US" b="0" baseline="-25000"/>
            </a:p>
          </p:txBody>
        </p:sp>
        <p:sp>
          <p:nvSpPr>
            <p:cNvPr id="211" name="Rectangle 184"/>
            <p:cNvSpPr>
              <a:spLocks noChangeArrowheads="1"/>
            </p:cNvSpPr>
            <p:nvPr/>
          </p:nvSpPr>
          <p:spPr bwMode="auto">
            <a:xfrm>
              <a:off x="6979559" y="34055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TextBox 185"/>
            <p:cNvSpPr txBox="1">
              <a:spLocks noChangeArrowheads="1"/>
            </p:cNvSpPr>
            <p:nvPr/>
          </p:nvSpPr>
          <p:spPr bwMode="auto">
            <a:xfrm>
              <a:off x="6969374" y="33813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8</a:t>
              </a:r>
              <a:endParaRPr lang="en-US" b="0" baseline="-25000" dirty="0"/>
            </a:p>
          </p:txBody>
        </p:sp>
      </p:grpSp>
      <p:sp>
        <p:nvSpPr>
          <p:cNvPr id="213" name="Rectangle 4"/>
          <p:cNvSpPr>
            <a:spLocks noChangeArrowheads="1"/>
          </p:cNvSpPr>
          <p:nvPr/>
        </p:nvSpPr>
        <p:spPr bwMode="auto">
          <a:xfrm>
            <a:off x="2286000" y="3733800"/>
            <a:ext cx="990600" cy="3333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partition</a:t>
            </a:r>
          </a:p>
        </p:txBody>
      </p:sp>
      <p:sp>
        <p:nvSpPr>
          <p:cNvPr id="214" name="Rectangle 4"/>
          <p:cNvSpPr>
            <a:spLocks noChangeArrowheads="1"/>
          </p:cNvSpPr>
          <p:nvPr/>
        </p:nvSpPr>
        <p:spPr bwMode="auto">
          <a:xfrm>
            <a:off x="3581400" y="3733800"/>
            <a:ext cx="990600" cy="3333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partition</a:t>
            </a:r>
          </a:p>
        </p:txBody>
      </p:sp>
      <p:sp>
        <p:nvSpPr>
          <p:cNvPr id="215" name="Rectangle 4"/>
          <p:cNvSpPr>
            <a:spLocks noChangeArrowheads="1"/>
          </p:cNvSpPr>
          <p:nvPr/>
        </p:nvSpPr>
        <p:spPr bwMode="auto">
          <a:xfrm>
            <a:off x="4876800" y="3733800"/>
            <a:ext cx="990600" cy="3333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partition</a:t>
            </a:r>
          </a:p>
        </p:txBody>
      </p:sp>
      <p:sp>
        <p:nvSpPr>
          <p:cNvPr id="216" name="Rectangle 4"/>
          <p:cNvSpPr>
            <a:spLocks noChangeArrowheads="1"/>
          </p:cNvSpPr>
          <p:nvPr/>
        </p:nvSpPr>
        <p:spPr bwMode="auto">
          <a:xfrm>
            <a:off x="6248400" y="3733800"/>
            <a:ext cx="990600" cy="333375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b="0" dirty="0">
                <a:solidFill>
                  <a:schemeClr val="tx1"/>
                </a:solidFill>
              </a:rPr>
              <a:t>partition</a:t>
            </a:r>
          </a:p>
        </p:txBody>
      </p:sp>
      <p:cxnSp>
        <p:nvCxnSpPr>
          <p:cNvPr id="167" name="Straight Arrow Connector 166"/>
          <p:cNvCxnSpPr>
            <a:cxnSpLocks noChangeShapeType="1"/>
          </p:cNvCxnSpPr>
          <p:nvPr/>
        </p:nvCxnSpPr>
        <p:spPr bwMode="auto">
          <a:xfrm rot="5400000">
            <a:off x="2644776" y="2146300"/>
            <a:ext cx="273050" cy="3175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cxnSpLocks noChangeShapeType="1"/>
          </p:cNvCxnSpPr>
          <p:nvPr/>
        </p:nvCxnSpPr>
        <p:spPr bwMode="auto">
          <a:xfrm rot="5400000">
            <a:off x="3938588" y="21463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cxnSpLocks noChangeShapeType="1"/>
          </p:cNvCxnSpPr>
          <p:nvPr/>
        </p:nvCxnSpPr>
        <p:spPr bwMode="auto">
          <a:xfrm rot="5400000">
            <a:off x="5233988" y="21463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/>
          <p:cNvCxnSpPr>
            <a:cxnSpLocks noChangeShapeType="1"/>
          </p:cNvCxnSpPr>
          <p:nvPr/>
        </p:nvCxnSpPr>
        <p:spPr bwMode="auto">
          <a:xfrm rot="5400000">
            <a:off x="6605588" y="2146300"/>
            <a:ext cx="274638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Rectangle 7"/>
          <p:cNvSpPr>
            <a:spLocks noChangeArrowheads="1"/>
          </p:cNvSpPr>
          <p:nvPr/>
        </p:nvSpPr>
        <p:spPr bwMode="auto">
          <a:xfrm>
            <a:off x="6324600" y="1400175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190" name="Straight Arrow Connector 27"/>
          <p:cNvCxnSpPr>
            <a:cxnSpLocks noChangeShapeType="1"/>
          </p:cNvCxnSpPr>
          <p:nvPr/>
        </p:nvCxnSpPr>
        <p:spPr bwMode="auto">
          <a:xfrm rot="16200000" flipH="1">
            <a:off x="6019800" y="714375"/>
            <a:ext cx="609600" cy="6096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3" name="Rectangle 4"/>
          <p:cNvSpPr>
            <a:spLocks noChangeArrowheads="1"/>
          </p:cNvSpPr>
          <p:nvPr/>
        </p:nvSpPr>
        <p:spPr bwMode="auto">
          <a:xfrm>
            <a:off x="2362200" y="1400175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 dirty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194" name="Straight Arrow Connector 20"/>
          <p:cNvCxnSpPr>
            <a:cxnSpLocks noChangeShapeType="1"/>
          </p:cNvCxnSpPr>
          <p:nvPr/>
        </p:nvCxnSpPr>
        <p:spPr bwMode="auto">
          <a:xfrm rot="5400000">
            <a:off x="2819400" y="714375"/>
            <a:ext cx="609600" cy="6096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5" name="Rectangle 5"/>
          <p:cNvSpPr>
            <a:spLocks noChangeArrowheads="1"/>
          </p:cNvSpPr>
          <p:nvPr/>
        </p:nvSpPr>
        <p:spPr bwMode="auto">
          <a:xfrm>
            <a:off x="3657600" y="1400175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04" name="Straight Arrow Connector 22"/>
          <p:cNvCxnSpPr>
            <a:cxnSpLocks noChangeShapeType="1"/>
          </p:cNvCxnSpPr>
          <p:nvPr/>
        </p:nvCxnSpPr>
        <p:spPr bwMode="auto">
          <a:xfrm rot="5400000">
            <a:off x="3771900" y="981075"/>
            <a:ext cx="609600" cy="762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Rectangle 6"/>
          <p:cNvSpPr>
            <a:spLocks noChangeArrowheads="1"/>
          </p:cNvSpPr>
          <p:nvPr/>
        </p:nvSpPr>
        <p:spPr bwMode="auto">
          <a:xfrm>
            <a:off x="4953000" y="1400175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map</a:t>
            </a:r>
          </a:p>
        </p:txBody>
      </p:sp>
      <p:cxnSp>
        <p:nvCxnSpPr>
          <p:cNvPr id="218" name="Straight Arrow Connector 28"/>
          <p:cNvCxnSpPr>
            <a:cxnSpLocks noChangeShapeType="1"/>
          </p:cNvCxnSpPr>
          <p:nvPr/>
        </p:nvCxnSpPr>
        <p:spPr bwMode="auto">
          <a:xfrm rot="16200000" flipH="1">
            <a:off x="4991100" y="981075"/>
            <a:ext cx="609600" cy="76200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19" name="Group 318"/>
          <p:cNvGrpSpPr/>
          <p:nvPr/>
        </p:nvGrpSpPr>
        <p:grpSpPr>
          <a:xfrm>
            <a:off x="3033713" y="333375"/>
            <a:ext cx="3200284" cy="276999"/>
            <a:chOff x="3033713" y="333375"/>
            <a:chExt cx="3200284" cy="276999"/>
          </a:xfrm>
        </p:grpSpPr>
        <p:sp>
          <p:nvSpPr>
            <p:cNvPr id="219" name="Rectangle 56"/>
            <p:cNvSpPr>
              <a:spLocks noChangeArrowheads="1"/>
            </p:cNvSpPr>
            <p:nvPr/>
          </p:nvSpPr>
          <p:spPr bwMode="auto">
            <a:xfrm>
              <a:off x="3079069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Rectangle 102"/>
            <p:cNvSpPr>
              <a:spLocks noChangeArrowheads="1"/>
            </p:cNvSpPr>
            <p:nvPr/>
          </p:nvSpPr>
          <p:spPr bwMode="auto">
            <a:xfrm>
              <a:off x="3612430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Rectangle 109"/>
            <p:cNvSpPr>
              <a:spLocks noChangeArrowheads="1"/>
            </p:cNvSpPr>
            <p:nvPr/>
          </p:nvSpPr>
          <p:spPr bwMode="auto">
            <a:xfrm>
              <a:off x="4145792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Rectangle 116"/>
            <p:cNvSpPr>
              <a:spLocks noChangeArrowheads="1"/>
            </p:cNvSpPr>
            <p:nvPr/>
          </p:nvSpPr>
          <p:spPr bwMode="auto">
            <a:xfrm>
              <a:off x="4679154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Rectangle 123"/>
            <p:cNvSpPr>
              <a:spLocks noChangeArrowheads="1"/>
            </p:cNvSpPr>
            <p:nvPr/>
          </p:nvSpPr>
          <p:spPr bwMode="auto">
            <a:xfrm>
              <a:off x="5212515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Rectangle 130"/>
            <p:cNvSpPr>
              <a:spLocks noChangeArrowheads="1"/>
            </p:cNvSpPr>
            <p:nvPr/>
          </p:nvSpPr>
          <p:spPr bwMode="auto">
            <a:xfrm>
              <a:off x="5745877" y="357506"/>
              <a:ext cx="22858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TextBox 57"/>
            <p:cNvSpPr txBox="1">
              <a:spLocks noChangeArrowheads="1"/>
            </p:cNvSpPr>
            <p:nvPr/>
          </p:nvSpPr>
          <p:spPr bwMode="auto">
            <a:xfrm>
              <a:off x="3033713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k</a:t>
              </a:r>
              <a:r>
                <a:rPr lang="en-US" sz="1200" b="0" baseline="-25000" dirty="0"/>
                <a:t>1</a:t>
              </a:r>
              <a:endParaRPr lang="en-US" b="0" baseline="-25000" dirty="0"/>
            </a:p>
          </p:txBody>
        </p:sp>
        <p:sp>
          <p:nvSpPr>
            <p:cNvPr id="226" name="TextBox 103"/>
            <p:cNvSpPr txBox="1">
              <a:spLocks noChangeArrowheads="1"/>
            </p:cNvSpPr>
            <p:nvPr/>
          </p:nvSpPr>
          <p:spPr bwMode="auto">
            <a:xfrm>
              <a:off x="3567075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k</a:t>
              </a:r>
              <a:r>
                <a:rPr lang="en-US" sz="1200" b="0" baseline="-25000" dirty="0"/>
                <a:t>2</a:t>
              </a:r>
              <a:endParaRPr lang="en-US" b="0" baseline="-25000" dirty="0"/>
            </a:p>
          </p:txBody>
        </p:sp>
        <p:sp>
          <p:nvSpPr>
            <p:cNvPr id="227" name="TextBox 110"/>
            <p:cNvSpPr txBox="1">
              <a:spLocks noChangeArrowheads="1"/>
            </p:cNvSpPr>
            <p:nvPr/>
          </p:nvSpPr>
          <p:spPr bwMode="auto">
            <a:xfrm>
              <a:off x="4100436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228" name="TextBox 117"/>
            <p:cNvSpPr txBox="1">
              <a:spLocks noChangeArrowheads="1"/>
            </p:cNvSpPr>
            <p:nvPr/>
          </p:nvSpPr>
          <p:spPr bwMode="auto">
            <a:xfrm>
              <a:off x="4633798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4</a:t>
              </a:r>
              <a:endParaRPr lang="en-US" b="0" baseline="-25000"/>
            </a:p>
          </p:txBody>
        </p:sp>
        <p:sp>
          <p:nvSpPr>
            <p:cNvPr id="229" name="TextBox 124"/>
            <p:cNvSpPr txBox="1">
              <a:spLocks noChangeArrowheads="1"/>
            </p:cNvSpPr>
            <p:nvPr/>
          </p:nvSpPr>
          <p:spPr bwMode="auto">
            <a:xfrm>
              <a:off x="5167160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5</a:t>
              </a:r>
              <a:endParaRPr lang="en-US" b="0" baseline="-25000"/>
            </a:p>
          </p:txBody>
        </p:sp>
        <p:sp>
          <p:nvSpPr>
            <p:cNvPr id="230" name="TextBox 131"/>
            <p:cNvSpPr txBox="1">
              <a:spLocks noChangeArrowheads="1"/>
            </p:cNvSpPr>
            <p:nvPr/>
          </p:nvSpPr>
          <p:spPr bwMode="auto">
            <a:xfrm>
              <a:off x="5700521" y="333375"/>
              <a:ext cx="3064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k</a:t>
              </a:r>
              <a:r>
                <a:rPr lang="en-US" sz="1200" b="0" baseline="-25000"/>
                <a:t>6</a:t>
              </a:r>
              <a:endParaRPr lang="en-US" b="0" baseline="-25000"/>
            </a:p>
          </p:txBody>
        </p:sp>
        <p:sp>
          <p:nvSpPr>
            <p:cNvPr id="231" name="Rectangle 58"/>
            <p:cNvSpPr>
              <a:spLocks noChangeArrowheads="1"/>
            </p:cNvSpPr>
            <p:nvPr/>
          </p:nvSpPr>
          <p:spPr bwMode="auto">
            <a:xfrm>
              <a:off x="3307652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TextBox 59"/>
            <p:cNvSpPr txBox="1">
              <a:spLocks noChangeArrowheads="1"/>
            </p:cNvSpPr>
            <p:nvPr/>
          </p:nvSpPr>
          <p:spPr bwMode="auto">
            <a:xfrm>
              <a:off x="3262297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v</a:t>
              </a:r>
              <a:r>
                <a:rPr lang="en-US" sz="1200" b="0" baseline="-25000" dirty="0"/>
                <a:t>1</a:t>
              </a:r>
              <a:endParaRPr lang="en-US" b="0" baseline="-25000" dirty="0"/>
            </a:p>
          </p:txBody>
        </p:sp>
        <p:sp>
          <p:nvSpPr>
            <p:cNvPr id="233" name="Rectangle 100"/>
            <p:cNvSpPr>
              <a:spLocks noChangeArrowheads="1"/>
            </p:cNvSpPr>
            <p:nvPr/>
          </p:nvSpPr>
          <p:spPr bwMode="auto">
            <a:xfrm>
              <a:off x="3841014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TextBox 101"/>
            <p:cNvSpPr txBox="1">
              <a:spLocks noChangeArrowheads="1"/>
            </p:cNvSpPr>
            <p:nvPr/>
          </p:nvSpPr>
          <p:spPr bwMode="auto">
            <a:xfrm>
              <a:off x="3795658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  <p:sp>
          <p:nvSpPr>
            <p:cNvPr id="235" name="Rectangle 107"/>
            <p:cNvSpPr>
              <a:spLocks noChangeArrowheads="1"/>
            </p:cNvSpPr>
            <p:nvPr/>
          </p:nvSpPr>
          <p:spPr bwMode="auto">
            <a:xfrm>
              <a:off x="4374376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TextBox 108"/>
            <p:cNvSpPr txBox="1">
              <a:spLocks noChangeArrowheads="1"/>
            </p:cNvSpPr>
            <p:nvPr/>
          </p:nvSpPr>
          <p:spPr bwMode="auto">
            <a:xfrm>
              <a:off x="4329020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237" name="Rectangle 114"/>
            <p:cNvSpPr>
              <a:spLocks noChangeArrowheads="1"/>
            </p:cNvSpPr>
            <p:nvPr/>
          </p:nvSpPr>
          <p:spPr bwMode="auto">
            <a:xfrm>
              <a:off x="4907737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TextBox 115"/>
            <p:cNvSpPr txBox="1">
              <a:spLocks noChangeArrowheads="1"/>
            </p:cNvSpPr>
            <p:nvPr/>
          </p:nvSpPr>
          <p:spPr bwMode="auto">
            <a:xfrm>
              <a:off x="4862382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4</a:t>
              </a:r>
              <a:endParaRPr lang="en-US" b="0" baseline="-25000"/>
            </a:p>
          </p:txBody>
        </p:sp>
        <p:sp>
          <p:nvSpPr>
            <p:cNvPr id="239" name="Rectangle 121"/>
            <p:cNvSpPr>
              <a:spLocks noChangeArrowheads="1"/>
            </p:cNvSpPr>
            <p:nvPr/>
          </p:nvSpPr>
          <p:spPr bwMode="auto">
            <a:xfrm>
              <a:off x="5441099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TextBox 122"/>
            <p:cNvSpPr txBox="1">
              <a:spLocks noChangeArrowheads="1"/>
            </p:cNvSpPr>
            <p:nvPr/>
          </p:nvSpPr>
          <p:spPr bwMode="auto">
            <a:xfrm>
              <a:off x="5395743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5</a:t>
              </a:r>
              <a:endParaRPr lang="en-US" b="0" baseline="-25000"/>
            </a:p>
          </p:txBody>
        </p:sp>
        <p:sp>
          <p:nvSpPr>
            <p:cNvPr id="241" name="Rectangle 128"/>
            <p:cNvSpPr>
              <a:spLocks noChangeArrowheads="1"/>
            </p:cNvSpPr>
            <p:nvPr/>
          </p:nvSpPr>
          <p:spPr bwMode="auto">
            <a:xfrm>
              <a:off x="5974461" y="357506"/>
              <a:ext cx="22858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TextBox 129"/>
            <p:cNvSpPr txBox="1">
              <a:spLocks noChangeArrowheads="1"/>
            </p:cNvSpPr>
            <p:nvPr/>
          </p:nvSpPr>
          <p:spPr bwMode="auto">
            <a:xfrm>
              <a:off x="5929105" y="333375"/>
              <a:ext cx="30489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v</a:t>
              </a:r>
              <a:r>
                <a:rPr lang="en-US" sz="1200" b="0" baseline="-25000"/>
                <a:t>6</a:t>
              </a:r>
              <a:endParaRPr lang="en-US" b="0" baseline="-25000"/>
            </a:p>
          </p:txBody>
        </p:sp>
      </p:grpSp>
      <p:grpSp>
        <p:nvGrpSpPr>
          <p:cNvPr id="320" name="Group 319"/>
          <p:cNvGrpSpPr/>
          <p:nvPr/>
        </p:nvGrpSpPr>
        <p:grpSpPr>
          <a:xfrm>
            <a:off x="2291678" y="2314575"/>
            <a:ext cx="991272" cy="276999"/>
            <a:chOff x="2291678" y="2314575"/>
            <a:chExt cx="991272" cy="276999"/>
          </a:xfrm>
        </p:grpSpPr>
        <p:sp>
          <p:nvSpPr>
            <p:cNvPr id="243" name="Rectangle 144"/>
            <p:cNvSpPr>
              <a:spLocks noChangeArrowheads="1"/>
            </p:cNvSpPr>
            <p:nvPr/>
          </p:nvSpPr>
          <p:spPr bwMode="auto">
            <a:xfrm>
              <a:off x="2794665" y="23387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TextBox 145"/>
            <p:cNvSpPr txBox="1">
              <a:spLocks noChangeArrowheads="1"/>
            </p:cNvSpPr>
            <p:nvPr/>
          </p:nvSpPr>
          <p:spPr bwMode="auto">
            <a:xfrm>
              <a:off x="2784475" y="23145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b</a:t>
              </a:r>
              <a:endParaRPr lang="en-US" b="0" baseline="-25000" dirty="0"/>
            </a:p>
          </p:txBody>
        </p:sp>
        <p:sp>
          <p:nvSpPr>
            <p:cNvPr id="245" name="Rectangle 137"/>
            <p:cNvSpPr>
              <a:spLocks noChangeArrowheads="1"/>
            </p:cNvSpPr>
            <p:nvPr/>
          </p:nvSpPr>
          <p:spPr bwMode="auto">
            <a:xfrm>
              <a:off x="2296190" y="23387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TextBox 138"/>
            <p:cNvSpPr txBox="1">
              <a:spLocks noChangeArrowheads="1"/>
            </p:cNvSpPr>
            <p:nvPr/>
          </p:nvSpPr>
          <p:spPr bwMode="auto">
            <a:xfrm>
              <a:off x="2291678" y="23145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a</a:t>
              </a:r>
              <a:endParaRPr lang="en-US" b="0" baseline="-25000" dirty="0"/>
            </a:p>
          </p:txBody>
        </p:sp>
        <p:sp>
          <p:nvSpPr>
            <p:cNvPr id="247" name="Rectangle 135"/>
            <p:cNvSpPr>
              <a:spLocks noChangeArrowheads="1"/>
            </p:cNvSpPr>
            <p:nvPr/>
          </p:nvSpPr>
          <p:spPr bwMode="auto">
            <a:xfrm>
              <a:off x="2524904" y="23387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TextBox 136"/>
            <p:cNvSpPr txBox="1">
              <a:spLocks noChangeArrowheads="1"/>
            </p:cNvSpPr>
            <p:nvPr/>
          </p:nvSpPr>
          <p:spPr bwMode="auto">
            <a:xfrm>
              <a:off x="2514714" y="23145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1</a:t>
              </a:r>
              <a:endParaRPr lang="en-US" b="0" baseline="-25000" dirty="0"/>
            </a:p>
          </p:txBody>
        </p:sp>
        <p:sp>
          <p:nvSpPr>
            <p:cNvPr id="249" name="Rectangle 142"/>
            <p:cNvSpPr>
              <a:spLocks noChangeArrowheads="1"/>
            </p:cNvSpPr>
            <p:nvPr/>
          </p:nvSpPr>
          <p:spPr bwMode="auto">
            <a:xfrm>
              <a:off x="3023379" y="23387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TextBox 143"/>
            <p:cNvSpPr txBox="1">
              <a:spLocks noChangeArrowheads="1"/>
            </p:cNvSpPr>
            <p:nvPr/>
          </p:nvSpPr>
          <p:spPr bwMode="auto">
            <a:xfrm>
              <a:off x="3013189" y="23145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321" name="Group 320"/>
          <p:cNvGrpSpPr/>
          <p:nvPr/>
        </p:nvGrpSpPr>
        <p:grpSpPr>
          <a:xfrm>
            <a:off x="3591085" y="2314575"/>
            <a:ext cx="987265" cy="276999"/>
            <a:chOff x="3591085" y="2314575"/>
            <a:chExt cx="987265" cy="276999"/>
          </a:xfrm>
        </p:grpSpPr>
        <p:sp>
          <p:nvSpPr>
            <p:cNvPr id="251" name="Rectangle 151"/>
            <p:cNvSpPr>
              <a:spLocks noChangeArrowheads="1"/>
            </p:cNvSpPr>
            <p:nvPr/>
          </p:nvSpPr>
          <p:spPr bwMode="auto">
            <a:xfrm>
              <a:off x="3591590" y="23387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Rectangle 158"/>
            <p:cNvSpPr>
              <a:spLocks noChangeArrowheads="1"/>
            </p:cNvSpPr>
            <p:nvPr/>
          </p:nvSpPr>
          <p:spPr bwMode="auto">
            <a:xfrm>
              <a:off x="4090065" y="2338706"/>
              <a:ext cx="22871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TextBox 152"/>
            <p:cNvSpPr txBox="1">
              <a:spLocks noChangeArrowheads="1"/>
            </p:cNvSpPr>
            <p:nvPr/>
          </p:nvSpPr>
          <p:spPr bwMode="auto">
            <a:xfrm>
              <a:off x="3591085" y="23145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54" name="TextBox 159"/>
            <p:cNvSpPr txBox="1">
              <a:spLocks noChangeArrowheads="1"/>
            </p:cNvSpPr>
            <p:nvPr/>
          </p:nvSpPr>
          <p:spPr bwMode="auto">
            <a:xfrm>
              <a:off x="4089560" y="23145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55" name="Rectangle 149"/>
            <p:cNvSpPr>
              <a:spLocks noChangeArrowheads="1"/>
            </p:cNvSpPr>
            <p:nvPr/>
          </p:nvSpPr>
          <p:spPr bwMode="auto">
            <a:xfrm>
              <a:off x="3820304" y="23387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TextBox 150"/>
            <p:cNvSpPr txBox="1">
              <a:spLocks noChangeArrowheads="1"/>
            </p:cNvSpPr>
            <p:nvPr/>
          </p:nvSpPr>
          <p:spPr bwMode="auto">
            <a:xfrm>
              <a:off x="3810114" y="23145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3</a:t>
              </a:r>
              <a:endParaRPr lang="en-US" b="0" baseline="-25000"/>
            </a:p>
          </p:txBody>
        </p:sp>
        <p:sp>
          <p:nvSpPr>
            <p:cNvPr id="257" name="Rectangle 156"/>
            <p:cNvSpPr>
              <a:spLocks noChangeArrowheads="1"/>
            </p:cNvSpPr>
            <p:nvPr/>
          </p:nvSpPr>
          <p:spPr bwMode="auto">
            <a:xfrm>
              <a:off x="4318779" y="2338706"/>
              <a:ext cx="22871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TextBox 157"/>
            <p:cNvSpPr txBox="1">
              <a:spLocks noChangeArrowheads="1"/>
            </p:cNvSpPr>
            <p:nvPr/>
          </p:nvSpPr>
          <p:spPr bwMode="auto">
            <a:xfrm>
              <a:off x="4308589" y="2314575"/>
              <a:ext cx="269761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6</a:t>
              </a:r>
              <a:endParaRPr lang="en-US" b="0" baseline="-25000"/>
            </a:p>
          </p:txBody>
        </p:sp>
      </p:grpSp>
      <p:grpSp>
        <p:nvGrpSpPr>
          <p:cNvPr id="322" name="Group 321"/>
          <p:cNvGrpSpPr/>
          <p:nvPr/>
        </p:nvGrpSpPr>
        <p:grpSpPr>
          <a:xfrm>
            <a:off x="4882411" y="2314575"/>
            <a:ext cx="984989" cy="276999"/>
            <a:chOff x="4882411" y="2314575"/>
            <a:chExt cx="984989" cy="276999"/>
          </a:xfrm>
        </p:grpSpPr>
        <p:sp>
          <p:nvSpPr>
            <p:cNvPr id="259" name="Rectangle 165"/>
            <p:cNvSpPr>
              <a:spLocks noChangeArrowheads="1"/>
            </p:cNvSpPr>
            <p:nvPr/>
          </p:nvSpPr>
          <p:spPr bwMode="auto">
            <a:xfrm>
              <a:off x="4886985" y="23387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Rectangle 172"/>
            <p:cNvSpPr>
              <a:spLocks noChangeArrowheads="1"/>
            </p:cNvSpPr>
            <p:nvPr/>
          </p:nvSpPr>
          <p:spPr bwMode="auto">
            <a:xfrm>
              <a:off x="5379359" y="23387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TextBox 166"/>
            <p:cNvSpPr txBox="1">
              <a:spLocks noChangeArrowheads="1"/>
            </p:cNvSpPr>
            <p:nvPr/>
          </p:nvSpPr>
          <p:spPr bwMode="auto">
            <a:xfrm>
              <a:off x="4882411" y="23145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a</a:t>
              </a:r>
              <a:endParaRPr lang="en-US" b="0" baseline="-25000"/>
            </a:p>
          </p:txBody>
        </p:sp>
        <p:sp>
          <p:nvSpPr>
            <p:cNvPr id="262" name="TextBox 173"/>
            <p:cNvSpPr txBox="1">
              <a:spLocks noChangeArrowheads="1"/>
            </p:cNvSpPr>
            <p:nvPr/>
          </p:nvSpPr>
          <p:spPr bwMode="auto">
            <a:xfrm>
              <a:off x="5374784" y="23145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63" name="Rectangle 163"/>
            <p:cNvSpPr>
              <a:spLocks noChangeArrowheads="1"/>
            </p:cNvSpPr>
            <p:nvPr/>
          </p:nvSpPr>
          <p:spPr bwMode="auto">
            <a:xfrm>
              <a:off x="5115585" y="23387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TextBox 164"/>
            <p:cNvSpPr txBox="1">
              <a:spLocks noChangeArrowheads="1"/>
            </p:cNvSpPr>
            <p:nvPr/>
          </p:nvSpPr>
          <p:spPr bwMode="auto">
            <a:xfrm>
              <a:off x="5105400" y="23145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5</a:t>
              </a:r>
              <a:endParaRPr lang="en-US" b="0" baseline="-25000"/>
            </a:p>
          </p:txBody>
        </p:sp>
        <p:sp>
          <p:nvSpPr>
            <p:cNvPr id="265" name="Rectangle 170"/>
            <p:cNvSpPr>
              <a:spLocks noChangeArrowheads="1"/>
            </p:cNvSpPr>
            <p:nvPr/>
          </p:nvSpPr>
          <p:spPr bwMode="auto">
            <a:xfrm>
              <a:off x="5607959" y="23387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TextBox 171"/>
            <p:cNvSpPr txBox="1">
              <a:spLocks noChangeArrowheads="1"/>
            </p:cNvSpPr>
            <p:nvPr/>
          </p:nvSpPr>
          <p:spPr bwMode="auto">
            <a:xfrm>
              <a:off x="5597774" y="23145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</p:grpSp>
      <p:grpSp>
        <p:nvGrpSpPr>
          <p:cNvPr id="323" name="Group 322"/>
          <p:cNvGrpSpPr/>
          <p:nvPr/>
        </p:nvGrpSpPr>
        <p:grpSpPr>
          <a:xfrm>
            <a:off x="6248400" y="2314575"/>
            <a:ext cx="990600" cy="276999"/>
            <a:chOff x="6248400" y="2314575"/>
            <a:chExt cx="990600" cy="276999"/>
          </a:xfrm>
        </p:grpSpPr>
        <p:sp>
          <p:nvSpPr>
            <p:cNvPr id="267" name="Rectangle 179"/>
            <p:cNvSpPr>
              <a:spLocks noChangeArrowheads="1"/>
            </p:cNvSpPr>
            <p:nvPr/>
          </p:nvSpPr>
          <p:spPr bwMode="auto">
            <a:xfrm>
              <a:off x="6258585" y="23387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Rectangle 186"/>
            <p:cNvSpPr>
              <a:spLocks noChangeArrowheads="1"/>
            </p:cNvSpPr>
            <p:nvPr/>
          </p:nvSpPr>
          <p:spPr bwMode="auto">
            <a:xfrm>
              <a:off x="6750959" y="2338706"/>
              <a:ext cx="228600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TextBox 180"/>
            <p:cNvSpPr txBox="1">
              <a:spLocks noChangeArrowheads="1"/>
            </p:cNvSpPr>
            <p:nvPr/>
          </p:nvSpPr>
          <p:spPr bwMode="auto">
            <a:xfrm>
              <a:off x="6248400" y="23145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b</a:t>
              </a:r>
              <a:endParaRPr lang="en-US" b="0" baseline="-25000"/>
            </a:p>
          </p:txBody>
        </p:sp>
        <p:sp>
          <p:nvSpPr>
            <p:cNvPr id="270" name="TextBox 187"/>
            <p:cNvSpPr txBox="1">
              <a:spLocks noChangeArrowheads="1"/>
            </p:cNvSpPr>
            <p:nvPr/>
          </p:nvSpPr>
          <p:spPr bwMode="auto">
            <a:xfrm>
              <a:off x="6746384" y="23145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71" name="Rectangle 177"/>
            <p:cNvSpPr>
              <a:spLocks noChangeArrowheads="1"/>
            </p:cNvSpPr>
            <p:nvPr/>
          </p:nvSpPr>
          <p:spPr bwMode="auto">
            <a:xfrm>
              <a:off x="6487185" y="23387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TextBox 178"/>
            <p:cNvSpPr txBox="1">
              <a:spLocks noChangeArrowheads="1"/>
            </p:cNvSpPr>
            <p:nvPr/>
          </p:nvSpPr>
          <p:spPr bwMode="auto">
            <a:xfrm>
              <a:off x="6477000" y="23145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7</a:t>
              </a:r>
              <a:endParaRPr lang="en-US" b="0" baseline="-25000"/>
            </a:p>
          </p:txBody>
        </p:sp>
        <p:sp>
          <p:nvSpPr>
            <p:cNvPr id="273" name="Rectangle 184"/>
            <p:cNvSpPr>
              <a:spLocks noChangeArrowheads="1"/>
            </p:cNvSpPr>
            <p:nvPr/>
          </p:nvSpPr>
          <p:spPr bwMode="auto">
            <a:xfrm>
              <a:off x="6979559" y="2338706"/>
              <a:ext cx="228600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TextBox 185"/>
            <p:cNvSpPr txBox="1">
              <a:spLocks noChangeArrowheads="1"/>
            </p:cNvSpPr>
            <p:nvPr/>
          </p:nvSpPr>
          <p:spPr bwMode="auto">
            <a:xfrm>
              <a:off x="6969374" y="2314575"/>
              <a:ext cx="26962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8</a:t>
              </a:r>
              <a:endParaRPr lang="en-US" b="0" baseline="-25000" dirty="0"/>
            </a:p>
          </p:txBody>
        </p:sp>
      </p:grpSp>
      <p:cxnSp>
        <p:nvCxnSpPr>
          <p:cNvPr id="275" name="Straight Arrow Connector 274"/>
          <p:cNvCxnSpPr>
            <a:cxnSpLocks noChangeShapeType="1"/>
          </p:cNvCxnSpPr>
          <p:nvPr/>
        </p:nvCxnSpPr>
        <p:spPr bwMode="auto">
          <a:xfrm rot="5400000">
            <a:off x="3047207" y="5066506"/>
            <a:ext cx="533400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/>
          <p:cNvCxnSpPr>
            <a:cxnSpLocks noChangeShapeType="1"/>
          </p:cNvCxnSpPr>
          <p:nvPr/>
        </p:nvCxnSpPr>
        <p:spPr bwMode="auto">
          <a:xfrm rot="5400000">
            <a:off x="3178175" y="61102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7" name="Straight Arrow Connector 276"/>
          <p:cNvCxnSpPr>
            <a:cxnSpLocks noChangeShapeType="1"/>
          </p:cNvCxnSpPr>
          <p:nvPr/>
        </p:nvCxnSpPr>
        <p:spPr bwMode="auto">
          <a:xfrm rot="5400000">
            <a:off x="4419601" y="5065712"/>
            <a:ext cx="533400" cy="3175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8" name="Straight Arrow Connector 277"/>
          <p:cNvCxnSpPr>
            <a:cxnSpLocks noChangeShapeType="1"/>
          </p:cNvCxnSpPr>
          <p:nvPr/>
        </p:nvCxnSpPr>
        <p:spPr bwMode="auto">
          <a:xfrm rot="5400000">
            <a:off x="4549775" y="61102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Arrow Connector 278"/>
          <p:cNvCxnSpPr>
            <a:cxnSpLocks noChangeShapeType="1"/>
          </p:cNvCxnSpPr>
          <p:nvPr/>
        </p:nvCxnSpPr>
        <p:spPr bwMode="auto">
          <a:xfrm rot="5400000">
            <a:off x="5714207" y="5066506"/>
            <a:ext cx="533400" cy="1587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Straight Arrow Connector 279"/>
          <p:cNvCxnSpPr>
            <a:cxnSpLocks noChangeShapeType="1"/>
          </p:cNvCxnSpPr>
          <p:nvPr/>
        </p:nvCxnSpPr>
        <p:spPr bwMode="auto">
          <a:xfrm rot="5400000">
            <a:off x="5845175" y="6110288"/>
            <a:ext cx="274637" cy="1588"/>
          </a:xfrm>
          <a:prstGeom prst="straightConnector1">
            <a:avLst/>
          </a:prstGeom>
          <a:ln w="12700">
            <a:headEnd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1" name="Rectangle 280"/>
          <p:cNvSpPr>
            <a:spLocks noChangeArrowheads="1"/>
          </p:cNvSpPr>
          <p:nvPr/>
        </p:nvSpPr>
        <p:spPr bwMode="auto">
          <a:xfrm>
            <a:off x="1981200" y="4114800"/>
            <a:ext cx="5486400" cy="3048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Shuffle and Sort:</a:t>
            </a:r>
            <a:r>
              <a:rPr lang="en-US" b="0" dirty="0">
                <a:solidFill>
                  <a:schemeClr val="tx1"/>
                </a:solidFill>
              </a:rPr>
              <a:t> aggregate values by keys</a:t>
            </a:r>
          </a:p>
        </p:txBody>
      </p:sp>
      <p:sp>
        <p:nvSpPr>
          <p:cNvPr id="282" name="Rectangle 281"/>
          <p:cNvSpPr>
            <a:spLocks noChangeArrowheads="1"/>
          </p:cNvSpPr>
          <p:nvPr/>
        </p:nvSpPr>
        <p:spPr bwMode="auto">
          <a:xfrm>
            <a:off x="2895600" y="5334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sp>
        <p:nvSpPr>
          <p:cNvPr id="283" name="Rectangle 282"/>
          <p:cNvSpPr>
            <a:spLocks noChangeArrowheads="1"/>
          </p:cNvSpPr>
          <p:nvPr/>
        </p:nvSpPr>
        <p:spPr bwMode="auto">
          <a:xfrm>
            <a:off x="4267200" y="5334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sp>
        <p:nvSpPr>
          <p:cNvPr id="284" name="Rectangle 283"/>
          <p:cNvSpPr>
            <a:spLocks noChangeArrowheads="1"/>
          </p:cNvSpPr>
          <p:nvPr/>
        </p:nvSpPr>
        <p:spPr bwMode="auto">
          <a:xfrm>
            <a:off x="5562600" y="5334000"/>
            <a:ext cx="838200" cy="609600"/>
          </a:xfrm>
          <a:prstGeom prst="rect">
            <a:avLst/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b="0">
                <a:solidFill>
                  <a:schemeClr val="tx1"/>
                </a:solidFill>
              </a:rPr>
              <a:t>reduce</a:t>
            </a:r>
          </a:p>
        </p:txBody>
      </p:sp>
      <p:grpSp>
        <p:nvGrpSpPr>
          <p:cNvPr id="333" name="Group 332"/>
          <p:cNvGrpSpPr/>
          <p:nvPr/>
        </p:nvGrpSpPr>
        <p:grpSpPr>
          <a:xfrm>
            <a:off x="3206053" y="4448175"/>
            <a:ext cx="797622" cy="276999"/>
            <a:chOff x="3206053" y="4448175"/>
            <a:chExt cx="797622" cy="276999"/>
          </a:xfrm>
        </p:grpSpPr>
        <p:sp>
          <p:nvSpPr>
            <p:cNvPr id="285" name="Rectangle 193"/>
            <p:cNvSpPr>
              <a:spLocks noChangeArrowheads="1"/>
            </p:cNvSpPr>
            <p:nvPr/>
          </p:nvSpPr>
          <p:spPr bwMode="auto">
            <a:xfrm>
              <a:off x="3210588" y="4472306"/>
              <a:ext cx="228671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TextBox 194"/>
            <p:cNvSpPr txBox="1">
              <a:spLocks noChangeArrowheads="1"/>
            </p:cNvSpPr>
            <p:nvPr/>
          </p:nvSpPr>
          <p:spPr bwMode="auto">
            <a:xfrm>
              <a:off x="3206053" y="4448175"/>
              <a:ext cx="25840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a</a:t>
              </a:r>
              <a:endParaRPr lang="en-US" b="0" baseline="-25000"/>
            </a:p>
          </p:txBody>
        </p:sp>
        <p:sp>
          <p:nvSpPr>
            <p:cNvPr id="287" name="Rectangle 191"/>
            <p:cNvSpPr>
              <a:spLocks noChangeArrowheads="1"/>
            </p:cNvSpPr>
            <p:nvPr/>
          </p:nvSpPr>
          <p:spPr bwMode="auto">
            <a:xfrm>
              <a:off x="3515483" y="44723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TextBox 192"/>
            <p:cNvSpPr txBox="1">
              <a:spLocks noChangeArrowheads="1"/>
            </p:cNvSpPr>
            <p:nvPr/>
          </p:nvSpPr>
          <p:spPr bwMode="auto">
            <a:xfrm>
              <a:off x="3505295" y="44481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1</a:t>
              </a:r>
              <a:endParaRPr lang="en-US" b="0" baseline="-25000"/>
            </a:p>
          </p:txBody>
        </p:sp>
        <p:sp>
          <p:nvSpPr>
            <p:cNvPr id="289" name="Rectangle 196"/>
            <p:cNvSpPr>
              <a:spLocks noChangeArrowheads="1"/>
            </p:cNvSpPr>
            <p:nvPr/>
          </p:nvSpPr>
          <p:spPr bwMode="auto">
            <a:xfrm>
              <a:off x="3744154" y="44723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TextBox 197"/>
            <p:cNvSpPr txBox="1">
              <a:spLocks noChangeArrowheads="1"/>
            </p:cNvSpPr>
            <p:nvPr/>
          </p:nvSpPr>
          <p:spPr bwMode="auto">
            <a:xfrm>
              <a:off x="3733965" y="44481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5</a:t>
              </a:r>
              <a:endParaRPr lang="en-US" b="0" baseline="-25000"/>
            </a:p>
          </p:txBody>
        </p:sp>
      </p:grpSp>
      <p:grpSp>
        <p:nvGrpSpPr>
          <p:cNvPr id="332" name="Group 331"/>
          <p:cNvGrpSpPr/>
          <p:nvPr/>
        </p:nvGrpSpPr>
        <p:grpSpPr>
          <a:xfrm>
            <a:off x="4572000" y="4448175"/>
            <a:ext cx="803275" cy="276225"/>
            <a:chOff x="4572000" y="4448175"/>
            <a:chExt cx="803275" cy="276225"/>
          </a:xfrm>
        </p:grpSpPr>
        <p:sp>
          <p:nvSpPr>
            <p:cNvPr id="291" name="Rectangle 199"/>
            <p:cNvSpPr>
              <a:spLocks noChangeArrowheads="1"/>
            </p:cNvSpPr>
            <p:nvPr/>
          </p:nvSpPr>
          <p:spPr bwMode="auto">
            <a:xfrm>
              <a:off x="4582188" y="4472306"/>
              <a:ext cx="228671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TextBox 200"/>
            <p:cNvSpPr txBox="1">
              <a:spLocks noChangeArrowheads="1"/>
            </p:cNvSpPr>
            <p:nvPr/>
          </p:nvSpPr>
          <p:spPr bwMode="auto">
            <a:xfrm>
              <a:off x="4572000" y="44481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b</a:t>
              </a:r>
              <a:endParaRPr lang="en-US" b="0" baseline="-25000"/>
            </a:p>
          </p:txBody>
        </p:sp>
        <p:sp>
          <p:nvSpPr>
            <p:cNvPr id="293" name="Rectangle 202"/>
            <p:cNvSpPr>
              <a:spLocks noChangeArrowheads="1"/>
            </p:cNvSpPr>
            <p:nvPr/>
          </p:nvSpPr>
          <p:spPr bwMode="auto">
            <a:xfrm>
              <a:off x="4887083" y="44723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TextBox 203"/>
            <p:cNvSpPr txBox="1">
              <a:spLocks noChangeArrowheads="1"/>
            </p:cNvSpPr>
            <p:nvPr/>
          </p:nvSpPr>
          <p:spPr bwMode="auto">
            <a:xfrm>
              <a:off x="4876895" y="44481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  <p:sp>
          <p:nvSpPr>
            <p:cNvPr id="295" name="Rectangle 205"/>
            <p:cNvSpPr>
              <a:spLocks noChangeArrowheads="1"/>
            </p:cNvSpPr>
            <p:nvPr/>
          </p:nvSpPr>
          <p:spPr bwMode="auto">
            <a:xfrm>
              <a:off x="5115754" y="4472306"/>
              <a:ext cx="228671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TextBox 206"/>
            <p:cNvSpPr txBox="1">
              <a:spLocks noChangeArrowheads="1"/>
            </p:cNvSpPr>
            <p:nvPr/>
          </p:nvSpPr>
          <p:spPr bwMode="auto">
            <a:xfrm>
              <a:off x="5105565" y="4448175"/>
              <a:ext cx="269710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7</a:t>
              </a:r>
              <a:endParaRPr lang="en-US" b="0" baseline="-25000"/>
            </a:p>
          </p:txBody>
        </p:sp>
      </p:grpSp>
      <p:grpSp>
        <p:nvGrpSpPr>
          <p:cNvPr id="331" name="Group 330"/>
          <p:cNvGrpSpPr/>
          <p:nvPr/>
        </p:nvGrpSpPr>
        <p:grpSpPr>
          <a:xfrm>
            <a:off x="5877044" y="4448175"/>
            <a:ext cx="1022186" cy="276999"/>
            <a:chOff x="5877044" y="4448175"/>
            <a:chExt cx="1022186" cy="276999"/>
          </a:xfrm>
        </p:grpSpPr>
        <p:sp>
          <p:nvSpPr>
            <p:cNvPr id="297" name="Rectangle 208"/>
            <p:cNvSpPr>
              <a:spLocks noChangeArrowheads="1"/>
            </p:cNvSpPr>
            <p:nvPr/>
          </p:nvSpPr>
          <p:spPr bwMode="auto">
            <a:xfrm>
              <a:off x="5877587" y="4472306"/>
              <a:ext cx="228645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TextBox 209"/>
            <p:cNvSpPr txBox="1">
              <a:spLocks noChangeArrowheads="1"/>
            </p:cNvSpPr>
            <p:nvPr/>
          </p:nvSpPr>
          <p:spPr bwMode="auto">
            <a:xfrm>
              <a:off x="5877044" y="44481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299" name="Rectangle 211"/>
            <p:cNvSpPr>
              <a:spLocks noChangeArrowheads="1"/>
            </p:cNvSpPr>
            <p:nvPr/>
          </p:nvSpPr>
          <p:spPr bwMode="auto">
            <a:xfrm>
              <a:off x="6182447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TextBox 212"/>
            <p:cNvSpPr txBox="1">
              <a:spLocks noChangeArrowheads="1"/>
            </p:cNvSpPr>
            <p:nvPr/>
          </p:nvSpPr>
          <p:spPr bwMode="auto">
            <a:xfrm>
              <a:off x="6172260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  <p:sp>
          <p:nvSpPr>
            <p:cNvPr id="301" name="Rectangle 214"/>
            <p:cNvSpPr>
              <a:spLocks noChangeArrowheads="1"/>
            </p:cNvSpPr>
            <p:nvPr/>
          </p:nvSpPr>
          <p:spPr bwMode="auto">
            <a:xfrm>
              <a:off x="6411092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TextBox 215"/>
            <p:cNvSpPr txBox="1">
              <a:spLocks noChangeArrowheads="1"/>
            </p:cNvSpPr>
            <p:nvPr/>
          </p:nvSpPr>
          <p:spPr bwMode="auto">
            <a:xfrm>
              <a:off x="6400905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9</a:t>
              </a:r>
              <a:endParaRPr lang="en-US" b="0" baseline="-25000" dirty="0"/>
            </a:p>
          </p:txBody>
        </p:sp>
        <p:sp>
          <p:nvSpPr>
            <p:cNvPr id="303" name="Rectangle 217"/>
            <p:cNvSpPr>
              <a:spLocks noChangeArrowheads="1"/>
            </p:cNvSpPr>
            <p:nvPr/>
          </p:nvSpPr>
          <p:spPr bwMode="auto">
            <a:xfrm>
              <a:off x="6639738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" name="TextBox 218"/>
            <p:cNvSpPr txBox="1">
              <a:spLocks noChangeArrowheads="1"/>
            </p:cNvSpPr>
            <p:nvPr/>
          </p:nvSpPr>
          <p:spPr bwMode="auto">
            <a:xfrm>
              <a:off x="6629551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8</a:t>
              </a:r>
              <a:endParaRPr lang="en-US" b="0" baseline="-25000" dirty="0"/>
            </a:p>
          </p:txBody>
        </p:sp>
      </p:grpSp>
      <p:grpSp>
        <p:nvGrpSpPr>
          <p:cNvPr id="330" name="Group 329"/>
          <p:cNvGrpSpPr/>
          <p:nvPr/>
        </p:nvGrpSpPr>
        <p:grpSpPr>
          <a:xfrm>
            <a:off x="3048000" y="6276975"/>
            <a:ext cx="525380" cy="276999"/>
            <a:chOff x="3048000" y="6276975"/>
            <a:chExt cx="525380" cy="276999"/>
          </a:xfrm>
        </p:grpSpPr>
        <p:sp>
          <p:nvSpPr>
            <p:cNvPr id="307" name="Rectangle 148"/>
            <p:cNvSpPr>
              <a:spLocks noChangeArrowheads="1"/>
            </p:cNvSpPr>
            <p:nvPr/>
          </p:nvSpPr>
          <p:spPr bwMode="auto">
            <a:xfrm>
              <a:off x="3093340" y="63011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8" name="TextBox 155"/>
            <p:cNvSpPr txBox="1">
              <a:spLocks noChangeArrowheads="1"/>
            </p:cNvSpPr>
            <p:nvPr/>
          </p:nvSpPr>
          <p:spPr bwMode="auto">
            <a:xfrm>
              <a:off x="3048000" y="6276975"/>
              <a:ext cx="293547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1</a:t>
              </a:r>
              <a:endParaRPr lang="en-US" b="0" baseline="-25000"/>
            </a:p>
          </p:txBody>
        </p:sp>
        <p:sp>
          <p:nvSpPr>
            <p:cNvPr id="309" name="Rectangle 162"/>
            <p:cNvSpPr>
              <a:spLocks noChangeArrowheads="1"/>
            </p:cNvSpPr>
            <p:nvPr/>
          </p:nvSpPr>
          <p:spPr bwMode="auto">
            <a:xfrm>
              <a:off x="3321844" y="63011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0" name="TextBox 167"/>
            <p:cNvSpPr txBox="1">
              <a:spLocks noChangeArrowheads="1"/>
            </p:cNvSpPr>
            <p:nvPr/>
          </p:nvSpPr>
          <p:spPr bwMode="auto">
            <a:xfrm>
              <a:off x="3276504" y="62769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1</a:t>
              </a:r>
              <a:endParaRPr lang="en-US" b="0" baseline="-25000"/>
            </a:p>
          </p:txBody>
        </p:sp>
      </p:grpSp>
      <p:grpSp>
        <p:nvGrpSpPr>
          <p:cNvPr id="329" name="Group 328"/>
          <p:cNvGrpSpPr/>
          <p:nvPr/>
        </p:nvGrpSpPr>
        <p:grpSpPr>
          <a:xfrm>
            <a:off x="4405313" y="6276975"/>
            <a:ext cx="525380" cy="276999"/>
            <a:chOff x="4405313" y="6276975"/>
            <a:chExt cx="525380" cy="276999"/>
          </a:xfrm>
        </p:grpSpPr>
        <p:sp>
          <p:nvSpPr>
            <p:cNvPr id="311" name="Rectangle 183"/>
            <p:cNvSpPr>
              <a:spLocks noChangeArrowheads="1"/>
            </p:cNvSpPr>
            <p:nvPr/>
          </p:nvSpPr>
          <p:spPr bwMode="auto">
            <a:xfrm>
              <a:off x="4450653" y="63011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TextBox 188"/>
            <p:cNvSpPr txBox="1">
              <a:spLocks noChangeArrowheads="1"/>
            </p:cNvSpPr>
            <p:nvPr/>
          </p:nvSpPr>
          <p:spPr bwMode="auto">
            <a:xfrm>
              <a:off x="4405313" y="6276975"/>
              <a:ext cx="293546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  <p:sp>
          <p:nvSpPr>
            <p:cNvPr id="313" name="Rectangle 189"/>
            <p:cNvSpPr>
              <a:spLocks noChangeArrowheads="1"/>
            </p:cNvSpPr>
            <p:nvPr/>
          </p:nvSpPr>
          <p:spPr bwMode="auto">
            <a:xfrm>
              <a:off x="4679157" y="63011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TextBox 190"/>
            <p:cNvSpPr txBox="1">
              <a:spLocks noChangeArrowheads="1"/>
            </p:cNvSpPr>
            <p:nvPr/>
          </p:nvSpPr>
          <p:spPr bwMode="auto">
            <a:xfrm>
              <a:off x="4633817" y="62769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2</a:t>
              </a:r>
              <a:endParaRPr lang="en-US" b="0" baseline="-25000"/>
            </a:p>
          </p:txBody>
        </p:sp>
      </p:grpSp>
      <p:grpSp>
        <p:nvGrpSpPr>
          <p:cNvPr id="328" name="Group 327"/>
          <p:cNvGrpSpPr/>
          <p:nvPr/>
        </p:nvGrpSpPr>
        <p:grpSpPr>
          <a:xfrm>
            <a:off x="5715000" y="6276975"/>
            <a:ext cx="525380" cy="276999"/>
            <a:chOff x="5715000" y="6276975"/>
            <a:chExt cx="525380" cy="276999"/>
          </a:xfrm>
        </p:grpSpPr>
        <p:sp>
          <p:nvSpPr>
            <p:cNvPr id="315" name="Rectangle 195"/>
            <p:cNvSpPr>
              <a:spLocks noChangeArrowheads="1"/>
            </p:cNvSpPr>
            <p:nvPr/>
          </p:nvSpPr>
          <p:spPr bwMode="auto">
            <a:xfrm>
              <a:off x="5760340" y="6301106"/>
              <a:ext cx="228504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TextBox 198"/>
            <p:cNvSpPr txBox="1">
              <a:spLocks noChangeArrowheads="1"/>
            </p:cNvSpPr>
            <p:nvPr/>
          </p:nvSpPr>
          <p:spPr bwMode="auto">
            <a:xfrm>
              <a:off x="5715000" y="6276975"/>
              <a:ext cx="293547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r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  <p:sp>
          <p:nvSpPr>
            <p:cNvPr id="317" name="Rectangle 201"/>
            <p:cNvSpPr>
              <a:spLocks noChangeArrowheads="1"/>
            </p:cNvSpPr>
            <p:nvPr/>
          </p:nvSpPr>
          <p:spPr bwMode="auto">
            <a:xfrm>
              <a:off x="5988844" y="6301106"/>
              <a:ext cx="228504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TextBox 204"/>
            <p:cNvSpPr txBox="1">
              <a:spLocks noChangeArrowheads="1"/>
            </p:cNvSpPr>
            <p:nvPr/>
          </p:nvSpPr>
          <p:spPr bwMode="auto">
            <a:xfrm>
              <a:off x="5943504" y="6276975"/>
              <a:ext cx="296876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</a:t>
              </a:r>
              <a:r>
                <a:rPr lang="en-US" sz="1200" b="0" baseline="-25000"/>
                <a:t>3</a:t>
              </a:r>
              <a:endParaRPr lang="en-US" b="0" baseline="-25000"/>
            </a:p>
          </p:txBody>
        </p:sp>
      </p:grpSp>
      <p:grpSp>
        <p:nvGrpSpPr>
          <p:cNvPr id="334" name="Group 333"/>
          <p:cNvGrpSpPr/>
          <p:nvPr/>
        </p:nvGrpSpPr>
        <p:grpSpPr>
          <a:xfrm>
            <a:off x="5877044" y="4448175"/>
            <a:ext cx="1219984" cy="276999"/>
            <a:chOff x="5877044" y="4448175"/>
            <a:chExt cx="1219984" cy="276999"/>
          </a:xfrm>
        </p:grpSpPr>
        <p:sp>
          <p:nvSpPr>
            <p:cNvPr id="335" name="Rectangle 208"/>
            <p:cNvSpPr>
              <a:spLocks noChangeArrowheads="1"/>
            </p:cNvSpPr>
            <p:nvPr/>
          </p:nvSpPr>
          <p:spPr bwMode="auto">
            <a:xfrm>
              <a:off x="5877587" y="4472306"/>
              <a:ext cx="228645" cy="2279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TextBox 209"/>
            <p:cNvSpPr txBox="1">
              <a:spLocks noChangeArrowheads="1"/>
            </p:cNvSpPr>
            <p:nvPr/>
          </p:nvSpPr>
          <p:spPr bwMode="auto">
            <a:xfrm>
              <a:off x="5877044" y="4448175"/>
              <a:ext cx="250390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c</a:t>
              </a:r>
              <a:endParaRPr lang="en-US" b="0" baseline="-25000"/>
            </a:p>
          </p:txBody>
        </p:sp>
        <p:sp>
          <p:nvSpPr>
            <p:cNvPr id="337" name="Rectangle 211"/>
            <p:cNvSpPr>
              <a:spLocks noChangeArrowheads="1"/>
            </p:cNvSpPr>
            <p:nvPr/>
          </p:nvSpPr>
          <p:spPr bwMode="auto">
            <a:xfrm>
              <a:off x="6182447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TextBox 212"/>
            <p:cNvSpPr txBox="1">
              <a:spLocks noChangeArrowheads="1"/>
            </p:cNvSpPr>
            <p:nvPr/>
          </p:nvSpPr>
          <p:spPr bwMode="auto">
            <a:xfrm>
              <a:off x="6172260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2</a:t>
              </a:r>
              <a:endParaRPr lang="en-US" b="0" baseline="-25000"/>
            </a:p>
          </p:txBody>
        </p:sp>
        <p:sp>
          <p:nvSpPr>
            <p:cNvPr id="339" name="Rectangle 214"/>
            <p:cNvSpPr>
              <a:spLocks noChangeArrowheads="1"/>
            </p:cNvSpPr>
            <p:nvPr/>
          </p:nvSpPr>
          <p:spPr bwMode="auto">
            <a:xfrm>
              <a:off x="6411092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TextBox 215"/>
            <p:cNvSpPr txBox="1">
              <a:spLocks noChangeArrowheads="1"/>
            </p:cNvSpPr>
            <p:nvPr/>
          </p:nvSpPr>
          <p:spPr bwMode="auto">
            <a:xfrm>
              <a:off x="6400905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3</a:t>
              </a:r>
              <a:endParaRPr lang="en-US" b="0" baseline="-25000" dirty="0"/>
            </a:p>
          </p:txBody>
        </p:sp>
        <p:sp>
          <p:nvSpPr>
            <p:cNvPr id="341" name="Rectangle 217"/>
            <p:cNvSpPr>
              <a:spLocks noChangeArrowheads="1"/>
            </p:cNvSpPr>
            <p:nvPr/>
          </p:nvSpPr>
          <p:spPr bwMode="auto">
            <a:xfrm>
              <a:off x="6639738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TextBox 218"/>
            <p:cNvSpPr txBox="1">
              <a:spLocks noChangeArrowheads="1"/>
            </p:cNvSpPr>
            <p:nvPr/>
          </p:nvSpPr>
          <p:spPr bwMode="auto">
            <a:xfrm>
              <a:off x="6629551" y="4448175"/>
              <a:ext cx="269679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6</a:t>
              </a:r>
              <a:endParaRPr lang="en-US" b="0" baseline="-25000" dirty="0"/>
            </a:p>
          </p:txBody>
        </p:sp>
        <p:sp>
          <p:nvSpPr>
            <p:cNvPr id="343" name="Rectangle 220"/>
            <p:cNvSpPr>
              <a:spLocks noChangeArrowheads="1"/>
            </p:cNvSpPr>
            <p:nvPr/>
          </p:nvSpPr>
          <p:spPr bwMode="auto">
            <a:xfrm>
              <a:off x="6868383" y="4472306"/>
              <a:ext cx="228645" cy="227961"/>
            </a:xfrm>
            <a:prstGeom prst="rect">
              <a:avLst/>
            </a:prstGeom>
            <a:noFill/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9429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8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500"/>
                            </p:stCondLst>
                            <p:childTnLst>
                              <p:par>
                                <p:cTn id="1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" grpId="0" animBg="1"/>
      <p:bldP spid="170" grpId="0" animBg="1"/>
      <p:bldP spid="171" grpId="0" animBg="1"/>
      <p:bldP spid="172" grpId="0" animBg="1"/>
      <p:bldP spid="213" grpId="0" animBg="1"/>
      <p:bldP spid="214" grpId="0" animBg="1"/>
      <p:bldP spid="215" grpId="0" animBg="1"/>
      <p:bldP spid="216" grpId="0" animBg="1"/>
      <p:bldP spid="188" grpId="0" animBg="1"/>
      <p:bldP spid="193" grpId="0" animBg="1"/>
      <p:bldP spid="195" grpId="0" animBg="1"/>
      <p:bldP spid="217" grpId="0" animBg="1"/>
      <p:bldP spid="281" grpId="0" animBg="1"/>
      <p:bldP spid="282" grpId="0" animBg="1"/>
      <p:bldP spid="283" grpId="0" animBg="1"/>
      <p:bldP spid="28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more details…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Barrier between map and reduce phases</a:t>
            </a:r>
          </a:p>
          <a:p>
            <a:pPr lvl="1"/>
            <a:r>
              <a:rPr lang="en-US" dirty="0"/>
              <a:t>But we can begin copying intermediate data earlier</a:t>
            </a:r>
          </a:p>
          <a:p>
            <a:r>
              <a:rPr lang="en-US" dirty="0"/>
              <a:t>Keys arrive at each reducer in sorted order</a:t>
            </a:r>
          </a:p>
          <a:p>
            <a:pPr lvl="1"/>
            <a:r>
              <a:rPr lang="en-US" dirty="0"/>
              <a:t>No enforced ordering </a:t>
            </a:r>
            <a:r>
              <a:rPr lang="en-US" i="1" dirty="0"/>
              <a:t>across</a:t>
            </a:r>
            <a:r>
              <a:rPr lang="en-US" dirty="0"/>
              <a:t> reducers</a:t>
            </a:r>
          </a:p>
        </p:txBody>
      </p:sp>
    </p:spTree>
    <p:extLst>
      <p:ext uri="{BB962C8B-B14F-4D97-AF65-F5344CB8AC3E}">
        <p14:creationId xmlns:p14="http://schemas.microsoft.com/office/powerpoint/2010/main" val="3114512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can refer to…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programming model</a:t>
            </a:r>
          </a:p>
          <a:p>
            <a:r>
              <a:rPr lang="en-US" dirty="0"/>
              <a:t>The execution framework (aka “runtime”)</a:t>
            </a:r>
          </a:p>
          <a:p>
            <a:r>
              <a:rPr lang="en-US" dirty="0"/>
              <a:t>The specific implementation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2895600" y="5710535"/>
            <a:ext cx="57150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Gill Sans"/>
                <a:cs typeface="Gill Sans"/>
              </a:rPr>
              <a:t>Usage is usually clear from context!</a:t>
            </a:r>
          </a:p>
        </p:txBody>
      </p:sp>
    </p:spTree>
    <p:extLst>
      <p:ext uri="{BB962C8B-B14F-4D97-AF65-F5344CB8AC3E}">
        <p14:creationId xmlns:p14="http://schemas.microsoft.com/office/powerpoint/2010/main" val="3196712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/>
          <p:cNvGrpSpPr/>
          <p:nvPr/>
        </p:nvGrpSpPr>
        <p:grpSpPr>
          <a:xfrm>
            <a:off x="1230504" y="1691015"/>
            <a:ext cx="6682992" cy="4647545"/>
            <a:chOff x="1371600" y="1143000"/>
            <a:chExt cx="6682992" cy="4647545"/>
          </a:xfrm>
        </p:grpSpPr>
        <p:sp>
          <p:nvSpPr>
            <p:cNvPr id="28674" name="Rectangle 1"/>
            <p:cNvSpPr>
              <a:spLocks noChangeArrowheads="1"/>
            </p:cNvSpPr>
            <p:nvPr/>
          </p:nvSpPr>
          <p:spPr bwMode="auto">
            <a:xfrm>
              <a:off x="1371600" y="3328988"/>
              <a:ext cx="609600" cy="2286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75" name="TextBox 2"/>
            <p:cNvSpPr txBox="1">
              <a:spLocks noChangeArrowheads="1"/>
            </p:cNvSpPr>
            <p:nvPr/>
          </p:nvSpPr>
          <p:spPr bwMode="auto">
            <a:xfrm>
              <a:off x="1384300" y="3305175"/>
              <a:ext cx="56137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split 0</a:t>
              </a:r>
            </a:p>
          </p:txBody>
        </p:sp>
        <p:sp>
          <p:nvSpPr>
            <p:cNvPr id="28676" name="Rectangle 6"/>
            <p:cNvSpPr>
              <a:spLocks noChangeArrowheads="1"/>
            </p:cNvSpPr>
            <p:nvPr/>
          </p:nvSpPr>
          <p:spPr bwMode="auto">
            <a:xfrm>
              <a:off x="1371600" y="3557588"/>
              <a:ext cx="609600" cy="2286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77" name="TextBox 7"/>
            <p:cNvSpPr txBox="1">
              <a:spLocks noChangeArrowheads="1"/>
            </p:cNvSpPr>
            <p:nvPr/>
          </p:nvSpPr>
          <p:spPr bwMode="auto">
            <a:xfrm>
              <a:off x="1384300" y="3533775"/>
              <a:ext cx="56137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split 1</a:t>
              </a:r>
            </a:p>
          </p:txBody>
        </p:sp>
        <p:sp>
          <p:nvSpPr>
            <p:cNvPr id="28678" name="Rectangle 9"/>
            <p:cNvSpPr>
              <a:spLocks noChangeArrowheads="1"/>
            </p:cNvSpPr>
            <p:nvPr/>
          </p:nvSpPr>
          <p:spPr bwMode="auto">
            <a:xfrm>
              <a:off x="1371600" y="3786188"/>
              <a:ext cx="609600" cy="2286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79" name="TextBox 10"/>
            <p:cNvSpPr txBox="1">
              <a:spLocks noChangeArrowheads="1"/>
            </p:cNvSpPr>
            <p:nvPr/>
          </p:nvSpPr>
          <p:spPr bwMode="auto">
            <a:xfrm>
              <a:off x="1384300" y="3762375"/>
              <a:ext cx="56137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split 2</a:t>
              </a:r>
            </a:p>
          </p:txBody>
        </p:sp>
        <p:sp>
          <p:nvSpPr>
            <p:cNvPr id="28680" name="Rectangle 12"/>
            <p:cNvSpPr>
              <a:spLocks noChangeArrowheads="1"/>
            </p:cNvSpPr>
            <p:nvPr/>
          </p:nvSpPr>
          <p:spPr bwMode="auto">
            <a:xfrm>
              <a:off x="1371600" y="4014788"/>
              <a:ext cx="609600" cy="2286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81" name="TextBox 13"/>
            <p:cNvSpPr txBox="1">
              <a:spLocks noChangeArrowheads="1"/>
            </p:cNvSpPr>
            <p:nvPr/>
          </p:nvSpPr>
          <p:spPr bwMode="auto">
            <a:xfrm>
              <a:off x="1384300" y="3990975"/>
              <a:ext cx="56137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split 3</a:t>
              </a:r>
            </a:p>
          </p:txBody>
        </p:sp>
        <p:sp>
          <p:nvSpPr>
            <p:cNvPr id="28682" name="Rectangle 15"/>
            <p:cNvSpPr>
              <a:spLocks noChangeArrowheads="1"/>
            </p:cNvSpPr>
            <p:nvPr/>
          </p:nvSpPr>
          <p:spPr bwMode="auto">
            <a:xfrm>
              <a:off x="1371600" y="4243388"/>
              <a:ext cx="609600" cy="2286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83" name="TextBox 16"/>
            <p:cNvSpPr txBox="1">
              <a:spLocks noChangeArrowheads="1"/>
            </p:cNvSpPr>
            <p:nvPr/>
          </p:nvSpPr>
          <p:spPr bwMode="auto">
            <a:xfrm>
              <a:off x="1384300" y="4219575"/>
              <a:ext cx="561372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split 4</a:t>
              </a:r>
            </a:p>
          </p:txBody>
        </p:sp>
        <p:sp>
          <p:nvSpPr>
            <p:cNvPr id="28684" name="Oval 18"/>
            <p:cNvSpPr>
              <a:spLocks noChangeArrowheads="1"/>
            </p:cNvSpPr>
            <p:nvPr/>
          </p:nvSpPr>
          <p:spPr bwMode="auto">
            <a:xfrm>
              <a:off x="2514600" y="2971800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85" name="TextBox 19"/>
            <p:cNvSpPr txBox="1">
              <a:spLocks noChangeArrowheads="1"/>
            </p:cNvSpPr>
            <p:nvPr/>
          </p:nvSpPr>
          <p:spPr bwMode="auto">
            <a:xfrm>
              <a:off x="2611438" y="3062288"/>
              <a:ext cx="644525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worker</a:t>
              </a:r>
              <a:endParaRPr lang="en-US" b="0"/>
            </a:p>
          </p:txBody>
        </p:sp>
        <p:sp>
          <p:nvSpPr>
            <p:cNvPr id="28686" name="Oval 21"/>
            <p:cNvSpPr>
              <a:spLocks noChangeArrowheads="1"/>
            </p:cNvSpPr>
            <p:nvPr/>
          </p:nvSpPr>
          <p:spPr bwMode="auto">
            <a:xfrm>
              <a:off x="2514600" y="3810000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87" name="TextBox 22"/>
            <p:cNvSpPr txBox="1">
              <a:spLocks noChangeArrowheads="1"/>
            </p:cNvSpPr>
            <p:nvPr/>
          </p:nvSpPr>
          <p:spPr bwMode="auto">
            <a:xfrm>
              <a:off x="2611438" y="3900488"/>
              <a:ext cx="644525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worker</a:t>
              </a:r>
              <a:endParaRPr lang="en-US" b="0"/>
            </a:p>
          </p:txBody>
        </p:sp>
        <p:sp>
          <p:nvSpPr>
            <p:cNvPr id="28688" name="Oval 24"/>
            <p:cNvSpPr>
              <a:spLocks noChangeArrowheads="1"/>
            </p:cNvSpPr>
            <p:nvPr/>
          </p:nvSpPr>
          <p:spPr bwMode="auto">
            <a:xfrm>
              <a:off x="2514600" y="4648200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9" name="TextBox 25"/>
            <p:cNvSpPr txBox="1">
              <a:spLocks noChangeArrowheads="1"/>
            </p:cNvSpPr>
            <p:nvPr/>
          </p:nvSpPr>
          <p:spPr bwMode="auto">
            <a:xfrm>
              <a:off x="2611438" y="4738688"/>
              <a:ext cx="644525" cy="2762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 dirty="0"/>
                <a:t>worker</a:t>
              </a:r>
              <a:endParaRPr lang="en-US" b="0" dirty="0"/>
            </a:p>
          </p:txBody>
        </p:sp>
        <p:sp>
          <p:nvSpPr>
            <p:cNvPr id="28690" name="Oval 27"/>
            <p:cNvSpPr>
              <a:spLocks noChangeArrowheads="1"/>
            </p:cNvSpPr>
            <p:nvPr/>
          </p:nvSpPr>
          <p:spPr bwMode="auto">
            <a:xfrm>
              <a:off x="5791200" y="3430588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91" name="TextBox 28"/>
            <p:cNvSpPr txBox="1">
              <a:spLocks noChangeArrowheads="1"/>
            </p:cNvSpPr>
            <p:nvPr/>
          </p:nvSpPr>
          <p:spPr bwMode="auto">
            <a:xfrm>
              <a:off x="5888038" y="3521075"/>
              <a:ext cx="644525" cy="2778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worker</a:t>
              </a:r>
              <a:endParaRPr lang="en-US" b="0"/>
            </a:p>
          </p:txBody>
        </p:sp>
        <p:sp>
          <p:nvSpPr>
            <p:cNvPr id="28692" name="Oval 30"/>
            <p:cNvSpPr>
              <a:spLocks noChangeArrowheads="1"/>
            </p:cNvSpPr>
            <p:nvPr/>
          </p:nvSpPr>
          <p:spPr bwMode="auto">
            <a:xfrm>
              <a:off x="5791200" y="4189413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93" name="TextBox 31"/>
            <p:cNvSpPr txBox="1">
              <a:spLocks noChangeArrowheads="1"/>
            </p:cNvSpPr>
            <p:nvPr/>
          </p:nvSpPr>
          <p:spPr bwMode="auto">
            <a:xfrm>
              <a:off x="5888038" y="4278313"/>
              <a:ext cx="644525" cy="2778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worker</a:t>
              </a:r>
              <a:endParaRPr lang="en-US" b="0"/>
            </a:p>
          </p:txBody>
        </p:sp>
        <p:sp>
          <p:nvSpPr>
            <p:cNvPr id="28694" name="Oval 33"/>
            <p:cNvSpPr>
              <a:spLocks noChangeArrowheads="1"/>
            </p:cNvSpPr>
            <p:nvPr/>
          </p:nvSpPr>
          <p:spPr bwMode="auto">
            <a:xfrm>
              <a:off x="4191000" y="2133600"/>
              <a:ext cx="838200" cy="4572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95" name="TextBox 34"/>
            <p:cNvSpPr txBox="1">
              <a:spLocks noChangeArrowheads="1"/>
            </p:cNvSpPr>
            <p:nvPr/>
          </p:nvSpPr>
          <p:spPr bwMode="auto">
            <a:xfrm>
              <a:off x="4287838" y="2224088"/>
              <a:ext cx="628505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200" b="0"/>
                <a:t>Master</a:t>
              </a:r>
              <a:endParaRPr lang="en-US" b="0"/>
            </a:p>
          </p:txBody>
        </p:sp>
        <p:sp>
          <p:nvSpPr>
            <p:cNvPr id="28696" name="Oval 36"/>
            <p:cNvSpPr>
              <a:spLocks noChangeArrowheads="1"/>
            </p:cNvSpPr>
            <p:nvPr/>
          </p:nvSpPr>
          <p:spPr bwMode="auto">
            <a:xfrm>
              <a:off x="4114800" y="1143000"/>
              <a:ext cx="990600" cy="609600"/>
            </a:xfrm>
            <a:prstGeom prst="ellipse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97" name="TextBox 37"/>
            <p:cNvSpPr txBox="1">
              <a:spLocks noChangeArrowheads="1"/>
            </p:cNvSpPr>
            <p:nvPr/>
          </p:nvSpPr>
          <p:spPr bwMode="auto">
            <a:xfrm>
              <a:off x="4252086" y="1217613"/>
              <a:ext cx="71602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User</a:t>
              </a:r>
              <a:br>
                <a:rPr lang="en-US" sz="1200" b="0" dirty="0"/>
              </a:br>
              <a:r>
                <a:rPr lang="en-US" sz="1200" b="0" dirty="0"/>
                <a:t>Program</a:t>
              </a:r>
              <a:endParaRPr lang="en-US" b="0" dirty="0"/>
            </a:p>
          </p:txBody>
        </p:sp>
        <p:sp>
          <p:nvSpPr>
            <p:cNvPr id="28698" name="Rectangle 39"/>
            <p:cNvSpPr>
              <a:spLocks noChangeArrowheads="1"/>
            </p:cNvSpPr>
            <p:nvPr/>
          </p:nvSpPr>
          <p:spPr bwMode="auto">
            <a:xfrm>
              <a:off x="7315200" y="3443288"/>
              <a:ext cx="609600" cy="433387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699" name="TextBox 40"/>
            <p:cNvSpPr txBox="1">
              <a:spLocks noChangeArrowheads="1"/>
            </p:cNvSpPr>
            <p:nvPr/>
          </p:nvSpPr>
          <p:spPr bwMode="auto">
            <a:xfrm>
              <a:off x="7313613" y="3429000"/>
              <a:ext cx="611187" cy="4619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 dirty="0"/>
                <a:t>output</a:t>
              </a:r>
            </a:p>
            <a:p>
              <a:pPr algn="ctr"/>
              <a:r>
                <a:rPr lang="en-US" sz="1200" b="0" dirty="0"/>
                <a:t>file 0</a:t>
              </a:r>
            </a:p>
          </p:txBody>
        </p:sp>
        <p:sp>
          <p:nvSpPr>
            <p:cNvPr id="28700" name="Rectangle 44"/>
            <p:cNvSpPr>
              <a:spLocks noChangeArrowheads="1"/>
            </p:cNvSpPr>
            <p:nvPr/>
          </p:nvSpPr>
          <p:spPr bwMode="auto">
            <a:xfrm>
              <a:off x="7315200" y="4200525"/>
              <a:ext cx="609600" cy="433388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8701" name="TextBox 45"/>
            <p:cNvSpPr txBox="1">
              <a:spLocks noChangeArrowheads="1"/>
            </p:cNvSpPr>
            <p:nvPr/>
          </p:nvSpPr>
          <p:spPr bwMode="auto">
            <a:xfrm>
              <a:off x="7315200" y="4186238"/>
              <a:ext cx="611188" cy="4619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b="0"/>
                <a:t>output</a:t>
              </a:r>
            </a:p>
            <a:p>
              <a:pPr algn="ctr"/>
              <a:r>
                <a:rPr lang="en-US" sz="1200" b="0"/>
                <a:t>file 1</a:t>
              </a:r>
            </a:p>
          </p:txBody>
        </p:sp>
        <p:sp>
          <p:nvSpPr>
            <p:cNvPr id="28702" name="Rectangle 46"/>
            <p:cNvSpPr>
              <a:spLocks noChangeArrowheads="1"/>
            </p:cNvSpPr>
            <p:nvPr/>
          </p:nvSpPr>
          <p:spPr bwMode="auto">
            <a:xfrm>
              <a:off x="4419600" y="30099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3" name="Rectangle 47"/>
            <p:cNvSpPr>
              <a:spLocks noChangeArrowheads="1"/>
            </p:cNvSpPr>
            <p:nvPr/>
          </p:nvSpPr>
          <p:spPr bwMode="auto">
            <a:xfrm>
              <a:off x="4572000" y="30099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4" name="Rectangle 48"/>
            <p:cNvSpPr>
              <a:spLocks noChangeArrowheads="1"/>
            </p:cNvSpPr>
            <p:nvPr/>
          </p:nvSpPr>
          <p:spPr bwMode="auto">
            <a:xfrm>
              <a:off x="4419600" y="38481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5" name="Rectangle 49"/>
            <p:cNvSpPr>
              <a:spLocks noChangeArrowheads="1"/>
            </p:cNvSpPr>
            <p:nvPr/>
          </p:nvSpPr>
          <p:spPr bwMode="auto">
            <a:xfrm>
              <a:off x="4572000" y="38481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6" name="Rectangle 50"/>
            <p:cNvSpPr>
              <a:spLocks noChangeArrowheads="1"/>
            </p:cNvSpPr>
            <p:nvPr/>
          </p:nvSpPr>
          <p:spPr bwMode="auto">
            <a:xfrm>
              <a:off x="4419600" y="46863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7" name="Rectangle 51"/>
            <p:cNvSpPr>
              <a:spLocks noChangeArrowheads="1"/>
            </p:cNvSpPr>
            <p:nvPr/>
          </p:nvSpPr>
          <p:spPr bwMode="auto">
            <a:xfrm>
              <a:off x="4572000" y="4686300"/>
              <a:ext cx="152400" cy="381000"/>
            </a:xfrm>
            <a:prstGeom prst="rect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cxnSp>
          <p:nvCxnSpPr>
            <p:cNvPr id="28708" name="Curved Connector 53"/>
            <p:cNvCxnSpPr>
              <a:cxnSpLocks noChangeShapeType="1"/>
              <a:stCxn id="28674" idx="3"/>
              <a:endCxn id="28684" idx="2"/>
            </p:cNvCxnSpPr>
            <p:nvPr/>
          </p:nvCxnSpPr>
          <p:spPr bwMode="auto">
            <a:xfrm flipV="1">
              <a:off x="1981200" y="3200400"/>
              <a:ext cx="533400" cy="242888"/>
            </a:xfrm>
            <a:prstGeom prst="curvedConnector3">
              <a:avLst>
                <a:gd name="adj1" fmla="val 50000"/>
              </a:avLst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09" name="Curved Connector 55"/>
            <p:cNvCxnSpPr>
              <a:cxnSpLocks noChangeShapeType="1"/>
              <a:stCxn id="28677" idx="3"/>
              <a:endCxn id="28684" idx="3"/>
            </p:cNvCxnSpPr>
            <p:nvPr/>
          </p:nvCxnSpPr>
          <p:spPr bwMode="auto">
            <a:xfrm flipV="1">
              <a:off x="1945672" y="3362045"/>
              <a:ext cx="691680" cy="310230"/>
            </a:xfrm>
            <a:prstGeom prst="curvedConnector2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0" name="Curved Connector 55"/>
            <p:cNvCxnSpPr>
              <a:cxnSpLocks noChangeShapeType="1"/>
              <a:stCxn id="28681" idx="3"/>
              <a:endCxn id="28688" idx="1"/>
            </p:cNvCxnSpPr>
            <p:nvPr/>
          </p:nvCxnSpPr>
          <p:spPr bwMode="auto">
            <a:xfrm>
              <a:off x="1945672" y="4129475"/>
              <a:ext cx="691680" cy="585680"/>
            </a:xfrm>
            <a:prstGeom prst="curvedConnector2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1" name="Straight Arrow Connector 66"/>
            <p:cNvCxnSpPr>
              <a:cxnSpLocks noChangeShapeType="1"/>
              <a:stCxn id="28678" idx="3"/>
              <a:endCxn id="28686" idx="2"/>
            </p:cNvCxnSpPr>
            <p:nvPr/>
          </p:nvCxnSpPr>
          <p:spPr bwMode="auto">
            <a:xfrm>
              <a:off x="1981200" y="3900488"/>
              <a:ext cx="533400" cy="138112"/>
            </a:xfrm>
            <a:prstGeom prst="straightConnector1">
              <a:avLst/>
            </a:prstGeom>
            <a:noFill/>
            <a:ln w="222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2" name="Straight Arrow Connector 68"/>
            <p:cNvCxnSpPr>
              <a:cxnSpLocks noChangeShapeType="1"/>
              <a:stCxn id="28682" idx="3"/>
              <a:endCxn id="28686" idx="3"/>
            </p:cNvCxnSpPr>
            <p:nvPr/>
          </p:nvCxnSpPr>
          <p:spPr bwMode="auto">
            <a:xfrm flipV="1">
              <a:off x="1981200" y="4200525"/>
              <a:ext cx="655638" cy="157163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3" name="Straight Arrow Connector 72"/>
            <p:cNvCxnSpPr>
              <a:cxnSpLocks noChangeShapeType="1"/>
              <a:stCxn id="28684" idx="6"/>
              <a:endCxn id="28702" idx="1"/>
            </p:cNvCxnSpPr>
            <p:nvPr/>
          </p:nvCxnSpPr>
          <p:spPr bwMode="auto">
            <a:xfrm>
              <a:off x="3352800" y="3200400"/>
              <a:ext cx="1066800" cy="1588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4" name="Straight Arrow Connector 75"/>
            <p:cNvCxnSpPr>
              <a:cxnSpLocks noChangeShapeType="1"/>
            </p:cNvCxnSpPr>
            <p:nvPr/>
          </p:nvCxnSpPr>
          <p:spPr bwMode="auto">
            <a:xfrm>
              <a:off x="3352800" y="4037013"/>
              <a:ext cx="1066800" cy="3175"/>
            </a:xfrm>
            <a:prstGeom prst="straightConnector1">
              <a:avLst/>
            </a:prstGeom>
            <a:noFill/>
            <a:ln w="222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5" name="Straight Arrow Connector 78"/>
            <p:cNvCxnSpPr>
              <a:cxnSpLocks noChangeShapeType="1"/>
            </p:cNvCxnSpPr>
            <p:nvPr/>
          </p:nvCxnSpPr>
          <p:spPr bwMode="auto">
            <a:xfrm>
              <a:off x="3352800" y="4875213"/>
              <a:ext cx="1066800" cy="3175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6" name="Straight Arrow Connector 81"/>
            <p:cNvCxnSpPr>
              <a:cxnSpLocks noChangeShapeType="1"/>
              <a:stCxn id="28690" idx="6"/>
              <a:endCxn id="28699" idx="1"/>
            </p:cNvCxnSpPr>
            <p:nvPr/>
          </p:nvCxnSpPr>
          <p:spPr bwMode="auto">
            <a:xfrm>
              <a:off x="6629400" y="3659188"/>
              <a:ext cx="684213" cy="0"/>
            </a:xfrm>
            <a:prstGeom prst="straightConnector1">
              <a:avLst/>
            </a:prstGeom>
            <a:noFill/>
            <a:ln w="222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7" name="Straight Arrow Connector 84"/>
            <p:cNvCxnSpPr>
              <a:cxnSpLocks noChangeShapeType="1"/>
              <a:stCxn id="28692" idx="6"/>
              <a:endCxn id="28701" idx="1"/>
            </p:cNvCxnSpPr>
            <p:nvPr/>
          </p:nvCxnSpPr>
          <p:spPr bwMode="auto">
            <a:xfrm>
              <a:off x="6629400" y="4418013"/>
              <a:ext cx="685800" cy="0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8" name="Straight Arrow Connector 90"/>
            <p:cNvCxnSpPr>
              <a:cxnSpLocks noChangeShapeType="1"/>
              <a:stCxn id="28705" idx="3"/>
              <a:endCxn id="28690" idx="2"/>
            </p:cNvCxnSpPr>
            <p:nvPr/>
          </p:nvCxnSpPr>
          <p:spPr bwMode="auto">
            <a:xfrm flipV="1">
              <a:off x="4724400" y="3659188"/>
              <a:ext cx="1066800" cy="379412"/>
            </a:xfrm>
            <a:prstGeom prst="straightConnector1">
              <a:avLst/>
            </a:prstGeom>
            <a:noFill/>
            <a:ln w="222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19" name="Straight Arrow Connector 93"/>
            <p:cNvCxnSpPr>
              <a:cxnSpLocks noChangeShapeType="1"/>
              <a:stCxn id="28705" idx="3"/>
              <a:endCxn id="28692" idx="2"/>
            </p:cNvCxnSpPr>
            <p:nvPr/>
          </p:nvCxnSpPr>
          <p:spPr bwMode="auto">
            <a:xfrm>
              <a:off x="4724400" y="4038600"/>
              <a:ext cx="1066800" cy="379413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20" name="Curved Connector 98"/>
            <p:cNvCxnSpPr>
              <a:cxnSpLocks noChangeShapeType="1"/>
              <a:stCxn id="28703" idx="3"/>
              <a:endCxn id="28690" idx="1"/>
            </p:cNvCxnSpPr>
            <p:nvPr/>
          </p:nvCxnSpPr>
          <p:spPr bwMode="auto">
            <a:xfrm>
              <a:off x="4724400" y="3200400"/>
              <a:ext cx="1189038" cy="298450"/>
            </a:xfrm>
            <a:prstGeom prst="curvedConnector2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21" name="Curved Connector 98"/>
            <p:cNvCxnSpPr>
              <a:cxnSpLocks noChangeShapeType="1"/>
            </p:cNvCxnSpPr>
            <p:nvPr/>
          </p:nvCxnSpPr>
          <p:spPr bwMode="auto">
            <a:xfrm>
              <a:off x="4724400" y="3200400"/>
              <a:ext cx="1143000" cy="1066800"/>
            </a:xfrm>
            <a:prstGeom prst="curvedConnector3">
              <a:avLst>
                <a:gd name="adj1" fmla="val 50000"/>
              </a:avLst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22" name="Curved Connector 98"/>
            <p:cNvCxnSpPr>
              <a:cxnSpLocks noChangeShapeType="1"/>
              <a:stCxn id="28707" idx="3"/>
            </p:cNvCxnSpPr>
            <p:nvPr/>
          </p:nvCxnSpPr>
          <p:spPr bwMode="auto">
            <a:xfrm flipV="1">
              <a:off x="4724400" y="3810000"/>
              <a:ext cx="1143000" cy="1066800"/>
            </a:xfrm>
            <a:prstGeom prst="curvedConnector3">
              <a:avLst>
                <a:gd name="adj1" fmla="val 50000"/>
              </a:avLst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23" name="Curved Connector 98"/>
            <p:cNvCxnSpPr>
              <a:cxnSpLocks noChangeShapeType="1"/>
              <a:stCxn id="28707" idx="3"/>
              <a:endCxn id="28692" idx="3"/>
            </p:cNvCxnSpPr>
            <p:nvPr/>
          </p:nvCxnSpPr>
          <p:spPr bwMode="auto">
            <a:xfrm flipV="1">
              <a:off x="4724400" y="4578350"/>
              <a:ext cx="1189038" cy="298450"/>
            </a:xfrm>
            <a:prstGeom prst="curvedConnector2">
              <a:avLst/>
            </a:prstGeom>
            <a:noFill/>
            <a:ln w="9525" algn="ctr">
              <a:solidFill>
                <a:schemeClr val="dk1"/>
              </a:solidFill>
              <a:round/>
              <a:headEnd/>
              <a:tailEnd type="triangle" w="med" len="med"/>
            </a:ln>
          </p:spPr>
        </p:cxnSp>
        <p:cxnSp>
          <p:nvCxnSpPr>
            <p:cNvPr id="28725" name="Straight Arrow Connector 120"/>
            <p:cNvCxnSpPr>
              <a:cxnSpLocks noChangeShapeType="1"/>
              <a:stCxn id="28696" idx="4"/>
              <a:endCxn id="28694" idx="0"/>
            </p:cNvCxnSpPr>
            <p:nvPr/>
          </p:nvCxnSpPr>
          <p:spPr bwMode="auto">
            <a:xfrm rot="5400000">
              <a:off x="4419601" y="1943100"/>
              <a:ext cx="381000" cy="3175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prstDash val="dash"/>
              <a:round/>
              <a:headEnd/>
              <a:tailEnd type="triangle" w="med" len="med"/>
            </a:ln>
          </p:spPr>
        </p:cxnSp>
        <p:cxnSp>
          <p:nvCxnSpPr>
            <p:cNvPr id="28727" name="Straight Arrow Connector 127"/>
            <p:cNvCxnSpPr>
              <a:cxnSpLocks noChangeShapeType="1"/>
              <a:stCxn id="28694" idx="3"/>
            </p:cNvCxnSpPr>
            <p:nvPr/>
          </p:nvCxnSpPr>
          <p:spPr bwMode="auto">
            <a:xfrm rot="5400000">
              <a:off x="3532981" y="2343944"/>
              <a:ext cx="600075" cy="960438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prstDash val="dash"/>
              <a:round/>
              <a:headEnd/>
              <a:tailEnd type="triangle" w="med" len="med"/>
            </a:ln>
          </p:spPr>
        </p:cxnSp>
        <p:cxnSp>
          <p:nvCxnSpPr>
            <p:cNvPr id="28728" name="Straight Arrow Connector 133"/>
            <p:cNvCxnSpPr>
              <a:cxnSpLocks noChangeShapeType="1"/>
              <a:stCxn id="28694" idx="5"/>
            </p:cNvCxnSpPr>
            <p:nvPr/>
          </p:nvCxnSpPr>
          <p:spPr bwMode="auto">
            <a:xfrm rot="16200000" flipH="1">
              <a:off x="5010944" y="2420144"/>
              <a:ext cx="904875" cy="1112837"/>
            </a:xfrm>
            <a:prstGeom prst="straightConnector1">
              <a:avLst/>
            </a:prstGeom>
            <a:noFill/>
            <a:ln w="9525" algn="ctr">
              <a:solidFill>
                <a:schemeClr val="dk1"/>
              </a:solidFill>
              <a:prstDash val="dash"/>
              <a:round/>
              <a:headEnd/>
              <a:tailEnd type="triangle" w="med" len="med"/>
            </a:ln>
          </p:spPr>
        </p:cxnSp>
        <p:sp>
          <p:nvSpPr>
            <p:cNvPr id="28730" name="TextBox 137"/>
            <p:cNvSpPr txBox="1">
              <a:spLocks noChangeArrowheads="1"/>
            </p:cNvSpPr>
            <p:nvPr/>
          </p:nvSpPr>
          <p:spPr bwMode="auto">
            <a:xfrm>
              <a:off x="4572000" y="1752600"/>
              <a:ext cx="809837" cy="2616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</a:rPr>
                <a:t>(1) submit</a:t>
              </a:r>
            </a:p>
          </p:txBody>
        </p:sp>
        <p:sp>
          <p:nvSpPr>
            <p:cNvPr id="28732" name="TextBox 139"/>
            <p:cNvSpPr txBox="1">
              <a:spLocks noChangeArrowheads="1"/>
            </p:cNvSpPr>
            <p:nvPr/>
          </p:nvSpPr>
          <p:spPr bwMode="auto">
            <a:xfrm>
              <a:off x="3352800" y="2633663"/>
              <a:ext cx="1273105" cy="2616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</a:rPr>
                <a:t>(2) schedule map</a:t>
              </a:r>
            </a:p>
          </p:txBody>
        </p:sp>
        <p:sp>
          <p:nvSpPr>
            <p:cNvPr id="28733" name="TextBox 140"/>
            <p:cNvSpPr txBox="1">
              <a:spLocks noChangeArrowheads="1"/>
            </p:cNvSpPr>
            <p:nvPr/>
          </p:nvSpPr>
          <p:spPr bwMode="auto">
            <a:xfrm>
              <a:off x="4742000" y="2633990"/>
              <a:ext cx="1430200" cy="2616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</a:rPr>
                <a:t>(2) schedule reduce</a:t>
              </a:r>
            </a:p>
          </p:txBody>
        </p:sp>
        <p:sp>
          <p:nvSpPr>
            <p:cNvPr id="28734" name="TextBox 141"/>
            <p:cNvSpPr txBox="1">
              <a:spLocks noChangeArrowheads="1"/>
            </p:cNvSpPr>
            <p:nvPr/>
          </p:nvSpPr>
          <p:spPr bwMode="auto">
            <a:xfrm>
              <a:off x="1990725" y="3657600"/>
              <a:ext cx="676275" cy="2619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</a:rPr>
                <a:t>(3) read</a:t>
              </a:r>
            </a:p>
          </p:txBody>
        </p:sp>
        <p:sp>
          <p:nvSpPr>
            <p:cNvPr id="28735" name="TextBox 142"/>
            <p:cNvSpPr txBox="1">
              <a:spLocks noChangeArrowheads="1"/>
            </p:cNvSpPr>
            <p:nvPr/>
          </p:nvSpPr>
          <p:spPr bwMode="auto">
            <a:xfrm>
              <a:off x="3352800" y="3776663"/>
              <a:ext cx="1022350" cy="2619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 dirty="0">
                  <a:solidFill>
                    <a:srgbClr val="FF0000"/>
                  </a:solidFill>
                </a:rPr>
                <a:t>(4) local write</a:t>
              </a:r>
            </a:p>
          </p:txBody>
        </p:sp>
        <p:sp>
          <p:nvSpPr>
            <p:cNvPr id="28736" name="TextBox 143"/>
            <p:cNvSpPr txBox="1">
              <a:spLocks noChangeArrowheads="1"/>
            </p:cNvSpPr>
            <p:nvPr/>
          </p:nvSpPr>
          <p:spPr bwMode="auto">
            <a:xfrm>
              <a:off x="4562475" y="3505200"/>
              <a:ext cx="1152525" cy="2619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>
                  <a:solidFill>
                    <a:srgbClr val="FF0000"/>
                  </a:solidFill>
                </a:rPr>
                <a:t>(5) remote read</a:t>
              </a:r>
            </a:p>
          </p:txBody>
        </p:sp>
        <p:sp>
          <p:nvSpPr>
            <p:cNvPr id="28737" name="TextBox 144"/>
            <p:cNvSpPr txBox="1">
              <a:spLocks noChangeArrowheads="1"/>
            </p:cNvSpPr>
            <p:nvPr/>
          </p:nvSpPr>
          <p:spPr bwMode="auto">
            <a:xfrm>
              <a:off x="6623050" y="3395663"/>
              <a:ext cx="692150" cy="26193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100" b="0">
                  <a:solidFill>
                    <a:srgbClr val="FF0000"/>
                  </a:solidFill>
                </a:rPr>
                <a:t>(6) write</a:t>
              </a:r>
            </a:p>
          </p:txBody>
        </p:sp>
        <p:sp>
          <p:nvSpPr>
            <p:cNvPr id="28738" name="TextBox 145"/>
            <p:cNvSpPr txBox="1">
              <a:spLocks noChangeArrowheads="1"/>
            </p:cNvSpPr>
            <p:nvPr/>
          </p:nvSpPr>
          <p:spPr bwMode="auto">
            <a:xfrm>
              <a:off x="1394858" y="5267325"/>
              <a:ext cx="574196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  <a:p>
              <a:pPr algn="ctr"/>
              <a:r>
                <a:rPr lang="en-US" sz="1400"/>
                <a:t>files</a:t>
              </a:r>
            </a:p>
          </p:txBody>
        </p:sp>
        <p:sp>
          <p:nvSpPr>
            <p:cNvPr id="28739" name="TextBox 146"/>
            <p:cNvSpPr txBox="1">
              <a:spLocks noChangeArrowheads="1"/>
            </p:cNvSpPr>
            <p:nvPr/>
          </p:nvSpPr>
          <p:spPr bwMode="auto">
            <a:xfrm>
              <a:off x="2658284" y="5267325"/>
              <a:ext cx="620683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400"/>
                <a:t>Map</a:t>
              </a:r>
            </a:p>
            <a:p>
              <a:pPr algn="ctr"/>
              <a:r>
                <a:rPr lang="en-US" sz="1400"/>
                <a:t>phase</a:t>
              </a:r>
            </a:p>
          </p:txBody>
        </p:sp>
        <p:sp>
          <p:nvSpPr>
            <p:cNvPr id="28740" name="TextBox 147"/>
            <p:cNvSpPr txBox="1">
              <a:spLocks noChangeArrowheads="1"/>
            </p:cNvSpPr>
            <p:nvPr/>
          </p:nvSpPr>
          <p:spPr bwMode="auto">
            <a:xfrm>
              <a:off x="3845162" y="5267325"/>
              <a:ext cx="1474313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400"/>
                <a:t>Intermediate files</a:t>
              </a:r>
            </a:p>
            <a:p>
              <a:pPr algn="ctr"/>
              <a:r>
                <a:rPr lang="en-US" sz="1400"/>
                <a:t>(on local disk)</a:t>
              </a:r>
            </a:p>
          </p:txBody>
        </p:sp>
        <p:sp>
          <p:nvSpPr>
            <p:cNvPr id="28741" name="TextBox 148"/>
            <p:cNvSpPr txBox="1">
              <a:spLocks noChangeArrowheads="1"/>
            </p:cNvSpPr>
            <p:nvPr/>
          </p:nvSpPr>
          <p:spPr bwMode="auto">
            <a:xfrm>
              <a:off x="5988330" y="5267325"/>
              <a:ext cx="723339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400"/>
                <a:t>Reduce</a:t>
              </a:r>
            </a:p>
            <a:p>
              <a:pPr algn="ctr"/>
              <a:r>
                <a:rPr lang="en-US" sz="1400"/>
                <a:t>phase</a:t>
              </a:r>
            </a:p>
          </p:txBody>
        </p:sp>
        <p:sp>
          <p:nvSpPr>
            <p:cNvPr id="28742" name="TextBox 149"/>
            <p:cNvSpPr txBox="1">
              <a:spLocks noChangeArrowheads="1"/>
            </p:cNvSpPr>
            <p:nvPr/>
          </p:nvSpPr>
          <p:spPr bwMode="auto">
            <a:xfrm>
              <a:off x="7345745" y="5267325"/>
              <a:ext cx="708847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400"/>
                <a:t>Output</a:t>
              </a:r>
            </a:p>
            <a:p>
              <a:pPr algn="ctr"/>
              <a:r>
                <a:rPr lang="en-US" sz="1400"/>
                <a:t>files</a:t>
              </a:r>
            </a:p>
          </p:txBody>
        </p:sp>
      </p:grpSp>
      <p:sp>
        <p:nvSpPr>
          <p:cNvPr id="28743" name="TextBox 2"/>
          <p:cNvSpPr txBox="1">
            <a:spLocks noChangeArrowheads="1"/>
          </p:cNvSpPr>
          <p:nvPr/>
        </p:nvSpPr>
        <p:spPr bwMode="auto">
          <a:xfrm>
            <a:off x="0" y="6611938"/>
            <a:ext cx="31242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/>
              <a:t>Adapted from (Dean and </a:t>
            </a:r>
            <a:r>
              <a:rPr lang="en-US" sz="1000" b="0" dirty="0" err="1"/>
              <a:t>Ghemawat</a:t>
            </a:r>
            <a:r>
              <a:rPr lang="en-US" sz="1000" b="0" dirty="0"/>
              <a:t>, OSDI 2004)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Google </a:t>
            </a:r>
            <a:r>
              <a:rPr lang="en-US" altLang="zh-TW" dirty="0" err="1"/>
              <a:t>MapReduce</a:t>
            </a:r>
            <a:r>
              <a:rPr lang="en-US" altLang="zh-TW" dirty="0"/>
              <a:t> Framework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51352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Hadoop API*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Mapper</a:t>
            </a:r>
          </a:p>
          <a:p>
            <a:pPr lvl="1"/>
            <a:r>
              <a:rPr lang="en-US" dirty="0"/>
              <a:t>void setup(</a:t>
            </a:r>
            <a:r>
              <a:rPr lang="en-US" dirty="0" err="1"/>
              <a:t>Mapper.Context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at the beginning of the task</a:t>
            </a:r>
          </a:p>
          <a:p>
            <a:pPr lvl="1"/>
            <a:r>
              <a:rPr lang="en-US" dirty="0"/>
              <a:t>void map(K key, V value, </a:t>
            </a:r>
            <a:r>
              <a:rPr lang="en-US" dirty="0" err="1"/>
              <a:t>Mapper.Context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for each key/value pair in the input split</a:t>
            </a:r>
          </a:p>
          <a:p>
            <a:pPr lvl="1"/>
            <a:r>
              <a:rPr lang="en-US" dirty="0"/>
              <a:t>void cleanup(</a:t>
            </a:r>
            <a:r>
              <a:rPr lang="en-US" dirty="0" err="1"/>
              <a:t>Mapper.Context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at the end of the task</a:t>
            </a:r>
          </a:p>
          <a:p>
            <a:r>
              <a:rPr lang="en-US" dirty="0"/>
              <a:t>Reducer/Combiner</a:t>
            </a:r>
          </a:p>
          <a:p>
            <a:pPr lvl="1"/>
            <a:r>
              <a:rPr lang="en-US" dirty="0"/>
              <a:t>void setup(</a:t>
            </a:r>
            <a:r>
              <a:rPr lang="en-US" dirty="0" err="1"/>
              <a:t>Reducer.Context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at the start of the task</a:t>
            </a:r>
          </a:p>
          <a:p>
            <a:pPr lvl="1"/>
            <a:r>
              <a:rPr lang="en-US" dirty="0"/>
              <a:t>void reduce(K key, </a:t>
            </a:r>
            <a:r>
              <a:rPr lang="en-US" dirty="0" err="1"/>
              <a:t>Iterable</a:t>
            </a:r>
            <a:r>
              <a:rPr lang="en-US" dirty="0"/>
              <a:t>&lt;V&gt; values, </a:t>
            </a:r>
            <a:r>
              <a:rPr lang="en-US" dirty="0" err="1"/>
              <a:t>Reducer.Context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for each key</a:t>
            </a:r>
          </a:p>
          <a:p>
            <a:pPr lvl="1"/>
            <a:r>
              <a:rPr lang="en-US" dirty="0"/>
              <a:t>void cleanup(</a:t>
            </a:r>
            <a:r>
              <a:rPr lang="en-US" dirty="0" err="1"/>
              <a:t>Reducer.Context</a:t>
            </a:r>
            <a:r>
              <a:rPr lang="en-US" dirty="0"/>
              <a:t> context)</a:t>
            </a:r>
            <a:br>
              <a:rPr lang="en-US" dirty="0"/>
            </a:br>
            <a:r>
              <a:rPr lang="en-US" dirty="0"/>
              <a:t>Called once at the end of the task</a:t>
            </a: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5020340" y="6324600"/>
            <a:ext cx="397126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Gill Sans"/>
                <a:cs typeface="Gill Sans"/>
              </a:rPr>
              <a:t>*Note that there are two versions of the API!</a:t>
            </a:r>
          </a:p>
        </p:txBody>
      </p:sp>
    </p:spTree>
    <p:extLst>
      <p:ext uri="{BB962C8B-B14F-4D97-AF65-F5344CB8AC3E}">
        <p14:creationId xmlns:p14="http://schemas.microsoft.com/office/powerpoint/2010/main" val="27299796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Hadoop API*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Partitioner</a:t>
            </a:r>
            <a:endParaRPr lang="en-US" dirty="0"/>
          </a:p>
          <a:p>
            <a:pPr lvl="1"/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getPartition</a:t>
            </a:r>
            <a:r>
              <a:rPr lang="en-US" dirty="0"/>
              <a:t>(K key, V value,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numPartitions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Get the partition number given total number of partitions </a:t>
            </a:r>
          </a:p>
          <a:p>
            <a:r>
              <a:rPr lang="en-US" dirty="0"/>
              <a:t>Job</a:t>
            </a:r>
          </a:p>
          <a:p>
            <a:pPr lvl="1"/>
            <a:r>
              <a:rPr lang="en-US" dirty="0"/>
              <a:t>Represents a packaged Hadoop job for submission to cluster</a:t>
            </a:r>
          </a:p>
          <a:p>
            <a:pPr lvl="1"/>
            <a:r>
              <a:rPr lang="en-US" dirty="0"/>
              <a:t>Need to specify input and output paths</a:t>
            </a:r>
          </a:p>
          <a:p>
            <a:pPr lvl="1"/>
            <a:r>
              <a:rPr lang="en-US" dirty="0"/>
              <a:t>Need to specify input and output formats</a:t>
            </a:r>
          </a:p>
          <a:p>
            <a:pPr lvl="1"/>
            <a:r>
              <a:rPr lang="en-US" dirty="0"/>
              <a:t>Need to specify mapper, reducer, combiner, </a:t>
            </a:r>
            <a:r>
              <a:rPr lang="en-US" dirty="0" err="1"/>
              <a:t>partitioner</a:t>
            </a:r>
            <a:r>
              <a:rPr lang="en-US" dirty="0"/>
              <a:t> classes</a:t>
            </a:r>
          </a:p>
          <a:p>
            <a:pPr lvl="1"/>
            <a:r>
              <a:rPr lang="en-US" dirty="0"/>
              <a:t>Need to specify intermediate/final key/value classes</a:t>
            </a:r>
          </a:p>
          <a:p>
            <a:pPr lvl="1"/>
            <a:r>
              <a:rPr lang="en-US" dirty="0"/>
              <a:t>Need to specify number of reducers (but not mappers, why?)</a:t>
            </a:r>
          </a:p>
          <a:p>
            <a:pPr lvl="1"/>
            <a:r>
              <a:rPr lang="en-US" dirty="0"/>
              <a:t>Don’t depend of defaults!</a:t>
            </a: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5020340" y="6324600"/>
            <a:ext cx="397126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Gill Sans"/>
                <a:cs typeface="Gill Sans"/>
              </a:rPr>
              <a:t>*Note that there are two versions of the API!</a:t>
            </a:r>
          </a:p>
        </p:txBody>
      </p:sp>
    </p:spTree>
    <p:extLst>
      <p:ext uri="{BB962C8B-B14F-4D97-AF65-F5344CB8AC3E}">
        <p14:creationId xmlns:p14="http://schemas.microsoft.com/office/powerpoint/2010/main" val="4799908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“Hello World”: Word Count - Pseudo code</a:t>
            </a:r>
          </a:p>
        </p:txBody>
      </p:sp>
      <p:sp>
        <p:nvSpPr>
          <p:cNvPr id="27651" name="Text Box 4"/>
          <p:cNvSpPr txBox="1">
            <a:spLocks noChangeArrowheads="1"/>
          </p:cNvSpPr>
          <p:nvPr/>
        </p:nvSpPr>
        <p:spPr bwMode="auto">
          <a:xfrm>
            <a:off x="755576" y="1556792"/>
            <a:ext cx="6111875" cy="25853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800" dirty="0">
                <a:latin typeface="Gill Sans"/>
                <a:cs typeface="Gill Sans"/>
              </a:rPr>
              <a:t>Map(String </a:t>
            </a:r>
            <a:r>
              <a:rPr lang="en-US" sz="1800" dirty="0" err="1">
                <a:latin typeface="Gill Sans"/>
                <a:cs typeface="Gill Sans"/>
              </a:rPr>
              <a:t>docid</a:t>
            </a:r>
            <a:r>
              <a:rPr lang="en-US" sz="1800" dirty="0">
                <a:latin typeface="Gill Sans"/>
                <a:cs typeface="Gill Sans"/>
              </a:rPr>
              <a:t>, String text):</a:t>
            </a:r>
          </a:p>
          <a:p>
            <a:r>
              <a:rPr lang="en-US" sz="1800" b="0" i="1" dirty="0">
                <a:latin typeface="Gill Sans"/>
                <a:cs typeface="Gill Sans"/>
              </a:rPr>
              <a:t>     </a:t>
            </a:r>
            <a:r>
              <a:rPr lang="en-US" sz="1800" b="0" dirty="0">
                <a:latin typeface="Gill Sans"/>
                <a:cs typeface="Gill Sans"/>
              </a:rPr>
              <a:t>for each word w in text:</a:t>
            </a:r>
          </a:p>
          <a:p>
            <a:r>
              <a:rPr lang="en-US" sz="1800" b="0" dirty="0">
                <a:latin typeface="Gill Sans"/>
                <a:cs typeface="Gill Sans"/>
              </a:rPr>
              <a:t>          </a:t>
            </a:r>
            <a:r>
              <a:rPr lang="en-US" sz="1800" b="0" dirty="0">
                <a:solidFill>
                  <a:srgbClr val="FF0000"/>
                </a:solidFill>
                <a:latin typeface="Gill Sans"/>
                <a:cs typeface="Gill Sans"/>
              </a:rPr>
              <a:t>Emit(w, 1);</a:t>
            </a:r>
          </a:p>
          <a:p>
            <a:r>
              <a:rPr lang="en-US" sz="1800" dirty="0">
                <a:latin typeface="Gill Sans"/>
                <a:cs typeface="Gill Sans"/>
              </a:rPr>
              <a:t>Reduce(String term, Iterator&lt;</a:t>
            </a:r>
            <a:r>
              <a:rPr lang="en-US" sz="1800" dirty="0" err="1">
                <a:latin typeface="Gill Sans"/>
                <a:cs typeface="Gill Sans"/>
              </a:rPr>
              <a:t>Int</a:t>
            </a:r>
            <a:r>
              <a:rPr lang="en-US" sz="1800" dirty="0">
                <a:latin typeface="Gill Sans"/>
                <a:cs typeface="Gill Sans"/>
              </a:rPr>
              <a:t>&gt; values):</a:t>
            </a:r>
          </a:p>
          <a:p>
            <a:r>
              <a:rPr lang="en-US" sz="1800" b="0" i="1" dirty="0">
                <a:latin typeface="Gill Sans"/>
                <a:cs typeface="Gill Sans"/>
              </a:rPr>
              <a:t>     </a:t>
            </a:r>
            <a:r>
              <a:rPr lang="en-US" sz="1800" b="0" dirty="0" err="1">
                <a:latin typeface="Gill Sans"/>
                <a:cs typeface="Gill Sans"/>
              </a:rPr>
              <a:t>int</a:t>
            </a:r>
            <a:r>
              <a:rPr lang="en-US" sz="1800" b="0" dirty="0">
                <a:latin typeface="Gill Sans"/>
                <a:cs typeface="Gill Sans"/>
              </a:rPr>
              <a:t> sum = 0;</a:t>
            </a:r>
          </a:p>
          <a:p>
            <a:r>
              <a:rPr lang="en-US" sz="1800" b="0" dirty="0">
                <a:latin typeface="Gill Sans"/>
                <a:cs typeface="Gill Sans"/>
              </a:rPr>
              <a:t>     for each v in values:</a:t>
            </a:r>
          </a:p>
          <a:p>
            <a:r>
              <a:rPr lang="en-US" sz="1800" b="0" dirty="0">
                <a:latin typeface="Gill Sans"/>
                <a:cs typeface="Gill Sans"/>
              </a:rPr>
              <a:t>          sum += v;</a:t>
            </a:r>
          </a:p>
          <a:p>
            <a:r>
              <a:rPr lang="en-US" sz="1800" b="0" dirty="0">
                <a:latin typeface="Gill Sans"/>
                <a:cs typeface="Gill Sans"/>
              </a:rPr>
              <a:t>          </a:t>
            </a:r>
            <a:r>
              <a:rPr lang="en-US" sz="1800" b="0" dirty="0">
                <a:solidFill>
                  <a:srgbClr val="FF0000"/>
                </a:solidFill>
                <a:latin typeface="Gill Sans"/>
                <a:cs typeface="Gill Sans"/>
              </a:rPr>
              <a:t>Emit(term, sum);</a:t>
            </a:r>
          </a:p>
          <a:p>
            <a:endParaRPr lang="en-US" sz="1800" b="0" dirty="0">
              <a:latin typeface="Gill Sans"/>
              <a:cs typeface="Gill Sans"/>
            </a:endParaRPr>
          </a:p>
        </p:txBody>
      </p:sp>
      <p:pic>
        <p:nvPicPr>
          <p:cNvPr id="4" name="Picture 4" descr="wc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707904" y="3356992"/>
            <a:ext cx="4876800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010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“Hello World”: Word Count in Java</a:t>
            </a:r>
          </a:p>
        </p:txBody>
      </p:sp>
      <p:sp>
        <p:nvSpPr>
          <p:cNvPr id="27651" name="Text Box 4"/>
          <p:cNvSpPr txBox="1">
            <a:spLocks noChangeArrowheads="1"/>
          </p:cNvSpPr>
          <p:nvPr/>
        </p:nvSpPr>
        <p:spPr bwMode="auto">
          <a:xfrm>
            <a:off x="76200" y="1419284"/>
            <a:ext cx="8816280" cy="4539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private static class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MyMapper</a:t>
            </a:r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extends Mapper&lt;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LongWritable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, Text, Text,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&gt; {</a:t>
            </a:r>
          </a:p>
          <a:p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private final static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ONE = new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1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private final static Text WORD = new Text();</a:t>
            </a:r>
          </a:p>
          <a:p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@Override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public void 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map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LongWritable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key, Text value, Context context)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  throws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IOException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InterruptedException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{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String line = ((Text) value).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toString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StringTokenizer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itr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= new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StringTokenizer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(line);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while (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itr.hasMoreTokens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()) {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 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WORD.set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itr.nextToken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());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  </a:t>
            </a:r>
            <a:r>
              <a:rPr lang="en-US" sz="1700" b="0" dirty="0" err="1">
                <a:solidFill>
                  <a:srgbClr val="FF0000"/>
                </a:solidFill>
                <a:latin typeface="Andale Mono"/>
                <a:cs typeface="Andale Mono"/>
              </a:rPr>
              <a:t>context.write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(WORD, ONE)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}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}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24964936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“Hello World”: Word Count in Java</a:t>
            </a:r>
          </a:p>
        </p:txBody>
      </p:sp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76200" y="1419284"/>
            <a:ext cx="8888288" cy="45397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private static class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MyReducer</a:t>
            </a:r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extends Reducer&lt;Text,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, Text,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&gt; {</a:t>
            </a:r>
          </a:p>
          <a:p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private final static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SUM = new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();</a:t>
            </a:r>
          </a:p>
          <a:p>
            <a:endParaRPr lang="en-US" sz="1700" b="0" dirty="0">
              <a:solidFill>
                <a:srgbClr val="000000"/>
              </a:solidFill>
              <a:latin typeface="Andale Mono"/>
              <a:cs typeface="Andale Mono"/>
            </a:endParaRP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@Override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public void reduce(Text key,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Iterable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&lt;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&gt; values,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  Context context) throws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IOException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,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InterruptedException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{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Iterator&lt;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IntWritable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&gt;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iter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=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values.iterator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</a:t>
            </a:r>
            <a:r>
              <a:rPr lang="en-US" sz="1700" b="0" dirty="0" err="1">
                <a:solidFill>
                  <a:srgbClr val="FF0000"/>
                </a:solidFill>
                <a:latin typeface="Andale Mono"/>
                <a:cs typeface="Andale Mono"/>
              </a:rPr>
              <a:t>int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 sum = 0;</a:t>
            </a:r>
          </a:p>
          <a:p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      while (</a:t>
            </a:r>
            <a:r>
              <a:rPr lang="en-US" sz="1700" b="0" dirty="0" err="1">
                <a:solidFill>
                  <a:srgbClr val="FF0000"/>
                </a:solidFill>
                <a:latin typeface="Andale Mono"/>
                <a:cs typeface="Andale Mono"/>
              </a:rPr>
              <a:t>iter.hasNext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()) {</a:t>
            </a:r>
          </a:p>
          <a:p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        sum += </a:t>
            </a:r>
            <a:r>
              <a:rPr lang="en-US" sz="1700" b="0" dirty="0" err="1">
                <a:solidFill>
                  <a:srgbClr val="FF0000"/>
                </a:solidFill>
                <a:latin typeface="Andale Mono"/>
                <a:cs typeface="Andale Mono"/>
              </a:rPr>
              <a:t>iter.next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().get();</a:t>
            </a:r>
          </a:p>
          <a:p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      }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latin typeface="Andale Mono"/>
                <a:cs typeface="Andale Mono"/>
              </a:rPr>
              <a:t>SUM.set</a:t>
            </a:r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(sum);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  </a:t>
            </a:r>
            <a:r>
              <a:rPr lang="en-US" sz="1700" b="0" dirty="0" err="1">
                <a:solidFill>
                  <a:srgbClr val="FF0000"/>
                </a:solidFill>
                <a:latin typeface="Andale Mono"/>
                <a:cs typeface="Andale Mono"/>
              </a:rPr>
              <a:t>context.write</a:t>
            </a:r>
            <a:r>
              <a:rPr lang="en-US" sz="1700" b="0" dirty="0">
                <a:solidFill>
                  <a:srgbClr val="FF0000"/>
                </a:solidFill>
                <a:latin typeface="Andale Mono"/>
                <a:cs typeface="Andale Mono"/>
              </a:rPr>
              <a:t>(key, SUM);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  }</a:t>
            </a:r>
          </a:p>
          <a:p>
            <a:r>
              <a:rPr lang="en-US" sz="1700" b="0" dirty="0">
                <a:solidFill>
                  <a:srgbClr val="000000"/>
                </a:solidFill>
                <a:latin typeface="Andale Mono"/>
                <a:cs typeface="Andale Mono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39272245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/>
          <p:cNvSpPr/>
          <p:nvPr/>
        </p:nvSpPr>
        <p:spPr bwMode="auto">
          <a:xfrm>
            <a:off x="5562600" y="1780401"/>
            <a:ext cx="3276600" cy="2286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57200" y="1780401"/>
            <a:ext cx="4876800" cy="2286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609600" y="2085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InputSplit</a:t>
            </a:r>
          </a:p>
        </p:txBody>
      </p:sp>
      <p:sp>
        <p:nvSpPr>
          <p:cNvPr id="6" name="TextBox 3"/>
          <p:cNvSpPr txBox="1">
            <a:spLocks noChangeArrowheads="1"/>
          </p:cNvSpPr>
          <p:nvPr/>
        </p:nvSpPr>
        <p:spPr bwMode="auto">
          <a:xfrm>
            <a:off x="0" y="6611938"/>
            <a:ext cx="33528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chemeClr val="bg2"/>
                </a:solidFill>
              </a:rPr>
              <a:t>Source: redrawn from a slide by </a:t>
            </a:r>
            <a:r>
              <a:rPr lang="en-US" sz="1000" b="0" dirty="0" err="1">
                <a:solidFill>
                  <a:schemeClr val="bg2"/>
                </a:solidFill>
              </a:rPr>
              <a:t>Cloduera</a:t>
            </a:r>
            <a:r>
              <a:rPr lang="en-US" sz="1000" b="0" dirty="0">
                <a:solidFill>
                  <a:schemeClr val="bg2"/>
                </a:solidFill>
              </a:rPr>
              <a:t>, cc-licensed</a:t>
            </a:r>
          </a:p>
        </p:txBody>
      </p:sp>
      <p:sp>
        <p:nvSpPr>
          <p:cNvPr id="7" name="Rounded Rectangle 6"/>
          <p:cNvSpPr/>
          <p:nvPr/>
        </p:nvSpPr>
        <p:spPr bwMode="auto">
          <a:xfrm>
            <a:off x="2209800" y="2085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InputSplit</a:t>
            </a:r>
          </a:p>
        </p:txBody>
      </p:sp>
      <p:sp>
        <p:nvSpPr>
          <p:cNvPr id="8" name="Rounded Rectangle 7"/>
          <p:cNvSpPr/>
          <p:nvPr/>
        </p:nvSpPr>
        <p:spPr bwMode="auto">
          <a:xfrm>
            <a:off x="3810000" y="2085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InputSplit</a:t>
            </a:r>
          </a:p>
        </p:txBody>
      </p:sp>
      <p:sp>
        <p:nvSpPr>
          <p:cNvPr id="11" name="Rectangle 10"/>
          <p:cNvSpPr/>
          <p:nvPr/>
        </p:nvSpPr>
        <p:spPr bwMode="auto">
          <a:xfrm>
            <a:off x="609600" y="942201"/>
            <a:ext cx="4572000" cy="609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Input File</a:t>
            </a:r>
          </a:p>
        </p:txBody>
      </p:sp>
      <p:sp>
        <p:nvSpPr>
          <p:cNvPr id="12" name="Rectangle 11"/>
          <p:cNvSpPr/>
          <p:nvPr/>
        </p:nvSpPr>
        <p:spPr bwMode="auto">
          <a:xfrm>
            <a:off x="5715000" y="942201"/>
            <a:ext cx="2971800" cy="609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Input File</a:t>
            </a:r>
          </a:p>
        </p:txBody>
      </p:sp>
      <p:sp>
        <p:nvSpPr>
          <p:cNvPr id="22" name="Rounded Rectangle 21"/>
          <p:cNvSpPr/>
          <p:nvPr/>
        </p:nvSpPr>
        <p:spPr bwMode="auto">
          <a:xfrm>
            <a:off x="5715000" y="2085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InputSplit</a:t>
            </a:r>
          </a:p>
        </p:txBody>
      </p:sp>
      <p:sp>
        <p:nvSpPr>
          <p:cNvPr id="23" name="Rounded Rectangle 22"/>
          <p:cNvSpPr/>
          <p:nvPr/>
        </p:nvSpPr>
        <p:spPr bwMode="auto">
          <a:xfrm>
            <a:off x="7315200" y="2085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InputSplit</a:t>
            </a:r>
          </a:p>
        </p:txBody>
      </p:sp>
      <p:sp>
        <p:nvSpPr>
          <p:cNvPr id="26" name="Rounded Rectangle 25"/>
          <p:cNvSpPr/>
          <p:nvPr/>
        </p:nvSpPr>
        <p:spPr bwMode="auto">
          <a:xfrm>
            <a:off x="609600" y="33044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RecordReader</a:t>
            </a:r>
          </a:p>
        </p:txBody>
      </p:sp>
      <p:sp>
        <p:nvSpPr>
          <p:cNvPr id="27" name="Rounded Rectangle 26"/>
          <p:cNvSpPr/>
          <p:nvPr/>
        </p:nvSpPr>
        <p:spPr bwMode="auto">
          <a:xfrm>
            <a:off x="2209800" y="33044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RecordReader</a:t>
            </a:r>
          </a:p>
        </p:txBody>
      </p:sp>
      <p:sp>
        <p:nvSpPr>
          <p:cNvPr id="28" name="Rounded Rectangle 27"/>
          <p:cNvSpPr/>
          <p:nvPr/>
        </p:nvSpPr>
        <p:spPr bwMode="auto">
          <a:xfrm>
            <a:off x="3810000" y="33044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RecordReader</a:t>
            </a:r>
          </a:p>
        </p:txBody>
      </p:sp>
      <p:sp>
        <p:nvSpPr>
          <p:cNvPr id="29" name="Rounded Rectangle 28"/>
          <p:cNvSpPr/>
          <p:nvPr/>
        </p:nvSpPr>
        <p:spPr bwMode="auto">
          <a:xfrm>
            <a:off x="5715000" y="33044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RecordReader</a:t>
            </a:r>
          </a:p>
        </p:txBody>
      </p:sp>
      <p:sp>
        <p:nvSpPr>
          <p:cNvPr id="30" name="Rounded Rectangle 29"/>
          <p:cNvSpPr/>
          <p:nvPr/>
        </p:nvSpPr>
        <p:spPr bwMode="auto">
          <a:xfrm>
            <a:off x="7315200" y="33044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RecordReader</a:t>
            </a:r>
          </a:p>
        </p:txBody>
      </p:sp>
      <p:cxnSp>
        <p:nvCxnSpPr>
          <p:cNvPr id="37" name="Shape 36"/>
          <p:cNvCxnSpPr/>
          <p:nvPr/>
        </p:nvCxnSpPr>
        <p:spPr bwMode="auto">
          <a:xfrm rot="10800000">
            <a:off x="1295400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hape 36"/>
          <p:cNvCxnSpPr/>
          <p:nvPr/>
        </p:nvCxnSpPr>
        <p:spPr bwMode="auto">
          <a:xfrm>
            <a:off x="1295400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26" idx="2"/>
            <a:endCxn id="56" idx="0"/>
          </p:cNvCxnSpPr>
          <p:nvPr/>
        </p:nvCxnSpPr>
        <p:spPr bwMode="auto">
          <a:xfrm rot="5400000">
            <a:off x="1028700" y="4104501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 bwMode="auto">
          <a:xfrm>
            <a:off x="609600" y="43712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59" name="Straight Arrow Connector 58"/>
          <p:cNvCxnSpPr/>
          <p:nvPr/>
        </p:nvCxnSpPr>
        <p:spPr bwMode="auto">
          <a:xfrm rot="5400000">
            <a:off x="1029494" y="51705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/>
          <p:nvPr/>
        </p:nvCxnSpPr>
        <p:spPr bwMode="auto">
          <a:xfrm rot="5400000">
            <a:off x="1029494" y="1817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9303" y="5438001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62" name="Straight Arrow Connector 61"/>
          <p:cNvCxnSpPr>
            <a:endCxn id="63" idx="0"/>
          </p:cNvCxnSpPr>
          <p:nvPr/>
        </p:nvCxnSpPr>
        <p:spPr bwMode="auto">
          <a:xfrm rot="5400000">
            <a:off x="2628900" y="4103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 bwMode="auto">
          <a:xfrm>
            <a:off x="2209800" y="43704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64" name="Straight Arrow Connector 63"/>
          <p:cNvCxnSpPr/>
          <p:nvPr/>
        </p:nvCxnSpPr>
        <p:spPr bwMode="auto">
          <a:xfrm rot="5400000">
            <a:off x="2629694" y="51697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299503" y="54372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66" name="Straight Arrow Connector 65"/>
          <p:cNvCxnSpPr>
            <a:endCxn id="67" idx="0"/>
          </p:cNvCxnSpPr>
          <p:nvPr/>
        </p:nvCxnSpPr>
        <p:spPr bwMode="auto">
          <a:xfrm rot="5400000">
            <a:off x="4251460" y="4103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 bwMode="auto">
          <a:xfrm>
            <a:off x="3832360" y="43704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68" name="Straight Arrow Connector 67"/>
          <p:cNvCxnSpPr/>
          <p:nvPr/>
        </p:nvCxnSpPr>
        <p:spPr bwMode="auto">
          <a:xfrm rot="5400000">
            <a:off x="4252254" y="51697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922063" y="54372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70" name="Straight Arrow Connector 69"/>
          <p:cNvCxnSpPr>
            <a:endCxn id="71" idx="0"/>
          </p:cNvCxnSpPr>
          <p:nvPr/>
        </p:nvCxnSpPr>
        <p:spPr bwMode="auto">
          <a:xfrm rot="5400000">
            <a:off x="6134100" y="4103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 bwMode="auto">
          <a:xfrm>
            <a:off x="5715000" y="43704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 rot="5400000">
            <a:off x="6134894" y="51697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804703" y="54372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74" name="Straight Arrow Connector 73"/>
          <p:cNvCxnSpPr>
            <a:endCxn id="75" idx="0"/>
          </p:cNvCxnSpPr>
          <p:nvPr/>
        </p:nvCxnSpPr>
        <p:spPr bwMode="auto">
          <a:xfrm rot="5400000">
            <a:off x="7756660" y="4103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 bwMode="auto">
          <a:xfrm>
            <a:off x="7337560" y="43704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76" name="Straight Arrow Connector 75"/>
          <p:cNvCxnSpPr/>
          <p:nvPr/>
        </p:nvCxnSpPr>
        <p:spPr bwMode="auto">
          <a:xfrm rot="5400000">
            <a:off x="7757454" y="51697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427263" y="54372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78" name="Shape 36"/>
          <p:cNvCxnSpPr/>
          <p:nvPr/>
        </p:nvCxnSpPr>
        <p:spPr bwMode="auto">
          <a:xfrm rot="10800000">
            <a:off x="28940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hape 36"/>
          <p:cNvCxnSpPr/>
          <p:nvPr/>
        </p:nvCxnSpPr>
        <p:spPr bwMode="auto">
          <a:xfrm>
            <a:off x="28940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Shape 36"/>
          <p:cNvCxnSpPr/>
          <p:nvPr/>
        </p:nvCxnSpPr>
        <p:spPr bwMode="auto">
          <a:xfrm rot="10800000">
            <a:off x="4495801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hape 36"/>
          <p:cNvCxnSpPr/>
          <p:nvPr/>
        </p:nvCxnSpPr>
        <p:spPr bwMode="auto">
          <a:xfrm>
            <a:off x="4495801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hape 36"/>
          <p:cNvCxnSpPr/>
          <p:nvPr/>
        </p:nvCxnSpPr>
        <p:spPr bwMode="auto">
          <a:xfrm rot="10800000">
            <a:off x="63992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hape 36"/>
          <p:cNvCxnSpPr/>
          <p:nvPr/>
        </p:nvCxnSpPr>
        <p:spPr bwMode="auto">
          <a:xfrm>
            <a:off x="63992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Shape 36"/>
          <p:cNvCxnSpPr/>
          <p:nvPr/>
        </p:nvCxnSpPr>
        <p:spPr bwMode="auto">
          <a:xfrm rot="10800000">
            <a:off x="79994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hape 36"/>
          <p:cNvCxnSpPr/>
          <p:nvPr/>
        </p:nvCxnSpPr>
        <p:spPr bwMode="auto">
          <a:xfrm>
            <a:off x="7999412" y="2618601"/>
            <a:ext cx="1588" cy="685800"/>
          </a:xfrm>
          <a:prstGeom prst="curvedConnector3">
            <a:avLst>
              <a:gd name="adj1" fmla="val 14395466"/>
            </a:avLst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 bwMode="auto">
          <a:xfrm rot="5400000">
            <a:off x="2628106" y="1817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 bwMode="auto">
          <a:xfrm rot="5400000">
            <a:off x="4228306" y="1817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 bwMode="auto">
          <a:xfrm rot="5400000">
            <a:off x="6133306" y="1817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 bwMode="auto">
          <a:xfrm rot="5400000">
            <a:off x="7733506" y="18177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 rot="16200000">
            <a:off x="-307822" y="2774023"/>
            <a:ext cx="12282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InputFormat</a:t>
            </a:r>
          </a:p>
        </p:txBody>
      </p:sp>
    </p:spTree>
    <p:extLst>
      <p:ext uri="{BB962C8B-B14F-4D97-AF65-F5344CB8AC3E}">
        <p14:creationId xmlns:p14="http://schemas.microsoft.com/office/powerpoint/2010/main" val="3064908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 bwMode="auto">
          <a:xfrm>
            <a:off x="609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 bwMode="auto">
          <a:xfrm>
            <a:off x="838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 bwMode="auto">
          <a:xfrm>
            <a:off x="1066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1295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524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752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1981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2209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2438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2667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3276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3505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733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3962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4191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4419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4648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4876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19"/>
          <p:cNvSpPr/>
          <p:nvPr/>
        </p:nvSpPr>
        <p:spPr bwMode="auto">
          <a:xfrm>
            <a:off x="5105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 bwMode="auto">
          <a:xfrm>
            <a:off x="5334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/>
          <p:cNvSpPr/>
          <p:nvPr/>
        </p:nvSpPr>
        <p:spPr bwMode="auto">
          <a:xfrm>
            <a:off x="5943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6172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6400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angle 24"/>
          <p:cNvSpPr/>
          <p:nvPr/>
        </p:nvSpPr>
        <p:spPr bwMode="auto">
          <a:xfrm>
            <a:off x="6629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 bwMode="auto">
          <a:xfrm>
            <a:off x="6858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angle 26"/>
          <p:cNvSpPr/>
          <p:nvPr/>
        </p:nvSpPr>
        <p:spPr bwMode="auto">
          <a:xfrm>
            <a:off x="70866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ectangle 27"/>
          <p:cNvSpPr/>
          <p:nvPr/>
        </p:nvSpPr>
        <p:spPr bwMode="auto">
          <a:xfrm>
            <a:off x="73152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/>
          <p:cNvSpPr/>
          <p:nvPr/>
        </p:nvSpPr>
        <p:spPr bwMode="auto">
          <a:xfrm>
            <a:off x="75438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7724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Rectangle 30"/>
          <p:cNvSpPr/>
          <p:nvPr/>
        </p:nvSpPr>
        <p:spPr bwMode="auto">
          <a:xfrm>
            <a:off x="8001000" y="2971800"/>
            <a:ext cx="228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895600" y="297180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2600" y="297180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cxnSp>
        <p:nvCxnSpPr>
          <p:cNvPr id="35" name="Straight Connector 34"/>
          <p:cNvCxnSpPr/>
          <p:nvPr/>
        </p:nvCxnSpPr>
        <p:spPr bwMode="auto">
          <a:xfrm rot="5400000">
            <a:off x="-227806" y="3200400"/>
            <a:ext cx="1675606" cy="794"/>
          </a:xfrm>
          <a:prstGeom prst="line">
            <a:avLst/>
          </a:prstGeom>
          <a:ln w="254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 bwMode="auto">
          <a:xfrm rot="5400000">
            <a:off x="2820194" y="3199606"/>
            <a:ext cx="1675606" cy="794"/>
          </a:xfrm>
          <a:prstGeom prst="line">
            <a:avLst/>
          </a:prstGeom>
          <a:ln w="254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 bwMode="auto">
          <a:xfrm rot="5400000">
            <a:off x="5639594" y="3199606"/>
            <a:ext cx="1675606" cy="794"/>
          </a:xfrm>
          <a:prstGeom prst="line">
            <a:avLst/>
          </a:prstGeom>
          <a:ln w="2540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609600" y="3657600"/>
            <a:ext cx="3048000" cy="369332"/>
            <a:chOff x="609600" y="3657600"/>
            <a:chExt cx="3124200" cy="369332"/>
          </a:xfrm>
        </p:grpSpPr>
        <p:cxnSp>
          <p:nvCxnSpPr>
            <p:cNvPr id="42" name="Straight Arrow Connector 41"/>
            <p:cNvCxnSpPr/>
            <p:nvPr/>
          </p:nvCxnSpPr>
          <p:spPr bwMode="auto">
            <a:xfrm rot="10800000">
              <a:off x="609600" y="3842166"/>
              <a:ext cx="1066800" cy="1588"/>
            </a:xfrm>
            <a:prstGeom prst="straightConnector1">
              <a:avLst/>
            </a:prstGeom>
            <a:ln>
              <a:headEnd type="none" w="med" len="med"/>
              <a:tailEnd type="triangle" w="lg" len="lg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 bwMode="auto">
            <a:xfrm>
              <a:off x="2819400" y="3843754"/>
              <a:ext cx="914400" cy="1588"/>
            </a:xfrm>
            <a:prstGeom prst="straightConnector1">
              <a:avLst/>
            </a:prstGeom>
            <a:ln>
              <a:headEnd type="none" w="med" len="med"/>
              <a:tailEnd type="triangle" w="lg" len="lg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688862" y="3657600"/>
              <a:ext cx="1135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InputSplit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3657601" y="3657600"/>
            <a:ext cx="2819400" cy="369332"/>
            <a:chOff x="3733801" y="3657600"/>
            <a:chExt cx="2895599" cy="369332"/>
          </a:xfrm>
        </p:grpSpPr>
        <p:cxnSp>
          <p:nvCxnSpPr>
            <p:cNvPr id="54" name="Straight Arrow Connector 53"/>
            <p:cNvCxnSpPr/>
            <p:nvPr/>
          </p:nvCxnSpPr>
          <p:spPr bwMode="auto">
            <a:xfrm rot="10800000">
              <a:off x="3733801" y="3842166"/>
              <a:ext cx="920495" cy="1588"/>
            </a:xfrm>
            <a:prstGeom prst="straightConnector1">
              <a:avLst/>
            </a:prstGeom>
            <a:ln>
              <a:headEnd type="none" w="med" len="med"/>
              <a:tailEnd type="triangle" w="lg" len="lg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/>
            <p:nvPr/>
          </p:nvCxnSpPr>
          <p:spPr bwMode="auto">
            <a:xfrm>
              <a:off x="5760720" y="3843754"/>
              <a:ext cx="868680" cy="1588"/>
            </a:xfrm>
            <a:prstGeom prst="straightConnector1">
              <a:avLst/>
            </a:prstGeom>
            <a:ln>
              <a:headEnd type="none" w="med" len="med"/>
              <a:tailEnd type="triangle" w="lg" len="lg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56" name="TextBox 55"/>
            <p:cNvSpPr txBox="1"/>
            <p:nvPr/>
          </p:nvSpPr>
          <p:spPr>
            <a:xfrm>
              <a:off x="4648200" y="3657600"/>
              <a:ext cx="11379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InputSplit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2" name="Group 71"/>
          <p:cNvGrpSpPr/>
          <p:nvPr/>
        </p:nvGrpSpPr>
        <p:grpSpPr>
          <a:xfrm>
            <a:off x="6477000" y="3657600"/>
            <a:ext cx="1869995" cy="369332"/>
            <a:chOff x="6629401" y="3657600"/>
            <a:chExt cx="1869995" cy="369332"/>
          </a:xfrm>
        </p:grpSpPr>
        <p:cxnSp>
          <p:nvCxnSpPr>
            <p:cNvPr id="59" name="Straight Arrow Connector 58"/>
            <p:cNvCxnSpPr/>
            <p:nvPr/>
          </p:nvCxnSpPr>
          <p:spPr bwMode="auto">
            <a:xfrm rot="10800000">
              <a:off x="6629401" y="3842166"/>
              <a:ext cx="755903" cy="1588"/>
            </a:xfrm>
            <a:prstGeom prst="straightConnector1">
              <a:avLst/>
            </a:prstGeom>
            <a:ln>
              <a:headEnd type="none" w="med" len="med"/>
              <a:tailEnd type="triangle" w="lg" len="lg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60" name="TextBox 59"/>
            <p:cNvSpPr txBox="1"/>
            <p:nvPr/>
          </p:nvSpPr>
          <p:spPr>
            <a:xfrm>
              <a:off x="7391400" y="365760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InputSplit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8" name="Rounded Rectangle 67"/>
          <p:cNvSpPr/>
          <p:nvPr/>
        </p:nvSpPr>
        <p:spPr bwMode="auto">
          <a:xfrm>
            <a:off x="3733800" y="914400"/>
            <a:ext cx="1371600" cy="6096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391400" y="2667000"/>
            <a:ext cx="7745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Records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609600" y="3276600"/>
            <a:ext cx="1371600" cy="2209800"/>
            <a:chOff x="609600" y="3276600"/>
            <a:chExt cx="1371600" cy="2209800"/>
          </a:xfrm>
        </p:grpSpPr>
        <p:sp>
          <p:nvSpPr>
            <p:cNvPr id="61" name="Rounded Rectangle 60"/>
            <p:cNvSpPr/>
            <p:nvPr/>
          </p:nvSpPr>
          <p:spPr bwMode="auto">
            <a:xfrm>
              <a:off x="609600" y="4876800"/>
              <a:ext cx="1371600" cy="6096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Mapper</a:t>
              </a:r>
            </a:p>
          </p:txBody>
        </p:sp>
        <p:cxnSp>
          <p:nvCxnSpPr>
            <p:cNvPr id="65" name="Straight Arrow Connector 64"/>
            <p:cNvCxnSpPr/>
            <p:nvPr/>
          </p:nvCxnSpPr>
          <p:spPr bwMode="auto">
            <a:xfrm>
              <a:off x="609600" y="3276600"/>
              <a:ext cx="304800" cy="1600200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Rounded Rectangle 57"/>
            <p:cNvSpPr/>
            <p:nvPr/>
          </p:nvSpPr>
          <p:spPr bwMode="auto">
            <a:xfrm>
              <a:off x="609600" y="4191000"/>
              <a:ext cx="1295400" cy="4572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RecordReader</a:t>
              </a:r>
              <a:endParaRPr kumimoji="0" 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3733800" y="3276600"/>
            <a:ext cx="1371600" cy="2209800"/>
            <a:chOff x="3733800" y="3276600"/>
            <a:chExt cx="1371600" cy="2209800"/>
          </a:xfrm>
        </p:grpSpPr>
        <p:sp>
          <p:nvSpPr>
            <p:cNvPr id="62" name="Rounded Rectangle 61"/>
            <p:cNvSpPr/>
            <p:nvPr/>
          </p:nvSpPr>
          <p:spPr bwMode="auto">
            <a:xfrm>
              <a:off x="3733800" y="4876800"/>
              <a:ext cx="1371600" cy="6096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Mapper</a:t>
              </a:r>
            </a:p>
          </p:txBody>
        </p:sp>
        <p:cxnSp>
          <p:nvCxnSpPr>
            <p:cNvPr id="66" name="Straight Arrow Connector 65"/>
            <p:cNvCxnSpPr/>
            <p:nvPr/>
          </p:nvCxnSpPr>
          <p:spPr bwMode="auto">
            <a:xfrm>
              <a:off x="3733800" y="3276600"/>
              <a:ext cx="304800" cy="1600200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Rounded Rectangle 63"/>
            <p:cNvSpPr/>
            <p:nvPr/>
          </p:nvSpPr>
          <p:spPr bwMode="auto">
            <a:xfrm>
              <a:off x="3733800" y="4191000"/>
              <a:ext cx="1295400" cy="4572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RecordReader</a:t>
              </a:r>
              <a:endParaRPr kumimoji="0" 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6629400" y="3276600"/>
            <a:ext cx="1371600" cy="2209800"/>
            <a:chOff x="6629400" y="3276600"/>
            <a:chExt cx="1371600" cy="2209800"/>
          </a:xfrm>
        </p:grpSpPr>
        <p:sp>
          <p:nvSpPr>
            <p:cNvPr id="63" name="Rounded Rectangle 62"/>
            <p:cNvSpPr/>
            <p:nvPr/>
          </p:nvSpPr>
          <p:spPr bwMode="auto">
            <a:xfrm>
              <a:off x="6629400" y="4876800"/>
              <a:ext cx="1371600" cy="6096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Mapper</a:t>
              </a:r>
            </a:p>
          </p:txBody>
        </p:sp>
        <p:cxnSp>
          <p:nvCxnSpPr>
            <p:cNvPr id="67" name="Straight Arrow Connector 66"/>
            <p:cNvCxnSpPr/>
            <p:nvPr/>
          </p:nvCxnSpPr>
          <p:spPr bwMode="auto">
            <a:xfrm>
              <a:off x="6629400" y="3276600"/>
              <a:ext cx="304800" cy="1600201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Rounded Rectangle 72"/>
            <p:cNvSpPr/>
            <p:nvPr/>
          </p:nvSpPr>
          <p:spPr bwMode="auto">
            <a:xfrm>
              <a:off x="6629400" y="4191000"/>
              <a:ext cx="1295400" cy="4572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RecordReader</a:t>
              </a:r>
              <a:endParaRPr kumimoji="0" 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5966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/>
          <p:cNvSpPr txBox="1">
            <a:spLocks noChangeArrowheads="1"/>
          </p:cNvSpPr>
          <p:nvPr/>
        </p:nvSpPr>
        <p:spPr bwMode="auto">
          <a:xfrm>
            <a:off x="0" y="6611938"/>
            <a:ext cx="33528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chemeClr val="bg2"/>
                </a:solidFill>
              </a:rPr>
              <a:t>Source: redrawn from a slide by </a:t>
            </a:r>
            <a:r>
              <a:rPr lang="en-US" sz="1000" b="0" dirty="0" err="1">
                <a:solidFill>
                  <a:schemeClr val="bg2"/>
                </a:solidFill>
              </a:rPr>
              <a:t>Cloduera</a:t>
            </a:r>
            <a:r>
              <a:rPr lang="en-US" sz="1000" b="0" dirty="0">
                <a:solidFill>
                  <a:schemeClr val="bg2"/>
                </a:solidFill>
              </a:rPr>
              <a:t>, cc-licensed</a:t>
            </a:r>
          </a:p>
        </p:txBody>
      </p:sp>
      <p:sp>
        <p:nvSpPr>
          <p:cNvPr id="56" name="Rounded Rectangle 55"/>
          <p:cNvSpPr/>
          <p:nvPr/>
        </p:nvSpPr>
        <p:spPr bwMode="auto">
          <a:xfrm>
            <a:off x="609600" y="866001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59" name="Straight Arrow Connector 58"/>
          <p:cNvCxnSpPr/>
          <p:nvPr/>
        </p:nvCxnSpPr>
        <p:spPr bwMode="auto">
          <a:xfrm rot="5400000">
            <a:off x="1029494" y="1665307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 bwMode="auto">
          <a:xfrm>
            <a:off x="2209800" y="8652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64" name="Straight Arrow Connector 63"/>
          <p:cNvCxnSpPr/>
          <p:nvPr/>
        </p:nvCxnSpPr>
        <p:spPr bwMode="auto">
          <a:xfrm rot="5400000">
            <a:off x="2629694" y="16645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 bwMode="auto">
          <a:xfrm>
            <a:off x="3832360" y="8652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68" name="Straight Arrow Connector 67"/>
          <p:cNvCxnSpPr/>
          <p:nvPr/>
        </p:nvCxnSpPr>
        <p:spPr bwMode="auto">
          <a:xfrm rot="5400000">
            <a:off x="4252254" y="16645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 bwMode="auto">
          <a:xfrm>
            <a:off x="5715000" y="8652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 rot="5400000">
            <a:off x="6134894" y="16645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 bwMode="auto">
          <a:xfrm>
            <a:off x="7337560" y="865207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Mapper</a:t>
            </a:r>
          </a:p>
        </p:txBody>
      </p:sp>
      <p:cxnSp>
        <p:nvCxnSpPr>
          <p:cNvPr id="76" name="Straight Arrow Connector 75"/>
          <p:cNvCxnSpPr/>
          <p:nvPr/>
        </p:nvCxnSpPr>
        <p:spPr bwMode="auto">
          <a:xfrm rot="5400000">
            <a:off x="7757454" y="1664513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 bwMode="auto">
          <a:xfrm>
            <a:off x="609600" y="27432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Partitioner</a:t>
            </a:r>
          </a:p>
        </p:txBody>
      </p:sp>
      <p:cxnSp>
        <p:nvCxnSpPr>
          <p:cNvPr id="101" name="Straight Arrow Connector 100"/>
          <p:cNvCxnSpPr/>
          <p:nvPr/>
        </p:nvCxnSpPr>
        <p:spPr bwMode="auto">
          <a:xfrm rot="5400000">
            <a:off x="10294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 bwMode="auto">
          <a:xfrm>
            <a:off x="2209800" y="27424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Partitioner</a:t>
            </a:r>
          </a:p>
        </p:txBody>
      </p:sp>
      <p:cxnSp>
        <p:nvCxnSpPr>
          <p:cNvPr id="103" name="Straight Arrow Connector 102"/>
          <p:cNvCxnSpPr/>
          <p:nvPr/>
        </p:nvCxnSpPr>
        <p:spPr bwMode="auto">
          <a:xfrm rot="5400000">
            <a:off x="26296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 bwMode="auto">
          <a:xfrm>
            <a:off x="3832360" y="27424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Partitioner</a:t>
            </a:r>
          </a:p>
        </p:txBody>
      </p:sp>
      <p:cxnSp>
        <p:nvCxnSpPr>
          <p:cNvPr id="105" name="Straight Arrow Connector 104"/>
          <p:cNvCxnSpPr/>
          <p:nvPr/>
        </p:nvCxnSpPr>
        <p:spPr bwMode="auto">
          <a:xfrm rot="5400000">
            <a:off x="425225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 bwMode="auto">
          <a:xfrm>
            <a:off x="5715000" y="27424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Partitioner</a:t>
            </a:r>
          </a:p>
        </p:txBody>
      </p:sp>
      <p:cxnSp>
        <p:nvCxnSpPr>
          <p:cNvPr id="107" name="Straight Arrow Connector 106"/>
          <p:cNvCxnSpPr/>
          <p:nvPr/>
        </p:nvCxnSpPr>
        <p:spPr bwMode="auto">
          <a:xfrm rot="5400000">
            <a:off x="61348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 bwMode="auto">
          <a:xfrm>
            <a:off x="7337560" y="27424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Partitioner</a:t>
            </a:r>
          </a:p>
        </p:txBody>
      </p:sp>
      <p:cxnSp>
        <p:nvCxnSpPr>
          <p:cNvPr id="109" name="Straight Arrow Connector 108"/>
          <p:cNvCxnSpPr/>
          <p:nvPr/>
        </p:nvCxnSpPr>
        <p:spPr bwMode="auto">
          <a:xfrm rot="5400000">
            <a:off x="775745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699303" y="1932801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299503" y="19320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22063" y="19320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04703" y="19320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27263" y="19320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2416040" y="52578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Reducer</a:t>
            </a:r>
          </a:p>
        </p:txBody>
      </p:sp>
      <p:cxnSp>
        <p:nvCxnSpPr>
          <p:cNvPr id="125" name="Straight Arrow Connector 124"/>
          <p:cNvCxnSpPr/>
          <p:nvPr/>
        </p:nvCxnSpPr>
        <p:spPr bwMode="auto">
          <a:xfrm rot="5400000">
            <a:off x="2835934" y="49903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 bwMode="auto">
          <a:xfrm>
            <a:off x="4016240" y="52570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Reducer</a:t>
            </a:r>
          </a:p>
        </p:txBody>
      </p:sp>
      <p:cxnSp>
        <p:nvCxnSpPr>
          <p:cNvPr id="127" name="Straight Arrow Connector 126"/>
          <p:cNvCxnSpPr/>
          <p:nvPr/>
        </p:nvCxnSpPr>
        <p:spPr bwMode="auto">
          <a:xfrm rot="5400000">
            <a:off x="4436134" y="49903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 bwMode="auto">
          <a:xfrm>
            <a:off x="5638800" y="52570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Reduce</a:t>
            </a:r>
          </a:p>
        </p:txBody>
      </p:sp>
      <p:cxnSp>
        <p:nvCxnSpPr>
          <p:cNvPr id="129" name="Straight Arrow Connector 128"/>
          <p:cNvCxnSpPr/>
          <p:nvPr/>
        </p:nvCxnSpPr>
        <p:spPr bwMode="auto">
          <a:xfrm rot="5400000">
            <a:off x="6058694" y="49903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2505743" y="4447401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05943" y="44466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728503" y="4446607"/>
            <a:ext cx="10569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Intermediates</a:t>
            </a:r>
          </a:p>
        </p:txBody>
      </p:sp>
      <p:cxnSp>
        <p:nvCxnSpPr>
          <p:cNvPr id="133" name="Straight Arrow Connector 132"/>
          <p:cNvCxnSpPr/>
          <p:nvPr/>
        </p:nvCxnSpPr>
        <p:spPr bwMode="auto">
          <a:xfrm>
            <a:off x="1295400" y="3276600"/>
            <a:ext cx="1600200" cy="11430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/>
          <p:nvPr/>
        </p:nvCxnSpPr>
        <p:spPr bwMode="auto">
          <a:xfrm>
            <a:off x="1295400" y="3276600"/>
            <a:ext cx="3200400" cy="11430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/>
          <p:nvPr/>
        </p:nvCxnSpPr>
        <p:spPr bwMode="auto">
          <a:xfrm>
            <a:off x="1295400" y="3276600"/>
            <a:ext cx="4724400" cy="11430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stCxn id="102" idx="2"/>
          </p:cNvCxnSpPr>
          <p:nvPr/>
        </p:nvCxnSpPr>
        <p:spPr bwMode="auto">
          <a:xfrm rot="16200000" flipH="1">
            <a:off x="2361803" y="3809603"/>
            <a:ext cx="1143794" cy="762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>
            <a:stCxn id="102" idx="2"/>
          </p:cNvCxnSpPr>
          <p:nvPr/>
        </p:nvCxnSpPr>
        <p:spPr bwMode="auto">
          <a:xfrm rot="16200000" flipH="1">
            <a:off x="3200003" y="2971403"/>
            <a:ext cx="1143794" cy="17526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5" name="Straight Arrow Connector 144"/>
          <p:cNvCxnSpPr>
            <a:stCxn id="102" idx="2"/>
          </p:cNvCxnSpPr>
          <p:nvPr/>
        </p:nvCxnSpPr>
        <p:spPr bwMode="auto">
          <a:xfrm rot="16200000" flipH="1">
            <a:off x="3962003" y="2209403"/>
            <a:ext cx="1143794" cy="32766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Arrow Connector 147"/>
          <p:cNvCxnSpPr>
            <a:stCxn id="104" idx="2"/>
          </p:cNvCxnSpPr>
          <p:nvPr/>
        </p:nvCxnSpPr>
        <p:spPr bwMode="auto">
          <a:xfrm rot="5400000">
            <a:off x="3211183" y="3112623"/>
            <a:ext cx="1143794" cy="147016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2" name="Straight Arrow Connector 151"/>
          <p:cNvCxnSpPr>
            <a:stCxn id="104" idx="2"/>
            <a:endCxn id="131" idx="0"/>
          </p:cNvCxnSpPr>
          <p:nvPr/>
        </p:nvCxnSpPr>
        <p:spPr bwMode="auto">
          <a:xfrm>
            <a:off x="4518160" y="3275806"/>
            <a:ext cx="116261" cy="1170801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/>
          <p:cNvCxnSpPr>
            <a:stCxn id="104" idx="2"/>
            <a:endCxn id="132" idx="0"/>
          </p:cNvCxnSpPr>
          <p:nvPr/>
        </p:nvCxnSpPr>
        <p:spPr bwMode="auto">
          <a:xfrm>
            <a:off x="4518160" y="3275806"/>
            <a:ext cx="1738821" cy="1170801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Straight Arrow Connector 157"/>
          <p:cNvCxnSpPr>
            <a:stCxn id="106" idx="2"/>
          </p:cNvCxnSpPr>
          <p:nvPr/>
        </p:nvCxnSpPr>
        <p:spPr bwMode="auto">
          <a:xfrm rot="5400000">
            <a:off x="4228703" y="2247503"/>
            <a:ext cx="1143794" cy="32004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Straight Arrow Connector 160"/>
          <p:cNvCxnSpPr>
            <a:stCxn id="108" idx="2"/>
          </p:cNvCxnSpPr>
          <p:nvPr/>
        </p:nvCxnSpPr>
        <p:spPr bwMode="auto">
          <a:xfrm rot="5400000">
            <a:off x="5154283" y="1550523"/>
            <a:ext cx="1143794" cy="459436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6" name="Straight Arrow Connector 175"/>
          <p:cNvCxnSpPr>
            <a:stCxn id="106" idx="2"/>
          </p:cNvCxnSpPr>
          <p:nvPr/>
        </p:nvCxnSpPr>
        <p:spPr bwMode="auto">
          <a:xfrm rot="5400000">
            <a:off x="4990703" y="3009503"/>
            <a:ext cx="1143794" cy="16764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Arrow Connector 182"/>
          <p:cNvCxnSpPr>
            <a:stCxn id="108" idx="2"/>
          </p:cNvCxnSpPr>
          <p:nvPr/>
        </p:nvCxnSpPr>
        <p:spPr bwMode="auto">
          <a:xfrm rot="5400000">
            <a:off x="5878183" y="2274423"/>
            <a:ext cx="1143794" cy="314656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/>
          <p:cNvCxnSpPr>
            <a:stCxn id="106" idx="2"/>
          </p:cNvCxnSpPr>
          <p:nvPr/>
        </p:nvCxnSpPr>
        <p:spPr bwMode="auto">
          <a:xfrm rot="5400000">
            <a:off x="5777300" y="3823106"/>
            <a:ext cx="1170800" cy="7620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Arrow Connector 189"/>
          <p:cNvCxnSpPr>
            <a:stCxn id="108" idx="2"/>
          </p:cNvCxnSpPr>
          <p:nvPr/>
        </p:nvCxnSpPr>
        <p:spPr bwMode="auto">
          <a:xfrm rot="5400000">
            <a:off x="6628209" y="3026037"/>
            <a:ext cx="1145382" cy="1644920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28600" y="3853190"/>
            <a:ext cx="16546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(combiners omitted here)</a:t>
            </a:r>
          </a:p>
        </p:txBody>
      </p:sp>
    </p:spTree>
    <p:extLst>
      <p:ext uri="{BB962C8B-B14F-4D97-AF65-F5344CB8AC3E}">
        <p14:creationId xmlns:p14="http://schemas.microsoft.com/office/powerpoint/2010/main" val="31076431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3"/>
          <p:cNvSpPr txBox="1">
            <a:spLocks noChangeArrowheads="1"/>
          </p:cNvSpPr>
          <p:nvPr/>
        </p:nvSpPr>
        <p:spPr bwMode="auto">
          <a:xfrm>
            <a:off x="0" y="6611938"/>
            <a:ext cx="33528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chemeClr val="bg2"/>
                </a:solidFill>
              </a:rPr>
              <a:t>Source: redrawn from a slide by </a:t>
            </a:r>
            <a:r>
              <a:rPr lang="en-US" sz="1000" b="0" dirty="0" err="1">
                <a:solidFill>
                  <a:schemeClr val="bg2"/>
                </a:solidFill>
              </a:rPr>
              <a:t>Cloduera</a:t>
            </a:r>
            <a:r>
              <a:rPr lang="en-US" sz="1000" b="0" dirty="0">
                <a:solidFill>
                  <a:schemeClr val="bg2"/>
                </a:solidFill>
              </a:rPr>
              <a:t>, cc-licensed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2416040" y="16764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Reducer</a:t>
            </a:r>
          </a:p>
        </p:txBody>
      </p:sp>
      <p:sp>
        <p:nvSpPr>
          <p:cNvPr id="126" name="Rounded Rectangle 125"/>
          <p:cNvSpPr/>
          <p:nvPr/>
        </p:nvSpPr>
        <p:spPr bwMode="auto">
          <a:xfrm>
            <a:off x="4016240" y="16756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Reducer</a:t>
            </a:r>
          </a:p>
        </p:txBody>
      </p:sp>
      <p:sp>
        <p:nvSpPr>
          <p:cNvPr id="128" name="Rounded Rectangle 127"/>
          <p:cNvSpPr/>
          <p:nvPr/>
        </p:nvSpPr>
        <p:spPr bwMode="auto">
          <a:xfrm>
            <a:off x="5638800" y="1675606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Reduce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2209800" y="2514600"/>
            <a:ext cx="5029200" cy="9144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7" name="Rectangle 56"/>
          <p:cNvSpPr/>
          <p:nvPr/>
        </p:nvSpPr>
        <p:spPr bwMode="auto">
          <a:xfrm>
            <a:off x="2438400" y="3810000"/>
            <a:ext cx="1371600" cy="609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Output File</a:t>
            </a:r>
          </a:p>
        </p:txBody>
      </p:sp>
      <p:sp>
        <p:nvSpPr>
          <p:cNvPr id="58" name="Rounded Rectangle 57"/>
          <p:cNvSpPr/>
          <p:nvPr/>
        </p:nvSpPr>
        <p:spPr bwMode="auto">
          <a:xfrm>
            <a:off x="2438400" y="27432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RecordWriter</a:t>
            </a:r>
            <a:endParaRPr kumimoji="0" lang="en-US" sz="12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charset="0"/>
            </a:endParaRPr>
          </a:p>
        </p:txBody>
      </p:sp>
      <p:cxnSp>
        <p:nvCxnSpPr>
          <p:cNvPr id="70" name="Straight Arrow Connector 69"/>
          <p:cNvCxnSpPr/>
          <p:nvPr/>
        </p:nvCxnSpPr>
        <p:spPr bwMode="auto">
          <a:xfrm rot="5400000">
            <a:off x="2858294" y="35425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 bwMode="auto">
          <a:xfrm rot="5400000">
            <a:off x="28582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 rot="16200000">
            <a:off x="1362843" y="2820762"/>
            <a:ext cx="12337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OutputFormat</a:t>
            </a:r>
            <a:endParaRPr lang="en-US" sz="1400" dirty="0"/>
          </a:p>
        </p:txBody>
      </p:sp>
      <p:sp>
        <p:nvSpPr>
          <p:cNvPr id="92" name="Rectangle 91"/>
          <p:cNvSpPr/>
          <p:nvPr/>
        </p:nvSpPr>
        <p:spPr bwMode="auto">
          <a:xfrm>
            <a:off x="4038600" y="3810000"/>
            <a:ext cx="1371600" cy="609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Output File</a:t>
            </a:r>
          </a:p>
        </p:txBody>
      </p:sp>
      <p:sp>
        <p:nvSpPr>
          <p:cNvPr id="93" name="Rounded Rectangle 92"/>
          <p:cNvSpPr/>
          <p:nvPr/>
        </p:nvSpPr>
        <p:spPr bwMode="auto">
          <a:xfrm>
            <a:off x="4038600" y="27432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RecordWriter</a:t>
            </a:r>
            <a:endParaRPr kumimoji="0" lang="en-US" sz="12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charset="0"/>
            </a:endParaRPr>
          </a:p>
        </p:txBody>
      </p:sp>
      <p:cxnSp>
        <p:nvCxnSpPr>
          <p:cNvPr id="94" name="Straight Arrow Connector 93"/>
          <p:cNvCxnSpPr/>
          <p:nvPr/>
        </p:nvCxnSpPr>
        <p:spPr bwMode="auto">
          <a:xfrm rot="5400000">
            <a:off x="4458494" y="35425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 bwMode="auto">
          <a:xfrm rot="5400000">
            <a:off x="44584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Rectangle 95"/>
          <p:cNvSpPr/>
          <p:nvPr/>
        </p:nvSpPr>
        <p:spPr bwMode="auto">
          <a:xfrm>
            <a:off x="5638800" y="3810000"/>
            <a:ext cx="1371600" cy="609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dirty="0">
                <a:solidFill>
                  <a:schemeClr val="bg2"/>
                </a:solidFill>
                <a:latin typeface="Arial" charset="0"/>
              </a:rPr>
              <a:t>Output File</a:t>
            </a:r>
          </a:p>
        </p:txBody>
      </p:sp>
      <p:sp>
        <p:nvSpPr>
          <p:cNvPr id="97" name="Rounded Rectangle 96"/>
          <p:cNvSpPr/>
          <p:nvPr/>
        </p:nvSpPr>
        <p:spPr bwMode="auto">
          <a:xfrm>
            <a:off x="5638800" y="27432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Arial" charset="0"/>
              </a:rPr>
              <a:t>RecordWriter</a:t>
            </a:r>
            <a:endParaRPr kumimoji="0" lang="en-US" sz="12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charset="0"/>
            </a:endParaRPr>
          </a:p>
        </p:txBody>
      </p:sp>
      <p:cxnSp>
        <p:nvCxnSpPr>
          <p:cNvPr id="98" name="Straight Arrow Connector 97"/>
          <p:cNvCxnSpPr/>
          <p:nvPr/>
        </p:nvCxnSpPr>
        <p:spPr bwMode="auto">
          <a:xfrm rot="5400000">
            <a:off x="6058694" y="35425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Arrow Connector 98"/>
          <p:cNvCxnSpPr/>
          <p:nvPr/>
        </p:nvCxnSpPr>
        <p:spPr bwMode="auto">
          <a:xfrm rot="5400000">
            <a:off x="6058694" y="2475706"/>
            <a:ext cx="533400" cy="1588"/>
          </a:xfrm>
          <a:prstGeom prst="straightConnector1">
            <a:avLst/>
          </a:prstGeom>
          <a:ln>
            <a:headEnd type="none" w="med" len="med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5207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 and Sort in Hadoop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Probably the most complex aspect of MapReduce</a:t>
            </a:r>
          </a:p>
          <a:p>
            <a:r>
              <a:rPr lang="en-US" dirty="0"/>
              <a:t>Map side</a:t>
            </a:r>
          </a:p>
          <a:p>
            <a:pPr lvl="1"/>
            <a:r>
              <a:rPr lang="en-US" dirty="0"/>
              <a:t>Map outputs are buffered in memory in a circular buffer</a:t>
            </a:r>
          </a:p>
          <a:p>
            <a:pPr lvl="1"/>
            <a:r>
              <a:rPr lang="en-US" dirty="0"/>
              <a:t>When buffer reaches threshold, contents are “spilled” to disk</a:t>
            </a:r>
          </a:p>
          <a:p>
            <a:pPr lvl="1"/>
            <a:r>
              <a:rPr lang="en-US" dirty="0"/>
              <a:t>Spills merged in a single, partitioned file (sorted within each partition): combiner runs during the merges</a:t>
            </a:r>
          </a:p>
          <a:p>
            <a:r>
              <a:rPr lang="en-US" dirty="0"/>
              <a:t>Reduce side</a:t>
            </a:r>
          </a:p>
          <a:p>
            <a:pPr lvl="1"/>
            <a:r>
              <a:rPr lang="en-US" dirty="0"/>
              <a:t>First, map outputs are copied over to reducer machine</a:t>
            </a:r>
          </a:p>
          <a:p>
            <a:pPr lvl="1"/>
            <a:r>
              <a:rPr lang="en-US" dirty="0"/>
              <a:t>“Sort” is a multi-pass merge of map outputs (happens in memory and on disk): combiner runs during the merges</a:t>
            </a:r>
          </a:p>
          <a:p>
            <a:pPr lvl="1"/>
            <a:r>
              <a:rPr lang="en-US" dirty="0"/>
              <a:t>Final merge pass goes directly into reducer</a:t>
            </a:r>
          </a:p>
        </p:txBody>
      </p:sp>
    </p:spTree>
    <p:extLst>
      <p:ext uri="{BB962C8B-B14F-4D97-AF65-F5344CB8AC3E}">
        <p14:creationId xmlns:p14="http://schemas.microsoft.com/office/powerpoint/2010/main" val="20905716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 and Sort</a:t>
            </a:r>
          </a:p>
        </p:txBody>
      </p:sp>
      <p:sp>
        <p:nvSpPr>
          <p:cNvPr id="5" name="Rounded Rectangle 4"/>
          <p:cNvSpPr/>
          <p:nvPr/>
        </p:nvSpPr>
        <p:spPr bwMode="auto">
          <a:xfrm>
            <a:off x="685800" y="15240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</a:p>
        </p:txBody>
      </p:sp>
      <p:sp>
        <p:nvSpPr>
          <p:cNvPr id="6" name="Rounded Rectangle 5"/>
          <p:cNvSpPr/>
          <p:nvPr/>
        </p:nvSpPr>
        <p:spPr bwMode="auto">
          <a:xfrm>
            <a:off x="7315200" y="22860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Reducer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685800" y="2590800"/>
            <a:ext cx="1371600" cy="1371600"/>
            <a:chOff x="1219200" y="3200400"/>
            <a:chExt cx="1371600" cy="1371600"/>
          </a:xfrm>
        </p:grpSpPr>
        <p:sp>
          <p:nvSpPr>
            <p:cNvPr id="7" name="Oval 6"/>
            <p:cNvSpPr/>
            <p:nvPr/>
          </p:nvSpPr>
          <p:spPr bwMode="auto">
            <a:xfrm>
              <a:off x="1219200" y="3200400"/>
              <a:ext cx="1371600" cy="13716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1371600" y="3352800"/>
              <a:ext cx="1066800" cy="1066800"/>
            </a:xfrm>
            <a:prstGeom prst="ellipse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Rectangle 8"/>
          <p:cNvSpPr/>
          <p:nvPr/>
        </p:nvSpPr>
        <p:spPr bwMode="auto">
          <a:xfrm>
            <a:off x="1447800" y="4800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838200" y="44958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2057400" y="44958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2895600" y="24384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26670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2895600" y="2895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2895600" y="31242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4953000" y="2133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4953000" y="24384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4953000" y="27432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/>
          <p:cNvCxnSpPr/>
          <p:nvPr/>
        </p:nvCxnSpPr>
        <p:spPr bwMode="auto">
          <a:xfrm rot="5400000">
            <a:off x="1181100" y="2324100"/>
            <a:ext cx="381000" cy="1588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 bwMode="auto">
          <a:xfrm rot="5400000">
            <a:off x="1181894" y="4228306"/>
            <a:ext cx="381000" cy="1588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 bwMode="auto">
          <a:xfrm rot="16200000" flipH="1">
            <a:off x="1372394" y="4191794"/>
            <a:ext cx="609600" cy="303212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 bwMode="auto">
          <a:xfrm rot="16200000" flipH="1">
            <a:off x="1753394" y="4039394"/>
            <a:ext cx="381000" cy="379412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 bwMode="auto">
          <a:xfrm rot="5400000" flipH="1" flipV="1">
            <a:off x="2362200" y="3733800"/>
            <a:ext cx="838200" cy="381000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3"/>
            <a:endCxn id="17" idx="1"/>
          </p:cNvCxnSpPr>
          <p:nvPr/>
        </p:nvCxnSpPr>
        <p:spPr bwMode="auto">
          <a:xfrm flipV="1">
            <a:off x="3657600" y="2247900"/>
            <a:ext cx="1295400" cy="3048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18" idx="1"/>
          </p:cNvCxnSpPr>
          <p:nvPr/>
        </p:nvCxnSpPr>
        <p:spPr bwMode="auto">
          <a:xfrm rot="5400000" flipH="1" flipV="1">
            <a:off x="2152650" y="3143250"/>
            <a:ext cx="3390900" cy="22098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endCxn id="19" idx="1"/>
          </p:cNvCxnSpPr>
          <p:nvPr/>
        </p:nvCxnSpPr>
        <p:spPr bwMode="auto">
          <a:xfrm rot="5400000" flipH="1" flipV="1">
            <a:off x="2419350" y="3409950"/>
            <a:ext cx="3086100" cy="19812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48854" y="5943600"/>
            <a:ext cx="1499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</a:t>
            </a:r>
            <a:r>
              <a:rPr lang="en-US" sz="1800" b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mappers</a:t>
            </a:r>
            <a:endParaRPr lang="en-US" sz="18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Straight Arrow Connector 45"/>
          <p:cNvCxnSpPr>
            <a:stCxn id="13" idx="3"/>
          </p:cNvCxnSpPr>
          <p:nvPr/>
        </p:nvCxnSpPr>
        <p:spPr bwMode="auto">
          <a:xfrm>
            <a:off x="3657600" y="2781300"/>
            <a:ext cx="2057400" cy="20193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14" idx="3"/>
          </p:cNvCxnSpPr>
          <p:nvPr/>
        </p:nvCxnSpPr>
        <p:spPr bwMode="auto">
          <a:xfrm>
            <a:off x="3657600" y="3009900"/>
            <a:ext cx="1828800" cy="17907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stCxn id="15" idx="3"/>
          </p:cNvCxnSpPr>
          <p:nvPr/>
        </p:nvCxnSpPr>
        <p:spPr bwMode="auto">
          <a:xfrm>
            <a:off x="3657600" y="3238500"/>
            <a:ext cx="1600200" cy="15621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815854" y="4843046"/>
            <a:ext cx="1499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reducers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2001" y="3058180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circular buffer </a:t>
            </a:r>
            <a:br>
              <a:rPr lang="en-US" sz="14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 memory)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111" y="5029200"/>
            <a:ext cx="12522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spills (on disk)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50203" y="1905000"/>
            <a:ext cx="1189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merged spills </a:t>
            </a:r>
            <a:b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(on disk)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85594" y="1600200"/>
            <a:ext cx="14814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 files </a:t>
            </a:r>
            <a:b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(on disk)</a:t>
            </a:r>
          </a:p>
        </p:txBody>
      </p:sp>
      <p:cxnSp>
        <p:nvCxnSpPr>
          <p:cNvPr id="74" name="Straight Arrow Connector 73"/>
          <p:cNvCxnSpPr>
            <a:endCxn id="17" idx="3"/>
          </p:cNvCxnSpPr>
          <p:nvPr/>
        </p:nvCxnSpPr>
        <p:spPr bwMode="auto">
          <a:xfrm rot="10800000">
            <a:off x="5715000" y="2247900"/>
            <a:ext cx="1600200" cy="1905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6" idx="1"/>
            <a:endCxn id="18" idx="3"/>
          </p:cNvCxnSpPr>
          <p:nvPr/>
        </p:nvCxnSpPr>
        <p:spPr bwMode="auto">
          <a:xfrm rot="10800000">
            <a:off x="5715000" y="2552700"/>
            <a:ext cx="1600200" cy="1588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endCxn id="19" idx="3"/>
          </p:cNvCxnSpPr>
          <p:nvPr/>
        </p:nvCxnSpPr>
        <p:spPr bwMode="auto">
          <a:xfrm rot="10800000" flipV="1">
            <a:off x="5715000" y="2667000"/>
            <a:ext cx="1600200" cy="1905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 bwMode="auto">
          <a:xfrm>
            <a:off x="2286000" y="3733800"/>
            <a:ext cx="11430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Combiner</a:t>
            </a:r>
            <a:endParaRPr kumimoji="0" lang="en-US" sz="14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Rounded Rectangle 86"/>
          <p:cNvSpPr/>
          <p:nvPr/>
        </p:nvSpPr>
        <p:spPr bwMode="auto">
          <a:xfrm>
            <a:off x="5943600" y="2362200"/>
            <a:ext cx="11430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Combiner</a:t>
            </a:r>
            <a:endParaRPr kumimoji="0" lang="en-US" sz="14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047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Hadoop Workflow</a:t>
            </a:r>
          </a:p>
        </p:txBody>
      </p:sp>
      <p:grpSp>
        <p:nvGrpSpPr>
          <p:cNvPr id="26" name="Group 23"/>
          <p:cNvGrpSpPr>
            <a:grpSpLocks/>
          </p:cNvGrpSpPr>
          <p:nvPr/>
        </p:nvGrpSpPr>
        <p:grpSpPr bwMode="auto">
          <a:xfrm>
            <a:off x="5778500" y="2667000"/>
            <a:ext cx="2928938" cy="1588206"/>
            <a:chOff x="5778500" y="2667000"/>
            <a:chExt cx="2928938" cy="1588630"/>
          </a:xfrm>
        </p:grpSpPr>
        <p:pic>
          <p:nvPicPr>
            <p:cNvPr id="27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79883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28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76200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29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72517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30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8834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1" name="TextBox 7"/>
            <p:cNvSpPr txBox="1">
              <a:spLocks noChangeArrowheads="1"/>
            </p:cNvSpPr>
            <p:nvPr/>
          </p:nvSpPr>
          <p:spPr bwMode="auto">
            <a:xfrm>
              <a:off x="6400800" y="3886199"/>
              <a:ext cx="2044149" cy="3694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ill Sans"/>
                  <a:cs typeface="Gill Sans"/>
                </a:rPr>
                <a:t>Hadoop Cluster</a:t>
              </a:r>
            </a:p>
          </p:txBody>
        </p:sp>
        <p:pic>
          <p:nvPicPr>
            <p:cNvPr id="32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5151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33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1468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34" name="Picture 33" descr="MCj04352420000[1]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778500" y="2667000"/>
              <a:ext cx="719138" cy="1447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pic>
        <p:nvPicPr>
          <p:cNvPr id="35" name="Picture 3" descr="MCj0411476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2514600"/>
            <a:ext cx="1971675" cy="146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6" name="TextBox 12"/>
          <p:cNvSpPr txBox="1">
            <a:spLocks noChangeArrowheads="1"/>
          </p:cNvSpPr>
          <p:nvPr/>
        </p:nvSpPr>
        <p:spPr bwMode="auto">
          <a:xfrm>
            <a:off x="1371600" y="4038600"/>
            <a:ext cx="607859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"/>
                <a:cs typeface="Gill Sans"/>
              </a:rPr>
              <a:t>You</a:t>
            </a:r>
          </a:p>
        </p:txBody>
      </p:sp>
      <p:sp>
        <p:nvSpPr>
          <p:cNvPr id="37" name="Curved Down Arrow 36"/>
          <p:cNvSpPr>
            <a:spLocks noChangeArrowheads="1"/>
          </p:cNvSpPr>
          <p:nvPr/>
        </p:nvSpPr>
        <p:spPr bwMode="auto">
          <a:xfrm>
            <a:off x="2590800" y="1600200"/>
            <a:ext cx="3429000" cy="762000"/>
          </a:xfrm>
          <a:prstGeom prst="curvedDownArrow">
            <a:avLst>
              <a:gd name="adj1" fmla="val 25000"/>
              <a:gd name="adj2" fmla="val 50000"/>
              <a:gd name="adj3" fmla="val 25000"/>
            </a:avLst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  <p:sp>
        <p:nvSpPr>
          <p:cNvPr id="38" name="Curved Down Arrow 37"/>
          <p:cNvSpPr>
            <a:spLocks noChangeArrowheads="1"/>
          </p:cNvSpPr>
          <p:nvPr/>
        </p:nvSpPr>
        <p:spPr bwMode="auto">
          <a:xfrm rot="10800000">
            <a:off x="2590800" y="4267200"/>
            <a:ext cx="3429000" cy="762000"/>
          </a:xfrm>
          <a:prstGeom prst="curvedDownArrow">
            <a:avLst>
              <a:gd name="adj1" fmla="val 25000"/>
              <a:gd name="adj2" fmla="val 50000"/>
              <a:gd name="adj3" fmla="val 25000"/>
            </a:avLst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  <p:sp>
        <p:nvSpPr>
          <p:cNvPr id="39" name="Right Arrow 38"/>
          <p:cNvSpPr>
            <a:spLocks noChangeArrowheads="1"/>
          </p:cNvSpPr>
          <p:nvPr/>
        </p:nvSpPr>
        <p:spPr bwMode="auto">
          <a:xfrm>
            <a:off x="3124200" y="3124200"/>
            <a:ext cx="2286000" cy="304800"/>
          </a:xfrm>
          <a:prstGeom prst="right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  <p:sp>
        <p:nvSpPr>
          <p:cNvPr id="40" name="TextBox 39"/>
          <p:cNvSpPr txBox="1">
            <a:spLocks noChangeArrowheads="1"/>
          </p:cNvSpPr>
          <p:nvPr/>
        </p:nvSpPr>
        <p:spPr bwMode="auto">
          <a:xfrm>
            <a:off x="5510213" y="1459468"/>
            <a:ext cx="26532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"/>
                <a:cs typeface="Gill Sans"/>
              </a:rPr>
              <a:t>1. Load data into HDFS</a:t>
            </a:r>
          </a:p>
        </p:txBody>
      </p:sp>
      <p:sp>
        <p:nvSpPr>
          <p:cNvPr id="41" name="TextBox 40"/>
          <p:cNvSpPr txBox="1">
            <a:spLocks noChangeArrowheads="1"/>
          </p:cNvSpPr>
          <p:nvPr/>
        </p:nvSpPr>
        <p:spPr bwMode="auto">
          <a:xfrm>
            <a:off x="1443038" y="2362200"/>
            <a:ext cx="26709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"/>
                <a:cs typeface="Gill Sans"/>
              </a:rPr>
              <a:t>2. Develop code locally</a:t>
            </a:r>
          </a:p>
        </p:txBody>
      </p:sp>
      <p:sp>
        <p:nvSpPr>
          <p:cNvPr id="42" name="TextBox 41"/>
          <p:cNvSpPr txBox="1">
            <a:spLocks noChangeArrowheads="1"/>
          </p:cNvSpPr>
          <p:nvPr/>
        </p:nvSpPr>
        <p:spPr bwMode="auto">
          <a:xfrm>
            <a:off x="3048000" y="3395663"/>
            <a:ext cx="297389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"/>
                <a:cs typeface="Gill Sans"/>
              </a:rPr>
              <a:t>3. Submit MapReduce job</a:t>
            </a:r>
          </a:p>
        </p:txBody>
      </p:sp>
      <p:sp>
        <p:nvSpPr>
          <p:cNvPr id="43" name="TextBox 42"/>
          <p:cNvSpPr txBox="1">
            <a:spLocks noChangeArrowheads="1"/>
          </p:cNvSpPr>
          <p:nvPr/>
        </p:nvSpPr>
        <p:spPr bwMode="auto">
          <a:xfrm>
            <a:off x="3048000" y="3657600"/>
            <a:ext cx="246574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Gill Sans"/>
                <a:cs typeface="Gill Sans"/>
              </a:rPr>
              <a:t>3a. Go back to Step 2</a:t>
            </a:r>
          </a:p>
        </p:txBody>
      </p:sp>
      <p:sp>
        <p:nvSpPr>
          <p:cNvPr id="44" name="TextBox 43"/>
          <p:cNvSpPr txBox="1">
            <a:spLocks noChangeArrowheads="1"/>
          </p:cNvSpPr>
          <p:nvPr/>
        </p:nvSpPr>
        <p:spPr bwMode="auto">
          <a:xfrm>
            <a:off x="5510213" y="4826000"/>
            <a:ext cx="279979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kern="0" dirty="0">
                <a:solidFill>
                  <a:schemeClr val="bg1"/>
                </a:solidFill>
                <a:latin typeface="Gill Sans"/>
                <a:cs typeface="Gill Sans"/>
              </a:rPr>
              <a:t>4. Retrieve data from HDFS</a:t>
            </a:r>
          </a:p>
        </p:txBody>
      </p:sp>
    </p:spTree>
    <p:extLst>
      <p:ext uri="{BB962C8B-B14F-4D97-AF65-F5344CB8AC3E}">
        <p14:creationId xmlns:p14="http://schemas.microsoft.com/office/powerpoint/2010/main" val="3635537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/>
      <p:bldP spid="41" grpId="0"/>
      <p:bldP spid="42" grpId="0"/>
      <p:bldP spid="43" grpId="0"/>
      <p:bldP spid="4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Workflow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Here’s how I work:</a:t>
            </a:r>
          </a:p>
          <a:p>
            <a:pPr lvl="1"/>
            <a:r>
              <a:rPr lang="en-US" dirty="0"/>
              <a:t>Develop code in Eclipse on host machine</a:t>
            </a:r>
          </a:p>
          <a:p>
            <a:pPr lvl="1"/>
            <a:r>
              <a:rPr lang="en-US" dirty="0"/>
              <a:t>Build distribution on host machine</a:t>
            </a:r>
          </a:p>
          <a:p>
            <a:pPr lvl="1"/>
            <a:r>
              <a:rPr lang="en-US" dirty="0"/>
              <a:t>Check out copy of code on VM</a:t>
            </a:r>
          </a:p>
          <a:p>
            <a:pPr lvl="1"/>
            <a:r>
              <a:rPr lang="en-US" dirty="0"/>
              <a:t>Copy (i.e., </a:t>
            </a:r>
            <a:r>
              <a:rPr lang="en-US" dirty="0" err="1"/>
              <a:t>scp</a:t>
            </a:r>
            <a:r>
              <a:rPr lang="en-US" dirty="0"/>
              <a:t>) jars over to VM (in same directory structure)</a:t>
            </a:r>
          </a:p>
          <a:p>
            <a:pPr lvl="1"/>
            <a:r>
              <a:rPr lang="en-US" dirty="0"/>
              <a:t>Run job on VM</a:t>
            </a:r>
          </a:p>
          <a:p>
            <a:pPr lvl="1"/>
            <a:r>
              <a:rPr lang="en-US" dirty="0"/>
              <a:t>Iterate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/>
              <a:t>Commit code on host machine and push</a:t>
            </a:r>
          </a:p>
          <a:p>
            <a:pPr lvl="1"/>
            <a:r>
              <a:rPr lang="en-US" dirty="0"/>
              <a:t>Pull from inside VM, verify</a:t>
            </a:r>
          </a:p>
          <a:p>
            <a:r>
              <a:rPr lang="en-US" dirty="0"/>
              <a:t>Avoid using the UI of the VM</a:t>
            </a:r>
          </a:p>
          <a:p>
            <a:pPr lvl="1"/>
            <a:r>
              <a:rPr lang="en-US" dirty="0"/>
              <a:t>Directly </a:t>
            </a:r>
            <a:r>
              <a:rPr lang="en-US" dirty="0" err="1"/>
              <a:t>ssh</a:t>
            </a:r>
            <a:r>
              <a:rPr lang="en-US" dirty="0"/>
              <a:t> into the VM</a:t>
            </a:r>
          </a:p>
        </p:txBody>
      </p:sp>
    </p:spTree>
    <p:extLst>
      <p:ext uri="{BB962C8B-B14F-4D97-AF65-F5344CB8AC3E}">
        <p14:creationId xmlns:p14="http://schemas.microsoft.com/office/powerpoint/2010/main" val="22518442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Hadoop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First, take a deep breath</a:t>
            </a:r>
          </a:p>
          <a:p>
            <a:r>
              <a:rPr lang="en-US" dirty="0"/>
              <a:t>Start small, start locally</a:t>
            </a:r>
          </a:p>
          <a:p>
            <a:r>
              <a:rPr lang="en-US" dirty="0"/>
              <a:t>Build incrementally</a:t>
            </a:r>
          </a:p>
        </p:txBody>
      </p:sp>
    </p:spTree>
    <p:extLst>
      <p:ext uri="{BB962C8B-B14F-4D97-AF65-F5344CB8AC3E}">
        <p14:creationId xmlns:p14="http://schemas.microsoft.com/office/powerpoint/2010/main" val="2425176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Execution Environments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ways to run code:</a:t>
            </a:r>
          </a:p>
          <a:p>
            <a:pPr lvl="1"/>
            <a:r>
              <a:rPr lang="en-US" dirty="0"/>
              <a:t>Plain Java</a:t>
            </a:r>
          </a:p>
          <a:p>
            <a:pPr lvl="1"/>
            <a:r>
              <a:rPr lang="en-US" dirty="0"/>
              <a:t>Local (standalone) mode</a:t>
            </a:r>
          </a:p>
          <a:p>
            <a:pPr lvl="1"/>
            <a:r>
              <a:rPr lang="en-US" dirty="0"/>
              <a:t>Pseudo-distributed mode</a:t>
            </a:r>
          </a:p>
          <a:p>
            <a:pPr lvl="1"/>
            <a:r>
              <a:rPr lang="en-US" dirty="0"/>
              <a:t>Fully-distributed mode</a:t>
            </a:r>
          </a:p>
          <a:p>
            <a:r>
              <a:rPr lang="en-US" dirty="0"/>
              <a:t>Learn what’s good for what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0478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Hadoop Debugging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Good </a:t>
            </a:r>
            <a:r>
              <a:rPr lang="en-US" dirty="0" err="1"/>
              <a:t>ol</a:t>
            </a:r>
            <a:r>
              <a:rPr lang="en-US" dirty="0"/>
              <a:t>’ </a:t>
            </a:r>
            <a:r>
              <a:rPr lang="en-US" dirty="0" err="1"/>
              <a:t>System.out.println</a:t>
            </a:r>
            <a:endParaRPr lang="en-US" dirty="0"/>
          </a:p>
          <a:p>
            <a:pPr lvl="1"/>
            <a:r>
              <a:rPr lang="en-US" dirty="0"/>
              <a:t>Learn to use the </a:t>
            </a:r>
            <a:r>
              <a:rPr lang="en-US" dirty="0" err="1"/>
              <a:t>webapp</a:t>
            </a:r>
            <a:r>
              <a:rPr lang="en-US" dirty="0"/>
              <a:t> to access logs</a:t>
            </a:r>
          </a:p>
          <a:p>
            <a:pPr lvl="1"/>
            <a:r>
              <a:rPr lang="en-US" dirty="0"/>
              <a:t>Logging preferred over </a:t>
            </a:r>
            <a:r>
              <a:rPr lang="en-US" dirty="0" err="1"/>
              <a:t>System.out.println</a:t>
            </a:r>
            <a:endParaRPr lang="en-US" dirty="0"/>
          </a:p>
          <a:p>
            <a:pPr lvl="1"/>
            <a:r>
              <a:rPr lang="en-US" dirty="0"/>
              <a:t>Be careful how much you log!</a:t>
            </a:r>
          </a:p>
          <a:p>
            <a:r>
              <a:rPr lang="en-US" dirty="0"/>
              <a:t>Fail on success</a:t>
            </a:r>
          </a:p>
          <a:p>
            <a:pPr lvl="1"/>
            <a:r>
              <a:rPr lang="en-US" dirty="0"/>
              <a:t>Throw </a:t>
            </a:r>
            <a:r>
              <a:rPr lang="en-US" dirty="0" err="1"/>
              <a:t>RuntimeExceptions</a:t>
            </a:r>
            <a:r>
              <a:rPr lang="en-US" dirty="0"/>
              <a:t> and capture state</a:t>
            </a:r>
          </a:p>
          <a:p>
            <a:r>
              <a:rPr lang="en-US" dirty="0"/>
              <a:t>Programming is still programming</a:t>
            </a:r>
          </a:p>
          <a:p>
            <a:pPr lvl="1"/>
            <a:r>
              <a:rPr lang="en-US" dirty="0"/>
              <a:t>Use Hadoop as the “glue”</a:t>
            </a:r>
          </a:p>
          <a:p>
            <a:pPr lvl="1"/>
            <a:r>
              <a:rPr lang="en-US" dirty="0"/>
              <a:t>Implement core functionality outside mappers and reducers</a:t>
            </a:r>
          </a:p>
          <a:p>
            <a:pPr lvl="1"/>
            <a:r>
              <a:rPr lang="en-US" dirty="0"/>
              <a:t>Independently test (e.g., unit testing)</a:t>
            </a:r>
          </a:p>
          <a:p>
            <a:pPr lvl="1"/>
            <a:r>
              <a:rPr lang="en-US" dirty="0"/>
              <a:t>Compose (tested) components in mappers and reducers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632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 err="1"/>
              <a:t>WordCount</a:t>
            </a:r>
            <a:r>
              <a:rPr lang="en-US" altLang="zh-TW" dirty="0"/>
              <a:t> in Action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zh-TW" dirty="0"/>
              <a:t>Environment variables setting:</a:t>
            </a:r>
          </a:p>
          <a:p>
            <a:pPr lvl="1"/>
            <a:r>
              <a:rPr lang="en-US" altLang="zh-TW" dirty="0"/>
              <a:t>export JAVA_HOME=/</a:t>
            </a:r>
            <a:r>
              <a:rPr lang="en-US" altLang="zh-TW" dirty="0" err="1"/>
              <a:t>usr</a:t>
            </a:r>
            <a:r>
              <a:rPr lang="en-US" altLang="zh-TW" dirty="0"/>
              <a:t>/java/default</a:t>
            </a:r>
          </a:p>
          <a:p>
            <a:pPr lvl="1"/>
            <a:r>
              <a:rPr lang="en-US" altLang="zh-TW" dirty="0"/>
              <a:t>export PATH=${JAVA_HOME}/bin:${PATH}</a:t>
            </a:r>
          </a:p>
          <a:p>
            <a:pPr lvl="1"/>
            <a:r>
              <a:rPr lang="en-US" altLang="zh-TW" dirty="0"/>
              <a:t>export HADOOP_CLASSPATH=${JAVA_HOME}/lib/tools.jar</a:t>
            </a:r>
          </a:p>
          <a:p>
            <a:r>
              <a:rPr lang="en-US" altLang="zh-TW" dirty="0"/>
              <a:t>Compiling java code to create a jar:</a:t>
            </a:r>
          </a:p>
          <a:p>
            <a:pPr lvl="1"/>
            <a:r>
              <a:rPr lang="en-US" altLang="zh-TW" dirty="0"/>
              <a:t>cd ${HADOOP_HOME}/</a:t>
            </a:r>
            <a:r>
              <a:rPr lang="en-US" altLang="zh-TW" dirty="0" err="1"/>
              <a:t>src</a:t>
            </a:r>
            <a:r>
              <a:rPr lang="en-US" altLang="zh-TW" dirty="0"/>
              <a:t>/examples</a:t>
            </a:r>
          </a:p>
          <a:p>
            <a:pPr lvl="1"/>
            <a:r>
              <a:rPr lang="en-US" altLang="zh-TW" dirty="0"/>
              <a:t>${HADOOP_HOME}/bin/</a:t>
            </a:r>
            <a:r>
              <a:rPr lang="en-US" altLang="zh-TW" dirty="0" err="1"/>
              <a:t>hadoop</a:t>
            </a:r>
            <a:r>
              <a:rPr lang="en-US" altLang="zh-TW" dirty="0"/>
              <a:t> </a:t>
            </a:r>
            <a:r>
              <a:rPr lang="en-US" altLang="zh-TW" dirty="0" err="1"/>
              <a:t>com.sun.tools.javac.Main</a:t>
            </a:r>
            <a:r>
              <a:rPr lang="en-US" altLang="zh-TW" dirty="0"/>
              <a:t> org/apache/</a:t>
            </a:r>
            <a:r>
              <a:rPr lang="en-US" altLang="zh-TW" dirty="0" err="1"/>
              <a:t>hadoop</a:t>
            </a:r>
            <a:r>
              <a:rPr lang="en-US" altLang="zh-TW" dirty="0"/>
              <a:t>/examples/WordCount.java</a:t>
            </a:r>
          </a:p>
          <a:p>
            <a:pPr lvl="1"/>
            <a:r>
              <a:rPr lang="en-US" altLang="zh-TW" dirty="0"/>
              <a:t>jar </a:t>
            </a:r>
            <a:r>
              <a:rPr lang="en-US" altLang="zh-TW" dirty="0" err="1"/>
              <a:t>cf</a:t>
            </a:r>
            <a:r>
              <a:rPr lang="en-US" altLang="zh-TW" dirty="0"/>
              <a:t> wc.jar org/apache/</a:t>
            </a:r>
            <a:r>
              <a:rPr lang="en-US" altLang="zh-TW" dirty="0" err="1"/>
              <a:t>hadoop</a:t>
            </a:r>
            <a:r>
              <a:rPr lang="en-US" altLang="zh-TW" dirty="0"/>
              <a:t>/examples/</a:t>
            </a:r>
            <a:r>
              <a:rPr lang="en-US" altLang="zh-TW" dirty="0" err="1"/>
              <a:t>WordCount</a:t>
            </a:r>
            <a:r>
              <a:rPr lang="en-US" altLang="zh-TW" dirty="0"/>
              <a:t>*.class</a:t>
            </a:r>
          </a:p>
          <a:p>
            <a:r>
              <a:rPr lang="en-US" altLang="zh-TW" dirty="0"/>
              <a:t>Running the application in jar:</a:t>
            </a:r>
          </a:p>
          <a:p>
            <a:pPr lvl="1"/>
            <a:r>
              <a:rPr lang="en-US" altLang="zh-TW" dirty="0"/>
              <a:t>${HADOOP_HOME}/bin/</a:t>
            </a:r>
            <a:r>
              <a:rPr lang="en-US" altLang="zh-TW" dirty="0" err="1"/>
              <a:t>hadoop</a:t>
            </a:r>
            <a:r>
              <a:rPr lang="en-US" altLang="zh-TW" dirty="0"/>
              <a:t> jar wc.jar </a:t>
            </a:r>
            <a:r>
              <a:rPr lang="en-US" altLang="zh-TW" dirty="0" err="1"/>
              <a:t>org.apache.hadoop.examples.WordCount</a:t>
            </a:r>
            <a:r>
              <a:rPr lang="en-US" altLang="zh-TW" dirty="0"/>
              <a:t> &lt;in&gt; &lt;out&gt;</a:t>
            </a:r>
          </a:p>
          <a:p>
            <a:pPr lvl="1"/>
            <a:r>
              <a:rPr lang="en-US" altLang="zh-TW" dirty="0"/>
              <a:t>* NOTE: &lt;in&gt; and &lt;out&gt; are directories in HDFS</a:t>
            </a:r>
          </a:p>
        </p:txBody>
      </p:sp>
    </p:spTree>
    <p:extLst>
      <p:ext uri="{BB962C8B-B14F-4D97-AF65-F5344CB8AC3E}">
        <p14:creationId xmlns:p14="http://schemas.microsoft.com/office/powerpoint/2010/main" val="1207678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>
                    <a:lumMod val="65000"/>
                  </a:schemeClr>
                </a:solidFill>
              </a:rPr>
              <a:t>MapReduce Algorithm Design</a:t>
            </a:r>
            <a:endParaRPr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01906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Major Issues in MapReduce Algorithm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Synchronization</a:t>
            </a:r>
          </a:p>
          <a:p>
            <a:pPr lvl="1"/>
            <a:r>
              <a:rPr lang="en-US" altLang="zh-TW" dirty="0"/>
              <a:t>The most tricky aspect of designing MapReduce algorithms</a:t>
            </a:r>
          </a:p>
          <a:p>
            <a:pPr lvl="1"/>
            <a:r>
              <a:rPr lang="en-US" altLang="zh-TW" dirty="0"/>
              <a:t>The only cluster-wide synchronization during shuffle and sort stage: from mapper to reducer</a:t>
            </a:r>
          </a:p>
          <a:p>
            <a:r>
              <a:rPr lang="en-US" altLang="zh-TW" dirty="0"/>
              <a:t>Techniques to control execution and data flow in MapReduce</a:t>
            </a:r>
          </a:p>
          <a:p>
            <a:pPr lvl="1"/>
            <a:r>
              <a:rPr lang="en-US" altLang="zh-TW" dirty="0"/>
              <a:t>Scalability</a:t>
            </a:r>
          </a:p>
          <a:p>
            <a:pPr lvl="1"/>
            <a:r>
              <a:rPr lang="en-US" altLang="zh-TW" dirty="0"/>
              <a:t>Efficiency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484383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Limited control over data and execution flow</a:t>
            </a:r>
          </a:p>
          <a:p>
            <a:pPr lvl="1"/>
            <a:r>
              <a:rPr lang="en-US" altLang="zh-TW" dirty="0"/>
              <a:t>Where mappers and reducers run</a:t>
            </a:r>
          </a:p>
          <a:p>
            <a:pPr lvl="1"/>
            <a:r>
              <a:rPr lang="en-US" altLang="zh-TW" dirty="0"/>
              <a:t>When a mapper or reducer begins or finishes</a:t>
            </a:r>
          </a:p>
          <a:p>
            <a:pPr lvl="1"/>
            <a:r>
              <a:rPr lang="en-US" altLang="zh-TW" dirty="0"/>
              <a:t>Which input a particular mapper is processing</a:t>
            </a:r>
          </a:p>
          <a:p>
            <a:pPr lvl="1"/>
            <a:r>
              <a:rPr lang="en-US" altLang="zh-TW" dirty="0"/>
              <a:t>Which intermediate key a particular reducer is processing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465131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Tools for Synchronization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Cleverly-constructed data structures</a:t>
            </a:r>
          </a:p>
          <a:p>
            <a:pPr lvl="1"/>
            <a:r>
              <a:rPr lang="en-US" altLang="zh-TW" dirty="0"/>
              <a:t>Bring partial results together</a:t>
            </a:r>
          </a:p>
          <a:p>
            <a:r>
              <a:rPr lang="en-US" altLang="zh-TW" dirty="0"/>
              <a:t>Sort order of intermediate keys</a:t>
            </a:r>
          </a:p>
          <a:p>
            <a:pPr lvl="1"/>
            <a:r>
              <a:rPr lang="en-US" altLang="zh-TW" dirty="0"/>
              <a:t>Control order in which reducers process keys</a:t>
            </a:r>
          </a:p>
          <a:p>
            <a:r>
              <a:rPr lang="en-US" altLang="zh-TW" dirty="0" err="1"/>
              <a:t>Partitioner</a:t>
            </a:r>
            <a:endParaRPr lang="en-US" altLang="zh-TW" dirty="0"/>
          </a:p>
          <a:p>
            <a:pPr lvl="1"/>
            <a:r>
              <a:rPr lang="en-US" altLang="zh-TW" dirty="0"/>
              <a:t>Control which reducer processes which keys</a:t>
            </a:r>
          </a:p>
          <a:p>
            <a:r>
              <a:rPr lang="en-US" altLang="zh-TW" dirty="0"/>
              <a:t>Preserving state in mappers and reducers</a:t>
            </a:r>
          </a:p>
          <a:p>
            <a:pPr lvl="1"/>
            <a:r>
              <a:rPr lang="en-US" altLang="zh-TW" dirty="0"/>
              <a:t>Capture dependencies across multiple keys and values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294318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Preserving State</a:t>
            </a:r>
          </a:p>
        </p:txBody>
      </p:sp>
      <p:grpSp>
        <p:nvGrpSpPr>
          <p:cNvPr id="62" name="Group 61"/>
          <p:cNvGrpSpPr/>
          <p:nvPr/>
        </p:nvGrpSpPr>
        <p:grpSpPr>
          <a:xfrm>
            <a:off x="1066800" y="1676400"/>
            <a:ext cx="2057401" cy="3886200"/>
            <a:chOff x="1143000" y="1676400"/>
            <a:chExt cx="2057401" cy="3886200"/>
          </a:xfrm>
        </p:grpSpPr>
        <p:sp>
          <p:nvSpPr>
            <p:cNvPr id="7" name="Rounded Rectangle 6"/>
            <p:cNvSpPr/>
            <p:nvPr/>
          </p:nvSpPr>
          <p:spPr bwMode="auto">
            <a:xfrm>
              <a:off x="1143000" y="1676400"/>
              <a:ext cx="2057400" cy="38862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43001" y="1828800"/>
              <a:ext cx="2057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  <a:latin typeface="Gill Sans"/>
                  <a:cs typeface="Gill Sans"/>
                </a:rPr>
                <a:t>Mapper object</a:t>
              </a:r>
            </a:p>
          </p:txBody>
        </p:sp>
      </p:grpSp>
      <p:sp>
        <p:nvSpPr>
          <p:cNvPr id="10" name="Rounded Rectangle 9"/>
          <p:cNvSpPr/>
          <p:nvPr/>
        </p:nvSpPr>
        <p:spPr bwMode="auto">
          <a:xfrm>
            <a:off x="1295400" y="2895600"/>
            <a:ext cx="1600200" cy="4572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setup</a:t>
            </a:r>
          </a:p>
        </p:txBody>
      </p:sp>
      <p:sp>
        <p:nvSpPr>
          <p:cNvPr id="11" name="Rounded Rectangle 10"/>
          <p:cNvSpPr/>
          <p:nvPr/>
        </p:nvSpPr>
        <p:spPr bwMode="auto">
          <a:xfrm>
            <a:off x="1295400" y="3505200"/>
            <a:ext cx="1600200" cy="10668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map</a:t>
            </a:r>
          </a:p>
        </p:txBody>
      </p:sp>
      <p:sp>
        <p:nvSpPr>
          <p:cNvPr id="12" name="Rounded Rectangle 11"/>
          <p:cNvSpPr/>
          <p:nvPr/>
        </p:nvSpPr>
        <p:spPr bwMode="auto">
          <a:xfrm>
            <a:off x="1295400" y="4724400"/>
            <a:ext cx="1600200" cy="4572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cleanup</a:t>
            </a:r>
          </a:p>
        </p:txBody>
      </p:sp>
      <p:sp>
        <p:nvSpPr>
          <p:cNvPr id="15" name="Rectangle 14"/>
          <p:cNvSpPr/>
          <p:nvPr/>
        </p:nvSpPr>
        <p:spPr bwMode="auto">
          <a:xfrm>
            <a:off x="1600200" y="2362200"/>
            <a:ext cx="990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ill Sans"/>
                <a:cs typeface="Gill Sans"/>
              </a:rPr>
              <a:t>state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 rot="10800000">
            <a:off x="3124200" y="2286000"/>
            <a:ext cx="5334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57600" y="2099846"/>
            <a:ext cx="198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latin typeface="Gill Sans"/>
                <a:cs typeface="Gill Sans"/>
              </a:rPr>
              <a:t>one object per task</a:t>
            </a:r>
          </a:p>
        </p:txBody>
      </p:sp>
      <p:grpSp>
        <p:nvGrpSpPr>
          <p:cNvPr id="63" name="Group 62"/>
          <p:cNvGrpSpPr/>
          <p:nvPr/>
        </p:nvGrpSpPr>
        <p:grpSpPr>
          <a:xfrm>
            <a:off x="6172199" y="1676400"/>
            <a:ext cx="2057401" cy="3886200"/>
            <a:chOff x="6019800" y="1676400"/>
            <a:chExt cx="2057401" cy="3886200"/>
          </a:xfrm>
        </p:grpSpPr>
        <p:sp>
          <p:nvSpPr>
            <p:cNvPr id="20" name="Rounded Rectangle 19"/>
            <p:cNvSpPr/>
            <p:nvPr/>
          </p:nvSpPr>
          <p:spPr bwMode="auto">
            <a:xfrm>
              <a:off x="6019800" y="1676400"/>
              <a:ext cx="2057400" cy="3886200"/>
            </a:xfrm>
            <a:prstGeom prst="round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019801" y="1828800"/>
              <a:ext cx="2057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1"/>
                  </a:solidFill>
                  <a:latin typeface="Gill Sans"/>
                  <a:cs typeface="Gill Sans"/>
                </a:rPr>
                <a:t>Reducer object</a:t>
              </a:r>
            </a:p>
          </p:txBody>
        </p:sp>
      </p:grpSp>
      <p:sp>
        <p:nvSpPr>
          <p:cNvPr id="22" name="Rounded Rectangle 21"/>
          <p:cNvSpPr/>
          <p:nvPr/>
        </p:nvSpPr>
        <p:spPr bwMode="auto">
          <a:xfrm>
            <a:off x="6400799" y="2895600"/>
            <a:ext cx="1600200" cy="4572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setup</a:t>
            </a:r>
          </a:p>
        </p:txBody>
      </p:sp>
      <p:sp>
        <p:nvSpPr>
          <p:cNvPr id="23" name="Rounded Rectangle 22"/>
          <p:cNvSpPr/>
          <p:nvPr/>
        </p:nvSpPr>
        <p:spPr bwMode="auto">
          <a:xfrm>
            <a:off x="6400799" y="3505200"/>
            <a:ext cx="1600200" cy="10668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reduce</a:t>
            </a:r>
          </a:p>
        </p:txBody>
      </p:sp>
      <p:sp>
        <p:nvSpPr>
          <p:cNvPr id="24" name="Rounded Rectangle 23"/>
          <p:cNvSpPr/>
          <p:nvPr/>
        </p:nvSpPr>
        <p:spPr bwMode="auto">
          <a:xfrm>
            <a:off x="6400799" y="4724400"/>
            <a:ext cx="1600200" cy="4572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close</a:t>
            </a:r>
          </a:p>
        </p:txBody>
      </p:sp>
      <p:sp>
        <p:nvSpPr>
          <p:cNvPr id="25" name="Rectangle 24"/>
          <p:cNvSpPr/>
          <p:nvPr/>
        </p:nvSpPr>
        <p:spPr bwMode="auto">
          <a:xfrm>
            <a:off x="6705599" y="2362200"/>
            <a:ext cx="990600" cy="3048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Gill Sans"/>
                <a:cs typeface="Gill Sans"/>
              </a:rPr>
              <a:t>state</a:t>
            </a:r>
          </a:p>
        </p:txBody>
      </p:sp>
      <p:cxnSp>
        <p:nvCxnSpPr>
          <p:cNvPr id="26" name="Straight Arrow Connector 25"/>
          <p:cNvCxnSpPr/>
          <p:nvPr/>
        </p:nvCxnSpPr>
        <p:spPr bwMode="auto">
          <a:xfrm flipV="1">
            <a:off x="5638799" y="2286000"/>
            <a:ext cx="5334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 bwMode="auto">
          <a:xfrm rot="10800000">
            <a:off x="2895601" y="3705999"/>
            <a:ext cx="6096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1207" y="3505200"/>
            <a:ext cx="21259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latin typeface="Gill Sans"/>
                <a:cs typeface="Gill Sans"/>
              </a:rPr>
              <a:t>one call per input </a:t>
            </a:r>
            <a:br>
              <a:rPr lang="en-US" b="0" dirty="0">
                <a:latin typeface="Gill Sans"/>
                <a:cs typeface="Gill Sans"/>
              </a:rPr>
            </a:br>
            <a:r>
              <a:rPr lang="en-US" b="0" dirty="0">
                <a:latin typeface="Gill Sans"/>
                <a:cs typeface="Gill Sans"/>
              </a:rPr>
              <a:t>key-value 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5800" y="4139624"/>
            <a:ext cx="19948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latin typeface="Gill Sans"/>
                <a:cs typeface="Gill Sans"/>
              </a:rPr>
              <a:t>one call per </a:t>
            </a:r>
            <a:br>
              <a:rPr lang="en-US" b="0" dirty="0">
                <a:latin typeface="Gill Sans"/>
                <a:cs typeface="Gill Sans"/>
              </a:rPr>
            </a:br>
            <a:r>
              <a:rPr lang="en-US" b="0" dirty="0">
                <a:latin typeface="Gill Sans"/>
                <a:cs typeface="Gill Sans"/>
              </a:rPr>
              <a:t>intermediate key</a:t>
            </a:r>
          </a:p>
        </p:txBody>
      </p:sp>
      <p:cxnSp>
        <p:nvCxnSpPr>
          <p:cNvPr id="32" name="Straight Arrow Connector 31"/>
          <p:cNvCxnSpPr/>
          <p:nvPr/>
        </p:nvCxnSpPr>
        <p:spPr bwMode="auto">
          <a:xfrm rot="10800000" flipH="1">
            <a:off x="5791199" y="4341811"/>
            <a:ext cx="6096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10" idx="3"/>
          </p:cNvCxnSpPr>
          <p:nvPr/>
        </p:nvCxnSpPr>
        <p:spPr bwMode="auto">
          <a:xfrm rot="10800000">
            <a:off x="2895601" y="3124200"/>
            <a:ext cx="762001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57600" y="2971800"/>
            <a:ext cx="2537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latin typeface="Gill Sans"/>
                <a:cs typeface="Gill Sans"/>
              </a:rPr>
              <a:t>API initialization hook</a:t>
            </a:r>
          </a:p>
        </p:txBody>
      </p:sp>
      <p:cxnSp>
        <p:nvCxnSpPr>
          <p:cNvPr id="35" name="Straight Arrow Connector 34"/>
          <p:cNvCxnSpPr>
            <a:endCxn id="22" idx="1"/>
          </p:cNvCxnSpPr>
          <p:nvPr/>
        </p:nvCxnSpPr>
        <p:spPr bwMode="auto">
          <a:xfrm flipV="1">
            <a:off x="5638800" y="3124200"/>
            <a:ext cx="761999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 bwMode="auto">
          <a:xfrm rot="10800000">
            <a:off x="2895602" y="4953000"/>
            <a:ext cx="914398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10000" y="4800600"/>
            <a:ext cx="2081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latin typeface="Gill Sans"/>
                <a:cs typeface="Gill Sans"/>
              </a:rPr>
              <a:t>API cleanup hook</a:t>
            </a:r>
          </a:p>
        </p:txBody>
      </p:sp>
      <p:cxnSp>
        <p:nvCxnSpPr>
          <p:cNvPr id="40" name="Straight Arrow Connector 39"/>
          <p:cNvCxnSpPr/>
          <p:nvPr/>
        </p:nvCxnSpPr>
        <p:spPr bwMode="auto">
          <a:xfrm>
            <a:off x="5486399" y="4953000"/>
            <a:ext cx="9144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urved Connector 47"/>
          <p:cNvCxnSpPr>
            <a:stCxn id="11" idx="1"/>
            <a:endCxn id="15" idx="1"/>
          </p:cNvCxnSpPr>
          <p:nvPr/>
        </p:nvCxnSpPr>
        <p:spPr bwMode="auto">
          <a:xfrm rot="10800000" flipH="1">
            <a:off x="1295400" y="2514600"/>
            <a:ext cx="304800" cy="1524000"/>
          </a:xfrm>
          <a:prstGeom prst="curvedConnector3">
            <a:avLst>
              <a:gd name="adj1" fmla="val -43235"/>
            </a:avLst>
          </a:prstGeom>
          <a:ln>
            <a:prstDash val="dash"/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Curved Connector 54"/>
          <p:cNvCxnSpPr>
            <a:stCxn id="23" idx="3"/>
            <a:endCxn id="25" idx="3"/>
          </p:cNvCxnSpPr>
          <p:nvPr/>
        </p:nvCxnSpPr>
        <p:spPr bwMode="auto">
          <a:xfrm flipH="1" flipV="1">
            <a:off x="7696199" y="2514600"/>
            <a:ext cx="304800" cy="1524000"/>
          </a:xfrm>
          <a:prstGeom prst="curvedConnector3">
            <a:avLst>
              <a:gd name="adj1" fmla="val -39706"/>
            </a:avLst>
          </a:prstGeom>
          <a:ln>
            <a:prstDash val="dash"/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269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5" grpId="0" animBg="1"/>
      <p:bldP spid="19" grpId="0"/>
      <p:bldP spid="22" grpId="0" animBg="1"/>
      <p:bldP spid="23" grpId="0" animBg="1"/>
      <p:bldP spid="24" grpId="0" animBg="1"/>
      <p:bldP spid="25" grpId="0" animBg="1"/>
      <p:bldP spid="28" grpId="0"/>
      <p:bldP spid="30" grpId="0"/>
      <p:bldP spid="34" grpId="0"/>
      <p:bldP spid="3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Scalable Hadoop Algorithms: Themes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</a:t>
            </a:r>
            <a:r>
              <a:rPr lang="en-US" dirty="0">
                <a:solidFill>
                  <a:srgbClr val="0000FF"/>
                </a:solidFill>
              </a:rPr>
              <a:t>object creation</a:t>
            </a:r>
          </a:p>
          <a:p>
            <a:pPr lvl="1"/>
            <a:r>
              <a:rPr lang="en-US" dirty="0"/>
              <a:t>Inherently costly operation</a:t>
            </a:r>
          </a:p>
          <a:p>
            <a:pPr lvl="1"/>
            <a:r>
              <a:rPr lang="en-US" dirty="0"/>
              <a:t>Garbage collection</a:t>
            </a:r>
          </a:p>
          <a:p>
            <a:r>
              <a:rPr lang="en-US" dirty="0"/>
              <a:t>Avoid </a:t>
            </a:r>
            <a:r>
              <a:rPr lang="en-US" dirty="0">
                <a:solidFill>
                  <a:srgbClr val="0000FF"/>
                </a:solidFill>
              </a:rPr>
              <a:t>buffering</a:t>
            </a:r>
          </a:p>
          <a:p>
            <a:pPr lvl="1"/>
            <a:r>
              <a:rPr lang="en-US" dirty="0"/>
              <a:t>Limited heap size</a:t>
            </a:r>
          </a:p>
          <a:p>
            <a:pPr lvl="1"/>
            <a:r>
              <a:rPr lang="en-US" dirty="0"/>
              <a:t>Works for small datasets, but won’t scale!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176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of Local Aggregation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 scaling characteristics:</a:t>
            </a:r>
          </a:p>
          <a:p>
            <a:pPr lvl="1"/>
            <a:r>
              <a:rPr lang="en-US" dirty="0"/>
              <a:t>Twice the data, twice the running time</a:t>
            </a:r>
          </a:p>
          <a:p>
            <a:pPr lvl="1"/>
            <a:r>
              <a:rPr lang="en-US" dirty="0"/>
              <a:t>Twice the resources, half the running time</a:t>
            </a:r>
          </a:p>
          <a:p>
            <a:r>
              <a:rPr lang="en-US" dirty="0"/>
              <a:t>Why can’t we achieve this?</a:t>
            </a:r>
          </a:p>
          <a:p>
            <a:pPr lvl="1"/>
            <a:r>
              <a:rPr lang="en-US" dirty="0"/>
              <a:t>Synchronization requires communication</a:t>
            </a:r>
          </a:p>
          <a:p>
            <a:pPr lvl="1"/>
            <a:r>
              <a:rPr lang="en-US" dirty="0"/>
              <a:t>Communication kills performance</a:t>
            </a:r>
          </a:p>
          <a:p>
            <a:r>
              <a:rPr lang="en-US" dirty="0"/>
              <a:t>Thus… avoid </a:t>
            </a:r>
            <a:r>
              <a:rPr lang="en-US" dirty="0">
                <a:solidFill>
                  <a:srgbClr val="0000FF"/>
                </a:solidFill>
              </a:rPr>
              <a:t>communication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Reduce intermediate data via local aggregation</a:t>
            </a:r>
          </a:p>
          <a:p>
            <a:pPr lvl="1"/>
            <a:r>
              <a:rPr lang="en-US" dirty="0"/>
              <a:t>Combiners can help</a:t>
            </a:r>
          </a:p>
        </p:txBody>
      </p:sp>
    </p:spTree>
    <p:extLst>
      <p:ext uri="{BB962C8B-B14F-4D97-AF65-F5344CB8AC3E}">
        <p14:creationId xmlns:p14="http://schemas.microsoft.com/office/powerpoint/2010/main" val="3985274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Local Aggregation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The single most important aspect of synchronization in data-intensive distributed processing</a:t>
            </a:r>
          </a:p>
          <a:p>
            <a:pPr lvl="1"/>
            <a:r>
              <a:rPr lang="en-US" altLang="zh-TW" dirty="0"/>
              <a:t>The exchange of intermediate results</a:t>
            </a:r>
          </a:p>
          <a:p>
            <a:pPr lvl="2"/>
            <a:r>
              <a:rPr lang="en-US" altLang="zh-TW" dirty="0"/>
              <a:t>Intermediate results: mapper -&gt; reducer</a:t>
            </a:r>
          </a:p>
          <a:p>
            <a:pPr lvl="2"/>
            <a:r>
              <a:rPr lang="en-US" altLang="zh-TW" dirty="0"/>
              <a:t>written to disk, and sent over the network</a:t>
            </a:r>
          </a:p>
          <a:p>
            <a:pPr lvl="2"/>
            <a:r>
              <a:rPr lang="en-US" altLang="zh-TW" dirty="0"/>
              <a:t>Expensive</a:t>
            </a:r>
          </a:p>
          <a:p>
            <a:pPr lvl="1"/>
            <a:r>
              <a:rPr lang="en-US" altLang="zh-TW" dirty="0"/>
              <a:t>Local aggregation of intermediate results</a:t>
            </a:r>
          </a:p>
          <a:p>
            <a:pPr lvl="2"/>
            <a:r>
              <a:rPr lang="en-US" altLang="zh-TW" dirty="0"/>
              <a:t>Using the combiner</a:t>
            </a:r>
          </a:p>
          <a:p>
            <a:pPr lvl="2"/>
            <a:r>
              <a:rPr lang="en-US" altLang="zh-TW" dirty="0"/>
              <a:t>To preserve state across multiple inputs</a:t>
            </a:r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100429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 and Sort</a:t>
            </a:r>
          </a:p>
        </p:txBody>
      </p:sp>
      <p:sp>
        <p:nvSpPr>
          <p:cNvPr id="5" name="Rounded Rectangle 4"/>
          <p:cNvSpPr/>
          <p:nvPr/>
        </p:nvSpPr>
        <p:spPr bwMode="auto">
          <a:xfrm>
            <a:off x="685800" y="15240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Mapper</a:t>
            </a:r>
          </a:p>
        </p:txBody>
      </p:sp>
      <p:sp>
        <p:nvSpPr>
          <p:cNvPr id="6" name="Rounded Rectangle 5"/>
          <p:cNvSpPr/>
          <p:nvPr/>
        </p:nvSpPr>
        <p:spPr bwMode="auto">
          <a:xfrm>
            <a:off x="7315200" y="2286000"/>
            <a:ext cx="1371600" cy="5334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Gill Sans"/>
                <a:cs typeface="Gill Sans"/>
              </a:rPr>
              <a:t>Reducer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685800" y="2590800"/>
            <a:ext cx="1371600" cy="1371600"/>
            <a:chOff x="1219200" y="3200400"/>
            <a:chExt cx="1371600" cy="1371600"/>
          </a:xfrm>
        </p:grpSpPr>
        <p:sp>
          <p:nvSpPr>
            <p:cNvPr id="7" name="Oval 6"/>
            <p:cNvSpPr/>
            <p:nvPr/>
          </p:nvSpPr>
          <p:spPr bwMode="auto">
            <a:xfrm>
              <a:off x="1219200" y="3200400"/>
              <a:ext cx="1371600" cy="13716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ill Sans"/>
                <a:cs typeface="Gill Sans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1371600" y="3352800"/>
              <a:ext cx="1066800" cy="1066800"/>
            </a:xfrm>
            <a:prstGeom prst="ellipse">
              <a:avLst/>
            </a:prstGeom>
            <a:solidFill>
              <a:schemeClr val="tx1"/>
            </a:solidFill>
            <a:ln>
              <a:headEnd type="none" w="med" len="med"/>
              <a:tailEnd type="none" w="med" len="med"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Gill Sans"/>
                <a:cs typeface="Gill Sans"/>
              </a:endParaRPr>
            </a:p>
          </p:txBody>
        </p:sp>
      </p:grpSp>
      <p:sp>
        <p:nvSpPr>
          <p:cNvPr id="9" name="Rectangle 8"/>
          <p:cNvSpPr/>
          <p:nvPr/>
        </p:nvSpPr>
        <p:spPr bwMode="auto">
          <a:xfrm>
            <a:off x="1447800" y="4800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838200" y="44958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2057400" y="44958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2895600" y="24384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26670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2895600" y="2895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5" name="Rectangle 14"/>
          <p:cNvSpPr/>
          <p:nvPr/>
        </p:nvSpPr>
        <p:spPr bwMode="auto">
          <a:xfrm>
            <a:off x="2895600" y="31242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4953000" y="21336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4953000" y="24384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4953000" y="2743200"/>
            <a:ext cx="762000" cy="2286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cxnSp>
        <p:nvCxnSpPr>
          <p:cNvPr id="21" name="Straight Arrow Connector 20"/>
          <p:cNvCxnSpPr/>
          <p:nvPr/>
        </p:nvCxnSpPr>
        <p:spPr bwMode="auto">
          <a:xfrm rot="5400000">
            <a:off x="1181100" y="2324100"/>
            <a:ext cx="381000" cy="1588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 bwMode="auto">
          <a:xfrm rot="5400000">
            <a:off x="1181894" y="4228306"/>
            <a:ext cx="381000" cy="1588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 bwMode="auto">
          <a:xfrm rot="16200000" flipH="1">
            <a:off x="1372394" y="4191794"/>
            <a:ext cx="609600" cy="303212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 bwMode="auto">
          <a:xfrm rot="16200000" flipH="1">
            <a:off x="1753394" y="4039394"/>
            <a:ext cx="381000" cy="379412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 bwMode="auto">
          <a:xfrm rot="5400000" flipH="1" flipV="1">
            <a:off x="2362200" y="3733800"/>
            <a:ext cx="838200" cy="381000"/>
          </a:xfrm>
          <a:prstGeom prst="straightConnector1">
            <a:avLst/>
          </a:prstGeom>
          <a:ln w="19050"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3"/>
            <a:endCxn id="17" idx="1"/>
          </p:cNvCxnSpPr>
          <p:nvPr/>
        </p:nvCxnSpPr>
        <p:spPr bwMode="auto">
          <a:xfrm flipV="1">
            <a:off x="3657600" y="2247900"/>
            <a:ext cx="1295400" cy="3048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18" idx="1"/>
          </p:cNvCxnSpPr>
          <p:nvPr/>
        </p:nvCxnSpPr>
        <p:spPr bwMode="auto">
          <a:xfrm rot="5400000" flipH="1" flipV="1">
            <a:off x="2152650" y="3143250"/>
            <a:ext cx="3390900" cy="22098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endCxn id="19" idx="1"/>
          </p:cNvCxnSpPr>
          <p:nvPr/>
        </p:nvCxnSpPr>
        <p:spPr bwMode="auto">
          <a:xfrm rot="5400000" flipH="1" flipV="1">
            <a:off x="2419350" y="3409950"/>
            <a:ext cx="3086100" cy="19812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48854" y="5943600"/>
            <a:ext cx="1784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other </a:t>
            </a:r>
            <a:r>
              <a:rPr lang="en-US" sz="1800" b="0" dirty="0" err="1">
                <a:latin typeface="Gill Sans"/>
                <a:cs typeface="Gill Sans"/>
              </a:rPr>
              <a:t>mappers</a:t>
            </a:r>
            <a:endParaRPr lang="en-US" sz="1800" b="0" dirty="0">
              <a:latin typeface="Gill Sans"/>
              <a:cs typeface="Gill Sans"/>
            </a:endParaRPr>
          </a:p>
        </p:txBody>
      </p:sp>
      <p:cxnSp>
        <p:nvCxnSpPr>
          <p:cNvPr id="46" name="Straight Arrow Connector 45"/>
          <p:cNvCxnSpPr>
            <a:stCxn id="13" idx="3"/>
          </p:cNvCxnSpPr>
          <p:nvPr/>
        </p:nvCxnSpPr>
        <p:spPr bwMode="auto">
          <a:xfrm>
            <a:off x="3657600" y="2781300"/>
            <a:ext cx="2057400" cy="20193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14" idx="3"/>
          </p:cNvCxnSpPr>
          <p:nvPr/>
        </p:nvCxnSpPr>
        <p:spPr bwMode="auto">
          <a:xfrm>
            <a:off x="3657600" y="3009900"/>
            <a:ext cx="1828800" cy="17907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>
            <a:stCxn id="15" idx="3"/>
          </p:cNvCxnSpPr>
          <p:nvPr/>
        </p:nvCxnSpPr>
        <p:spPr bwMode="auto">
          <a:xfrm>
            <a:off x="3657600" y="3238500"/>
            <a:ext cx="1600200" cy="15621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815854" y="4843046"/>
            <a:ext cx="176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other reducers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2001" y="3058180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chemeClr val="bg1"/>
                </a:solidFill>
                <a:latin typeface="Gill Sans"/>
                <a:cs typeface="Gill Sans"/>
              </a:rPr>
              <a:t>circular buffer </a:t>
            </a:r>
            <a:br>
              <a:rPr lang="en-US" sz="1400" b="0" dirty="0">
                <a:solidFill>
                  <a:schemeClr val="bg1"/>
                </a:solidFill>
                <a:latin typeface="Gill Sans"/>
                <a:cs typeface="Gill Sans"/>
              </a:rPr>
            </a:br>
            <a:r>
              <a:rPr lang="en-US" sz="1400" b="0" dirty="0">
                <a:solidFill>
                  <a:schemeClr val="bg1"/>
                </a:solidFill>
                <a:latin typeface="Gill Sans"/>
                <a:cs typeface="Gill Sans"/>
              </a:rPr>
              <a:t>(in memory)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3403" y="5029200"/>
            <a:ext cx="13676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Gill Sans"/>
                <a:cs typeface="Gill Sans"/>
              </a:rPr>
              <a:t>spills (on disk)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8899" y="1905000"/>
            <a:ext cx="1352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Gill Sans"/>
                <a:cs typeface="Gill Sans"/>
              </a:rPr>
              <a:t>merged spills </a:t>
            </a:r>
            <a:br>
              <a:rPr lang="en-US" sz="1400" b="0" dirty="0">
                <a:latin typeface="Gill Sans"/>
                <a:cs typeface="Gill Sans"/>
              </a:rPr>
            </a:br>
            <a:r>
              <a:rPr lang="en-US" sz="1400" b="0" dirty="0">
                <a:latin typeface="Gill Sans"/>
                <a:cs typeface="Gill Sans"/>
              </a:rPr>
              <a:t>(on disk)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2232" y="1600200"/>
            <a:ext cx="1688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0" dirty="0">
                <a:latin typeface="Gill Sans"/>
                <a:cs typeface="Gill Sans"/>
              </a:rPr>
              <a:t>intermediate files </a:t>
            </a:r>
            <a:br>
              <a:rPr lang="en-US" sz="1400" b="0" dirty="0">
                <a:latin typeface="Gill Sans"/>
                <a:cs typeface="Gill Sans"/>
              </a:rPr>
            </a:br>
            <a:r>
              <a:rPr lang="en-US" sz="1400" b="0" dirty="0">
                <a:latin typeface="Gill Sans"/>
                <a:cs typeface="Gill Sans"/>
              </a:rPr>
              <a:t>(on disk)</a:t>
            </a:r>
          </a:p>
        </p:txBody>
      </p:sp>
      <p:cxnSp>
        <p:nvCxnSpPr>
          <p:cNvPr id="74" name="Straight Arrow Connector 73"/>
          <p:cNvCxnSpPr>
            <a:endCxn id="17" idx="3"/>
          </p:cNvCxnSpPr>
          <p:nvPr/>
        </p:nvCxnSpPr>
        <p:spPr bwMode="auto">
          <a:xfrm rot="10800000">
            <a:off x="5715000" y="2247900"/>
            <a:ext cx="1600200" cy="1905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6" idx="1"/>
            <a:endCxn id="18" idx="3"/>
          </p:cNvCxnSpPr>
          <p:nvPr/>
        </p:nvCxnSpPr>
        <p:spPr bwMode="auto">
          <a:xfrm rot="10800000">
            <a:off x="5715000" y="2552700"/>
            <a:ext cx="1600200" cy="1588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endCxn id="19" idx="3"/>
          </p:cNvCxnSpPr>
          <p:nvPr/>
        </p:nvCxnSpPr>
        <p:spPr bwMode="auto">
          <a:xfrm rot="10800000" flipV="1">
            <a:off x="5715000" y="2667000"/>
            <a:ext cx="1600200" cy="190500"/>
          </a:xfrm>
          <a:prstGeom prst="straightConnector1">
            <a:avLst/>
          </a:prstGeom>
          <a:ln w="19050">
            <a:headEnd type="arrow" w="med" len="med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 bwMode="auto">
          <a:xfrm>
            <a:off x="2286000" y="3733800"/>
            <a:ext cx="11430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bg2"/>
                </a:solidFill>
                <a:latin typeface="Gill Sans"/>
                <a:cs typeface="Gill Sans"/>
              </a:rPr>
              <a:t>Combiner</a:t>
            </a:r>
            <a:endParaRPr kumimoji="0" lang="en-US" sz="14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87" name="Rounded Rectangle 86"/>
          <p:cNvSpPr/>
          <p:nvPr/>
        </p:nvSpPr>
        <p:spPr bwMode="auto">
          <a:xfrm>
            <a:off x="5943600" y="2362200"/>
            <a:ext cx="11430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chemeClr val="bg2"/>
                </a:solidFill>
                <a:latin typeface="Gill Sans"/>
                <a:cs typeface="Gill Sans"/>
              </a:rPr>
              <a:t>Combiner</a:t>
            </a:r>
            <a:endParaRPr kumimoji="0" lang="en-US" sz="140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823613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Count: Baseline</a:t>
            </a:r>
          </a:p>
        </p:txBody>
      </p:sp>
      <p:pic>
        <p:nvPicPr>
          <p:cNvPr id="5" name="Picture 4" descr="wc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48640" y="1962150"/>
            <a:ext cx="4876800" cy="2838450"/>
          </a:xfrm>
          <a:prstGeom prst="rect">
            <a:avLst/>
          </a:prstGeom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304800" y="5867400"/>
            <a:ext cx="433163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cs typeface="Gill Sans"/>
              </a:rPr>
              <a:t>What’s the impact of combiners?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402289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Count: Version 1</a:t>
            </a:r>
          </a:p>
        </p:txBody>
      </p:sp>
      <p:pic>
        <p:nvPicPr>
          <p:cNvPr id="6" name="Picture 5" descr="wc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48640" y="2286000"/>
            <a:ext cx="8172450" cy="1981200"/>
          </a:xfrm>
          <a:prstGeom prst="rect">
            <a:avLst/>
          </a:prstGeom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304800" y="5867400"/>
            <a:ext cx="45129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Are combiners still</a:t>
            </a:r>
            <a:r>
              <a:rPr kumimoji="0" lang="en-US" sz="2400" i="0" u="none" strike="noStrike" kern="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 needed?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56103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Count: Version 2</a:t>
            </a:r>
          </a:p>
        </p:txBody>
      </p:sp>
      <p:pic>
        <p:nvPicPr>
          <p:cNvPr id="4" name="Picture 3" descr="wc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48640" y="2286000"/>
            <a:ext cx="8162925" cy="2505075"/>
          </a:xfrm>
          <a:prstGeom prst="rect">
            <a:avLst/>
          </a:prstGeom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304800" y="5867400"/>
            <a:ext cx="45129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Are combiners still</a:t>
            </a:r>
            <a:r>
              <a:rPr kumimoji="0" lang="en-US" sz="2400" i="0" u="none" strike="noStrike" kern="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 needed?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 rot="20273313">
            <a:off x="4075324" y="2471905"/>
            <a:ext cx="4071397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Key idea: preserve state across</a:t>
            </a:r>
            <a:b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</a:b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input</a:t>
            </a:r>
            <a:r>
              <a:rPr kumimoji="0" lang="en-US" sz="2400" b="0" i="0" u="none" strike="noStrike" kern="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 key-value pairs!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462426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The “in-mapper combining” Design Pattern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/>
              <a:t>Combiners: to reduce the amount of intermediate results generated by mappers</a:t>
            </a:r>
          </a:p>
          <a:p>
            <a:pPr lvl="1"/>
            <a:r>
              <a:rPr lang="en-US" altLang="zh-TW" dirty="0"/>
              <a:t>Mini-reducers: mapper -&gt; combiner -&gt; reducer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In-mapper combining</a:t>
            </a:r>
          </a:p>
          <a:p>
            <a:pPr lvl="1"/>
            <a:r>
              <a:rPr lang="en-US" altLang="zh-TW" dirty="0"/>
              <a:t>Provide control over when local aggregation occurs and how it exactly takes place</a:t>
            </a:r>
          </a:p>
          <a:p>
            <a:r>
              <a:rPr lang="en-US" altLang="zh-TW" dirty="0"/>
              <a:t>Advantages</a:t>
            </a:r>
          </a:p>
          <a:p>
            <a:pPr lvl="1"/>
            <a:r>
              <a:rPr lang="en-US" altLang="zh-TW" dirty="0"/>
              <a:t>Speed</a:t>
            </a:r>
          </a:p>
          <a:p>
            <a:pPr lvl="1"/>
            <a:r>
              <a:rPr lang="en-US" altLang="zh-TW" dirty="0"/>
              <a:t>Why is this faster than actual combiners?</a:t>
            </a:r>
          </a:p>
          <a:p>
            <a:r>
              <a:rPr lang="en-US" altLang="zh-TW" dirty="0"/>
              <a:t>Disadvantages</a:t>
            </a:r>
          </a:p>
          <a:p>
            <a:pPr lvl="1"/>
            <a:r>
              <a:rPr lang="en-US" altLang="zh-TW" dirty="0"/>
              <a:t>Explicit memory management required</a:t>
            </a:r>
          </a:p>
          <a:p>
            <a:pPr lvl="1"/>
            <a:r>
              <a:rPr lang="en-US" altLang="zh-TW" dirty="0"/>
              <a:t>Potential for order-dependent bugs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232975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Drawbacks of in-mapper combining</a:t>
            </a:r>
          </a:p>
          <a:p>
            <a:pPr lvl="1"/>
            <a:r>
              <a:rPr lang="en-US" altLang="zh-TW" dirty="0"/>
              <a:t>Breaks the functional programming underpinnings of </a:t>
            </a:r>
            <a:r>
              <a:rPr lang="en-US" altLang="zh-TW" dirty="0" err="1"/>
              <a:t>MapReduce</a:t>
            </a:r>
            <a:endParaRPr lang="en-US" altLang="zh-TW" dirty="0"/>
          </a:p>
          <a:p>
            <a:pPr lvl="2"/>
            <a:r>
              <a:rPr lang="en-US" altLang="zh-TW" dirty="0"/>
              <a:t>Preserving state across multiple input instances means that algorithmic behavior may depend on the order of input key-value pairs</a:t>
            </a:r>
          </a:p>
          <a:p>
            <a:pPr lvl="1"/>
            <a:r>
              <a:rPr lang="en-US" altLang="zh-TW" dirty="0"/>
              <a:t>Fundamental </a:t>
            </a:r>
            <a:r>
              <a:rPr lang="en-US" altLang="zh-TW" dirty="0">
                <a:solidFill>
                  <a:srgbClr val="0000FF"/>
                </a:solidFill>
              </a:rPr>
              <a:t>scalability bottleneck</a:t>
            </a:r>
          </a:p>
          <a:p>
            <a:pPr lvl="2"/>
            <a:r>
              <a:rPr lang="en-US" altLang="zh-TW" dirty="0"/>
              <a:t>Memory usage in the mapper</a:t>
            </a:r>
          </a:p>
          <a:p>
            <a:pPr lvl="3"/>
            <a:r>
              <a:rPr lang="en-US" altLang="zh-TW" dirty="0"/>
              <a:t>The associative array might not fit in memory</a:t>
            </a:r>
          </a:p>
        </p:txBody>
      </p:sp>
    </p:spTree>
    <p:extLst>
      <p:ext uri="{BB962C8B-B14F-4D97-AF65-F5344CB8AC3E}">
        <p14:creationId xmlns:p14="http://schemas.microsoft.com/office/powerpoint/2010/main" val="24810630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Solution</a:t>
            </a:r>
          </a:p>
          <a:p>
            <a:pPr lvl="1"/>
            <a:r>
              <a:rPr lang="en-US" altLang="zh-TW" dirty="0"/>
              <a:t>Limiting the memory usage when using the in-mapper combining technique</a:t>
            </a:r>
            <a:endParaRPr lang="zh-TW" altLang="en-US" dirty="0"/>
          </a:p>
          <a:p>
            <a:pPr lvl="2"/>
            <a:r>
              <a:rPr lang="en-US" altLang="zh-TW" dirty="0"/>
              <a:t>To </a:t>
            </a:r>
            <a:r>
              <a:rPr lang="en-US" altLang="zh-TW" dirty="0">
                <a:solidFill>
                  <a:srgbClr val="0000FF"/>
                </a:solidFill>
              </a:rPr>
              <a:t>block</a:t>
            </a:r>
            <a:r>
              <a:rPr lang="en-US" altLang="zh-TW" dirty="0"/>
              <a:t> input key-value pairs</a:t>
            </a:r>
          </a:p>
          <a:p>
            <a:pPr lvl="2"/>
            <a:r>
              <a:rPr lang="en-US" altLang="zh-TW" dirty="0"/>
              <a:t>To </a:t>
            </a:r>
            <a:r>
              <a:rPr lang="en-US" altLang="zh-TW" dirty="0">
                <a:solidFill>
                  <a:srgbClr val="0000FF"/>
                </a:solidFill>
              </a:rPr>
              <a:t>flush</a:t>
            </a:r>
            <a:r>
              <a:rPr lang="en-US" altLang="zh-TW" dirty="0"/>
              <a:t> in-memory data structures periodically</a:t>
            </a:r>
          </a:p>
          <a:p>
            <a:pPr lvl="2"/>
            <a:r>
              <a:rPr lang="en-US" altLang="zh-TW" dirty="0"/>
              <a:t>Emitting intermediate results every n key-value pairs</a:t>
            </a:r>
          </a:p>
          <a:p>
            <a:pPr lvl="3"/>
            <a:r>
              <a:rPr lang="en-US" altLang="zh-TW" dirty="0"/>
              <a:t>Counter </a:t>
            </a:r>
          </a:p>
          <a:p>
            <a:pPr lvl="3"/>
            <a:r>
              <a:rPr lang="en-US" altLang="zh-TW" dirty="0"/>
              <a:t>Threshold on memory usage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904877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Factors affecting the efficiency improvement with local aggregation</a:t>
            </a:r>
          </a:p>
          <a:p>
            <a:pPr lvl="1"/>
            <a:r>
              <a:rPr lang="en-US" altLang="zh-TW" dirty="0"/>
              <a:t>Size of the intermediate key space</a:t>
            </a:r>
          </a:p>
          <a:p>
            <a:pPr lvl="1"/>
            <a:r>
              <a:rPr lang="en-US" altLang="zh-TW" dirty="0"/>
              <a:t>Distribution of keys</a:t>
            </a:r>
          </a:p>
          <a:p>
            <a:pPr lvl="1"/>
            <a:r>
              <a:rPr lang="en-US" altLang="zh-TW" dirty="0"/>
              <a:t>Number of key-value pairs that are emitted by each map task</a:t>
            </a:r>
          </a:p>
          <a:p>
            <a:r>
              <a:rPr lang="en-US" altLang="zh-TW" dirty="0"/>
              <a:t>Opportunities from aggregation come from having multiple values associated with the same key</a:t>
            </a:r>
          </a:p>
          <a:p>
            <a:r>
              <a:rPr lang="en-US" altLang="zh-TW" dirty="0"/>
              <a:t>Effective for </a:t>
            </a:r>
            <a:r>
              <a:rPr lang="en-US" altLang="zh-TW" dirty="0">
                <a:solidFill>
                  <a:srgbClr val="0000FF"/>
                </a:solidFill>
              </a:rPr>
              <a:t>reduce stragglers </a:t>
            </a:r>
            <a:r>
              <a:rPr lang="en-US" altLang="zh-TW" dirty="0"/>
              <a:t>that result from a highly skewed distribution of values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097270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Algorithm correctness with local aggregation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Reducer input key-value type must match mapper output key-value type</a:t>
            </a:r>
          </a:p>
          <a:p>
            <a:pPr lvl="1"/>
            <a:r>
              <a:rPr lang="en-US" altLang="zh-TW" dirty="0"/>
              <a:t>Combiner input and output key-value types must match mapper output key-value type</a:t>
            </a:r>
          </a:p>
          <a:p>
            <a:pPr lvl="1"/>
            <a:r>
              <a:rPr lang="en-US" altLang="zh-TW" dirty="0"/>
              <a:t>Mapper -&gt; combiner -&gt; reducer</a:t>
            </a:r>
          </a:p>
          <a:p>
            <a:r>
              <a:rPr lang="en-US" altLang="zh-TW" dirty="0"/>
              <a:t>In general, combiners and reducers are </a:t>
            </a:r>
            <a:r>
              <a:rPr lang="en-US" altLang="zh-TW" dirty="0">
                <a:solidFill>
                  <a:srgbClr val="0000FF"/>
                </a:solidFill>
              </a:rPr>
              <a:t>not </a:t>
            </a:r>
            <a:r>
              <a:rPr lang="en-US" altLang="zh-TW" dirty="0"/>
              <a:t>interchangeable</a:t>
            </a:r>
          </a:p>
          <a:p>
            <a:pPr lvl="1"/>
            <a:r>
              <a:rPr lang="en-US" altLang="zh-TW" dirty="0"/>
              <a:t>Reducers can be used as combiners when the reduce operation is both commutative and associative                                          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39989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Combiner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Combiners and reducers share same method signature</a:t>
            </a:r>
          </a:p>
          <a:p>
            <a:pPr lvl="1"/>
            <a:r>
              <a:rPr lang="en-US" dirty="0"/>
              <a:t>Sometimes, reducers can serve as combiners</a:t>
            </a:r>
          </a:p>
          <a:p>
            <a:pPr lvl="1"/>
            <a:r>
              <a:rPr lang="en-US" dirty="0"/>
              <a:t>Often, not…</a:t>
            </a:r>
          </a:p>
          <a:p>
            <a:r>
              <a:rPr lang="en-US" dirty="0"/>
              <a:t>Remember: combiner are optional optimizations</a:t>
            </a:r>
          </a:p>
          <a:p>
            <a:pPr lvl="1"/>
            <a:r>
              <a:rPr lang="en-US" dirty="0"/>
              <a:t>Should not affect algorithm correctness</a:t>
            </a:r>
          </a:p>
          <a:p>
            <a:pPr lvl="1"/>
            <a:r>
              <a:rPr lang="en-US" dirty="0"/>
              <a:t>May be run 0, 1, or multiple times</a:t>
            </a:r>
          </a:p>
          <a:p>
            <a:r>
              <a:rPr lang="en-US" dirty="0"/>
              <a:t>Example: find average of integers associated with the same key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83501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the Mean: Version 1</a:t>
            </a:r>
          </a:p>
        </p:txBody>
      </p:sp>
      <p:pic>
        <p:nvPicPr>
          <p:cNvPr id="4" name="Picture 3" descr="compute-mean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28825" y="1719262"/>
            <a:ext cx="5086350" cy="3419475"/>
          </a:xfrm>
          <a:prstGeom prst="rect">
            <a:avLst/>
          </a:prstGeom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524000" y="5867400"/>
            <a:ext cx="510267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Why can’t we use reducer as combiner</a:t>
            </a:r>
            <a:r>
              <a:rPr kumimoji="0" lang="en-US" sz="2400" i="0" u="none" strike="noStrike" kern="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253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the Mean: Version 2</a:t>
            </a:r>
          </a:p>
        </p:txBody>
      </p:sp>
      <p:pic>
        <p:nvPicPr>
          <p:cNvPr id="5" name="Picture 4" descr="compute-mean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29102" y="1170454"/>
            <a:ext cx="7372350" cy="5092065"/>
          </a:xfrm>
          <a:prstGeom prst="rect">
            <a:avLst/>
          </a:prstGeom>
        </p:spPr>
      </p:pic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4815277" y="6015335"/>
            <a:ext cx="313258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Why doesn’t this work?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179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the Mean: Version 3</a:t>
            </a:r>
          </a:p>
        </p:txBody>
      </p:sp>
      <p:pic>
        <p:nvPicPr>
          <p:cNvPr id="5" name="Picture 4" descr="compute-mean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71600" y="1171530"/>
            <a:ext cx="5306378" cy="5083493"/>
          </a:xfrm>
          <a:prstGeom prst="rect">
            <a:avLst/>
          </a:prstGeom>
        </p:spPr>
      </p:pic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7239000" y="5943600"/>
            <a:ext cx="122731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Fixed</a:t>
            </a: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</a:rPr>
              <a:t>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21119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Computing the Mean</a:t>
            </a:r>
            <a:r>
              <a:rPr lang="en-US" dirty="0"/>
              <a:t>: Version 4</a:t>
            </a:r>
          </a:p>
        </p:txBody>
      </p:sp>
      <p:pic>
        <p:nvPicPr>
          <p:cNvPr id="5" name="Picture 4" descr="compute-mean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419350" y="2043112"/>
            <a:ext cx="4305300" cy="2771775"/>
          </a:xfrm>
          <a:prstGeom prst="rect">
            <a:avLst/>
          </a:prstGeom>
        </p:spPr>
      </p:pic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4191000" y="5867400"/>
            <a:ext cx="451292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Are combiners still</a:t>
            </a:r>
            <a:r>
              <a:rPr kumimoji="0" lang="en-US" sz="2400" i="0" u="none" strike="noStrike" kern="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 needed?</a:t>
            </a:r>
            <a:endParaRPr kumimoji="0" lang="en-US" sz="200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265994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Pairs and Stripes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References: </a:t>
            </a:r>
          </a:p>
          <a:p>
            <a:pPr lvl="1"/>
            <a:r>
              <a:rPr lang="en-US" altLang="zh-TW" dirty="0"/>
              <a:t>Chris Dyer, Aaron Cordova, Alex Mont, and Jimmy Lin, “Fast, easy, and cheap: Construction of statistical machine translation models with MapReduce,” Proceedings of the 3</a:t>
            </a:r>
            <a:r>
              <a:rPr lang="en-US" altLang="zh-TW" baseline="30000" dirty="0"/>
              <a:t>rd</a:t>
            </a:r>
            <a:r>
              <a:rPr lang="en-US" altLang="zh-TW" dirty="0"/>
              <a:t> workshop on Statistical Machine Translation at ACL 2008, pp.199-207, 2008.</a:t>
            </a:r>
          </a:p>
          <a:p>
            <a:pPr lvl="1"/>
            <a:r>
              <a:rPr lang="en-US" altLang="zh-TW" dirty="0"/>
              <a:t>Jimmy Lin, “Scalable language processing algorithms for the masses: A case study in computing word co-occurrence matrices with MapReduce,” Proceedings of the 2008 Conference on Empirical Methods in Natural Language Processing (EMNLP 2008), pp.419-428, 2008.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864750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Algorithm Design: Running Example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00FF"/>
                </a:solidFill>
              </a:rPr>
              <a:t>Term co-occurrence matrix </a:t>
            </a:r>
            <a:r>
              <a:rPr lang="en-US" dirty="0"/>
              <a:t>for a text collection</a:t>
            </a:r>
          </a:p>
          <a:p>
            <a:pPr lvl="1"/>
            <a:r>
              <a:rPr lang="en-US" dirty="0"/>
              <a:t>M = N </a:t>
            </a:r>
            <a:r>
              <a:rPr lang="en-US" dirty="0" err="1"/>
              <a:t>x</a:t>
            </a:r>
            <a:r>
              <a:rPr lang="en-US" dirty="0"/>
              <a:t> N matrix (N = vocabulary size)</a:t>
            </a:r>
          </a:p>
          <a:p>
            <a:pPr lvl="1"/>
            <a:r>
              <a:rPr lang="en-US" dirty="0" err="1"/>
              <a:t>M</a:t>
            </a:r>
            <a:r>
              <a:rPr lang="en-US" i="1" baseline="-25000" dirty="0" err="1"/>
              <a:t>ij</a:t>
            </a:r>
            <a:r>
              <a:rPr lang="en-US" dirty="0"/>
              <a:t>: number of times </a:t>
            </a:r>
            <a:r>
              <a:rPr lang="en-US" i="1" dirty="0" err="1"/>
              <a:t>w</a:t>
            </a:r>
            <a:r>
              <a:rPr lang="en-US" i="1" baseline="-25000" dirty="0" err="1"/>
              <a:t>i</a:t>
            </a:r>
            <a:r>
              <a:rPr lang="en-US" dirty="0"/>
              <a:t> and </a:t>
            </a:r>
            <a:r>
              <a:rPr lang="en-US" i="1" dirty="0" err="1"/>
              <a:t>w</a:t>
            </a:r>
            <a:r>
              <a:rPr lang="en-US" i="1" baseline="-25000" dirty="0" err="1"/>
              <a:t>j</a:t>
            </a:r>
            <a:r>
              <a:rPr lang="en-US" dirty="0"/>
              <a:t> co-occur in some context </a:t>
            </a:r>
            <a:br>
              <a:rPr lang="en-US" dirty="0"/>
            </a:br>
            <a:r>
              <a:rPr lang="en-US" dirty="0"/>
              <a:t>(for concreteness, let’s say context = sentence)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Distributional profiles as a way of measuring semantic distance</a:t>
            </a:r>
          </a:p>
          <a:p>
            <a:pPr lvl="1"/>
            <a:r>
              <a:rPr lang="en-US" dirty="0"/>
              <a:t>Semantic distance useful for many language processing tasks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5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MapReduce: Large Counting Problems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Term co-occurrence matrix for a text collection</a:t>
            </a:r>
            <a:br>
              <a:rPr lang="en-US" dirty="0"/>
            </a:br>
            <a:r>
              <a:rPr lang="en-US" dirty="0"/>
              <a:t>= specific instance of a large counting problem</a:t>
            </a:r>
          </a:p>
          <a:p>
            <a:pPr lvl="1"/>
            <a:r>
              <a:rPr lang="en-US" dirty="0"/>
              <a:t>A large event space (number of terms)</a:t>
            </a:r>
          </a:p>
          <a:p>
            <a:pPr lvl="1"/>
            <a:r>
              <a:rPr lang="en-US" dirty="0"/>
              <a:t>A large number of observations (the collection itself)</a:t>
            </a:r>
          </a:p>
          <a:p>
            <a:pPr lvl="1"/>
            <a:r>
              <a:rPr lang="en-US" dirty="0"/>
              <a:t>Goal: keep track of interesting statistics about the events</a:t>
            </a:r>
          </a:p>
          <a:p>
            <a:r>
              <a:rPr lang="en-US" dirty="0"/>
              <a:t>Basic approach</a:t>
            </a:r>
          </a:p>
          <a:p>
            <a:pPr lvl="1"/>
            <a:r>
              <a:rPr lang="en-US" dirty="0" err="1"/>
              <a:t>Mappers</a:t>
            </a:r>
            <a:r>
              <a:rPr lang="en-US" dirty="0"/>
              <a:t> generate partial counts</a:t>
            </a:r>
          </a:p>
          <a:p>
            <a:pPr lvl="1"/>
            <a:r>
              <a:rPr lang="en-US" dirty="0"/>
              <a:t>Reducers aggregate partial counts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1268" name="TextBox 3"/>
          <p:cNvSpPr txBox="1">
            <a:spLocks noChangeArrowheads="1"/>
          </p:cNvSpPr>
          <p:nvPr/>
        </p:nvSpPr>
        <p:spPr bwMode="auto">
          <a:xfrm>
            <a:off x="784394" y="5895330"/>
            <a:ext cx="7575211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Gill Sans"/>
                <a:cs typeface="Gill Sans"/>
              </a:rPr>
              <a:t>How do we aggregate partial counts efficiently?</a:t>
            </a:r>
            <a:endParaRPr lang="en-US" sz="2000" dirty="0">
              <a:solidFill>
                <a:srgbClr val="FF0000"/>
              </a:solidFill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110306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Try: “Pairs”</a:t>
            </a:r>
          </a:p>
        </p:txBody>
      </p:sp>
      <p:sp>
        <p:nvSpPr>
          <p:cNvPr id="1229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The use of complex keys to coordinate distributed computations</a:t>
            </a:r>
          </a:p>
          <a:p>
            <a:r>
              <a:rPr lang="en-US" dirty="0"/>
              <a:t>Each mapper takes a sentence:</a:t>
            </a:r>
          </a:p>
          <a:p>
            <a:pPr lvl="1"/>
            <a:r>
              <a:rPr lang="en-US" dirty="0"/>
              <a:t>Generate all co-occurring term pairs</a:t>
            </a:r>
          </a:p>
          <a:p>
            <a:pPr lvl="1"/>
            <a:r>
              <a:rPr lang="en-US" dirty="0"/>
              <a:t>For all pairs, emit (a, b) → count</a:t>
            </a:r>
          </a:p>
          <a:p>
            <a:r>
              <a:rPr lang="en-US" dirty="0"/>
              <a:t>Reducers sum up counts associated with these pairs</a:t>
            </a:r>
          </a:p>
          <a:p>
            <a:r>
              <a:rPr lang="en-US" dirty="0"/>
              <a:t>Use combiners!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4159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Pairs: Pseudo-Code</a:t>
            </a:r>
          </a:p>
        </p:txBody>
      </p:sp>
      <p:pic>
        <p:nvPicPr>
          <p:cNvPr id="4" name="Content Placeholder 3" descr="matrix-pairs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500062" y="2071687"/>
            <a:ext cx="8220075" cy="3095625"/>
          </a:xfrm>
        </p:spPr>
      </p:pic>
    </p:spTree>
    <p:extLst>
      <p:ext uri="{BB962C8B-B14F-4D97-AF65-F5344CB8AC3E}">
        <p14:creationId xmlns:p14="http://schemas.microsoft.com/office/powerpoint/2010/main" val="100192140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“Pairs” Analysis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Easy to implement, easy to understand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Lots of pairs to sort and shuffle around (upper bound?)</a:t>
            </a:r>
          </a:p>
          <a:p>
            <a:pPr lvl="1"/>
            <a:r>
              <a:rPr lang="en-US" dirty="0"/>
              <a:t>Not many opportunities for combiners to work</a:t>
            </a:r>
          </a:p>
        </p:txBody>
      </p:sp>
    </p:spTree>
    <p:extLst>
      <p:ext uri="{BB962C8B-B14F-4D97-AF65-F5344CB8AC3E}">
        <p14:creationId xmlns:p14="http://schemas.microsoft.com/office/powerpoint/2010/main" val="301568411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Try: “Stripes”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Idea: group together pairs into an associative array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Each mapper takes a sentence:</a:t>
            </a:r>
          </a:p>
          <a:p>
            <a:pPr lvl="1"/>
            <a:r>
              <a:rPr lang="en-US" dirty="0"/>
              <a:t>Generate all co-occurring term pairs</a:t>
            </a:r>
          </a:p>
          <a:p>
            <a:pPr lvl="1"/>
            <a:r>
              <a:rPr lang="en-US" dirty="0"/>
              <a:t>For each term, emit a → { b: </a:t>
            </a:r>
            <a:r>
              <a:rPr lang="en-US" dirty="0" err="1"/>
              <a:t>count</a:t>
            </a:r>
            <a:r>
              <a:rPr lang="en-US" baseline="-25000" dirty="0" err="1"/>
              <a:t>b</a:t>
            </a:r>
            <a:r>
              <a:rPr lang="en-US" dirty="0"/>
              <a:t>, c: </a:t>
            </a:r>
            <a:r>
              <a:rPr lang="en-US" dirty="0" err="1"/>
              <a:t>count</a:t>
            </a:r>
            <a:r>
              <a:rPr lang="en-US" baseline="-25000" dirty="0" err="1"/>
              <a:t>c</a:t>
            </a:r>
            <a:r>
              <a:rPr lang="en-US" dirty="0"/>
              <a:t>, d: </a:t>
            </a:r>
            <a:r>
              <a:rPr lang="en-US" dirty="0" err="1"/>
              <a:t>count</a:t>
            </a:r>
            <a:r>
              <a:rPr lang="en-US" baseline="-25000" dirty="0" err="1"/>
              <a:t>d</a:t>
            </a:r>
            <a:r>
              <a:rPr lang="en-US" dirty="0"/>
              <a:t> … }</a:t>
            </a:r>
          </a:p>
          <a:p>
            <a:r>
              <a:rPr lang="en-US" dirty="0"/>
              <a:t>Reducers perform element-wise sum of associative arrays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4340" name="TextBox 3"/>
          <p:cNvSpPr txBox="1">
            <a:spLocks noChangeArrowheads="1"/>
          </p:cNvSpPr>
          <p:nvPr/>
        </p:nvSpPr>
        <p:spPr bwMode="auto">
          <a:xfrm>
            <a:off x="1328560" y="2032716"/>
            <a:ext cx="1152880" cy="147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800" b="0" dirty="0"/>
              <a:t>(a, b) → 1 </a:t>
            </a:r>
          </a:p>
          <a:p>
            <a:r>
              <a:rPr lang="en-US" sz="1800" b="0" dirty="0"/>
              <a:t>(a, c) → 2 </a:t>
            </a:r>
          </a:p>
          <a:p>
            <a:r>
              <a:rPr lang="en-US" sz="1800" b="0" dirty="0"/>
              <a:t>(a, d) → 5 </a:t>
            </a:r>
          </a:p>
          <a:p>
            <a:r>
              <a:rPr lang="en-US" sz="1800" b="0" dirty="0"/>
              <a:t>(a, e) → 3 </a:t>
            </a:r>
          </a:p>
          <a:p>
            <a:r>
              <a:rPr lang="en-US" sz="1800" b="0" dirty="0"/>
              <a:t>(a, f) → 2 </a:t>
            </a:r>
          </a:p>
        </p:txBody>
      </p:sp>
      <p:sp>
        <p:nvSpPr>
          <p:cNvPr id="14341" name="TextBox 4"/>
          <p:cNvSpPr txBox="1">
            <a:spLocks noChangeArrowheads="1"/>
          </p:cNvSpPr>
          <p:nvPr/>
        </p:nvSpPr>
        <p:spPr bwMode="auto">
          <a:xfrm>
            <a:off x="3856333" y="2491262"/>
            <a:ext cx="29915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800" b="0" dirty="0"/>
              <a:t>a → { b: 1, c: 2, d: 5, e: 3, f: 2 }</a:t>
            </a:r>
          </a:p>
        </p:txBody>
      </p:sp>
      <p:sp>
        <p:nvSpPr>
          <p:cNvPr id="14342" name="TextBox 5"/>
          <p:cNvSpPr txBox="1">
            <a:spLocks noChangeArrowheads="1"/>
          </p:cNvSpPr>
          <p:nvPr/>
        </p:nvSpPr>
        <p:spPr bwMode="auto">
          <a:xfrm>
            <a:off x="1781175" y="5543920"/>
            <a:ext cx="2991525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800" b="0" dirty="0"/>
              <a:t>a → { b: 1,         d: 5, e: 3 }</a:t>
            </a:r>
          </a:p>
          <a:p>
            <a:r>
              <a:rPr lang="en-US" sz="1800" b="0" dirty="0"/>
              <a:t>a → { b: 1, c: 2, d: 2,         f: 2 }</a:t>
            </a:r>
          </a:p>
          <a:p>
            <a:r>
              <a:rPr lang="en-US" sz="1800" b="0" dirty="0"/>
              <a:t>a → { b: 2, c: 2, d: 7, e: 3, f: 2 }</a:t>
            </a:r>
          </a:p>
        </p:txBody>
      </p:sp>
      <p:cxnSp>
        <p:nvCxnSpPr>
          <p:cNvPr id="14343" name="Straight Connector 7"/>
          <p:cNvCxnSpPr>
            <a:cxnSpLocks noChangeShapeType="1"/>
          </p:cNvCxnSpPr>
          <p:nvPr/>
        </p:nvCxnSpPr>
        <p:spPr bwMode="auto">
          <a:xfrm>
            <a:off x="1524000" y="5562600"/>
            <a:ext cx="3810000" cy="1588"/>
          </a:xfrm>
          <a:prstGeom prst="line">
            <a:avLst/>
          </a:prstGeom>
          <a:noFill/>
          <a:ln w="9525" algn="ctr">
            <a:solidFill>
              <a:schemeClr val="bg1"/>
            </a:solidFill>
            <a:round/>
            <a:headEnd/>
            <a:tailEnd/>
          </a:ln>
        </p:spPr>
      </p:cxnSp>
      <p:sp>
        <p:nvSpPr>
          <p:cNvPr id="14344" name="TextBox 9"/>
          <p:cNvSpPr txBox="1">
            <a:spLocks noChangeArrowheads="1"/>
          </p:cNvSpPr>
          <p:nvPr/>
        </p:nvSpPr>
        <p:spPr bwMode="auto">
          <a:xfrm>
            <a:off x="1447800" y="5257800"/>
            <a:ext cx="333375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 rot="20634739">
            <a:off x="4117426" y="5336130"/>
            <a:ext cx="4874953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"/>
                <a:cs typeface="Gill Sans"/>
              </a:rPr>
              <a:t>Key idea: cleverly-constructed data structure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kern="0" dirty="0">
                <a:solidFill>
                  <a:srgbClr val="FF0000"/>
                </a:solidFill>
                <a:latin typeface="Gill Sans"/>
                <a:cs typeface="Gill Sans"/>
              </a:rPr>
              <a:t>brings together partial results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3318212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Stripes: Pseudo-Code</a:t>
            </a:r>
          </a:p>
        </p:txBody>
      </p:sp>
      <p:pic>
        <p:nvPicPr>
          <p:cNvPr id="4" name="Content Placeholder 3" descr="matrix-stripes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519112" y="1738312"/>
            <a:ext cx="8181975" cy="3762375"/>
          </a:xfrm>
        </p:spPr>
      </p:pic>
    </p:spTree>
    <p:extLst>
      <p:ext uri="{BB962C8B-B14F-4D97-AF65-F5344CB8AC3E}">
        <p14:creationId xmlns:p14="http://schemas.microsoft.com/office/powerpoint/2010/main" val="10885300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“Stripes” Analysis</a:t>
            </a: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Far less sorting and shuffling of key-value pairs</a:t>
            </a:r>
          </a:p>
          <a:p>
            <a:pPr lvl="1"/>
            <a:r>
              <a:rPr lang="en-US" dirty="0"/>
              <a:t>Can make better use of combiners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More difficult to implement</a:t>
            </a:r>
          </a:p>
          <a:p>
            <a:pPr lvl="1"/>
            <a:r>
              <a:rPr lang="en-US" dirty="0"/>
              <a:t>Underlying object more heavyweight</a:t>
            </a:r>
          </a:p>
          <a:p>
            <a:pPr lvl="1"/>
            <a:r>
              <a:rPr lang="en-US" dirty="0"/>
              <a:t>Fundamental limitation in terms of size of event space</a:t>
            </a:r>
          </a:p>
        </p:txBody>
      </p:sp>
    </p:spTree>
    <p:extLst>
      <p:ext uri="{BB962C8B-B14F-4D97-AF65-F5344CB8AC3E}">
        <p14:creationId xmlns:p14="http://schemas.microsoft.com/office/powerpoint/2010/main" val="263308971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Comparisons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Pairs:</a:t>
            </a:r>
          </a:p>
          <a:p>
            <a:pPr lvl="1"/>
            <a:r>
              <a:rPr lang="en-US" altLang="zh-TW" dirty="0"/>
              <a:t>Huge number of key-value pairs</a:t>
            </a:r>
          </a:p>
          <a:p>
            <a:r>
              <a:rPr lang="en-US" altLang="zh-TW" dirty="0"/>
              <a:t>Stripes:</a:t>
            </a:r>
          </a:p>
          <a:p>
            <a:pPr lvl="1"/>
            <a:r>
              <a:rPr lang="en-US" altLang="zh-TW" dirty="0"/>
              <a:t>More compact representation</a:t>
            </a:r>
          </a:p>
          <a:p>
            <a:pPr lvl="1"/>
            <a:r>
              <a:rPr lang="en-US" altLang="zh-TW" dirty="0"/>
              <a:t>Fewer intermediate keys, less sorting</a:t>
            </a:r>
          </a:p>
          <a:p>
            <a:pPr lvl="1"/>
            <a:r>
              <a:rPr lang="en-US" altLang="zh-TW" dirty="0"/>
              <a:t>More complex values, more serialization and deserialization overhead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802553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zh-TW" dirty="0"/>
              <a:t>Both can benefit from the use of combiners</a:t>
            </a:r>
          </a:p>
          <a:p>
            <a:pPr lvl="1"/>
            <a:r>
              <a:rPr lang="en-US" altLang="zh-TW" dirty="0"/>
              <a:t>But, stripes approach can have more opportunities to perform local aggregation since the key space is the vocabulary</a:t>
            </a:r>
          </a:p>
          <a:p>
            <a:r>
              <a:rPr lang="en-US" altLang="zh-TW" dirty="0"/>
              <a:t>In-mapper combining optimization can both be applied</a:t>
            </a:r>
          </a:p>
          <a:p>
            <a:pPr lvl="1"/>
            <a:r>
              <a:rPr lang="en-US" altLang="zh-TW" dirty="0"/>
              <a:t>But, far fewer opportunities for partial aggregation in the pairs approach due to the sparsity of the intermediate key space</a:t>
            </a:r>
          </a:p>
          <a:p>
            <a:r>
              <a:rPr lang="en-US" altLang="zh-TW" dirty="0"/>
              <a:t>Memory management will be more complex for the stripes approach</a:t>
            </a:r>
          </a:p>
          <a:p>
            <a:pPr lvl="1"/>
            <a:r>
              <a:rPr lang="en-US" altLang="zh-TW" dirty="0"/>
              <a:t>Assumption: each associative array is small enough to fit into memory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1830004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 Brief Summary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Pairs</a:t>
            </a:r>
          </a:p>
          <a:p>
            <a:pPr lvl="1"/>
            <a:r>
              <a:rPr lang="en-US" altLang="zh-TW" dirty="0"/>
              <a:t>Individually records each co-occurring event</a:t>
            </a:r>
          </a:p>
          <a:p>
            <a:r>
              <a:rPr lang="en-US" altLang="zh-TW" dirty="0"/>
              <a:t>Stripes</a:t>
            </a:r>
          </a:p>
          <a:p>
            <a:pPr lvl="1"/>
            <a:r>
              <a:rPr lang="en-US" altLang="zh-TW" dirty="0"/>
              <a:t>Records all co-occurring events with respect to a conditioning event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4402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-chapter3-pairs-vs-stripes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200" y="685801"/>
            <a:ext cx="8915401" cy="5349240"/>
          </a:xfrm>
          <a:prstGeom prst="rect">
            <a:avLst/>
          </a:prstGeom>
        </p:spPr>
      </p:pic>
      <p:sp>
        <p:nvSpPr>
          <p:cNvPr id="3" name="TextBox 4"/>
          <p:cNvSpPr txBox="1">
            <a:spLocks noChangeArrowheads="1"/>
          </p:cNvSpPr>
          <p:nvPr/>
        </p:nvSpPr>
        <p:spPr bwMode="auto">
          <a:xfrm>
            <a:off x="0" y="6303963"/>
            <a:ext cx="5410200" cy="5540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000" dirty="0"/>
              <a:t>Cluster size:</a:t>
            </a:r>
            <a:r>
              <a:rPr lang="en-US" sz="1000" b="0" dirty="0"/>
              <a:t> 38 cores</a:t>
            </a:r>
          </a:p>
          <a:p>
            <a:r>
              <a:rPr lang="en-US" sz="1000" dirty="0"/>
              <a:t>Data Source:</a:t>
            </a:r>
            <a:r>
              <a:rPr lang="en-US" sz="1000" b="0" dirty="0"/>
              <a:t> Associated Press </a:t>
            </a:r>
            <a:r>
              <a:rPr lang="en-US" sz="1000" b="0" dirty="0" err="1"/>
              <a:t>Worldstream</a:t>
            </a:r>
            <a:r>
              <a:rPr lang="en-US" sz="1000" b="0" dirty="0"/>
              <a:t> (APW) of the English </a:t>
            </a:r>
            <a:r>
              <a:rPr lang="en-US" sz="1000" b="0" dirty="0" err="1"/>
              <a:t>Gigaword</a:t>
            </a:r>
            <a:r>
              <a:rPr lang="en-US" sz="1000" b="0" dirty="0"/>
              <a:t> Corpus (v3), which contains 2.27 million documents (1.8 GB compressed, 5.7 GB uncompressed)</a:t>
            </a:r>
          </a:p>
        </p:txBody>
      </p:sp>
    </p:spTree>
    <p:extLst>
      <p:ext uri="{BB962C8B-B14F-4D97-AF65-F5344CB8AC3E}">
        <p14:creationId xmlns:p14="http://schemas.microsoft.com/office/powerpoint/2010/main" val="29855160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g-chapter3-pairs-vs-stripes-ec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200" y="685801"/>
            <a:ext cx="8915401" cy="53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9447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Computing Relative Frequencies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To convert absolute counts into relative frequencies f(</a:t>
            </a:r>
            <a:r>
              <a:rPr lang="en-US" altLang="zh-TW" dirty="0" err="1"/>
              <a:t>wj|wi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Straightforward in the stripes approach</a:t>
            </a:r>
          </a:p>
          <a:p>
            <a:r>
              <a:rPr lang="en-US" altLang="zh-TW" dirty="0"/>
              <a:t>Pairs:</a:t>
            </a:r>
          </a:p>
          <a:p>
            <a:pPr lvl="1"/>
            <a:r>
              <a:rPr lang="en-US" altLang="zh-TW" dirty="0"/>
              <a:t>We have to properly sequence data presented to the reducer</a:t>
            </a:r>
          </a:p>
          <a:p>
            <a:pPr lvl="2"/>
            <a:r>
              <a:rPr lang="en-US" altLang="zh-TW" dirty="0"/>
              <a:t>The programmer can define the </a:t>
            </a:r>
            <a:r>
              <a:rPr lang="en-US" altLang="zh-TW" dirty="0">
                <a:solidFill>
                  <a:srgbClr val="0000FF"/>
                </a:solidFill>
              </a:rPr>
              <a:t>sort order </a:t>
            </a:r>
            <a:r>
              <a:rPr lang="en-US" altLang="zh-TW" dirty="0"/>
              <a:t>of keys so that data needed earlier is presented to the reducer before other data</a:t>
            </a:r>
          </a:p>
          <a:p>
            <a:pPr lvl="2"/>
            <a:r>
              <a:rPr lang="en-US" altLang="zh-TW" dirty="0"/>
              <a:t>In the reducer, we have to define the sort order of the keys so that pairs with special symbol 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wi</a:t>
            </a:r>
            <a:r>
              <a:rPr lang="en-US" altLang="zh-TW" dirty="0">
                <a:solidFill>
                  <a:srgbClr val="FF0000"/>
                </a:solidFill>
              </a:rPr>
              <a:t>,*) </a:t>
            </a:r>
            <a:r>
              <a:rPr lang="en-US" altLang="zh-TW" dirty="0"/>
              <a:t>are ordered before any other key-value pairs with </a:t>
            </a:r>
            <a:r>
              <a:rPr lang="en-US" altLang="zh-TW" dirty="0" err="1"/>
              <a:t>wi</a:t>
            </a:r>
            <a:endParaRPr lang="en-US" altLang="zh-TW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95946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Relative Frequencies</a:t>
            </a:r>
          </a:p>
        </p:txBody>
      </p:sp>
      <p:sp>
        <p:nvSpPr>
          <p:cNvPr id="102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we estimate relative frequencies from counts?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do we want to do this?</a:t>
            </a:r>
          </a:p>
          <a:p>
            <a:r>
              <a:rPr lang="en-US" dirty="0"/>
              <a:t>How do we do this with </a:t>
            </a:r>
            <a:r>
              <a:rPr lang="en-US" dirty="0" err="1"/>
              <a:t>MapReduce</a:t>
            </a:r>
            <a:r>
              <a:rPr lang="en-US" dirty="0"/>
              <a:t>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852936"/>
            <a:ext cx="48895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61984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f(B|A): “Stripes” 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Easy!</a:t>
            </a:r>
          </a:p>
          <a:p>
            <a:pPr lvl="1"/>
            <a:r>
              <a:rPr lang="en-US" dirty="0"/>
              <a:t>One pass to compute (a, *)</a:t>
            </a:r>
          </a:p>
          <a:p>
            <a:pPr lvl="1"/>
            <a:r>
              <a:rPr lang="en-US" dirty="0"/>
              <a:t>Another pass to directly compute f(B|A)</a:t>
            </a:r>
          </a:p>
        </p:txBody>
      </p:sp>
      <p:sp>
        <p:nvSpPr>
          <p:cNvPr id="18436" name="TextBox 10"/>
          <p:cNvSpPr txBox="1">
            <a:spLocks noChangeArrowheads="1"/>
          </p:cNvSpPr>
          <p:nvPr/>
        </p:nvSpPr>
        <p:spPr bwMode="auto">
          <a:xfrm>
            <a:off x="899592" y="2060848"/>
            <a:ext cx="3578224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b="0" dirty="0"/>
              <a:t>a →  {b</a:t>
            </a:r>
            <a:r>
              <a:rPr lang="en-US" sz="2000" b="0" baseline="-25000" dirty="0"/>
              <a:t>1</a:t>
            </a:r>
            <a:r>
              <a:rPr lang="en-US" sz="2000" b="0" dirty="0"/>
              <a:t>:3, b</a:t>
            </a:r>
            <a:r>
              <a:rPr lang="en-US" sz="2000" b="0" baseline="-25000" dirty="0"/>
              <a:t>2</a:t>
            </a:r>
            <a:r>
              <a:rPr lang="en-US" sz="2000" b="0" dirty="0"/>
              <a:t> :12, b</a:t>
            </a:r>
            <a:r>
              <a:rPr lang="en-US" sz="2000" b="0" baseline="-25000" dirty="0"/>
              <a:t>3</a:t>
            </a:r>
            <a:r>
              <a:rPr lang="en-US" sz="2000" b="0" dirty="0"/>
              <a:t> :7, b</a:t>
            </a:r>
            <a:r>
              <a:rPr lang="en-US" sz="2000" b="0" baseline="-25000" dirty="0"/>
              <a:t>4</a:t>
            </a:r>
            <a:r>
              <a:rPr lang="en-US" sz="2000" b="0" dirty="0"/>
              <a:t> :1, … }</a:t>
            </a:r>
          </a:p>
        </p:txBody>
      </p:sp>
    </p:spTree>
    <p:extLst>
      <p:ext uri="{BB962C8B-B14F-4D97-AF65-F5344CB8AC3E}">
        <p14:creationId xmlns:p14="http://schemas.microsoft.com/office/powerpoint/2010/main" val="34886026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f(B|A): “Pairs”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What’s the issue?</a:t>
            </a:r>
          </a:p>
          <a:p>
            <a:pPr lvl="1"/>
            <a:r>
              <a:rPr lang="en-US" dirty="0"/>
              <a:t>Computing relative frequencies requires marginal counts</a:t>
            </a:r>
          </a:p>
          <a:p>
            <a:pPr lvl="1"/>
            <a:r>
              <a:rPr lang="en-US" dirty="0"/>
              <a:t>But the marginal cannot be computed until you see all counts</a:t>
            </a:r>
          </a:p>
          <a:p>
            <a:pPr lvl="1"/>
            <a:r>
              <a:rPr lang="en-US" dirty="0"/>
              <a:t>Buffering is a bad idea!</a:t>
            </a:r>
          </a:p>
          <a:p>
            <a:r>
              <a:rPr lang="en-US" dirty="0"/>
              <a:t>Solution:</a:t>
            </a:r>
          </a:p>
          <a:p>
            <a:pPr lvl="1"/>
            <a:r>
              <a:rPr lang="en-US" dirty="0"/>
              <a:t>What if we could get the marginal count to arrive at the reducer first?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97632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f(B|A): “Pairs” </a:t>
            </a:r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this to work:</a:t>
            </a:r>
          </a:p>
          <a:p>
            <a:pPr lvl="1"/>
            <a:r>
              <a:rPr lang="en-US" dirty="0"/>
              <a:t>Must emit extra (a, *) for every </a:t>
            </a:r>
            <a:r>
              <a:rPr lang="en-US" dirty="0" err="1"/>
              <a:t>b</a:t>
            </a:r>
            <a:r>
              <a:rPr lang="en-US" baseline="-25000" dirty="0" err="1"/>
              <a:t>n</a:t>
            </a:r>
            <a:r>
              <a:rPr lang="en-US" dirty="0"/>
              <a:t> in </a:t>
            </a:r>
            <a:r>
              <a:rPr lang="en-US" dirty="0" err="1"/>
              <a:t>mapper</a:t>
            </a:r>
            <a:endParaRPr lang="en-US" dirty="0"/>
          </a:p>
          <a:p>
            <a:pPr lvl="1"/>
            <a:r>
              <a:rPr lang="en-US" dirty="0"/>
              <a:t>Must make sure all </a:t>
            </a:r>
            <a:r>
              <a:rPr lang="en-US" dirty="0" err="1"/>
              <a:t>a’s</a:t>
            </a:r>
            <a:r>
              <a:rPr lang="en-US" dirty="0"/>
              <a:t> get sent to same reducer (use </a:t>
            </a:r>
            <a:r>
              <a:rPr lang="en-US" dirty="0" err="1"/>
              <a:t>partitioner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Must make sure (a, *) comes first (define sort order)</a:t>
            </a:r>
          </a:p>
          <a:p>
            <a:pPr lvl="1"/>
            <a:r>
              <a:rPr lang="en-US" dirty="0"/>
              <a:t>Must hold state in reducer across different key-value pairs</a:t>
            </a:r>
          </a:p>
        </p:txBody>
      </p:sp>
      <p:sp>
        <p:nvSpPr>
          <p:cNvPr id="17412" name="TextBox 3"/>
          <p:cNvSpPr txBox="1">
            <a:spLocks noChangeArrowheads="1"/>
          </p:cNvSpPr>
          <p:nvPr/>
        </p:nvSpPr>
        <p:spPr bwMode="auto">
          <a:xfrm>
            <a:off x="1143000" y="1720850"/>
            <a:ext cx="1473480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b="0" dirty="0"/>
              <a:t>(a, b</a:t>
            </a:r>
            <a:r>
              <a:rPr lang="en-US" sz="2000" b="0" baseline="-25000" dirty="0"/>
              <a:t>1</a:t>
            </a:r>
            <a:r>
              <a:rPr lang="en-US" sz="2000" b="0" dirty="0"/>
              <a:t>) → 3 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2</a:t>
            </a:r>
            <a:r>
              <a:rPr lang="en-US" sz="2000" b="0" dirty="0"/>
              <a:t>) → 12 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3</a:t>
            </a:r>
            <a:r>
              <a:rPr lang="en-US" sz="2000" b="0" dirty="0"/>
              <a:t>) → 7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4</a:t>
            </a:r>
            <a:r>
              <a:rPr lang="en-US" sz="2000" b="0" dirty="0"/>
              <a:t>) → 1 </a:t>
            </a:r>
          </a:p>
          <a:p>
            <a:r>
              <a:rPr lang="en-US" sz="2000" b="0" dirty="0"/>
              <a:t>…</a:t>
            </a:r>
          </a:p>
        </p:txBody>
      </p:sp>
      <p:sp>
        <p:nvSpPr>
          <p:cNvPr id="17413" name="Right Arrow 4"/>
          <p:cNvSpPr>
            <a:spLocks noChangeArrowheads="1"/>
          </p:cNvSpPr>
          <p:nvPr/>
        </p:nvSpPr>
        <p:spPr bwMode="auto">
          <a:xfrm>
            <a:off x="3429000" y="2133600"/>
            <a:ext cx="914400" cy="381000"/>
          </a:xfrm>
          <a:prstGeom prst="right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414" name="TextBox 6"/>
          <p:cNvSpPr txBox="1">
            <a:spLocks noChangeArrowheads="1"/>
          </p:cNvSpPr>
          <p:nvPr/>
        </p:nvSpPr>
        <p:spPr bwMode="ltGray">
          <a:xfrm>
            <a:off x="1143000" y="1295400"/>
            <a:ext cx="1490663" cy="4000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b="0" dirty="0">
                <a:solidFill>
                  <a:schemeClr val="bg1"/>
                </a:solidFill>
              </a:rPr>
              <a:t>(a, *) → 32 </a:t>
            </a:r>
          </a:p>
        </p:txBody>
      </p:sp>
      <p:sp>
        <p:nvSpPr>
          <p:cNvPr id="17415" name="TextBox 7"/>
          <p:cNvSpPr txBox="1">
            <a:spLocks noChangeArrowheads="1"/>
          </p:cNvSpPr>
          <p:nvPr/>
        </p:nvSpPr>
        <p:spPr bwMode="auto">
          <a:xfrm>
            <a:off x="4848225" y="1720850"/>
            <a:ext cx="1890261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000" b="0" dirty="0"/>
              <a:t>(a, b</a:t>
            </a:r>
            <a:r>
              <a:rPr lang="en-US" sz="2000" b="0" baseline="-25000" dirty="0"/>
              <a:t>1</a:t>
            </a:r>
            <a:r>
              <a:rPr lang="en-US" sz="2000" b="0" dirty="0"/>
              <a:t>) → 3 / 32 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2</a:t>
            </a:r>
            <a:r>
              <a:rPr lang="en-US" sz="2000" b="0" dirty="0"/>
              <a:t>) → 12 / 32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3</a:t>
            </a:r>
            <a:r>
              <a:rPr lang="en-US" sz="2000" b="0" dirty="0"/>
              <a:t>) → 7 / 32</a:t>
            </a:r>
          </a:p>
          <a:p>
            <a:r>
              <a:rPr lang="en-US" sz="2000" b="0" dirty="0"/>
              <a:t>(a, b</a:t>
            </a:r>
            <a:r>
              <a:rPr lang="en-US" sz="2000" b="0" baseline="-25000" dirty="0"/>
              <a:t>4</a:t>
            </a:r>
            <a:r>
              <a:rPr lang="en-US" sz="2000" b="0" dirty="0"/>
              <a:t>) → 1 / 32</a:t>
            </a:r>
          </a:p>
          <a:p>
            <a:r>
              <a:rPr lang="en-US" sz="2000" b="0" dirty="0"/>
              <a:t>…</a:t>
            </a:r>
          </a:p>
        </p:txBody>
      </p:sp>
      <p:sp>
        <p:nvSpPr>
          <p:cNvPr id="17416" name="TextBox 8"/>
          <p:cNvSpPr txBox="1">
            <a:spLocks noChangeArrowheads="1"/>
          </p:cNvSpPr>
          <p:nvPr/>
        </p:nvSpPr>
        <p:spPr bwMode="auto">
          <a:xfrm>
            <a:off x="2743200" y="1338263"/>
            <a:ext cx="353988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Reducer holds this value in memory</a:t>
            </a:r>
          </a:p>
        </p:txBody>
      </p:sp>
    </p:spTree>
    <p:extLst>
      <p:ext uri="{BB962C8B-B14F-4D97-AF65-F5344CB8AC3E}">
        <p14:creationId xmlns:p14="http://schemas.microsoft.com/office/powerpoint/2010/main" val="14074957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“Order Inversion”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design pattern:</a:t>
            </a:r>
          </a:p>
          <a:p>
            <a:pPr lvl="1"/>
            <a:r>
              <a:rPr lang="en-US" dirty="0"/>
              <a:t>Take advantage of sorted key order at reducer to sequence computations</a:t>
            </a:r>
          </a:p>
          <a:p>
            <a:pPr lvl="1"/>
            <a:r>
              <a:rPr lang="en-US" dirty="0"/>
              <a:t>Get the marginal counts to arrive at the reducer before the joint counts</a:t>
            </a:r>
          </a:p>
          <a:p>
            <a:r>
              <a:rPr lang="en-US" dirty="0"/>
              <a:t>Optimization:</a:t>
            </a:r>
          </a:p>
          <a:p>
            <a:pPr lvl="1"/>
            <a:r>
              <a:rPr lang="en-US" dirty="0"/>
              <a:t>Apply in-memory combining pattern to accumulate marginal counts</a:t>
            </a:r>
          </a:p>
        </p:txBody>
      </p:sp>
    </p:spTree>
    <p:extLst>
      <p:ext uri="{BB962C8B-B14F-4D97-AF65-F5344CB8AC3E}">
        <p14:creationId xmlns:p14="http://schemas.microsoft.com/office/powerpoint/2010/main" val="39757083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Synchronization: Pairs vs. Stripes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Approach 1: turn synchronization into an ordering problem</a:t>
            </a:r>
          </a:p>
          <a:p>
            <a:pPr lvl="1"/>
            <a:r>
              <a:rPr lang="en-US" dirty="0"/>
              <a:t>Sort keys into correct order of computation</a:t>
            </a:r>
          </a:p>
          <a:p>
            <a:pPr lvl="1"/>
            <a:r>
              <a:rPr lang="en-US" dirty="0"/>
              <a:t>Partition key space so that each reducer gets the appropriate set of partial results</a:t>
            </a:r>
          </a:p>
          <a:p>
            <a:pPr lvl="1"/>
            <a:r>
              <a:rPr lang="en-US" dirty="0"/>
              <a:t>Hold state in reducer across multiple key-value pairs to perform computation</a:t>
            </a:r>
          </a:p>
          <a:p>
            <a:pPr lvl="1"/>
            <a:r>
              <a:rPr lang="en-US" dirty="0"/>
              <a:t>Illustrated by the “pairs” approach</a:t>
            </a:r>
          </a:p>
          <a:p>
            <a:r>
              <a:rPr lang="en-US" dirty="0"/>
              <a:t>Approach 2: construct data structures that bring partial results together</a:t>
            </a:r>
          </a:p>
          <a:p>
            <a:pPr lvl="1"/>
            <a:r>
              <a:rPr lang="en-US" dirty="0"/>
              <a:t>Each reducer receives all the data it needs to complete the computation</a:t>
            </a:r>
          </a:p>
          <a:p>
            <a:pPr lvl="1"/>
            <a:r>
              <a:rPr lang="en-US" dirty="0"/>
              <a:t>Illustrated by the “stripes” approach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Order inversion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Through proper coordination, we can access the result of a computation in the reducer before processing the data needed for that computation</a:t>
            </a:r>
          </a:p>
          <a:p>
            <a:pPr lvl="1"/>
            <a:r>
              <a:rPr lang="en-US" altLang="zh-TW" dirty="0"/>
              <a:t>To convert the sequencing of computations into a sorting problem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239054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 brief summary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Requirements of order inversion:</a:t>
            </a:r>
          </a:p>
          <a:p>
            <a:pPr lvl="1"/>
            <a:r>
              <a:rPr lang="en-US" altLang="zh-TW" dirty="0"/>
              <a:t>Emitting a special key-value pair for each co-occurring word pair in the mapper</a:t>
            </a:r>
          </a:p>
          <a:p>
            <a:pPr lvl="1"/>
            <a:r>
              <a:rPr lang="en-US" altLang="zh-TW" dirty="0"/>
              <a:t>Controlling the sort order of the intermediate key so that the key-value pairs representing the marginal contributions are processed by the reducer before any other pairs</a:t>
            </a:r>
          </a:p>
          <a:p>
            <a:pPr lvl="1"/>
            <a:r>
              <a:rPr lang="en-US" altLang="zh-TW" dirty="0"/>
              <a:t>Defining a custom </a:t>
            </a:r>
            <a:r>
              <a:rPr lang="en-US" altLang="zh-TW" dirty="0" err="1"/>
              <a:t>partitioner</a:t>
            </a:r>
            <a:r>
              <a:rPr lang="en-US" altLang="zh-TW" dirty="0"/>
              <a:t> to ensure that all pairs with the same left word are shuffled to the same reducer</a:t>
            </a:r>
          </a:p>
          <a:p>
            <a:pPr lvl="1"/>
            <a:r>
              <a:rPr lang="en-US" altLang="zh-TW" dirty="0"/>
              <a:t>Preserving state across multiple keys in the reducer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5247731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Sorting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MapReduce sorts input to reducers by key</a:t>
            </a:r>
          </a:p>
          <a:p>
            <a:pPr lvl="1"/>
            <a:r>
              <a:rPr lang="en-US" dirty="0"/>
              <a:t>Values may be arbitrarily ordered</a:t>
            </a:r>
          </a:p>
          <a:p>
            <a:r>
              <a:rPr lang="en-US" dirty="0"/>
              <a:t>What if we want to sort by value also?</a:t>
            </a:r>
          </a:p>
          <a:p>
            <a:pPr lvl="1"/>
            <a:r>
              <a:rPr lang="en-US" dirty="0"/>
              <a:t>E.g., k </a:t>
            </a:r>
            <a:r>
              <a:rPr lang="en-US" dirty="0">
                <a:latin typeface="Arial"/>
                <a:cs typeface="Arial"/>
              </a:rPr>
              <a:t>→ (v</a:t>
            </a:r>
            <a:r>
              <a:rPr lang="en-US" baseline="-25000" dirty="0">
                <a:latin typeface="Arial"/>
                <a:cs typeface="Arial"/>
              </a:rPr>
              <a:t>1</a:t>
            </a:r>
            <a:r>
              <a:rPr lang="en-US" dirty="0">
                <a:latin typeface="Arial"/>
                <a:cs typeface="Arial"/>
              </a:rPr>
              <a:t>, r), </a:t>
            </a:r>
            <a:r>
              <a:rPr lang="en-US" dirty="0">
                <a:cs typeface="Arial"/>
              </a:rPr>
              <a:t>(v</a:t>
            </a:r>
            <a:r>
              <a:rPr lang="en-US" baseline="-25000" dirty="0">
                <a:cs typeface="Arial"/>
              </a:rPr>
              <a:t>3</a:t>
            </a:r>
            <a:r>
              <a:rPr lang="en-US" dirty="0">
                <a:cs typeface="Arial"/>
              </a:rPr>
              <a:t>, r), (v</a:t>
            </a:r>
            <a:r>
              <a:rPr lang="en-US" baseline="-25000" dirty="0">
                <a:cs typeface="Arial"/>
              </a:rPr>
              <a:t>4</a:t>
            </a:r>
            <a:r>
              <a:rPr lang="en-US" dirty="0">
                <a:cs typeface="Arial"/>
              </a:rPr>
              <a:t>, r), (v</a:t>
            </a:r>
            <a:r>
              <a:rPr lang="en-US" baseline="-25000" dirty="0">
                <a:cs typeface="Arial"/>
              </a:rPr>
              <a:t>8</a:t>
            </a:r>
            <a:r>
              <a:rPr lang="en-US" dirty="0">
                <a:cs typeface="Arial"/>
              </a:rPr>
              <a:t>, r)…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09011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Sorting: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Solution 1:</a:t>
            </a:r>
          </a:p>
          <a:p>
            <a:pPr lvl="1"/>
            <a:r>
              <a:rPr lang="en-US" dirty="0"/>
              <a:t>Buffer values in memory, then sort</a:t>
            </a:r>
          </a:p>
          <a:p>
            <a:pPr lvl="1"/>
            <a:r>
              <a:rPr lang="en-US" dirty="0"/>
              <a:t>Why is this a bad idea?</a:t>
            </a:r>
          </a:p>
          <a:p>
            <a:r>
              <a:rPr lang="en-US" dirty="0"/>
              <a:t>Solution 2:</a:t>
            </a:r>
          </a:p>
          <a:p>
            <a:pPr lvl="1"/>
            <a:r>
              <a:rPr lang="en-US" dirty="0"/>
              <a:t>“Value-to-key conversion” design pattern: form composite intermediate key, </a:t>
            </a:r>
            <a:r>
              <a:rPr lang="en-US" dirty="0">
                <a:cs typeface="Arial"/>
              </a:rPr>
              <a:t>(k, v</a:t>
            </a:r>
            <a:r>
              <a:rPr lang="en-US" baseline="-25000" dirty="0">
                <a:cs typeface="Arial"/>
              </a:rPr>
              <a:t>1</a:t>
            </a:r>
            <a:r>
              <a:rPr lang="en-US" dirty="0">
                <a:cs typeface="Arial"/>
              </a:rPr>
              <a:t>)</a:t>
            </a:r>
          </a:p>
          <a:p>
            <a:pPr lvl="1"/>
            <a:r>
              <a:rPr lang="en-US" dirty="0">
                <a:cs typeface="Arial"/>
              </a:rPr>
              <a:t>Let execution framework do the sorting</a:t>
            </a:r>
          </a:p>
          <a:p>
            <a:pPr lvl="1"/>
            <a:r>
              <a:rPr lang="en-US" dirty="0">
                <a:cs typeface="Arial"/>
              </a:rPr>
              <a:t>Preserve state across multiple key-value pairs to handle processing</a:t>
            </a:r>
            <a:endParaRPr lang="en-US" dirty="0"/>
          </a:p>
          <a:p>
            <a:pPr lvl="1"/>
            <a:r>
              <a:rPr lang="en-US" dirty="0"/>
              <a:t>Anything else we need to do?</a:t>
            </a:r>
          </a:p>
        </p:txBody>
      </p:sp>
    </p:spTree>
    <p:extLst>
      <p:ext uri="{BB962C8B-B14F-4D97-AF65-F5344CB8AC3E}">
        <p14:creationId xmlns:p14="http://schemas.microsoft.com/office/powerpoint/2010/main" val="29272435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Secondary Sorting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if we need to sort by value in addition to sorting by key?</a:t>
            </a:r>
          </a:p>
          <a:p>
            <a:pPr lvl="1"/>
            <a:r>
              <a:rPr lang="en-US" altLang="zh-TW" dirty="0"/>
              <a:t>Google’s MapReduce provides built-in functionality for this, but Hadoop doesn’t</a:t>
            </a:r>
          </a:p>
          <a:p>
            <a:r>
              <a:rPr lang="en-US" altLang="zh-TW" dirty="0"/>
              <a:t>We need “value-to-key conversion”</a:t>
            </a:r>
          </a:p>
          <a:p>
            <a:pPr lvl="1"/>
            <a:r>
              <a:rPr lang="en-US" altLang="zh-TW" dirty="0"/>
              <a:t>To move part of the value into the intermediate key to form a composite key, and let </a:t>
            </a:r>
            <a:r>
              <a:rPr lang="en-US" altLang="zh-TW" dirty="0" err="1"/>
              <a:t>MapReduce</a:t>
            </a:r>
            <a:r>
              <a:rPr lang="en-US" altLang="zh-TW" dirty="0"/>
              <a:t> execution framework handle the sorting</a:t>
            </a:r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76003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Basic tradeoff between buffer and in-memory sort vs. value-to-key conversion</a:t>
            </a:r>
          </a:p>
          <a:p>
            <a:pPr lvl="1"/>
            <a:r>
              <a:rPr lang="en-US" altLang="zh-TW" dirty="0"/>
              <a:t>Where sorting is performed</a:t>
            </a:r>
          </a:p>
          <a:p>
            <a:pPr lvl="2"/>
            <a:r>
              <a:rPr lang="en-US" altLang="zh-TW" dirty="0"/>
              <a:t>In Reducer: scalability bottleneck</a:t>
            </a:r>
          </a:p>
          <a:p>
            <a:pPr lvl="2"/>
            <a:r>
              <a:rPr lang="en-US" altLang="zh-TW" dirty="0"/>
              <a:t>In MapReduce execution framework: distributed sorting</a:t>
            </a:r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686372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Value-to-Key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5400" y="2133600"/>
            <a:ext cx="3732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Gill Sans"/>
                <a:cs typeface="Gill Sans"/>
              </a:rPr>
              <a:t>k → (v</a:t>
            </a:r>
            <a:r>
              <a:rPr lang="en-US" sz="2000" b="0" baseline="-25000" dirty="0">
                <a:latin typeface="Gill Sans"/>
                <a:cs typeface="Gill Sans"/>
              </a:rPr>
              <a:t>1</a:t>
            </a:r>
            <a:r>
              <a:rPr lang="en-US" sz="2000" b="0" dirty="0">
                <a:latin typeface="Gill Sans"/>
                <a:cs typeface="Gill Sans"/>
              </a:rPr>
              <a:t>, r), (v</a:t>
            </a:r>
            <a:r>
              <a:rPr lang="en-US" sz="2000" b="0" baseline="-25000" dirty="0">
                <a:latin typeface="Gill Sans"/>
                <a:cs typeface="Gill Sans"/>
              </a:rPr>
              <a:t>4</a:t>
            </a:r>
            <a:r>
              <a:rPr lang="en-US" sz="2000" b="0" dirty="0">
                <a:latin typeface="Gill Sans"/>
                <a:cs typeface="Gill Sans"/>
              </a:rPr>
              <a:t>, r), (v</a:t>
            </a:r>
            <a:r>
              <a:rPr lang="en-US" sz="2000" b="0" baseline="-25000" dirty="0">
                <a:latin typeface="Gill Sans"/>
                <a:cs typeface="Gill Sans"/>
              </a:rPr>
              <a:t>8</a:t>
            </a:r>
            <a:r>
              <a:rPr lang="en-US" sz="2000" b="0" dirty="0">
                <a:latin typeface="Gill Sans"/>
                <a:cs typeface="Gill Sans"/>
              </a:rPr>
              <a:t>, r), (v</a:t>
            </a:r>
            <a:r>
              <a:rPr lang="en-US" sz="2000" b="0" baseline="-25000" dirty="0">
                <a:latin typeface="Gill Sans"/>
                <a:cs typeface="Gill Sans"/>
              </a:rPr>
              <a:t>3</a:t>
            </a:r>
            <a:r>
              <a:rPr lang="en-US" sz="2000" b="0" dirty="0">
                <a:latin typeface="Gill Sans"/>
                <a:cs typeface="Gill Sans"/>
              </a:rPr>
              <a:t>, r)…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8234" y="3596045"/>
            <a:ext cx="18485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Gill Sans"/>
                <a:cs typeface="Gill Sans"/>
              </a:rPr>
              <a:t>(k, v</a:t>
            </a:r>
            <a:r>
              <a:rPr lang="en-US" sz="2000" b="0" baseline="-25000" dirty="0">
                <a:latin typeface="Gill Sans"/>
                <a:cs typeface="Gill Sans"/>
              </a:rPr>
              <a:t>1</a:t>
            </a:r>
            <a:r>
              <a:rPr lang="en-US" sz="2000" b="0" dirty="0">
                <a:latin typeface="Gill Sans"/>
                <a:cs typeface="Gill Sans"/>
              </a:rPr>
              <a:t>) → (v</a:t>
            </a:r>
            <a:r>
              <a:rPr lang="en-US" sz="2000" b="0" baseline="-25000" dirty="0">
                <a:latin typeface="Gill Sans"/>
                <a:cs typeface="Gill Sans"/>
              </a:rPr>
              <a:t>1</a:t>
            </a:r>
            <a:r>
              <a:rPr lang="en-US" sz="2000" b="0" dirty="0">
                <a:latin typeface="Gill Sans"/>
                <a:cs typeface="Gill Sans"/>
              </a:rPr>
              <a:t>, 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64268"/>
            <a:ext cx="9696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Gill Sans"/>
                <a:cs typeface="Gill Sans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7838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Gill Sans"/>
                <a:cs typeface="Gill Sans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8234" y="3946763"/>
            <a:ext cx="18485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Gill Sans"/>
                <a:cs typeface="Gill Sans"/>
              </a:rPr>
              <a:t>(k, v</a:t>
            </a:r>
            <a:r>
              <a:rPr lang="en-US" sz="2000" b="0" baseline="-25000" dirty="0">
                <a:latin typeface="Gill Sans"/>
                <a:cs typeface="Gill Sans"/>
              </a:rPr>
              <a:t>3</a:t>
            </a:r>
            <a:r>
              <a:rPr lang="en-US" sz="2000" b="0" dirty="0">
                <a:latin typeface="Gill Sans"/>
                <a:cs typeface="Gill Sans"/>
              </a:rPr>
              <a:t>) → (v</a:t>
            </a:r>
            <a:r>
              <a:rPr lang="en-US" sz="2000" b="0" baseline="-25000" dirty="0">
                <a:latin typeface="Gill Sans"/>
                <a:cs typeface="Gill Sans"/>
              </a:rPr>
              <a:t>3</a:t>
            </a:r>
            <a:r>
              <a:rPr lang="en-US" sz="2000" b="0" dirty="0">
                <a:latin typeface="Gill Sans"/>
                <a:cs typeface="Gill Sans"/>
              </a:rPr>
              <a:t>, 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8234" y="4297481"/>
            <a:ext cx="18485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Gill Sans"/>
                <a:cs typeface="Gill Sans"/>
              </a:rPr>
              <a:t>(k, v</a:t>
            </a:r>
            <a:r>
              <a:rPr lang="en-US" sz="2000" b="0" baseline="-25000" dirty="0">
                <a:latin typeface="Gill Sans"/>
                <a:cs typeface="Gill Sans"/>
              </a:rPr>
              <a:t>4</a:t>
            </a:r>
            <a:r>
              <a:rPr lang="en-US" sz="2000" b="0" dirty="0">
                <a:latin typeface="Gill Sans"/>
                <a:cs typeface="Gill Sans"/>
              </a:rPr>
              <a:t>) → (v</a:t>
            </a:r>
            <a:r>
              <a:rPr lang="en-US" sz="2000" b="0" baseline="-25000" dirty="0">
                <a:latin typeface="Gill Sans"/>
                <a:cs typeface="Gill Sans"/>
              </a:rPr>
              <a:t>4</a:t>
            </a:r>
            <a:r>
              <a:rPr lang="en-US" sz="2000" b="0" dirty="0">
                <a:latin typeface="Gill Sans"/>
                <a:cs typeface="Gill Sans"/>
              </a:rPr>
              <a:t>, 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8234" y="4648200"/>
            <a:ext cx="18485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latin typeface="Gill Sans"/>
                <a:cs typeface="Gill Sans"/>
              </a:rPr>
              <a:t>(k, v</a:t>
            </a:r>
            <a:r>
              <a:rPr lang="en-US" sz="2000" b="0" baseline="-25000" dirty="0">
                <a:latin typeface="Gill Sans"/>
                <a:cs typeface="Gill Sans"/>
              </a:rPr>
              <a:t>8</a:t>
            </a:r>
            <a:r>
              <a:rPr lang="en-US" sz="2000" b="0" dirty="0">
                <a:latin typeface="Gill Sans"/>
                <a:cs typeface="Gill Sans"/>
              </a:rPr>
              <a:t>) → (v</a:t>
            </a:r>
            <a:r>
              <a:rPr lang="en-US" sz="2000" b="0" baseline="-25000" dirty="0">
                <a:latin typeface="Gill Sans"/>
                <a:cs typeface="Gill Sans"/>
              </a:rPr>
              <a:t>8</a:t>
            </a:r>
            <a:r>
              <a:rPr lang="en-US" sz="2000" b="0" dirty="0">
                <a:latin typeface="Gill Sans"/>
                <a:cs typeface="Gill Sans"/>
              </a:rPr>
              <a:t>, 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9800" y="2480846"/>
            <a:ext cx="332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Gill Sans"/>
                <a:cs typeface="Gill Sans"/>
              </a:rPr>
              <a:t>Values arrive in arbitrary order…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933890"/>
            <a:ext cx="385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>
                <a:latin typeface="Gill Sans"/>
                <a:cs typeface="Gill Sans"/>
              </a:rPr>
              <a:t>…</a:t>
            </a:r>
            <a:endParaRPr lang="en-US" sz="2000" b="0" dirty="0">
              <a:latin typeface="Gill Sans"/>
              <a:cs typeface="Gill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29000" y="3581400"/>
            <a:ext cx="3442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solidFill>
                  <a:srgbClr val="FF0000"/>
                </a:solidFill>
                <a:latin typeface="Gill Sans"/>
                <a:cs typeface="Gill Sans"/>
              </a:rPr>
              <a:t>Values arrive in sorted order…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928646"/>
            <a:ext cx="5166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solidFill>
                  <a:srgbClr val="FF0000"/>
                </a:solidFill>
                <a:latin typeface="Gill Sans"/>
                <a:cs typeface="Gill Sans"/>
              </a:rPr>
              <a:t>Process by preserving state across multiple 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267200"/>
            <a:ext cx="36770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0" dirty="0">
                <a:solidFill>
                  <a:srgbClr val="FF0000"/>
                </a:solidFill>
                <a:latin typeface="Gill Sans"/>
                <a:cs typeface="Gill Sans"/>
              </a:rPr>
              <a:t>Remember to partition correctly!</a:t>
            </a:r>
          </a:p>
        </p:txBody>
      </p:sp>
    </p:spTree>
    <p:extLst>
      <p:ext uri="{BB962C8B-B14F-4D97-AF65-F5344CB8AC3E}">
        <p14:creationId xmlns:p14="http://schemas.microsoft.com/office/powerpoint/2010/main" val="80664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2" grpId="0"/>
      <p:bldP spid="13" grpId="0"/>
      <p:bldP spid="14" grpId="0"/>
      <p:bldP spid="16" grpId="0"/>
      <p:bldP spid="17" grpId="0"/>
      <p:bldP spid="19" grpId="0"/>
      <p:bldP spid="20" grpId="0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Two tables:</a:t>
            </a:r>
          </a:p>
          <a:p>
            <a:pPr lvl="1"/>
            <a:r>
              <a:rPr lang="en-US" dirty="0"/>
              <a:t>User demographics (gender, age, income, etc.)</a:t>
            </a:r>
          </a:p>
          <a:p>
            <a:pPr lvl="1"/>
            <a:r>
              <a:rPr lang="en-US" dirty="0"/>
              <a:t>User page visits (URL, time spent, etc.)</a:t>
            </a:r>
          </a:p>
          <a:p>
            <a:r>
              <a:rPr lang="en-US" dirty="0"/>
              <a:t>Analyses we might want to perform:</a:t>
            </a:r>
          </a:p>
          <a:p>
            <a:pPr lvl="1"/>
            <a:r>
              <a:rPr lang="en-US" dirty="0"/>
              <a:t>Statistics on demographic characteristics</a:t>
            </a:r>
          </a:p>
          <a:p>
            <a:pPr lvl="1"/>
            <a:r>
              <a:rPr lang="en-US" dirty="0"/>
              <a:t>Statistics on page visits</a:t>
            </a:r>
          </a:p>
          <a:p>
            <a:pPr lvl="1"/>
            <a:r>
              <a:rPr lang="en-US" dirty="0"/>
              <a:t>Statistics on page visits by URL</a:t>
            </a:r>
          </a:p>
          <a:p>
            <a:pPr lvl="1"/>
            <a:r>
              <a:rPr lang="en-US" dirty="0"/>
              <a:t>Statistics on page visits by demographic characteristic</a:t>
            </a:r>
          </a:p>
          <a:p>
            <a:pPr lvl="1"/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9775909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Primitives</a:t>
            </a:r>
          </a:p>
          <a:p>
            <a:pPr lvl="1"/>
            <a:r>
              <a:rPr lang="en-US" dirty="0"/>
              <a:t>Projection (</a:t>
            </a:r>
            <a:r>
              <a:rPr lang="en-US" dirty="0">
                <a:sym typeface="Symbol"/>
              </a:rPr>
              <a:t>)</a:t>
            </a:r>
            <a:endParaRPr lang="en-US" dirty="0"/>
          </a:p>
          <a:p>
            <a:pPr lvl="1"/>
            <a:r>
              <a:rPr lang="en-US" dirty="0"/>
              <a:t>Selection (</a:t>
            </a:r>
            <a:r>
              <a:rPr lang="en-US" dirty="0">
                <a:sym typeface="Symbol"/>
              </a:rPr>
              <a:t>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Cartesian product (</a:t>
            </a:r>
            <a:r>
              <a:rPr lang="en-US" dirty="0">
                <a:sym typeface="Symbol"/>
              </a:rPr>
              <a:t>)</a:t>
            </a:r>
          </a:p>
          <a:p>
            <a:pPr lvl="1"/>
            <a:r>
              <a:rPr lang="en-US" dirty="0"/>
              <a:t>Set union (</a:t>
            </a:r>
            <a:r>
              <a:rPr lang="en-US" dirty="0">
                <a:sym typeface="Symbol"/>
              </a:rPr>
              <a:t>)</a:t>
            </a:r>
          </a:p>
          <a:p>
            <a:pPr lvl="1"/>
            <a:r>
              <a:rPr lang="en-US" dirty="0"/>
              <a:t>Set difference (</a:t>
            </a:r>
            <a:r>
              <a:rPr lang="en-US" dirty="0">
                <a:sym typeface="Symbol"/>
              </a:rPr>
              <a:t>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Rename (</a:t>
            </a:r>
            <a:r>
              <a:rPr lang="en-US" dirty="0">
                <a:sym typeface="Symbol"/>
              </a:rPr>
              <a:t>)</a:t>
            </a:r>
            <a:endParaRPr lang="en-US" dirty="0"/>
          </a:p>
          <a:p>
            <a:r>
              <a:rPr lang="en-US" dirty="0"/>
              <a:t>Other operations</a:t>
            </a:r>
          </a:p>
          <a:p>
            <a:pPr lvl="1"/>
            <a:r>
              <a:rPr lang="en-US" dirty="0"/>
              <a:t>Join (⋈)</a:t>
            </a:r>
          </a:p>
          <a:p>
            <a:pPr lvl="1"/>
            <a:r>
              <a:rPr lang="en-US" dirty="0"/>
              <a:t>Group by… aggregation</a:t>
            </a:r>
          </a:p>
          <a:p>
            <a:pPr lvl="1"/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655005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2057400"/>
            <a:ext cx="6858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362200" y="2057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 bwMode="auto">
          <a:xfrm>
            <a:off x="2819400" y="20574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Oval 20"/>
          <p:cNvSpPr/>
          <p:nvPr/>
        </p:nvSpPr>
        <p:spPr bwMode="auto">
          <a:xfrm>
            <a:off x="3352800" y="20574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4343400" y="3352800"/>
            <a:ext cx="984250" cy="533400"/>
            <a:chOff x="3886200" y="1524000"/>
            <a:chExt cx="984250" cy="533400"/>
          </a:xfrm>
        </p:grpSpPr>
        <p:sp>
          <p:nvSpPr>
            <p:cNvPr id="24" name="Rectangle 23"/>
            <p:cNvSpPr/>
            <p:nvPr/>
          </p:nvSpPr>
          <p:spPr>
            <a:xfrm>
              <a:off x="4337050" y="1828800"/>
              <a:ext cx="228600" cy="22860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Oval 24"/>
            <p:cNvSpPr/>
            <p:nvPr/>
          </p:nvSpPr>
          <p:spPr bwMode="auto">
            <a:xfrm>
              <a:off x="4641850" y="1828800"/>
              <a:ext cx="228600" cy="228600"/>
            </a:xfrm>
            <a:prstGeom prst="ellipse">
              <a:avLst/>
            </a:prstGeom>
            <a:noFill/>
            <a:ln>
              <a:solidFill>
                <a:schemeClr val="bg1"/>
              </a:solidFill>
              <a:headEnd type="none" w="med" len="med"/>
              <a:tailEnd type="none" w="med" len="med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graphicFrame>
          <p:nvGraphicFramePr>
            <p:cNvPr id="26" name="Object 25"/>
            <p:cNvGraphicFramePr>
              <a:graphicFrameLocks noChangeAspect="1"/>
            </p:cNvGraphicFramePr>
            <p:nvPr/>
          </p:nvGraphicFramePr>
          <p:xfrm>
            <a:off x="3886200" y="1524000"/>
            <a:ext cx="527050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053" name="Equation" r:id="rId3" imgW="139680" imgH="139680" progId="Equation.3">
                    <p:embed/>
                  </p:oleObj>
                </mc:Choice>
                <mc:Fallback>
                  <p:oleObj name="Equation" r:id="rId3" imgW="139680" imgH="13968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86200" y="1524000"/>
                          <a:ext cx="527050" cy="5270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" name="Rectangle 27"/>
          <p:cNvSpPr/>
          <p:nvPr/>
        </p:nvSpPr>
        <p:spPr>
          <a:xfrm>
            <a:off x="1600200" y="2590800"/>
            <a:ext cx="6858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143000" y="25908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62200" y="2590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ounded Rectangle 30"/>
          <p:cNvSpPr/>
          <p:nvPr/>
        </p:nvSpPr>
        <p:spPr bwMode="auto">
          <a:xfrm>
            <a:off x="2819400" y="25908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2" name="Oval 31"/>
          <p:cNvSpPr/>
          <p:nvPr/>
        </p:nvSpPr>
        <p:spPr bwMode="auto">
          <a:xfrm>
            <a:off x="3352800" y="25908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600200" y="3124200"/>
            <a:ext cx="685800" cy="381000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43000" y="31242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62200" y="31242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ounded Rectangle 36"/>
          <p:cNvSpPr/>
          <p:nvPr/>
        </p:nvSpPr>
        <p:spPr bwMode="auto">
          <a:xfrm>
            <a:off x="2819400" y="31242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8" name="Oval 37"/>
          <p:cNvSpPr/>
          <p:nvPr/>
        </p:nvSpPr>
        <p:spPr bwMode="auto">
          <a:xfrm>
            <a:off x="3352800" y="31242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4267200" y="3276600"/>
            <a:ext cx="1447800" cy="158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tailEnd type="arrow"/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1600200" y="3657600"/>
            <a:ext cx="685800" cy="38100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43000" y="36576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62200" y="3657600"/>
            <a:ext cx="3810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Rounded Rectangle 44"/>
          <p:cNvSpPr/>
          <p:nvPr/>
        </p:nvSpPr>
        <p:spPr bwMode="auto">
          <a:xfrm>
            <a:off x="2819400" y="36576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6" name="Oval 45"/>
          <p:cNvSpPr/>
          <p:nvPr/>
        </p:nvSpPr>
        <p:spPr bwMode="auto">
          <a:xfrm>
            <a:off x="3352800" y="36576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600200" y="4191000"/>
            <a:ext cx="685800" cy="381000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43000" y="41910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62200" y="4191000"/>
            <a:ext cx="3810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Rounded Rectangle 50"/>
          <p:cNvSpPr/>
          <p:nvPr/>
        </p:nvSpPr>
        <p:spPr bwMode="auto">
          <a:xfrm>
            <a:off x="2819400" y="41910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2" name="Oval 51"/>
          <p:cNvSpPr/>
          <p:nvPr/>
        </p:nvSpPr>
        <p:spPr bwMode="auto">
          <a:xfrm>
            <a:off x="3352800" y="41910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096000" y="20574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3200" y="2057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 bwMode="auto">
          <a:xfrm>
            <a:off x="7010400" y="20574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096000" y="25908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53200" y="2590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 bwMode="auto">
          <a:xfrm>
            <a:off x="7010400" y="25908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096000" y="31242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53200" y="31242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 bwMode="auto">
          <a:xfrm>
            <a:off x="7010400" y="31242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096000" y="36576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53200" y="3657600"/>
            <a:ext cx="3810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 bwMode="auto">
          <a:xfrm>
            <a:off x="7010400" y="36576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096000" y="41910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53200" y="4191000"/>
            <a:ext cx="3810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 bwMode="auto">
          <a:xfrm>
            <a:off x="7010400" y="41910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43892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in MapReduce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Easy!</a:t>
            </a:r>
          </a:p>
          <a:p>
            <a:pPr lvl="1"/>
            <a:r>
              <a:rPr lang="en-US" dirty="0"/>
              <a:t>Map over </a:t>
            </a:r>
            <a:r>
              <a:rPr lang="en-US" dirty="0" err="1"/>
              <a:t>tuples</a:t>
            </a:r>
            <a:r>
              <a:rPr lang="en-US" dirty="0"/>
              <a:t>, emit new </a:t>
            </a:r>
            <a:r>
              <a:rPr lang="en-US" dirty="0" err="1"/>
              <a:t>tuples</a:t>
            </a:r>
            <a:r>
              <a:rPr lang="en-US" dirty="0"/>
              <a:t> with appropriate attributes</a:t>
            </a:r>
          </a:p>
          <a:p>
            <a:pPr lvl="1"/>
            <a:r>
              <a:rPr lang="en-US" dirty="0"/>
              <a:t>No reducers, unless for regrouping or resorting </a:t>
            </a:r>
            <a:r>
              <a:rPr lang="en-US" dirty="0" err="1"/>
              <a:t>tuples</a:t>
            </a:r>
            <a:endParaRPr lang="en-US" dirty="0"/>
          </a:p>
          <a:p>
            <a:pPr lvl="1"/>
            <a:r>
              <a:rPr lang="en-US" dirty="0"/>
              <a:t>Alternatively: perform in reducer, after some other processing</a:t>
            </a:r>
          </a:p>
          <a:p>
            <a:r>
              <a:rPr lang="en-US" dirty="0"/>
              <a:t>Basically limited by HDFS streaming speeds</a:t>
            </a:r>
          </a:p>
          <a:p>
            <a:pPr lvl="1"/>
            <a:r>
              <a:rPr lang="en-US" dirty="0"/>
              <a:t>Speed of encoding/decoding </a:t>
            </a:r>
            <a:r>
              <a:rPr lang="en-US" dirty="0" err="1"/>
              <a:t>tuples</a:t>
            </a:r>
            <a:r>
              <a:rPr lang="en-US" dirty="0"/>
              <a:t> becomes important</a:t>
            </a:r>
          </a:p>
          <a:p>
            <a:pPr lvl="1"/>
            <a:r>
              <a:rPr lang="en-US" dirty="0"/>
              <a:t>Take advantage of compression when available</a:t>
            </a:r>
          </a:p>
          <a:p>
            <a:pPr lvl="1"/>
            <a:r>
              <a:rPr lang="en-US" dirty="0" err="1"/>
              <a:t>Semistructured</a:t>
            </a:r>
            <a:r>
              <a:rPr lang="en-US" dirty="0"/>
              <a:t> data? No problem!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215874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95400" y="2057400"/>
            <a:ext cx="6858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8200" y="20574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2057400" y="2057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ounded Rectangle 19"/>
          <p:cNvSpPr/>
          <p:nvPr/>
        </p:nvSpPr>
        <p:spPr bwMode="auto">
          <a:xfrm>
            <a:off x="2514600" y="20574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1" name="Oval 20"/>
          <p:cNvSpPr/>
          <p:nvPr/>
        </p:nvSpPr>
        <p:spPr bwMode="auto">
          <a:xfrm>
            <a:off x="3048000" y="20574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3" name="Group 39"/>
          <p:cNvGrpSpPr/>
          <p:nvPr/>
        </p:nvGrpSpPr>
        <p:grpSpPr>
          <a:xfrm>
            <a:off x="4097338" y="3352800"/>
            <a:ext cx="703262" cy="533400"/>
            <a:chOff x="3862388" y="1524000"/>
            <a:chExt cx="703262" cy="533400"/>
          </a:xfrm>
        </p:grpSpPr>
        <p:sp>
          <p:nvSpPr>
            <p:cNvPr id="24" name="Rectangle 23"/>
            <p:cNvSpPr/>
            <p:nvPr/>
          </p:nvSpPr>
          <p:spPr>
            <a:xfrm>
              <a:off x="4337050" y="1828800"/>
              <a:ext cx="228600" cy="2286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graphicFrame>
          <p:nvGraphicFramePr>
            <p:cNvPr id="26" name="Object 25"/>
            <p:cNvGraphicFramePr>
              <a:graphicFrameLocks noChangeAspect="1"/>
            </p:cNvGraphicFramePr>
            <p:nvPr/>
          </p:nvGraphicFramePr>
          <p:xfrm>
            <a:off x="3862388" y="1524000"/>
            <a:ext cx="57467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077" name="Equation" r:id="rId3" imgW="152280" imgH="139680" progId="Equation.3">
                    <p:embed/>
                  </p:oleObj>
                </mc:Choice>
                <mc:Fallback>
                  <p:oleObj name="Equation" r:id="rId3" imgW="152280" imgH="13968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62388" y="1524000"/>
                          <a:ext cx="574675" cy="5270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" name="Rectangle 27"/>
          <p:cNvSpPr/>
          <p:nvPr/>
        </p:nvSpPr>
        <p:spPr>
          <a:xfrm>
            <a:off x="1295400" y="2590800"/>
            <a:ext cx="6858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8200" y="25908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2590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ounded Rectangle 30"/>
          <p:cNvSpPr/>
          <p:nvPr/>
        </p:nvSpPr>
        <p:spPr bwMode="auto">
          <a:xfrm>
            <a:off x="2514600" y="25908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2" name="Oval 31"/>
          <p:cNvSpPr/>
          <p:nvPr/>
        </p:nvSpPr>
        <p:spPr bwMode="auto">
          <a:xfrm>
            <a:off x="3048000" y="25908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295400" y="3124200"/>
            <a:ext cx="685800" cy="381000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8200" y="31242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7400" y="31242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ounded Rectangle 36"/>
          <p:cNvSpPr/>
          <p:nvPr/>
        </p:nvSpPr>
        <p:spPr bwMode="auto">
          <a:xfrm>
            <a:off x="2514600" y="31242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8" name="Oval 37"/>
          <p:cNvSpPr/>
          <p:nvPr/>
        </p:nvSpPr>
        <p:spPr bwMode="auto">
          <a:xfrm>
            <a:off x="3048000" y="31242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39" name="Straight Arrow Connector 38"/>
          <p:cNvCxnSpPr/>
          <p:nvPr/>
        </p:nvCxnSpPr>
        <p:spPr>
          <a:xfrm>
            <a:off x="3733800" y="3276600"/>
            <a:ext cx="1447800" cy="158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tailEnd type="arrow"/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1295400" y="3657600"/>
            <a:ext cx="685800" cy="38100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38200" y="36576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7400" y="3657600"/>
            <a:ext cx="3810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Rounded Rectangle 44"/>
          <p:cNvSpPr/>
          <p:nvPr/>
        </p:nvSpPr>
        <p:spPr bwMode="auto">
          <a:xfrm>
            <a:off x="2514600" y="36576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6" name="Oval 45"/>
          <p:cNvSpPr/>
          <p:nvPr/>
        </p:nvSpPr>
        <p:spPr bwMode="auto">
          <a:xfrm>
            <a:off x="3048000" y="36576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295400" y="4191000"/>
            <a:ext cx="685800" cy="381000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38200" y="41910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7400" y="4191000"/>
            <a:ext cx="3810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Rounded Rectangle 50"/>
          <p:cNvSpPr/>
          <p:nvPr/>
        </p:nvSpPr>
        <p:spPr bwMode="auto">
          <a:xfrm>
            <a:off x="2514600" y="41910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2" name="Oval 51"/>
          <p:cNvSpPr/>
          <p:nvPr/>
        </p:nvSpPr>
        <p:spPr bwMode="auto">
          <a:xfrm>
            <a:off x="3048000" y="41910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5867400" y="2819400"/>
            <a:ext cx="6858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410200" y="28194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29400" y="2819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Rounded Rectangle 62"/>
          <p:cNvSpPr/>
          <p:nvPr/>
        </p:nvSpPr>
        <p:spPr bwMode="auto">
          <a:xfrm>
            <a:off x="7086600" y="28194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Oval 65"/>
          <p:cNvSpPr/>
          <p:nvPr/>
        </p:nvSpPr>
        <p:spPr bwMode="auto">
          <a:xfrm>
            <a:off x="7620000" y="28194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5867400" y="3352800"/>
            <a:ext cx="685800" cy="381000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410200" y="3352800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+mn-lt"/>
              </a:rPr>
              <a:t>R</a:t>
            </a:r>
            <a:r>
              <a:rPr lang="en-US" b="0" kern="0" baseline="-25000" dirty="0">
                <a:latin typeface="+mn-lt"/>
              </a:rPr>
              <a:t>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629400" y="33528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Rounded Rectangle 81"/>
          <p:cNvSpPr/>
          <p:nvPr/>
        </p:nvSpPr>
        <p:spPr bwMode="auto">
          <a:xfrm>
            <a:off x="7086600" y="3352800"/>
            <a:ext cx="457200" cy="38100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Oval 82"/>
          <p:cNvSpPr/>
          <p:nvPr/>
        </p:nvSpPr>
        <p:spPr bwMode="auto">
          <a:xfrm>
            <a:off x="7620000" y="3352800"/>
            <a:ext cx="381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3134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in MapReduce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Easy!</a:t>
            </a:r>
          </a:p>
          <a:p>
            <a:pPr lvl="1"/>
            <a:r>
              <a:rPr lang="en-US" dirty="0"/>
              <a:t>Map over </a:t>
            </a:r>
            <a:r>
              <a:rPr lang="en-US" dirty="0" err="1"/>
              <a:t>tuples</a:t>
            </a:r>
            <a:r>
              <a:rPr lang="en-US" dirty="0"/>
              <a:t>, emit only </a:t>
            </a:r>
            <a:r>
              <a:rPr lang="en-US" dirty="0" err="1"/>
              <a:t>tuples</a:t>
            </a:r>
            <a:r>
              <a:rPr lang="en-US" dirty="0"/>
              <a:t> that meet criteria</a:t>
            </a:r>
          </a:p>
          <a:p>
            <a:pPr lvl="1"/>
            <a:r>
              <a:rPr lang="en-US" dirty="0"/>
              <a:t>No reducers, unless for regrouping or resorting </a:t>
            </a:r>
            <a:r>
              <a:rPr lang="en-US" dirty="0" err="1"/>
              <a:t>tuples</a:t>
            </a:r>
            <a:endParaRPr lang="en-US" dirty="0"/>
          </a:p>
          <a:p>
            <a:pPr lvl="1"/>
            <a:r>
              <a:rPr lang="en-US" dirty="0"/>
              <a:t>Alternatively: perform in reducer, after some other processing</a:t>
            </a:r>
          </a:p>
          <a:p>
            <a:r>
              <a:rPr lang="en-US" dirty="0"/>
              <a:t>Basically limited by HDFS streaming speeds</a:t>
            </a:r>
          </a:p>
          <a:p>
            <a:pPr lvl="1"/>
            <a:r>
              <a:rPr lang="en-US" dirty="0"/>
              <a:t>Speed of encoding/decoding tuples becomes important</a:t>
            </a:r>
          </a:p>
          <a:p>
            <a:pPr lvl="1"/>
            <a:r>
              <a:rPr lang="en-US" dirty="0"/>
              <a:t>Take advantage of compression when available</a:t>
            </a:r>
          </a:p>
          <a:p>
            <a:pPr lvl="1"/>
            <a:r>
              <a:rPr lang="en-US" dirty="0" err="1"/>
              <a:t>Semistructured</a:t>
            </a:r>
            <a:r>
              <a:rPr lang="en-US" dirty="0"/>
              <a:t> data? No problem!</a:t>
            </a:r>
          </a:p>
        </p:txBody>
      </p:sp>
    </p:spTree>
    <p:extLst>
      <p:ext uri="{BB962C8B-B14F-4D97-AF65-F5344CB8AC3E}">
        <p14:creationId xmlns:p14="http://schemas.microsoft.com/office/powerpoint/2010/main" val="183888169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by…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Example: What is the average time spent per URL?</a:t>
            </a:r>
          </a:p>
          <a:p>
            <a:r>
              <a:rPr lang="en-US" dirty="0"/>
              <a:t>In SQL:</a:t>
            </a:r>
          </a:p>
          <a:p>
            <a:pPr lvl="1"/>
            <a:r>
              <a:rPr lang="en-US" dirty="0"/>
              <a:t>SELECT </a:t>
            </a:r>
            <a:r>
              <a:rPr lang="en-US" dirty="0" err="1"/>
              <a:t>url</a:t>
            </a:r>
            <a:r>
              <a:rPr lang="en-US" dirty="0"/>
              <a:t>, AVG(time) FROM visits GROUP BY </a:t>
            </a:r>
            <a:r>
              <a:rPr lang="en-US" dirty="0" err="1"/>
              <a:t>url</a:t>
            </a:r>
            <a:endParaRPr lang="en-US" dirty="0"/>
          </a:p>
          <a:p>
            <a:r>
              <a:rPr lang="en-US" dirty="0"/>
              <a:t>In MapReduce:</a:t>
            </a:r>
          </a:p>
          <a:p>
            <a:pPr lvl="1"/>
            <a:r>
              <a:rPr lang="en-US" dirty="0"/>
              <a:t>Map over </a:t>
            </a:r>
            <a:r>
              <a:rPr lang="en-US" dirty="0" err="1"/>
              <a:t>tuples</a:t>
            </a:r>
            <a:r>
              <a:rPr lang="en-US" dirty="0"/>
              <a:t>, emit time, keyed by </a:t>
            </a:r>
            <a:r>
              <a:rPr lang="en-US" dirty="0" err="1"/>
              <a:t>url</a:t>
            </a:r>
            <a:endParaRPr lang="en-US" dirty="0"/>
          </a:p>
          <a:p>
            <a:pPr lvl="1"/>
            <a:r>
              <a:rPr lang="en-US" dirty="0"/>
              <a:t>Framework automatically groups values by keys</a:t>
            </a:r>
          </a:p>
          <a:p>
            <a:pPr lvl="1"/>
            <a:r>
              <a:rPr lang="en-US" dirty="0"/>
              <a:t>Compute average in reducer</a:t>
            </a:r>
          </a:p>
          <a:p>
            <a:pPr lvl="1"/>
            <a:r>
              <a:rPr lang="en-US" dirty="0"/>
              <a:t>Optimize with combiners</a:t>
            </a:r>
          </a:p>
        </p:txBody>
      </p:sp>
    </p:spTree>
    <p:extLst>
      <p:ext uri="{BB962C8B-B14F-4D97-AF65-F5344CB8AC3E}">
        <p14:creationId xmlns:p14="http://schemas.microsoft.com/office/powerpoint/2010/main" val="37130369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Joins</a:t>
            </a:r>
          </a:p>
        </p:txBody>
      </p:sp>
      <p:sp>
        <p:nvSpPr>
          <p:cNvPr id="192" name="Flowchart: Collate 191"/>
          <p:cNvSpPr/>
          <p:nvPr/>
        </p:nvSpPr>
        <p:spPr>
          <a:xfrm rot="5400000">
            <a:off x="4381500" y="3390900"/>
            <a:ext cx="381000" cy="762000"/>
          </a:xfrm>
          <a:prstGeom prst="flowChartCollate">
            <a:avLst/>
          </a:prstGeom>
          <a:noFill/>
          <a:ln w="19050" cap="flat" cmpd="sng" algn="ctr">
            <a:solidFill>
              <a:sysClr val="windowText" lastClr="000000">
                <a:shade val="95000"/>
                <a:satMod val="105000"/>
              </a:sys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8" name="Straight Arrow Connector 207"/>
          <p:cNvCxnSpPr/>
          <p:nvPr/>
        </p:nvCxnSpPr>
        <p:spPr>
          <a:xfrm>
            <a:off x="2514600" y="3733800"/>
            <a:ext cx="1447800" cy="158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tailEnd type="arrow"/>
          </a:ln>
          <a:effectLst/>
        </p:spPr>
      </p:cxnSp>
      <p:cxnSp>
        <p:nvCxnSpPr>
          <p:cNvPr id="209" name="Straight Arrow Connector 208"/>
          <p:cNvCxnSpPr/>
          <p:nvPr/>
        </p:nvCxnSpPr>
        <p:spPr>
          <a:xfrm rot="5400000" flipH="1" flipV="1">
            <a:off x="2361803" y="3581003"/>
            <a:ext cx="304800" cy="794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tailEnd type="none"/>
          </a:ln>
          <a:effectLst/>
        </p:spPr>
      </p:cxnSp>
      <p:grpSp>
        <p:nvGrpSpPr>
          <p:cNvPr id="210" name="Group 209"/>
          <p:cNvGrpSpPr/>
          <p:nvPr/>
        </p:nvGrpSpPr>
        <p:grpSpPr>
          <a:xfrm flipH="1">
            <a:off x="5105400" y="3429000"/>
            <a:ext cx="1448594" cy="306388"/>
            <a:chOff x="5638006" y="3810000"/>
            <a:chExt cx="1448594" cy="306388"/>
          </a:xfrm>
        </p:grpSpPr>
        <p:cxnSp>
          <p:nvCxnSpPr>
            <p:cNvPr id="211" name="Straight Arrow Connector 210"/>
            <p:cNvCxnSpPr/>
            <p:nvPr/>
          </p:nvCxnSpPr>
          <p:spPr>
            <a:xfrm>
              <a:off x="5638800" y="4114800"/>
              <a:ext cx="1447800" cy="1588"/>
            </a:xfrm>
            <a:prstGeom prst="straightConnector1">
              <a:avLst/>
            </a:prstGeom>
            <a:noFill/>
            <a:ln w="28575" cap="flat" cmpd="sng" algn="ctr">
              <a:solidFill>
                <a:sysClr val="windowText" lastClr="000000"/>
              </a:solidFill>
              <a:prstDash val="solid"/>
              <a:tailEnd type="arrow"/>
            </a:ln>
            <a:effectLst/>
          </p:spPr>
        </p:cxnSp>
        <p:cxnSp>
          <p:nvCxnSpPr>
            <p:cNvPr id="212" name="Straight Arrow Connector 211"/>
            <p:cNvCxnSpPr/>
            <p:nvPr/>
          </p:nvCxnSpPr>
          <p:spPr>
            <a:xfrm rot="5400000" flipH="1" flipV="1">
              <a:off x="5486003" y="3962003"/>
              <a:ext cx="304800" cy="794"/>
            </a:xfrm>
            <a:prstGeom prst="straightConnector1">
              <a:avLst/>
            </a:prstGeom>
            <a:noFill/>
            <a:ln w="28575" cap="flat" cmpd="sng" algn="ctr">
              <a:solidFill>
                <a:sysClr val="windowText" lastClr="000000"/>
              </a:solidFill>
              <a:prstDash val="solid"/>
              <a:tailEnd type="none"/>
            </a:ln>
            <a:effectLst/>
          </p:spPr>
        </p:cxnSp>
      </p:grpSp>
      <p:cxnSp>
        <p:nvCxnSpPr>
          <p:cNvPr id="213" name="Straight Arrow Connector 212"/>
          <p:cNvCxnSpPr/>
          <p:nvPr/>
        </p:nvCxnSpPr>
        <p:spPr>
          <a:xfrm rot="5400000">
            <a:off x="4418806" y="4114006"/>
            <a:ext cx="304800" cy="1588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tailEnd type="arrow"/>
          </a:ln>
          <a:effectLst/>
        </p:spPr>
      </p:cxnSp>
      <p:grpSp>
        <p:nvGrpSpPr>
          <p:cNvPr id="216" name="Group 215"/>
          <p:cNvGrpSpPr/>
          <p:nvPr/>
        </p:nvGrpSpPr>
        <p:grpSpPr>
          <a:xfrm>
            <a:off x="1143000" y="1295400"/>
            <a:ext cx="2286000" cy="381000"/>
            <a:chOff x="1219200" y="1143000"/>
            <a:chExt cx="2286000" cy="381000"/>
          </a:xfrm>
        </p:grpSpPr>
        <p:sp>
          <p:nvSpPr>
            <p:cNvPr id="172" name="Rectangle 171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4" name="TextBox 213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1</a:t>
              </a:r>
            </a:p>
          </p:txBody>
        </p:sp>
        <p:sp>
          <p:nvSpPr>
            <p:cNvPr id="215" name="Rectangle 214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17" name="Group 216"/>
          <p:cNvGrpSpPr/>
          <p:nvPr/>
        </p:nvGrpSpPr>
        <p:grpSpPr>
          <a:xfrm>
            <a:off x="1143000" y="1828800"/>
            <a:ext cx="2286000" cy="381000"/>
            <a:chOff x="1219200" y="1143000"/>
            <a:chExt cx="2286000" cy="381000"/>
          </a:xfrm>
        </p:grpSpPr>
        <p:sp>
          <p:nvSpPr>
            <p:cNvPr id="218" name="Rectangle 217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9" name="TextBox 218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2</a:t>
              </a:r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21" name="Group 220"/>
          <p:cNvGrpSpPr/>
          <p:nvPr/>
        </p:nvGrpSpPr>
        <p:grpSpPr>
          <a:xfrm>
            <a:off x="1143000" y="2362200"/>
            <a:ext cx="2286000" cy="381000"/>
            <a:chOff x="1219200" y="1143000"/>
            <a:chExt cx="2286000" cy="381000"/>
          </a:xfrm>
        </p:grpSpPr>
        <p:sp>
          <p:nvSpPr>
            <p:cNvPr id="222" name="Rectangle 221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3" name="TextBox 222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3</a:t>
              </a:r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25" name="Group 224"/>
          <p:cNvGrpSpPr/>
          <p:nvPr/>
        </p:nvGrpSpPr>
        <p:grpSpPr>
          <a:xfrm>
            <a:off x="1143000" y="2895600"/>
            <a:ext cx="2286000" cy="381000"/>
            <a:chOff x="1219200" y="1143000"/>
            <a:chExt cx="2286000" cy="381000"/>
          </a:xfrm>
        </p:grpSpPr>
        <p:sp>
          <p:nvSpPr>
            <p:cNvPr id="226" name="Rectangle 225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7" name="TextBox 226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4</a:t>
              </a:r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29" name="Group 228"/>
          <p:cNvGrpSpPr/>
          <p:nvPr/>
        </p:nvGrpSpPr>
        <p:grpSpPr>
          <a:xfrm>
            <a:off x="5486400" y="1295400"/>
            <a:ext cx="2258750" cy="381000"/>
            <a:chOff x="3124200" y="1143000"/>
            <a:chExt cx="2258750" cy="381000"/>
          </a:xfrm>
        </p:grpSpPr>
        <p:sp>
          <p:nvSpPr>
            <p:cNvPr id="230" name="Rectangle 229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1</a:t>
              </a:r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33" name="Group 232"/>
          <p:cNvGrpSpPr/>
          <p:nvPr/>
        </p:nvGrpSpPr>
        <p:grpSpPr>
          <a:xfrm>
            <a:off x="5486400" y="1828800"/>
            <a:ext cx="2258750" cy="381000"/>
            <a:chOff x="3124200" y="1143000"/>
            <a:chExt cx="2258750" cy="381000"/>
          </a:xfrm>
        </p:grpSpPr>
        <p:sp>
          <p:nvSpPr>
            <p:cNvPr id="234" name="Rectangle 233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5" name="TextBox 234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2</a:t>
              </a:r>
            </a:p>
          </p:txBody>
        </p:sp>
        <p:sp>
          <p:nvSpPr>
            <p:cNvPr id="236" name="Rectangle 23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37" name="Group 236"/>
          <p:cNvGrpSpPr/>
          <p:nvPr/>
        </p:nvGrpSpPr>
        <p:grpSpPr>
          <a:xfrm>
            <a:off x="5486400" y="2362200"/>
            <a:ext cx="2258750" cy="381000"/>
            <a:chOff x="3124200" y="1143000"/>
            <a:chExt cx="2258750" cy="381000"/>
          </a:xfrm>
        </p:grpSpPr>
        <p:sp>
          <p:nvSpPr>
            <p:cNvPr id="238" name="Rectangle 237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9" name="TextBox 238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3</a:t>
              </a:r>
            </a:p>
          </p:txBody>
        </p:sp>
        <p:sp>
          <p:nvSpPr>
            <p:cNvPr id="240" name="Rectangle 23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41" name="Group 240"/>
          <p:cNvGrpSpPr/>
          <p:nvPr/>
        </p:nvGrpSpPr>
        <p:grpSpPr>
          <a:xfrm>
            <a:off x="5486400" y="2895600"/>
            <a:ext cx="2258750" cy="381000"/>
            <a:chOff x="3124200" y="1143000"/>
            <a:chExt cx="2258750" cy="381000"/>
          </a:xfrm>
        </p:grpSpPr>
        <p:sp>
          <p:nvSpPr>
            <p:cNvPr id="242" name="Rectangle 241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4</a:t>
              </a:r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3" name="Group 252"/>
          <p:cNvGrpSpPr/>
          <p:nvPr/>
        </p:nvGrpSpPr>
        <p:grpSpPr>
          <a:xfrm>
            <a:off x="2514600" y="4419600"/>
            <a:ext cx="2286000" cy="381000"/>
            <a:chOff x="1219200" y="1143000"/>
            <a:chExt cx="2286000" cy="381000"/>
          </a:xfrm>
        </p:grpSpPr>
        <p:sp>
          <p:nvSpPr>
            <p:cNvPr id="254" name="Rectangle 253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5" name="TextBox 254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1</a:t>
              </a:r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7" name="Group 256"/>
          <p:cNvGrpSpPr/>
          <p:nvPr/>
        </p:nvGrpSpPr>
        <p:grpSpPr>
          <a:xfrm>
            <a:off x="4419600" y="4419600"/>
            <a:ext cx="2258750" cy="381000"/>
            <a:chOff x="3124200" y="1143000"/>
            <a:chExt cx="2258750" cy="381000"/>
          </a:xfrm>
        </p:grpSpPr>
        <p:sp>
          <p:nvSpPr>
            <p:cNvPr id="258" name="Rectangle 257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9" name="TextBox 258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2</a:t>
              </a:r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61" name="Group 260"/>
          <p:cNvGrpSpPr/>
          <p:nvPr/>
        </p:nvGrpSpPr>
        <p:grpSpPr>
          <a:xfrm>
            <a:off x="2514600" y="4953000"/>
            <a:ext cx="2286000" cy="381000"/>
            <a:chOff x="1219200" y="1143000"/>
            <a:chExt cx="2286000" cy="381000"/>
          </a:xfrm>
        </p:grpSpPr>
        <p:sp>
          <p:nvSpPr>
            <p:cNvPr id="262" name="Rectangle 261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3" name="TextBox 262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2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65" name="Group 264"/>
          <p:cNvGrpSpPr/>
          <p:nvPr/>
        </p:nvGrpSpPr>
        <p:grpSpPr>
          <a:xfrm>
            <a:off x="4419600" y="4953000"/>
            <a:ext cx="2258750" cy="381000"/>
            <a:chOff x="3124200" y="1143000"/>
            <a:chExt cx="2258750" cy="381000"/>
          </a:xfrm>
        </p:grpSpPr>
        <p:sp>
          <p:nvSpPr>
            <p:cNvPr id="266" name="Rectangle 265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4</a:t>
              </a:r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69" name="Group 268"/>
          <p:cNvGrpSpPr/>
          <p:nvPr/>
        </p:nvGrpSpPr>
        <p:grpSpPr>
          <a:xfrm>
            <a:off x="2514600" y="5486400"/>
            <a:ext cx="2286000" cy="381000"/>
            <a:chOff x="1219200" y="1143000"/>
            <a:chExt cx="2286000" cy="381000"/>
          </a:xfrm>
        </p:grpSpPr>
        <p:sp>
          <p:nvSpPr>
            <p:cNvPr id="270" name="Rectangle 269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1" name="TextBox 270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3</a:t>
              </a: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73" name="Group 272"/>
          <p:cNvGrpSpPr/>
          <p:nvPr/>
        </p:nvGrpSpPr>
        <p:grpSpPr>
          <a:xfrm>
            <a:off x="4419600" y="5486400"/>
            <a:ext cx="2258750" cy="381000"/>
            <a:chOff x="3124200" y="1143000"/>
            <a:chExt cx="2258750" cy="381000"/>
          </a:xfrm>
        </p:grpSpPr>
        <p:sp>
          <p:nvSpPr>
            <p:cNvPr id="274" name="Rectangle 273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5" name="TextBox 274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1</a:t>
              </a: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77" name="Group 276"/>
          <p:cNvGrpSpPr/>
          <p:nvPr/>
        </p:nvGrpSpPr>
        <p:grpSpPr>
          <a:xfrm>
            <a:off x="2514600" y="6019800"/>
            <a:ext cx="2286000" cy="381000"/>
            <a:chOff x="1219200" y="1143000"/>
            <a:chExt cx="2286000" cy="381000"/>
          </a:xfrm>
        </p:grpSpPr>
        <p:sp>
          <p:nvSpPr>
            <p:cNvPr id="278" name="Rectangle 277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9" name="TextBox 278"/>
            <p:cNvSpPr txBox="1"/>
            <p:nvPr/>
          </p:nvSpPr>
          <p:spPr>
            <a:xfrm>
              <a:off x="1219200" y="1143000"/>
              <a:ext cx="3882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R</a:t>
              </a:r>
              <a:r>
                <a:rPr lang="en-US" b="0" kern="0" baseline="-25000" dirty="0">
                  <a:latin typeface="+mn-lt"/>
                </a:rPr>
                <a:t>4</a:t>
              </a:r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81" name="Group 280"/>
          <p:cNvGrpSpPr/>
          <p:nvPr/>
        </p:nvGrpSpPr>
        <p:grpSpPr>
          <a:xfrm>
            <a:off x="4419600" y="6019800"/>
            <a:ext cx="2258750" cy="381000"/>
            <a:chOff x="3124200" y="1143000"/>
            <a:chExt cx="2258750" cy="381000"/>
          </a:xfrm>
        </p:grpSpPr>
        <p:sp>
          <p:nvSpPr>
            <p:cNvPr id="282" name="Rectangle 281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3" name="TextBox 282"/>
            <p:cNvSpPr txBox="1"/>
            <p:nvPr/>
          </p:nvSpPr>
          <p:spPr>
            <a:xfrm>
              <a:off x="5013938" y="1143000"/>
              <a:ext cx="36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+mn-lt"/>
                </a:rPr>
                <a:t>S</a:t>
              </a:r>
              <a:r>
                <a:rPr lang="en-US" b="0" kern="0" baseline="-25000" dirty="0">
                  <a:latin typeface="+mn-lt"/>
                </a:rPr>
                <a:t>3</a:t>
              </a:r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118736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Relationships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75" y="1947862"/>
            <a:ext cx="619125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76907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Relational Joins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Reduce-side Join</a:t>
            </a:r>
          </a:p>
          <a:p>
            <a:r>
              <a:rPr lang="en-US" altLang="zh-TW" dirty="0"/>
              <a:t>Map-side Join</a:t>
            </a:r>
          </a:p>
          <a:p>
            <a:r>
              <a:rPr lang="en-US" altLang="zh-TW" dirty="0"/>
              <a:t>Memory-backed Join</a:t>
            </a:r>
          </a:p>
          <a:p>
            <a:pPr lvl="1"/>
            <a:r>
              <a:rPr lang="en-US" altLang="zh-TW" dirty="0"/>
              <a:t>Striped variant</a:t>
            </a:r>
          </a:p>
          <a:p>
            <a:pPr lvl="1"/>
            <a:r>
              <a:rPr lang="en-US" altLang="zh-TW" dirty="0" err="1"/>
              <a:t>Memcached</a:t>
            </a:r>
            <a:r>
              <a:rPr lang="en-US" altLang="zh-TW" dirty="0"/>
              <a:t> variant</a:t>
            </a:r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61229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Reduce-Side Join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Reduce-Side Join</a:t>
            </a:r>
          </a:p>
          <a:p>
            <a:pPr lvl="1"/>
            <a:r>
              <a:rPr lang="en-US" altLang="zh-TW" dirty="0"/>
              <a:t>“parallel sort-merge join”: Map over both datasets, emit the join key as the intermediate key, and the tuple itself as the intermediate value</a:t>
            </a:r>
          </a:p>
          <a:p>
            <a:pPr lvl="1"/>
            <a:r>
              <a:rPr lang="en-US" altLang="zh-TW" dirty="0"/>
              <a:t>3 cases: </a:t>
            </a:r>
          </a:p>
          <a:p>
            <a:pPr lvl="2"/>
            <a:r>
              <a:rPr lang="en-US" altLang="zh-TW" dirty="0"/>
              <a:t>One-to-one</a:t>
            </a:r>
          </a:p>
          <a:p>
            <a:pPr lvl="2"/>
            <a:r>
              <a:rPr lang="en-US" altLang="zh-TW" dirty="0"/>
              <a:t>one-to-many: scalability, secondary sort needed</a:t>
            </a:r>
          </a:p>
          <a:p>
            <a:pPr lvl="2"/>
            <a:r>
              <a:rPr lang="en-US" altLang="zh-TW" dirty="0"/>
              <a:t>many-to-many</a:t>
            </a:r>
          </a:p>
          <a:p>
            <a:pPr lvl="1"/>
            <a:r>
              <a:rPr lang="en-US" altLang="zh-TW" dirty="0"/>
              <a:t>Basic idea: to repartition the two datasets by the join key</a:t>
            </a:r>
          </a:p>
          <a:p>
            <a:pPr lvl="2"/>
            <a:r>
              <a:rPr lang="en-US" altLang="zh-TW" dirty="0"/>
              <a:t>Not efficient: shuffling both datasets across the network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744628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Reduce-side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Basic idea: group by join key</a:t>
            </a:r>
          </a:p>
          <a:p>
            <a:pPr lvl="1"/>
            <a:r>
              <a:rPr lang="en-US" dirty="0"/>
              <a:t>Map over both sets of </a:t>
            </a:r>
            <a:r>
              <a:rPr lang="en-US" dirty="0" err="1"/>
              <a:t>tuples</a:t>
            </a:r>
            <a:endParaRPr lang="en-US" dirty="0"/>
          </a:p>
          <a:p>
            <a:pPr lvl="1"/>
            <a:r>
              <a:rPr lang="en-US" dirty="0"/>
              <a:t>Emit </a:t>
            </a:r>
            <a:r>
              <a:rPr lang="en-US" dirty="0" err="1"/>
              <a:t>tuple</a:t>
            </a:r>
            <a:r>
              <a:rPr lang="en-US" dirty="0"/>
              <a:t> as value with join key as the intermediate key</a:t>
            </a:r>
          </a:p>
          <a:p>
            <a:pPr lvl="1"/>
            <a:r>
              <a:rPr lang="en-US" dirty="0"/>
              <a:t>Execution framework brings together </a:t>
            </a:r>
            <a:r>
              <a:rPr lang="en-US" dirty="0" err="1"/>
              <a:t>tuples</a:t>
            </a:r>
            <a:r>
              <a:rPr lang="en-US" dirty="0"/>
              <a:t> sharing the same key</a:t>
            </a:r>
          </a:p>
          <a:p>
            <a:pPr lvl="1"/>
            <a:r>
              <a:rPr lang="en-US" dirty="0"/>
              <a:t>Perform actual join in reducer</a:t>
            </a:r>
          </a:p>
          <a:p>
            <a:pPr lvl="1"/>
            <a:r>
              <a:rPr lang="en-US" dirty="0"/>
              <a:t>Similar to a “sort-merge join” in database terminology</a:t>
            </a:r>
          </a:p>
          <a:p>
            <a:r>
              <a:rPr lang="en-US" dirty="0"/>
              <a:t>Two variants</a:t>
            </a:r>
          </a:p>
          <a:p>
            <a:pPr lvl="1"/>
            <a:r>
              <a:rPr lang="en-US" dirty="0"/>
              <a:t>1-to-1 joins</a:t>
            </a:r>
          </a:p>
          <a:p>
            <a:pPr lvl="1"/>
            <a:r>
              <a:rPr lang="en-US" dirty="0"/>
              <a:t>1-to-many and many-to-many joins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4353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Reduce-side Join: 1-to-1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143000" y="1828800"/>
            <a:ext cx="2286000" cy="381000"/>
            <a:chOff x="1219200" y="1143000"/>
            <a:chExt cx="2286000" cy="381000"/>
          </a:xfrm>
        </p:grpSpPr>
        <p:sp>
          <p:nvSpPr>
            <p:cNvPr id="6" name="Rectangle 5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9200" y="1143000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1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143000" y="2286000"/>
            <a:ext cx="2286000" cy="381000"/>
            <a:chOff x="1219200" y="1143000"/>
            <a:chExt cx="2286000" cy="381000"/>
          </a:xfrm>
        </p:grpSpPr>
        <p:sp>
          <p:nvSpPr>
            <p:cNvPr id="10" name="Rectangle 9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19200" y="1143000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143000" y="2743200"/>
            <a:ext cx="2286000" cy="381000"/>
            <a:chOff x="2667000" y="1143000"/>
            <a:chExt cx="2286000" cy="381000"/>
          </a:xfrm>
        </p:grpSpPr>
        <p:sp>
          <p:nvSpPr>
            <p:cNvPr id="14" name="Rectangle 13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667000" y="1143000"/>
              <a:ext cx="40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2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1143000" y="3200400"/>
            <a:ext cx="2286000" cy="381000"/>
            <a:chOff x="2667000" y="1143000"/>
            <a:chExt cx="2286000" cy="381000"/>
          </a:xfrm>
        </p:grpSpPr>
        <p:sp>
          <p:nvSpPr>
            <p:cNvPr id="18" name="Rectangle 17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667000" y="1143000"/>
              <a:ext cx="40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3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sp>
        <p:nvSpPr>
          <p:cNvPr id="21" name="Right Arrow 20"/>
          <p:cNvSpPr/>
          <p:nvPr/>
        </p:nvSpPr>
        <p:spPr bwMode="auto">
          <a:xfrm>
            <a:off x="3723736" y="2438400"/>
            <a:ext cx="1076864" cy="5334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48400" y="18288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91200" y="1828800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05400" y="1828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48400" y="22860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91200" y="2286000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05400" y="22860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248400" y="27432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791200" y="2743200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5400" y="27432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248400" y="3200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791200" y="3200400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05400" y="3200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953000" y="1447800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187739" y="1447800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33400" y="1066800"/>
            <a:ext cx="8513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Map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38400" y="51054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981200" y="5105400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5400" y="51054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419600" y="55626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62400" y="5562600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95400" y="55626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419600" y="5105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962400" y="5105400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38400" y="55626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981200" y="5562600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4724400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377739" y="4724400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33400" y="4038600"/>
            <a:ext cx="1265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Reduce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30644" y="5986046"/>
            <a:ext cx="4864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FF0000"/>
                </a:solidFill>
                <a:latin typeface="Gill Sans"/>
                <a:cs typeface="Gill Sans"/>
              </a:rPr>
              <a:t>Note: no guarantee if R is going to come first or S</a:t>
            </a:r>
          </a:p>
        </p:txBody>
      </p:sp>
    </p:spTree>
    <p:extLst>
      <p:ext uri="{BB962C8B-B14F-4D97-AF65-F5344CB8AC3E}">
        <p14:creationId xmlns:p14="http://schemas.microsoft.com/office/powerpoint/2010/main" val="401743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/>
      <p:bldP spid="25" grpId="0" animBg="1"/>
      <p:bldP spid="27" grpId="0" animBg="1"/>
      <p:bldP spid="28" grpId="0"/>
      <p:bldP spid="29" grpId="0" animBg="1"/>
      <p:bldP spid="31" grpId="0" animBg="1"/>
      <p:bldP spid="32" grpId="0"/>
      <p:bldP spid="33" grpId="0" animBg="1"/>
      <p:bldP spid="35" grpId="0" animBg="1"/>
      <p:bldP spid="36" grpId="0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 animBg="1"/>
      <p:bldP spid="45" grpId="0"/>
      <p:bldP spid="46" grpId="0" animBg="1"/>
      <p:bldP spid="47" grpId="0" animBg="1"/>
      <p:bldP spid="48" grpId="0"/>
      <p:bldP spid="50" grpId="0" animBg="1"/>
      <p:bldP spid="51" grpId="0"/>
      <p:bldP spid="53" grpId="0"/>
      <p:bldP spid="54" grpId="0"/>
      <p:bldP spid="55" grpId="0"/>
      <p:bldP spid="5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Reduce-side Join: 1-to-many</a:t>
            </a:r>
          </a:p>
        </p:txBody>
      </p:sp>
      <p:grpSp>
        <p:nvGrpSpPr>
          <p:cNvPr id="2" name="Group 4"/>
          <p:cNvGrpSpPr/>
          <p:nvPr/>
        </p:nvGrpSpPr>
        <p:grpSpPr>
          <a:xfrm>
            <a:off x="1143000" y="1828800"/>
            <a:ext cx="2286000" cy="381000"/>
            <a:chOff x="1219200" y="1143000"/>
            <a:chExt cx="2286000" cy="381000"/>
          </a:xfrm>
        </p:grpSpPr>
        <p:sp>
          <p:nvSpPr>
            <p:cNvPr id="6" name="Rectangle 5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9200" y="1143000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1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5" name="Group 12"/>
          <p:cNvGrpSpPr/>
          <p:nvPr/>
        </p:nvGrpSpPr>
        <p:grpSpPr>
          <a:xfrm>
            <a:off x="1143000" y="2286000"/>
            <a:ext cx="2286000" cy="381000"/>
            <a:chOff x="2667000" y="1143000"/>
            <a:chExt cx="2286000" cy="381000"/>
          </a:xfrm>
        </p:grpSpPr>
        <p:sp>
          <p:nvSpPr>
            <p:cNvPr id="14" name="Rectangle 13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667000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2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9" name="Group 16"/>
          <p:cNvGrpSpPr/>
          <p:nvPr/>
        </p:nvGrpSpPr>
        <p:grpSpPr>
          <a:xfrm>
            <a:off x="1143000" y="2743200"/>
            <a:ext cx="2286000" cy="381000"/>
            <a:chOff x="2667000" y="1143000"/>
            <a:chExt cx="2286000" cy="381000"/>
          </a:xfrm>
        </p:grpSpPr>
        <p:sp>
          <p:nvSpPr>
            <p:cNvPr id="18" name="Rectangle 17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667000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3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sp>
        <p:nvSpPr>
          <p:cNvPr id="21" name="Right Arrow 20"/>
          <p:cNvSpPr/>
          <p:nvPr/>
        </p:nvSpPr>
        <p:spPr bwMode="auto">
          <a:xfrm>
            <a:off x="3723736" y="2438400"/>
            <a:ext cx="1076864" cy="5334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48400" y="18288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91200" y="18288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05400" y="1828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48400" y="22860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91200" y="22860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05400" y="22860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248400" y="27432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791200" y="27432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5400" y="27432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248400" y="3200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791200" y="32004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05400" y="32004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953000" y="144780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187739" y="1447800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33400" y="1066800"/>
            <a:ext cx="7136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Map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38400" y="51054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981200" y="51054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5400" y="51054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419600" y="5105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962400" y="51054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472440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377739" y="4724400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33400" y="4038600"/>
            <a:ext cx="1050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Reduce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grpSp>
        <p:nvGrpSpPr>
          <p:cNvPr id="49" name="Group 16"/>
          <p:cNvGrpSpPr/>
          <p:nvPr/>
        </p:nvGrpSpPr>
        <p:grpSpPr>
          <a:xfrm>
            <a:off x="1143000" y="3200400"/>
            <a:ext cx="2286000" cy="381000"/>
            <a:chOff x="2667000" y="1143000"/>
            <a:chExt cx="2286000" cy="381000"/>
          </a:xfrm>
        </p:grpSpPr>
        <p:sp>
          <p:nvSpPr>
            <p:cNvPr id="52" name="Rectangle 51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667000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9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sp>
        <p:nvSpPr>
          <p:cNvPr id="59" name="Rectangle 58"/>
          <p:cNvSpPr/>
          <p:nvPr/>
        </p:nvSpPr>
        <p:spPr>
          <a:xfrm>
            <a:off x="6477000" y="5105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019800" y="51054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61938" y="510540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…</a:t>
            </a:r>
            <a:endParaRPr lang="en-US" b="0" kern="0" baseline="-25000" dirty="0">
              <a:latin typeface="Gill Sans"/>
              <a:cs typeface="Gill Sans"/>
            </a:endParaRPr>
          </a:p>
        </p:txBody>
      </p:sp>
      <p:sp>
        <p:nvSpPr>
          <p:cNvPr id="56" name="TextBox 55"/>
          <p:cNvSpPr txBox="1"/>
          <p:nvPr/>
        </p:nvSpPr>
        <p:spPr>
          <a:xfrm rot="20989502">
            <a:off x="3570072" y="5582721"/>
            <a:ext cx="31720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What’s the problem?</a:t>
            </a:r>
          </a:p>
        </p:txBody>
      </p:sp>
    </p:spTree>
    <p:extLst>
      <p:ext uri="{BB962C8B-B14F-4D97-AF65-F5344CB8AC3E}">
        <p14:creationId xmlns:p14="http://schemas.microsoft.com/office/powerpoint/2010/main" val="1568250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/>
      <p:bldP spid="25" grpId="0" animBg="1"/>
      <p:bldP spid="27" grpId="0" animBg="1"/>
      <p:bldP spid="28" grpId="0"/>
      <p:bldP spid="29" grpId="0" animBg="1"/>
      <p:bldP spid="31" grpId="0" animBg="1"/>
      <p:bldP spid="32" grpId="0"/>
      <p:bldP spid="33" grpId="0" animBg="1"/>
      <p:bldP spid="35" grpId="0" animBg="1"/>
      <p:bldP spid="36" grpId="0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7" grpId="0" animBg="1"/>
      <p:bldP spid="48" grpId="0"/>
      <p:bldP spid="53" grpId="0"/>
      <p:bldP spid="54" grpId="0"/>
      <p:bldP spid="55" grpId="0"/>
      <p:bldP spid="59" grpId="0" animBg="1"/>
      <p:bldP spid="60" grpId="0"/>
      <p:bldP spid="61" grpId="0"/>
      <p:bldP spid="56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Reduce-side Join: V-to-K Conversion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673412" y="22860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26116" y="22860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95400" y="22860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667000" y="2819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190500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12751" y="1905000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3400" y="1219200"/>
            <a:ext cx="1678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In reducer…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67000" y="33528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26116" y="28194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5400" y="28194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26116" y="33528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95400" y="3352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726116" y="38862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5400" y="38862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67000" y="38862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673412" y="44196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726116" y="44196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95400" y="44196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667000" y="49530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667000" y="54864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726116" y="49530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95400" y="49530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726116" y="54864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95400" y="5486400"/>
            <a:ext cx="381000" cy="38100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cxnSp>
        <p:nvCxnSpPr>
          <p:cNvPr id="34" name="Straight Arrow Connector 33"/>
          <p:cNvCxnSpPr/>
          <p:nvPr/>
        </p:nvCxnSpPr>
        <p:spPr bwMode="auto">
          <a:xfrm rot="10800000">
            <a:off x="4121212" y="2476500"/>
            <a:ext cx="526988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24400" y="2328446"/>
            <a:ext cx="3610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New key encountered: hold in memory</a:t>
            </a:r>
          </a:p>
        </p:txBody>
      </p:sp>
      <p:cxnSp>
        <p:nvCxnSpPr>
          <p:cNvPr id="42" name="Straight Arrow Connector 41"/>
          <p:cNvCxnSpPr/>
          <p:nvPr/>
        </p:nvCxnSpPr>
        <p:spPr bwMode="auto">
          <a:xfrm rot="16200000" flipH="1">
            <a:off x="3921888" y="3540888"/>
            <a:ext cx="1446212" cy="6412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724400" y="2709446"/>
            <a:ext cx="311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Cross with records from other set</a:t>
            </a:r>
          </a:p>
        </p:txBody>
      </p:sp>
      <p:cxnSp>
        <p:nvCxnSpPr>
          <p:cNvPr id="45" name="Straight Arrow Connector 44"/>
          <p:cNvCxnSpPr/>
          <p:nvPr/>
        </p:nvCxnSpPr>
        <p:spPr bwMode="auto">
          <a:xfrm rot="10800000">
            <a:off x="4114800" y="4610100"/>
            <a:ext cx="526988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17988" y="4462046"/>
            <a:ext cx="3610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New key encountered: hold in memory</a:t>
            </a:r>
          </a:p>
        </p:txBody>
      </p:sp>
      <p:cxnSp>
        <p:nvCxnSpPr>
          <p:cNvPr id="47" name="Straight Arrow Connector 46"/>
          <p:cNvCxnSpPr/>
          <p:nvPr/>
        </p:nvCxnSpPr>
        <p:spPr bwMode="auto">
          <a:xfrm rot="5400000">
            <a:off x="4178970" y="5410994"/>
            <a:ext cx="912812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717988" y="4843046"/>
            <a:ext cx="311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Cross with records from other set</a:t>
            </a:r>
          </a:p>
        </p:txBody>
      </p:sp>
    </p:spTree>
    <p:extLst>
      <p:ext uri="{BB962C8B-B14F-4D97-AF65-F5344CB8AC3E}">
        <p14:creationId xmlns:p14="http://schemas.microsoft.com/office/powerpoint/2010/main" val="69637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8" grpId="0"/>
      <p:bldP spid="9" grpId="0"/>
      <p:bldP spid="10" grpId="0"/>
      <p:bldP spid="11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/>
      <p:bldP spid="29" grpId="0" animBg="1"/>
      <p:bldP spid="40" grpId="0"/>
      <p:bldP spid="44" grpId="0"/>
      <p:bldP spid="46" grpId="0"/>
      <p:bldP spid="48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Reduce-side Join: many-to-many</a:t>
            </a:r>
          </a:p>
        </p:txBody>
      </p:sp>
      <p:sp>
        <p:nvSpPr>
          <p:cNvPr id="3" name="Rectangle 2"/>
          <p:cNvSpPr/>
          <p:nvPr/>
        </p:nvSpPr>
        <p:spPr>
          <a:xfrm>
            <a:off x="2673412" y="22860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26116" y="22860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95400" y="22860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667000" y="38862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190500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keys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12751" y="1905000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kern="0" dirty="0">
                <a:latin typeface="Gill Sans"/>
                <a:cs typeface="Gill Sans"/>
              </a:rPr>
              <a:t>values</a:t>
            </a:r>
            <a:endParaRPr lang="en-US" kern="0" baseline="-25000" dirty="0">
              <a:latin typeface="Gill Sans"/>
              <a:cs typeface="Gill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3400" y="1219200"/>
            <a:ext cx="1678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2400" kern="0" dirty="0">
                <a:latin typeface="Gill Sans"/>
                <a:cs typeface="Gill Sans"/>
              </a:rPr>
              <a:t>In reducer…</a:t>
            </a:r>
            <a:endParaRPr lang="en-US" sz="2400" kern="0" baseline="-25000" dirty="0">
              <a:latin typeface="Gill Sans"/>
              <a:cs typeface="Gill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667000" y="44196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26116" y="38862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5400" y="38862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26116" y="44196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95400" y="44196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726116" y="49530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S</a:t>
            </a:r>
            <a:r>
              <a:rPr lang="en-US" b="0" kern="0" baseline="-25000" dirty="0">
                <a:latin typeface="Gill Sans"/>
                <a:cs typeface="Gill Sans"/>
              </a:rPr>
              <a:t>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95400" y="49530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67000" y="4953000"/>
            <a:ext cx="1371600" cy="381000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24400" y="2861846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Hold in memory</a:t>
            </a:r>
          </a:p>
        </p:txBody>
      </p:sp>
      <p:cxnSp>
        <p:nvCxnSpPr>
          <p:cNvPr id="42" name="Straight Arrow Connector 41"/>
          <p:cNvCxnSpPr/>
          <p:nvPr/>
        </p:nvCxnSpPr>
        <p:spPr bwMode="auto">
          <a:xfrm rot="16200000" flipH="1">
            <a:off x="3775900" y="4683888"/>
            <a:ext cx="1446212" cy="6412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724400" y="3852446"/>
            <a:ext cx="311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latin typeface="Gill Sans"/>
                <a:cs typeface="Gill Sans"/>
              </a:rPr>
              <a:t>Cross with records from other 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73412" y="28194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726116" y="28194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95400" y="28194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673412" y="3352800"/>
            <a:ext cx="1371600" cy="381000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26116" y="335280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b="0" kern="0" dirty="0">
                <a:latin typeface="Gill Sans"/>
                <a:cs typeface="Gill Sans"/>
              </a:rPr>
              <a:t>R</a:t>
            </a:r>
            <a:r>
              <a:rPr lang="en-US" b="0" kern="0" baseline="-25000" dirty="0">
                <a:latin typeface="Gill Sans"/>
                <a:cs typeface="Gill Sans"/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95400" y="3352800"/>
            <a:ext cx="381000" cy="381000"/>
          </a:xfrm>
          <a:prstGeom prst="rect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-25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ill Sans"/>
              <a:ea typeface="+mn-ea"/>
              <a:cs typeface="Gill Sans"/>
            </a:endParaRPr>
          </a:p>
        </p:txBody>
      </p:sp>
      <p:sp>
        <p:nvSpPr>
          <p:cNvPr id="51" name="Right Brace 50"/>
          <p:cNvSpPr/>
          <p:nvPr/>
        </p:nvSpPr>
        <p:spPr bwMode="auto">
          <a:xfrm>
            <a:off x="4267200" y="2286000"/>
            <a:ext cx="381000" cy="1447800"/>
          </a:xfrm>
          <a:prstGeom prst="rightBrace">
            <a:avLst>
              <a:gd name="adj1" fmla="val 67715"/>
              <a:gd name="adj2" fmla="val 50000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ill Sans"/>
              <a:cs typeface="Gill Sans"/>
            </a:endParaRPr>
          </a:p>
        </p:txBody>
      </p:sp>
      <p:sp>
        <p:nvSpPr>
          <p:cNvPr id="52" name="TextBox 51"/>
          <p:cNvSpPr txBox="1"/>
          <p:nvPr/>
        </p:nvSpPr>
        <p:spPr>
          <a:xfrm rot="20989502">
            <a:off x="3570072" y="5582721"/>
            <a:ext cx="31720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What’s the problem?</a:t>
            </a:r>
          </a:p>
        </p:txBody>
      </p:sp>
    </p:spTree>
    <p:extLst>
      <p:ext uri="{BB962C8B-B14F-4D97-AF65-F5344CB8AC3E}">
        <p14:creationId xmlns:p14="http://schemas.microsoft.com/office/powerpoint/2010/main" val="345142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8" grpId="0"/>
      <p:bldP spid="9" grpId="0"/>
      <p:bldP spid="10" grpId="0"/>
      <p:bldP spid="11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40" grpId="0"/>
      <p:bldP spid="44" grpId="0"/>
      <p:bldP spid="35" grpId="0" animBg="1"/>
      <p:bldP spid="36" grpId="0"/>
      <p:bldP spid="37" grpId="0" animBg="1"/>
      <p:bldP spid="43" grpId="0" animBg="1"/>
      <p:bldP spid="49" grpId="0"/>
      <p:bldP spid="50" grpId="0" animBg="1"/>
      <p:bldP spid="51" grpId="0" animBg="1"/>
      <p:bldP spid="52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Map-side Join: Basic Idea</a:t>
            </a:r>
          </a:p>
        </p:txBody>
      </p:sp>
      <p:sp>
        <p:nvSpPr>
          <p:cNvPr id="35" name="Content Placeholder 3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Assume two datasets are sorted by the join key: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63688" y="2348880"/>
            <a:ext cx="2286000" cy="381000"/>
            <a:chOff x="1219200" y="1143000"/>
            <a:chExt cx="2286000" cy="381000"/>
          </a:xfrm>
        </p:grpSpPr>
        <p:sp>
          <p:nvSpPr>
            <p:cNvPr id="4" name="Rectangle 3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19200" y="1143000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1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763688" y="2882280"/>
            <a:ext cx="2286000" cy="381000"/>
            <a:chOff x="1219200" y="1143000"/>
            <a:chExt cx="2286000" cy="381000"/>
          </a:xfrm>
        </p:grpSpPr>
        <p:sp>
          <p:nvSpPr>
            <p:cNvPr id="8" name="Rectangle 7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19200" y="1143000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763688" y="3949080"/>
            <a:ext cx="2286000" cy="381000"/>
            <a:chOff x="1219200" y="1143000"/>
            <a:chExt cx="2286000" cy="381000"/>
          </a:xfrm>
        </p:grpSpPr>
        <p:sp>
          <p:nvSpPr>
            <p:cNvPr id="12" name="Rectangle 11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19200" y="1143000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3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763688" y="3415680"/>
            <a:ext cx="2286000" cy="381000"/>
            <a:chOff x="1219200" y="1143000"/>
            <a:chExt cx="2286000" cy="381000"/>
          </a:xfrm>
        </p:grpSpPr>
        <p:sp>
          <p:nvSpPr>
            <p:cNvPr id="16" name="Rectangle 15"/>
            <p:cNvSpPr/>
            <p:nvPr/>
          </p:nvSpPr>
          <p:spPr>
            <a:xfrm>
              <a:off x="1676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219200" y="1143000"/>
              <a:ext cx="4010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R</a:t>
              </a:r>
              <a:r>
                <a:rPr lang="en-US" b="0" kern="0" baseline="-25000" dirty="0">
                  <a:latin typeface="Gill Sans"/>
                  <a:cs typeface="Gill Sans"/>
                </a:rPr>
                <a:t>4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659288" y="3949080"/>
            <a:ext cx="2266764" cy="381000"/>
            <a:chOff x="3124200" y="1143000"/>
            <a:chExt cx="2266764" cy="381000"/>
          </a:xfrm>
        </p:grpSpPr>
        <p:sp>
          <p:nvSpPr>
            <p:cNvPr id="20" name="Rectangle 19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013938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1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659288" y="2348880"/>
            <a:ext cx="2266764" cy="381000"/>
            <a:chOff x="3124200" y="1143000"/>
            <a:chExt cx="2266764" cy="381000"/>
          </a:xfrm>
        </p:grpSpPr>
        <p:sp>
          <p:nvSpPr>
            <p:cNvPr id="24" name="Rectangle 23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013938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2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659288" y="3415680"/>
            <a:ext cx="2266764" cy="381000"/>
            <a:chOff x="3124200" y="1143000"/>
            <a:chExt cx="2266764" cy="381000"/>
          </a:xfrm>
        </p:grpSpPr>
        <p:sp>
          <p:nvSpPr>
            <p:cNvPr id="28" name="Rectangle 27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13938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3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659288" y="2882280"/>
            <a:ext cx="2266764" cy="381000"/>
            <a:chOff x="3124200" y="1143000"/>
            <a:chExt cx="2266764" cy="381000"/>
          </a:xfrm>
        </p:grpSpPr>
        <p:sp>
          <p:nvSpPr>
            <p:cNvPr id="32" name="Rectangle 31"/>
            <p:cNvSpPr/>
            <p:nvPr/>
          </p:nvSpPr>
          <p:spPr>
            <a:xfrm>
              <a:off x="3581400" y="1143000"/>
              <a:ext cx="1371600" cy="381000"/>
            </a:xfrm>
            <a:prstGeom prst="rect">
              <a:avLst/>
            </a:prstGeom>
            <a:ln/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013938" y="1143000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b="0" kern="0" dirty="0">
                  <a:latin typeface="Gill Sans"/>
                  <a:cs typeface="Gill Sans"/>
                </a:rPr>
                <a:t>S</a:t>
              </a:r>
              <a:r>
                <a:rPr lang="en-US" b="0" kern="0" baseline="-25000" dirty="0">
                  <a:latin typeface="Gill Sans"/>
                  <a:cs typeface="Gill Sans"/>
                </a:rPr>
                <a:t>4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24200" y="1143000"/>
              <a:ext cx="381000" cy="381000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-2500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ill Sans"/>
                <a:ea typeface="+mn-ea"/>
                <a:cs typeface="Gill Sans"/>
              </a:endParaRPr>
            </a:p>
          </p:txBody>
        </p:sp>
      </p:grpSp>
      <p:cxnSp>
        <p:nvCxnSpPr>
          <p:cNvPr id="37" name="Straight Arrow Connector 36"/>
          <p:cNvCxnSpPr/>
          <p:nvPr/>
        </p:nvCxnSpPr>
        <p:spPr bwMode="auto">
          <a:xfrm rot="5400000">
            <a:off x="2943993" y="3757786"/>
            <a:ext cx="2819400" cy="1588"/>
          </a:xfrm>
          <a:prstGeom prst="straightConnector1">
            <a:avLst/>
          </a:prstGeom>
          <a:ln>
            <a:headEnd type="none" w="med" len="med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687488" y="5244480"/>
            <a:ext cx="5715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0" dirty="0">
                <a:latin typeface="Gill Sans"/>
                <a:cs typeface="Gill Sans"/>
              </a:rPr>
              <a:t>A sequential scan through both datasets to join</a:t>
            </a:r>
            <a:br>
              <a:rPr lang="en-US" sz="2000" b="0" dirty="0">
                <a:latin typeface="Gill Sans"/>
                <a:cs typeface="Gill Sans"/>
              </a:rPr>
            </a:br>
            <a:r>
              <a:rPr lang="en-US" sz="2000" b="0" dirty="0">
                <a:latin typeface="Gill Sans"/>
                <a:cs typeface="Gill Sans"/>
              </a:rPr>
              <a:t>(called a “merge join” in database terminology)</a:t>
            </a:r>
          </a:p>
        </p:txBody>
      </p:sp>
    </p:spTree>
    <p:extLst>
      <p:ext uri="{BB962C8B-B14F-4D97-AF65-F5344CB8AC3E}">
        <p14:creationId xmlns:p14="http://schemas.microsoft.com/office/powerpoint/2010/main" val="405336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Map-Side Join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Map-side Join</a:t>
            </a:r>
          </a:p>
          <a:p>
            <a:pPr lvl="1"/>
            <a:r>
              <a:rPr lang="en-US" altLang="zh-TW" dirty="0"/>
              <a:t>Scanning through both datasets simultaneously (merge join) in the mapper</a:t>
            </a:r>
          </a:p>
          <a:p>
            <a:pPr lvl="2"/>
            <a:r>
              <a:rPr lang="en-US" altLang="zh-TW" dirty="0"/>
              <a:t>Both partitioned and sorted in the same manner by the join key</a:t>
            </a:r>
          </a:p>
          <a:p>
            <a:pPr lvl="2"/>
            <a:r>
              <a:rPr lang="en-US" altLang="zh-TW" dirty="0"/>
              <a:t>Map over the larger dataset, and inside the mapper read the corresponding part of the other dataset to perform the merge join</a:t>
            </a:r>
          </a:p>
          <a:p>
            <a:pPr lvl="1"/>
            <a:r>
              <a:rPr lang="en-US" altLang="zh-TW" dirty="0"/>
              <a:t>Far more efficient than reduce-side join</a:t>
            </a:r>
          </a:p>
          <a:p>
            <a:pPr lvl="1"/>
            <a:r>
              <a:rPr lang="en-US" altLang="zh-TW" dirty="0"/>
              <a:t>Restriction: it depends on consistent partitioning and sorting of keys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1742484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Map-side Join: Parallel Scans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datasets are sorted by join key, join can be accomplished by a scan over both datasets</a:t>
            </a:r>
          </a:p>
          <a:p>
            <a:r>
              <a:rPr lang="en-US" dirty="0"/>
              <a:t>How can we accomplish this in parallel?</a:t>
            </a:r>
          </a:p>
          <a:p>
            <a:pPr lvl="1"/>
            <a:r>
              <a:rPr lang="en-US" dirty="0"/>
              <a:t>Partition and sort both datasets in the same manner</a:t>
            </a:r>
          </a:p>
          <a:p>
            <a:r>
              <a:rPr lang="en-US" dirty="0"/>
              <a:t>In MapReduce:</a:t>
            </a:r>
          </a:p>
          <a:p>
            <a:pPr lvl="1"/>
            <a:r>
              <a:rPr lang="en-US" dirty="0"/>
              <a:t>Map over one dataset, read from other corresponding partition</a:t>
            </a:r>
          </a:p>
          <a:p>
            <a:pPr lvl="1"/>
            <a:r>
              <a:rPr lang="en-US" dirty="0"/>
              <a:t>No reducers necessary (unless to repartition or resort)</a:t>
            </a:r>
          </a:p>
          <a:p>
            <a:r>
              <a:rPr lang="en-US" dirty="0"/>
              <a:t>Consistently partitioned datasets: realistic to expect?</a:t>
            </a:r>
          </a:p>
        </p:txBody>
      </p:sp>
    </p:spTree>
    <p:extLst>
      <p:ext uri="{BB962C8B-B14F-4D97-AF65-F5344CB8AC3E}">
        <p14:creationId xmlns:p14="http://schemas.microsoft.com/office/powerpoint/2010/main" val="37429192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In-Memory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Basic idea: load one dataset into memory, stream over other dataset</a:t>
            </a:r>
          </a:p>
          <a:p>
            <a:pPr lvl="1"/>
            <a:r>
              <a:rPr lang="en-US" dirty="0"/>
              <a:t>Works if R &lt;&lt; S and R fits into memory</a:t>
            </a:r>
          </a:p>
          <a:p>
            <a:pPr lvl="1"/>
            <a:r>
              <a:rPr lang="en-US" dirty="0"/>
              <a:t>Called a “hash join” in database terminology</a:t>
            </a:r>
          </a:p>
          <a:p>
            <a:r>
              <a:rPr lang="en-US" dirty="0"/>
              <a:t>MapReduce implementation</a:t>
            </a:r>
          </a:p>
          <a:p>
            <a:pPr lvl="1"/>
            <a:r>
              <a:rPr lang="en-US" dirty="0"/>
              <a:t>Distribute R to all nodes</a:t>
            </a:r>
          </a:p>
          <a:p>
            <a:pPr lvl="1"/>
            <a:r>
              <a:rPr lang="en-US" dirty="0"/>
              <a:t>Map over S, each mapper loads R in memory, hashed by join key</a:t>
            </a:r>
          </a:p>
          <a:p>
            <a:pPr lvl="1"/>
            <a:r>
              <a:rPr lang="en-US" dirty="0"/>
              <a:t>For every </a:t>
            </a:r>
            <a:r>
              <a:rPr lang="en-US" dirty="0" err="1"/>
              <a:t>tuple</a:t>
            </a:r>
            <a:r>
              <a:rPr lang="en-US" dirty="0"/>
              <a:t> in S, look up join key in R</a:t>
            </a:r>
          </a:p>
          <a:p>
            <a:pPr lvl="1"/>
            <a:r>
              <a:rPr lang="en-US" dirty="0"/>
              <a:t>No reducers, unless for regrouping or resorting </a:t>
            </a:r>
            <a:r>
              <a:rPr lang="en-US" dirty="0" err="1"/>
              <a:t>tuples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33475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In-Memory Join: 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Striped variant:</a:t>
            </a:r>
          </a:p>
          <a:p>
            <a:pPr lvl="1"/>
            <a:r>
              <a:rPr lang="en-US" dirty="0"/>
              <a:t>R too big to fit into memory? </a:t>
            </a:r>
          </a:p>
          <a:p>
            <a:pPr lvl="1"/>
            <a:r>
              <a:rPr lang="en-US" dirty="0"/>
              <a:t>Divide R into R</a:t>
            </a:r>
            <a:r>
              <a:rPr lang="en-US" baseline="-25000" dirty="0"/>
              <a:t>1</a:t>
            </a:r>
            <a:r>
              <a:rPr lang="en-US" dirty="0"/>
              <a:t>, R</a:t>
            </a:r>
            <a:r>
              <a:rPr lang="en-US" baseline="-25000" dirty="0"/>
              <a:t>2</a:t>
            </a:r>
            <a:r>
              <a:rPr lang="en-US" dirty="0"/>
              <a:t>, R</a:t>
            </a:r>
            <a:r>
              <a:rPr lang="en-US" baseline="-25000" dirty="0"/>
              <a:t>3</a:t>
            </a:r>
            <a:r>
              <a:rPr lang="en-US" dirty="0"/>
              <a:t>, … </a:t>
            </a:r>
            <a:r>
              <a:rPr lang="en-US" dirty="0" err="1"/>
              <a:t>s.t</a:t>
            </a:r>
            <a:r>
              <a:rPr lang="en-US" dirty="0"/>
              <a:t>. each </a:t>
            </a:r>
            <a:r>
              <a:rPr lang="en-US" dirty="0" err="1"/>
              <a:t>R</a:t>
            </a:r>
            <a:r>
              <a:rPr lang="en-US" i="1" baseline="-25000" dirty="0" err="1"/>
              <a:t>n</a:t>
            </a:r>
            <a:r>
              <a:rPr lang="en-US" dirty="0"/>
              <a:t> fits into memory</a:t>
            </a:r>
          </a:p>
          <a:p>
            <a:pPr lvl="1"/>
            <a:r>
              <a:rPr lang="en-US" dirty="0"/>
              <a:t>Perform in-memory join: </a:t>
            </a:r>
            <a:r>
              <a:rPr lang="en-US" dirty="0">
                <a:sym typeface="Symbol"/>
              </a:rPr>
              <a:t></a:t>
            </a:r>
            <a:r>
              <a:rPr lang="en-US" i="1" dirty="0">
                <a:sym typeface="Symbol"/>
              </a:rPr>
              <a:t>n</a:t>
            </a:r>
            <a:r>
              <a:rPr lang="en-US" dirty="0">
                <a:sym typeface="Symbol"/>
              </a:rPr>
              <a:t>, </a:t>
            </a:r>
            <a:r>
              <a:rPr lang="en-US" dirty="0" err="1"/>
              <a:t>R</a:t>
            </a:r>
            <a:r>
              <a:rPr lang="en-US" i="1" baseline="-25000" dirty="0" err="1"/>
              <a:t>n</a:t>
            </a:r>
            <a:r>
              <a:rPr lang="en-US" dirty="0"/>
              <a:t> ⋈ S</a:t>
            </a:r>
          </a:p>
          <a:p>
            <a:pPr lvl="1"/>
            <a:r>
              <a:rPr lang="en-US" dirty="0"/>
              <a:t>Take the union of all join results</a:t>
            </a:r>
          </a:p>
          <a:p>
            <a:r>
              <a:rPr lang="en-US" dirty="0" err="1"/>
              <a:t>Memcached</a:t>
            </a:r>
            <a:r>
              <a:rPr lang="en-US" dirty="0"/>
              <a:t> join:</a:t>
            </a:r>
          </a:p>
          <a:p>
            <a:pPr lvl="1"/>
            <a:r>
              <a:rPr lang="en-US" dirty="0"/>
              <a:t>Load R into </a:t>
            </a:r>
            <a:r>
              <a:rPr lang="en-US" i="1" dirty="0" err="1"/>
              <a:t>memcached</a:t>
            </a:r>
            <a:r>
              <a:rPr lang="en-US" dirty="0"/>
              <a:t>, a distributed key-value store</a:t>
            </a:r>
          </a:p>
          <a:p>
            <a:pPr lvl="1"/>
            <a:r>
              <a:rPr lang="en-US" dirty="0"/>
              <a:t>Replace in-memory hash lookup with </a:t>
            </a:r>
            <a:r>
              <a:rPr lang="en-US" dirty="0" err="1"/>
              <a:t>memcached</a:t>
            </a:r>
            <a:r>
              <a:rPr lang="en-US" dirty="0"/>
              <a:t> lookup</a:t>
            </a:r>
          </a:p>
        </p:txBody>
      </p:sp>
    </p:spTree>
    <p:extLst>
      <p:ext uri="{BB962C8B-B14F-4D97-AF65-F5344CB8AC3E}">
        <p14:creationId xmlns:p14="http://schemas.microsoft.com/office/powerpoint/2010/main" val="53229740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Memcached</a:t>
            </a:r>
            <a:endParaRPr lang="en-US" dirty="0"/>
          </a:p>
        </p:txBody>
      </p:sp>
      <p:pic>
        <p:nvPicPr>
          <p:cNvPr id="4" name="Picture 3" descr="facebook_arch_x600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435975"/>
            <a:ext cx="5684837" cy="321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1509955" y="5525869"/>
            <a:ext cx="589549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800" b="1" dirty="0">
                <a:latin typeface="Gill Sans"/>
                <a:cs typeface="Gill Sans"/>
              </a:rPr>
              <a:t>Database layer:</a:t>
            </a:r>
            <a:r>
              <a:rPr lang="en-US" sz="1800" dirty="0">
                <a:latin typeface="Gill Sans"/>
                <a:cs typeface="Gill Sans"/>
              </a:rPr>
              <a:t> </a:t>
            </a:r>
            <a:r>
              <a:rPr lang="en-US" sz="1800" b="0" dirty="0">
                <a:latin typeface="Gill Sans"/>
                <a:cs typeface="Gill Sans"/>
              </a:rPr>
              <a:t>800 eight-core Linux servers running </a:t>
            </a:r>
            <a:r>
              <a:rPr lang="en-US" sz="1800" b="0" dirty="0" err="1">
                <a:latin typeface="Gill Sans"/>
                <a:cs typeface="Gill Sans"/>
              </a:rPr>
              <a:t>MySQL</a:t>
            </a:r>
            <a:r>
              <a:rPr lang="en-US" sz="1800" b="0" dirty="0">
                <a:latin typeface="Gill Sans"/>
                <a:cs typeface="Gill Sans"/>
              </a:rPr>
              <a:t> (40 TB user data)</a:t>
            </a:r>
          </a:p>
        </p:txBody>
      </p:sp>
      <p:sp>
        <p:nvSpPr>
          <p:cNvPr id="6" name="TextBox 6"/>
          <p:cNvSpPr txBox="1">
            <a:spLocks noChangeArrowheads="1"/>
          </p:cNvSpPr>
          <p:nvPr/>
        </p:nvSpPr>
        <p:spPr bwMode="auto">
          <a:xfrm>
            <a:off x="1508126" y="4879757"/>
            <a:ext cx="5929312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800" b="1" dirty="0">
                <a:latin typeface="Gill Sans"/>
                <a:cs typeface="Gill Sans"/>
              </a:rPr>
              <a:t>Caching servers:</a:t>
            </a:r>
            <a:r>
              <a:rPr lang="en-US" sz="1800" dirty="0">
                <a:latin typeface="Gill Sans"/>
                <a:cs typeface="Gill Sans"/>
              </a:rPr>
              <a:t> </a:t>
            </a:r>
            <a:r>
              <a:rPr lang="en-US" sz="1800" b="0" dirty="0">
                <a:latin typeface="Gill Sans"/>
                <a:cs typeface="Gill Sans"/>
              </a:rPr>
              <a:t>15 million requests per second, 95% handled by </a:t>
            </a:r>
            <a:r>
              <a:rPr lang="en-US" sz="1800" b="0" dirty="0" err="1">
                <a:latin typeface="Gill Sans"/>
                <a:cs typeface="Gill Sans"/>
              </a:rPr>
              <a:t>memcache</a:t>
            </a:r>
            <a:r>
              <a:rPr lang="en-US" sz="1800" b="0" dirty="0">
                <a:latin typeface="Gill Sans"/>
                <a:cs typeface="Gill Sans"/>
              </a:rPr>
              <a:t> (15 TB of RAM)</a:t>
            </a:r>
          </a:p>
        </p:txBody>
      </p:sp>
      <p:sp>
        <p:nvSpPr>
          <p:cNvPr id="7" name="TextBox 3"/>
          <p:cNvSpPr txBox="1">
            <a:spLocks noChangeArrowheads="1"/>
          </p:cNvSpPr>
          <p:nvPr/>
        </p:nvSpPr>
        <p:spPr bwMode="auto">
          <a:xfrm>
            <a:off x="0" y="6611938"/>
            <a:ext cx="32766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chemeClr val="bg2"/>
                </a:solidFill>
              </a:rPr>
              <a:t>Source: Technology Review (July/August, 2008)</a:t>
            </a:r>
          </a:p>
        </p:txBody>
      </p:sp>
      <p:sp>
        <p:nvSpPr>
          <p:cNvPr id="8" name="TextBox 6"/>
          <p:cNvSpPr txBox="1">
            <a:spLocks noChangeArrowheads="1"/>
          </p:cNvSpPr>
          <p:nvPr/>
        </p:nvSpPr>
        <p:spPr bwMode="auto">
          <a:xfrm>
            <a:off x="1447800" y="1143000"/>
            <a:ext cx="52879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800" b="1" dirty="0">
                <a:latin typeface="Gill Sans"/>
                <a:cs typeface="Gill Sans"/>
              </a:rPr>
              <a:t>Circa 2008 Architecture</a:t>
            </a:r>
            <a:endParaRPr lang="en-US" sz="1800" b="0" dirty="0">
              <a:latin typeface="Gill Sans"/>
              <a:cs typeface="Gill Sans"/>
            </a:endParaRPr>
          </a:p>
        </p:txBody>
      </p:sp>
    </p:spTree>
    <p:extLst>
      <p:ext uri="{BB962C8B-B14F-4D97-AF65-F5344CB8AC3E}">
        <p14:creationId xmlns:p14="http://schemas.microsoft.com/office/powerpoint/2010/main" val="355602272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Memcached</a:t>
            </a:r>
            <a:r>
              <a:rPr lang="en-US" dirty="0"/>
              <a:t>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Memcached</a:t>
            </a:r>
            <a:r>
              <a:rPr lang="en-US" dirty="0"/>
              <a:t> join:</a:t>
            </a:r>
          </a:p>
          <a:p>
            <a:pPr lvl="1"/>
            <a:r>
              <a:rPr lang="en-US" dirty="0"/>
              <a:t>Load R into </a:t>
            </a:r>
            <a:r>
              <a:rPr lang="en-US" dirty="0" err="1"/>
              <a:t>memcached</a:t>
            </a:r>
            <a:endParaRPr lang="en-US" dirty="0"/>
          </a:p>
          <a:p>
            <a:pPr lvl="1"/>
            <a:r>
              <a:rPr lang="en-US" dirty="0"/>
              <a:t>Replace in-memory hash lookup with </a:t>
            </a:r>
            <a:r>
              <a:rPr lang="en-US" dirty="0" err="1"/>
              <a:t>memcached</a:t>
            </a:r>
            <a:r>
              <a:rPr lang="en-US" dirty="0"/>
              <a:t> lookup</a:t>
            </a:r>
          </a:p>
          <a:p>
            <a:r>
              <a:rPr lang="en-US" dirty="0"/>
              <a:t>Capacity and scalability?</a:t>
            </a:r>
          </a:p>
          <a:p>
            <a:pPr lvl="1"/>
            <a:r>
              <a:rPr lang="en-US" dirty="0" err="1"/>
              <a:t>Memcached</a:t>
            </a:r>
            <a:r>
              <a:rPr lang="en-US" dirty="0"/>
              <a:t> capacity &gt;&gt; RAM of individual node</a:t>
            </a:r>
          </a:p>
          <a:p>
            <a:pPr lvl="1"/>
            <a:r>
              <a:rPr lang="en-US" dirty="0" err="1"/>
              <a:t>Memcached</a:t>
            </a:r>
            <a:r>
              <a:rPr lang="en-US" dirty="0"/>
              <a:t> scales out with cluster</a:t>
            </a:r>
          </a:p>
          <a:p>
            <a:r>
              <a:rPr lang="en-US" dirty="0"/>
              <a:t>Latency?</a:t>
            </a:r>
          </a:p>
          <a:p>
            <a:pPr lvl="1"/>
            <a:r>
              <a:rPr lang="en-US" dirty="0" err="1"/>
              <a:t>Memcached</a:t>
            </a:r>
            <a:r>
              <a:rPr lang="en-US" dirty="0"/>
              <a:t> is fast (basically, speed of network)</a:t>
            </a:r>
          </a:p>
          <a:p>
            <a:pPr lvl="1"/>
            <a:r>
              <a:rPr lang="en-US" dirty="0"/>
              <a:t>Batch requests to amortize latency costs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0" y="6611938"/>
            <a:ext cx="3276600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chemeClr val="bg2"/>
                </a:solidFill>
              </a:rPr>
              <a:t>Source: See tech report by Lin et al. (2009)</a:t>
            </a:r>
          </a:p>
        </p:txBody>
      </p:sp>
    </p:spTree>
    <p:extLst>
      <p:ext uri="{BB962C8B-B14F-4D97-AF65-F5344CB8AC3E}">
        <p14:creationId xmlns:p14="http://schemas.microsoft.com/office/powerpoint/2010/main" val="176584233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join to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In-memory join &gt; map-side join &gt; reduce-side join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Limitations of each?</a:t>
            </a:r>
          </a:p>
          <a:p>
            <a:pPr lvl="1"/>
            <a:r>
              <a:rPr lang="en-US" dirty="0"/>
              <a:t>In-memory join: memory</a:t>
            </a:r>
          </a:p>
          <a:p>
            <a:pPr lvl="1"/>
            <a:r>
              <a:rPr lang="en-US" dirty="0"/>
              <a:t>Map-side join: sort order and partitioning</a:t>
            </a:r>
          </a:p>
          <a:p>
            <a:pPr lvl="1"/>
            <a:r>
              <a:rPr lang="en-US" dirty="0"/>
              <a:t>Reduce-side join: general purpose</a:t>
            </a:r>
          </a:p>
        </p:txBody>
      </p:sp>
    </p:spTree>
    <p:extLst>
      <p:ext uri="{BB962C8B-B14F-4D97-AF65-F5344CB8AC3E}">
        <p14:creationId xmlns:p14="http://schemas.microsoft.com/office/powerpoint/2010/main" val="18597010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Processing Relational Data: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MapReduce algorithms for processing relational data:</a:t>
            </a:r>
          </a:p>
          <a:p>
            <a:pPr lvl="1"/>
            <a:r>
              <a:rPr lang="en-US" dirty="0"/>
              <a:t>Group by, sorting, partitioning are handled automatically by shuffle/sort in MapReduce</a:t>
            </a:r>
          </a:p>
          <a:p>
            <a:pPr lvl="1"/>
            <a:r>
              <a:rPr lang="en-US" dirty="0"/>
              <a:t>Selection, projection, and other computations (e.g., aggregation), are performed either in mapper or reducer</a:t>
            </a:r>
          </a:p>
          <a:p>
            <a:pPr lvl="1"/>
            <a:r>
              <a:rPr lang="en-US" dirty="0"/>
              <a:t>Multiple strategies for relational joins</a:t>
            </a:r>
          </a:p>
          <a:p>
            <a:r>
              <a:rPr lang="en-US" dirty="0"/>
              <a:t>Complex operations require multiple MapReduce jobs</a:t>
            </a:r>
          </a:p>
          <a:p>
            <a:pPr lvl="1"/>
            <a:r>
              <a:rPr lang="en-US" dirty="0"/>
              <a:t>Example: top ten URLs in terms of average time spent</a:t>
            </a:r>
          </a:p>
          <a:p>
            <a:pPr lvl="1"/>
            <a:r>
              <a:rPr lang="en-US" dirty="0"/>
              <a:t>Opportunities for automatic optimization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20307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Summary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Design patterns:</a:t>
            </a:r>
          </a:p>
          <a:p>
            <a:pPr lvl="1"/>
            <a:r>
              <a:rPr lang="en-US" altLang="zh-TW" dirty="0"/>
              <a:t>In-mapper combining: local aggregation</a:t>
            </a:r>
          </a:p>
          <a:p>
            <a:pPr lvl="1"/>
            <a:r>
              <a:rPr lang="en-US" altLang="zh-TW" dirty="0"/>
              <a:t>Pairs and stripes</a:t>
            </a:r>
          </a:p>
          <a:p>
            <a:pPr lvl="1"/>
            <a:r>
              <a:rPr lang="en-US" altLang="zh-TW" dirty="0"/>
              <a:t>Order inversion</a:t>
            </a:r>
          </a:p>
          <a:p>
            <a:pPr lvl="1"/>
            <a:r>
              <a:rPr lang="en-US" altLang="zh-TW" dirty="0"/>
              <a:t>Value-to-key conversion: secondary sort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417752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Limitations of MapReduce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dirty="0"/>
              <a:t>Many examples of algorithms depend crucially on the existence of shared global state during processing -&gt; difficult to implement in MapReduce</a:t>
            </a:r>
          </a:p>
          <a:p>
            <a:pPr lvl="1"/>
            <a:r>
              <a:rPr lang="en-US" altLang="zh-TW" dirty="0"/>
              <a:t>Online learning</a:t>
            </a:r>
          </a:p>
          <a:p>
            <a:pPr lvl="2"/>
            <a:r>
              <a:rPr lang="en-US" altLang="zh-TW" dirty="0"/>
              <a:t>The model parameters in a learning algorithm can be viewed as shared global state</a:t>
            </a:r>
          </a:p>
          <a:p>
            <a:pPr lvl="3"/>
            <a:r>
              <a:rPr lang="en-US" altLang="zh-TW" dirty="0"/>
              <a:t>The framework must be altered to support faster processing of smaller datasets</a:t>
            </a:r>
          </a:p>
          <a:p>
            <a:pPr lvl="2"/>
            <a:r>
              <a:rPr lang="en-US" altLang="zh-TW" dirty="0"/>
              <a:t>MapReduce was specially optimized for “batch” operations over large amounts of data</a:t>
            </a:r>
          </a:p>
          <a:p>
            <a:pPr lvl="1"/>
            <a:r>
              <a:rPr lang="en-US" altLang="zh-TW" dirty="0"/>
              <a:t>Monte Carlo simulations</a:t>
            </a:r>
          </a:p>
        </p:txBody>
      </p:sp>
    </p:spTree>
    <p:extLst>
      <p:ext uri="{BB962C8B-B14F-4D97-AF65-F5344CB8AC3E}">
        <p14:creationId xmlns:p14="http://schemas.microsoft.com/office/powerpoint/2010/main" val="5609281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Possible solution: distributed </a:t>
            </a:r>
            <a:r>
              <a:rPr lang="en-US" altLang="zh-TW" dirty="0" err="1"/>
              <a:t>datastore</a:t>
            </a:r>
            <a:r>
              <a:rPr lang="en-US" altLang="zh-TW" dirty="0"/>
              <a:t> capable of maintaining global state</a:t>
            </a:r>
          </a:p>
          <a:p>
            <a:pPr lvl="1"/>
            <a:r>
              <a:rPr lang="en-US" altLang="zh-TW" dirty="0"/>
              <a:t>Google’s </a:t>
            </a:r>
            <a:r>
              <a:rPr lang="en-US" altLang="zh-TW" dirty="0" err="1"/>
              <a:t>BigTable</a:t>
            </a:r>
            <a:r>
              <a:rPr lang="en-US" altLang="zh-TW" dirty="0"/>
              <a:t> (or </a:t>
            </a:r>
            <a:r>
              <a:rPr lang="en-US" altLang="zh-TW" dirty="0" err="1"/>
              <a:t>Hbase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/>
              <a:t>Amazon’s Dynamo (or Cassandra)</a:t>
            </a:r>
          </a:p>
          <a:p>
            <a:r>
              <a:rPr lang="en-US" altLang="zh-TW" dirty="0"/>
              <a:t>Alternative computing paradigms</a:t>
            </a:r>
          </a:p>
          <a:p>
            <a:pPr lvl="1"/>
            <a:r>
              <a:rPr lang="en-US" altLang="zh-TW" dirty="0"/>
              <a:t>Dryad: arbitrary dataflow graphs</a:t>
            </a:r>
          </a:p>
          <a:p>
            <a:pPr lvl="1"/>
            <a:r>
              <a:rPr lang="en-US" altLang="zh-TW" dirty="0" err="1"/>
              <a:t>Pregel</a:t>
            </a:r>
            <a:r>
              <a:rPr lang="en-US" altLang="zh-TW" dirty="0"/>
              <a:t>: large-scale graph processing</a:t>
            </a:r>
          </a:p>
          <a:p>
            <a:pPr lvl="2"/>
            <a:r>
              <a:rPr lang="en-US" altLang="zh-TW"/>
              <a:t>BSP model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8945910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Thanks for Your Attention!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4786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2686</TotalTime>
  <Words>5851</Words>
  <Application>Microsoft Office PowerPoint</Application>
  <PresentationFormat>如螢幕大小 (4:3)</PresentationFormat>
  <Paragraphs>1172</Paragraphs>
  <Slides>120</Slides>
  <Notes>5</Notes>
  <HiddenSlides>0</HiddenSlides>
  <MMClips>0</MMClips>
  <ScaleCrop>false</ScaleCrop>
  <HeadingPairs>
    <vt:vector size="8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120</vt:i4>
      </vt:variant>
    </vt:vector>
  </HeadingPairs>
  <TitlesOfParts>
    <vt:vector size="128" baseType="lpstr">
      <vt:lpstr>Andale Mono</vt:lpstr>
      <vt:lpstr>Gill Sans</vt:lpstr>
      <vt:lpstr>Arial</vt:lpstr>
      <vt:lpstr>Calibri</vt:lpstr>
      <vt:lpstr>Times New Roman</vt:lpstr>
      <vt:lpstr>Wingdings</vt:lpstr>
      <vt:lpstr>Office 佈景主題</vt:lpstr>
      <vt:lpstr>Equation</vt:lpstr>
      <vt:lpstr>MapReduce Basics &amp; Algorithm Design</vt:lpstr>
      <vt:lpstr>Outline</vt:lpstr>
      <vt:lpstr>Reference</vt:lpstr>
      <vt:lpstr>Divide and Conquer</vt:lpstr>
      <vt:lpstr>Parallelization Challenges</vt:lpstr>
      <vt:lpstr>Common Theme?</vt:lpstr>
      <vt:lpstr>Managing Multiple Workers</vt:lpstr>
      <vt:lpstr>Current Tools</vt:lpstr>
      <vt:lpstr>Where the rubber meets the road</vt:lpstr>
      <vt:lpstr>Big Ideas behind MapReduce</vt:lpstr>
      <vt:lpstr>PowerPoint 簡報</vt:lpstr>
      <vt:lpstr>MapReduce Basics</vt:lpstr>
      <vt:lpstr>MapReduce Programming Model</vt:lpstr>
      <vt:lpstr>Typical Big Data Problem</vt:lpstr>
      <vt:lpstr>Roots in Functional Programming</vt:lpstr>
      <vt:lpstr>MapReduce</vt:lpstr>
      <vt:lpstr>PowerPoint 簡報</vt:lpstr>
      <vt:lpstr>MapReduce</vt:lpstr>
      <vt:lpstr>MapReduce “Runtime”</vt:lpstr>
      <vt:lpstr>MapReduce</vt:lpstr>
      <vt:lpstr>PowerPoint 簡報</vt:lpstr>
      <vt:lpstr>Two more details…</vt:lpstr>
      <vt:lpstr>MapReduce can refer to…</vt:lpstr>
      <vt:lpstr>Google MapReduce Framework</vt:lpstr>
      <vt:lpstr>Basic Hadoop API*</vt:lpstr>
      <vt:lpstr>Basic Hadoop API*</vt:lpstr>
      <vt:lpstr>“Hello World”: Word Count - Pseudo code</vt:lpstr>
      <vt:lpstr>“Hello World”: Word Count in Java</vt:lpstr>
      <vt:lpstr>“Hello World”: Word Count in Java</vt:lpstr>
      <vt:lpstr>PowerPoint 簡報</vt:lpstr>
      <vt:lpstr>PowerPoint 簡報</vt:lpstr>
      <vt:lpstr>PowerPoint 簡報</vt:lpstr>
      <vt:lpstr>PowerPoint 簡報</vt:lpstr>
      <vt:lpstr>Shuffle and Sort in Hadoop</vt:lpstr>
      <vt:lpstr>Shuffle and Sort</vt:lpstr>
      <vt:lpstr>Hadoop Workflow</vt:lpstr>
      <vt:lpstr>Recommended Workflow</vt:lpstr>
      <vt:lpstr>Debugging Hadoop</vt:lpstr>
      <vt:lpstr>Code Execution Environments</vt:lpstr>
      <vt:lpstr>Hadoop Debugging Strategies</vt:lpstr>
      <vt:lpstr>Example: WordCount in Action</vt:lpstr>
      <vt:lpstr>MapReduce Algorithm Design</vt:lpstr>
      <vt:lpstr>Major Issues in MapReduce Algorithm Design</vt:lpstr>
      <vt:lpstr>PowerPoint 簡報</vt:lpstr>
      <vt:lpstr>Tools for Synchronization</vt:lpstr>
      <vt:lpstr>Preserving State</vt:lpstr>
      <vt:lpstr>Scalable Hadoop Algorithms: Themes</vt:lpstr>
      <vt:lpstr>Importance of Local Aggregation</vt:lpstr>
      <vt:lpstr>Local Aggregation</vt:lpstr>
      <vt:lpstr>Shuffle and Sort</vt:lpstr>
      <vt:lpstr>Word Count: Baseline</vt:lpstr>
      <vt:lpstr>Word Count: Version 1</vt:lpstr>
      <vt:lpstr>Word Count: Version 2</vt:lpstr>
      <vt:lpstr>The “in-mapper combining” Design Pattern</vt:lpstr>
      <vt:lpstr>PowerPoint 簡報</vt:lpstr>
      <vt:lpstr>PowerPoint 簡報</vt:lpstr>
      <vt:lpstr>PowerPoint 簡報</vt:lpstr>
      <vt:lpstr>Algorithm correctness with local aggregation</vt:lpstr>
      <vt:lpstr>Combiner Design</vt:lpstr>
      <vt:lpstr>Computing the Mean: Version 1</vt:lpstr>
      <vt:lpstr>Computing the Mean: Version 2</vt:lpstr>
      <vt:lpstr>Computing the Mean: Version 3</vt:lpstr>
      <vt:lpstr>Computing the Mean: Version 4</vt:lpstr>
      <vt:lpstr>Pairs and Stripes</vt:lpstr>
      <vt:lpstr>Algorithm Design: Running Example</vt:lpstr>
      <vt:lpstr>MapReduce: Large Counting Problems</vt:lpstr>
      <vt:lpstr>First Try: “Pairs”</vt:lpstr>
      <vt:lpstr>Pairs: Pseudo-Code</vt:lpstr>
      <vt:lpstr>“Pairs” Analysis</vt:lpstr>
      <vt:lpstr>Another Try: “Stripes”</vt:lpstr>
      <vt:lpstr>Stripes: Pseudo-Code</vt:lpstr>
      <vt:lpstr>“Stripes” Analysis</vt:lpstr>
      <vt:lpstr>Comparisons</vt:lpstr>
      <vt:lpstr>PowerPoint 簡報</vt:lpstr>
      <vt:lpstr>A Brief Summary</vt:lpstr>
      <vt:lpstr>PowerPoint 簡報</vt:lpstr>
      <vt:lpstr>PowerPoint 簡報</vt:lpstr>
      <vt:lpstr>Computing Relative Frequencies</vt:lpstr>
      <vt:lpstr>Relative Frequencies</vt:lpstr>
      <vt:lpstr>f(B|A): “Stripes” </vt:lpstr>
      <vt:lpstr>f(B|A): “Pairs” </vt:lpstr>
      <vt:lpstr>f(B|A): “Pairs” </vt:lpstr>
      <vt:lpstr>“Order Inversion”</vt:lpstr>
      <vt:lpstr>Synchronization: Pairs vs. Stripes</vt:lpstr>
      <vt:lpstr>Order inversion</vt:lpstr>
      <vt:lpstr>A brief summary</vt:lpstr>
      <vt:lpstr>Secondary Sorting</vt:lpstr>
      <vt:lpstr>Secondary Sorting: Solutions</vt:lpstr>
      <vt:lpstr>Secondary Sorting</vt:lpstr>
      <vt:lpstr>PowerPoint 簡報</vt:lpstr>
      <vt:lpstr>Value-to-Key Conversion</vt:lpstr>
      <vt:lpstr>Working Scenario</vt:lpstr>
      <vt:lpstr>Relational Algebra</vt:lpstr>
      <vt:lpstr>Projection </vt:lpstr>
      <vt:lpstr>Projection in MapReduce</vt:lpstr>
      <vt:lpstr>Selection</vt:lpstr>
      <vt:lpstr>Selection in MapReduce</vt:lpstr>
      <vt:lpstr>Group by… Aggregation</vt:lpstr>
      <vt:lpstr>Relational Joins</vt:lpstr>
      <vt:lpstr>Types of Relationships</vt:lpstr>
      <vt:lpstr>Relational Joins</vt:lpstr>
      <vt:lpstr>Reduce-Side Join</vt:lpstr>
      <vt:lpstr>Reduce-side Join</vt:lpstr>
      <vt:lpstr>Reduce-side Join: 1-to-1</vt:lpstr>
      <vt:lpstr>Reduce-side Join: 1-to-many</vt:lpstr>
      <vt:lpstr>Reduce-side Join: V-to-K Conversion</vt:lpstr>
      <vt:lpstr>Reduce-side Join: many-to-many</vt:lpstr>
      <vt:lpstr>Map-side Join: Basic Idea</vt:lpstr>
      <vt:lpstr>Map-Side Join</vt:lpstr>
      <vt:lpstr>Map-side Join: Parallel Scans</vt:lpstr>
      <vt:lpstr>In-Memory Join</vt:lpstr>
      <vt:lpstr>In-Memory Join: Variants</vt:lpstr>
      <vt:lpstr>Memcached</vt:lpstr>
      <vt:lpstr>Memcached Join</vt:lpstr>
      <vt:lpstr>Which join to use?</vt:lpstr>
      <vt:lpstr>Processing Relational Data: Summary</vt:lpstr>
      <vt:lpstr>Summary</vt:lpstr>
      <vt:lpstr>Limitations of MapReduce</vt:lpstr>
      <vt:lpstr>PowerPoint 簡報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MapReduce Algorithm Design</dc:title>
  <dc:creator>jhwang</dc:creator>
  <cp:lastModifiedBy>Chris Wang</cp:lastModifiedBy>
  <cp:revision>108</cp:revision>
  <dcterms:created xsi:type="dcterms:W3CDTF">2015-03-31T01:37:40Z</dcterms:created>
  <dcterms:modified xsi:type="dcterms:W3CDTF">2025-12-16T03:16:48Z</dcterms:modified>
</cp:coreProperties>
</file>