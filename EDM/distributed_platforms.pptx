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256" r:id="rId2"/>
    <p:sldId id="261" r:id="rId3"/>
    <p:sldId id="262" r:id="rId4"/>
    <p:sldId id="264" r:id="rId5"/>
    <p:sldId id="269" r:id="rId6"/>
    <p:sldId id="265" r:id="rId7"/>
    <p:sldId id="268" r:id="rId8"/>
    <p:sldId id="270" r:id="rId9"/>
    <p:sldId id="271" r:id="rId10"/>
    <p:sldId id="272" r:id="rId11"/>
    <p:sldId id="266" r:id="rId12"/>
    <p:sldId id="267" r:id="rId13"/>
    <p:sldId id="275" r:id="rId14"/>
    <p:sldId id="276" r:id="rId15"/>
    <p:sldId id="277" r:id="rId16"/>
    <p:sldId id="257" r:id="rId17"/>
    <p:sldId id="279" r:id="rId18"/>
    <p:sldId id="280" r:id="rId19"/>
    <p:sldId id="281" r:id="rId20"/>
    <p:sldId id="283" r:id="rId21"/>
    <p:sldId id="282" r:id="rId22"/>
    <p:sldId id="284" r:id="rId23"/>
    <p:sldId id="303" r:id="rId24"/>
    <p:sldId id="286" r:id="rId25"/>
    <p:sldId id="293" r:id="rId26"/>
    <p:sldId id="294" r:id="rId27"/>
    <p:sldId id="287" r:id="rId28"/>
    <p:sldId id="309" r:id="rId29"/>
    <p:sldId id="291" r:id="rId30"/>
    <p:sldId id="307" r:id="rId31"/>
    <p:sldId id="308" r:id="rId32"/>
    <p:sldId id="278" r:id="rId33"/>
    <p:sldId id="290" r:id="rId34"/>
    <p:sldId id="288" r:id="rId35"/>
    <p:sldId id="296" r:id="rId36"/>
    <p:sldId id="297" r:id="rId37"/>
    <p:sldId id="298" r:id="rId38"/>
    <p:sldId id="299" r:id="rId39"/>
    <p:sldId id="301" r:id="rId40"/>
    <p:sldId id="300" r:id="rId41"/>
    <p:sldId id="306" r:id="rId42"/>
    <p:sldId id="310" r:id="rId43"/>
    <p:sldId id="260" r:id="rId44"/>
    <p:sldId id="305" r:id="rId45"/>
    <p:sldId id="311" r:id="rId46"/>
    <p:sldId id="302" r:id="rId47"/>
    <p:sldId id="263" r:id="rId4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5" autoAdjust="0"/>
    <p:restoredTop sz="94660"/>
  </p:normalViewPr>
  <p:slideViewPr>
    <p:cSldViewPr snapToGrid="0">
      <p:cViewPr varScale="1">
        <p:scale>
          <a:sx n="67" d="100"/>
          <a:sy n="67" d="100"/>
        </p:scale>
        <p:origin x="568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AEC870-A235-425E-8B83-A0CC5142C63A}" type="datetimeFigureOut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99BBCC-D736-4BDD-8F27-9E61BFA02AC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61697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58D29D7-0DD2-4151-85BB-6A315C288D2A}" type="slidenum">
              <a:rPr lang="zh-TW" altLang="en-US"/>
              <a:pPr/>
              <a:t>8</a:t>
            </a:fld>
            <a:endParaRPr lang="en-US" altLang="zh-TW"/>
          </a:p>
        </p:txBody>
      </p:sp>
      <p:sp>
        <p:nvSpPr>
          <p:cNvPr id="675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75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34975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F5FAAB9-391A-459E-923A-1404648DCF04}" type="slidenum">
              <a:rPr lang="zh-TW" altLang="en-US"/>
              <a:pPr/>
              <a:t>9</a:t>
            </a:fld>
            <a:endParaRPr lang="en-US" altLang="zh-TW"/>
          </a:p>
        </p:txBody>
      </p:sp>
      <p:sp>
        <p:nvSpPr>
          <p:cNvPr id="72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27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771291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99BBCC-D736-4BDD-8F27-9E61BFA02ACC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72752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5893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93271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558493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8572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633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88921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5491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1499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36051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7544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54718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9155C1-9C8C-48AF-B944-B052C67A71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386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://hadoop.apache.org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://spark.apache.org/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Introduction to Distributed Platforms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J. H. Wang</a:t>
            </a:r>
          </a:p>
          <a:p>
            <a:r>
              <a:rPr lang="en-US" altLang="zh-TW" dirty="0"/>
              <a:t>Dec. 9, 2025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 dirty="0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876864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Motivation</a:t>
            </a:r>
          </a:p>
          <a:p>
            <a:pPr lvl="1"/>
            <a:r>
              <a:rPr lang="en-US" altLang="zh-TW" dirty="0"/>
              <a:t>Why Distribution?</a:t>
            </a:r>
          </a:p>
          <a:p>
            <a:r>
              <a:rPr lang="en-US" altLang="zh-TW" dirty="0"/>
              <a:t>Distributed Computing</a:t>
            </a:r>
          </a:p>
          <a:p>
            <a:r>
              <a:rPr lang="en-US" altLang="zh-TW" dirty="0"/>
              <a:t>Popular distributed platforms</a:t>
            </a:r>
          </a:p>
          <a:p>
            <a:pPr lvl="1"/>
            <a:r>
              <a:rPr lang="en-US" altLang="zh-TW" dirty="0"/>
              <a:t>Hadoop</a:t>
            </a:r>
          </a:p>
          <a:p>
            <a:pPr lvl="1"/>
            <a:r>
              <a:rPr lang="en-US" altLang="zh-TW" dirty="0"/>
              <a:t>Spark</a:t>
            </a:r>
          </a:p>
          <a:p>
            <a:pPr lvl="1"/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69126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Motivation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Why distribution?</a:t>
            </a:r>
          </a:p>
          <a:p>
            <a:pPr lvl="1"/>
            <a:r>
              <a:rPr lang="en-US" altLang="zh-TW" dirty="0"/>
              <a:t>Big data: volume, velocity, variety</a:t>
            </a:r>
          </a:p>
          <a:p>
            <a:r>
              <a:rPr lang="en-US" altLang="zh-TW" dirty="0"/>
              <a:t>We need more storage space</a:t>
            </a:r>
          </a:p>
          <a:p>
            <a:pPr lvl="1"/>
            <a:r>
              <a:rPr lang="en-US" altLang="zh-TW" dirty="0"/>
              <a:t>Space efficiency</a:t>
            </a:r>
          </a:p>
          <a:p>
            <a:r>
              <a:rPr lang="en-US" altLang="zh-TW" dirty="0"/>
              <a:t>We need more computing power</a:t>
            </a:r>
          </a:p>
          <a:p>
            <a:pPr lvl="1"/>
            <a:r>
              <a:rPr lang="en-US" altLang="zh-TW" dirty="0"/>
              <a:t>Time efficiency</a:t>
            </a:r>
          </a:p>
          <a:p>
            <a:pPr lvl="1"/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79040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Distributed Computing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Distributed computing is the study of distributed systems</a:t>
            </a:r>
          </a:p>
          <a:p>
            <a:endParaRPr lang="en-US" altLang="zh-TW" dirty="0"/>
          </a:p>
          <a:p>
            <a:r>
              <a:rPr lang="en-US" altLang="zh-TW" dirty="0"/>
              <a:t>A distributed system is a collection of autonomous computing elements that appears to its users as a </a:t>
            </a:r>
            <a:r>
              <a:rPr lang="en-US" altLang="zh-TW" dirty="0">
                <a:solidFill>
                  <a:srgbClr val="0000FF"/>
                </a:solidFill>
              </a:rPr>
              <a:t>single coherent </a:t>
            </a:r>
            <a:r>
              <a:rPr lang="en-US" altLang="zh-TW" dirty="0"/>
              <a:t>system</a:t>
            </a:r>
          </a:p>
          <a:p>
            <a:r>
              <a:rPr lang="en-US" altLang="zh-TW" dirty="0"/>
              <a:t>A distributed system is a model in which components located on networked computers communicate and coordinate their actions by </a:t>
            </a:r>
            <a:r>
              <a:rPr lang="en-US" altLang="zh-TW" dirty="0">
                <a:solidFill>
                  <a:srgbClr val="0000FF"/>
                </a:solidFill>
              </a:rPr>
              <a:t>passing messages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8019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Distributed Systems as Middleware</a:t>
            </a:r>
            <a:endParaRPr lang="zh-TW" altLang="en-US" dirty="0"/>
          </a:p>
        </p:txBody>
      </p:sp>
      <p:pic>
        <p:nvPicPr>
          <p:cNvPr id="7" name="Picture 5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076" t="42145" r="28006" b="36253"/>
          <a:stretch>
            <a:fillRect/>
          </a:stretch>
        </p:blipFill>
        <p:spPr bwMode="auto">
          <a:xfrm>
            <a:off x="3041016" y="1825625"/>
            <a:ext cx="6109968" cy="4351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90578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Three characteristics</a:t>
            </a:r>
          </a:p>
          <a:p>
            <a:pPr lvl="1"/>
            <a:r>
              <a:rPr lang="en-US" altLang="zh-TW" dirty="0">
                <a:solidFill>
                  <a:srgbClr val="0000FF"/>
                </a:solidFill>
              </a:rPr>
              <a:t>Concurrency</a:t>
            </a:r>
            <a:r>
              <a:rPr lang="en-US" altLang="zh-TW" dirty="0"/>
              <a:t> of components</a:t>
            </a:r>
          </a:p>
          <a:p>
            <a:pPr lvl="1"/>
            <a:r>
              <a:rPr lang="en-US" altLang="zh-TW" dirty="0"/>
              <a:t>Lack of a global clock: </a:t>
            </a:r>
            <a:r>
              <a:rPr lang="en-US" altLang="zh-TW" dirty="0">
                <a:solidFill>
                  <a:srgbClr val="0000FF"/>
                </a:solidFill>
              </a:rPr>
              <a:t>synchronization</a:t>
            </a:r>
            <a:r>
              <a:rPr lang="en-US" altLang="zh-TW" dirty="0"/>
              <a:t> </a:t>
            </a:r>
          </a:p>
          <a:p>
            <a:pPr lvl="1"/>
            <a:r>
              <a:rPr lang="en-US" altLang="zh-TW" dirty="0"/>
              <a:t>Independent failure of components: </a:t>
            </a:r>
            <a:r>
              <a:rPr lang="en-US" altLang="zh-TW" dirty="0">
                <a:solidFill>
                  <a:srgbClr val="0000FF"/>
                </a:solidFill>
              </a:rPr>
              <a:t>fault tolerance</a:t>
            </a:r>
          </a:p>
          <a:p>
            <a:r>
              <a:rPr lang="en-US" altLang="zh-TW" dirty="0"/>
              <a:t>Goals</a:t>
            </a:r>
          </a:p>
          <a:p>
            <a:pPr lvl="1"/>
            <a:r>
              <a:rPr lang="en-US" altLang="zh-TW" dirty="0"/>
              <a:t>Resource availability</a:t>
            </a:r>
          </a:p>
          <a:p>
            <a:pPr lvl="1"/>
            <a:r>
              <a:rPr lang="en-US" altLang="zh-TW" dirty="0"/>
              <a:t>Distribution transparency</a:t>
            </a:r>
          </a:p>
          <a:p>
            <a:pPr lvl="1"/>
            <a:r>
              <a:rPr lang="en-US" altLang="zh-TW" dirty="0"/>
              <a:t>Openness </a:t>
            </a:r>
          </a:p>
          <a:p>
            <a:pPr lvl="1"/>
            <a:r>
              <a:rPr lang="en-US" altLang="zh-TW" dirty="0"/>
              <a:t>Scalability</a:t>
            </a:r>
          </a:p>
          <a:p>
            <a:pPr lvl="1"/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767933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Example architectures </a:t>
            </a:r>
          </a:p>
          <a:p>
            <a:pPr lvl="1"/>
            <a:r>
              <a:rPr lang="en-US" altLang="zh-TW" dirty="0"/>
              <a:t>Centralized: client-server</a:t>
            </a:r>
          </a:p>
          <a:p>
            <a:pPr lvl="1"/>
            <a:r>
              <a:rPr lang="en-US" altLang="zh-TW" dirty="0"/>
              <a:t>Multi-tiered</a:t>
            </a:r>
          </a:p>
          <a:p>
            <a:pPr lvl="1"/>
            <a:r>
              <a:rPr lang="en-US" altLang="zh-TW" dirty="0"/>
              <a:t>Decentralized: peer-to-peer</a:t>
            </a:r>
          </a:p>
          <a:p>
            <a:pPr lvl="1"/>
            <a:r>
              <a:rPr lang="en-US" altLang="zh-TW" dirty="0"/>
              <a:t>Hybrid </a:t>
            </a:r>
          </a:p>
          <a:p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42862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Clients and Servers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dirty="0">
                <a:ea typeface="新細明體" panose="02020500000000000000" pitchFamily="18" charset="-120"/>
              </a:rPr>
              <a:t>General interaction between a client and a server</a:t>
            </a:r>
            <a:endParaRPr lang="en-US" altLang="zh-TW" dirty="0">
              <a:ea typeface="新細明體" panose="02020500000000000000" pitchFamily="18" charset="-120"/>
            </a:endParaRPr>
          </a:p>
        </p:txBody>
      </p:sp>
      <p:pic>
        <p:nvPicPr>
          <p:cNvPr id="31749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924" t="46828" r="30144" b="40483"/>
          <a:stretch>
            <a:fillRect/>
          </a:stretch>
        </p:blipFill>
        <p:spPr bwMode="auto">
          <a:xfrm>
            <a:off x="1939398" y="2561669"/>
            <a:ext cx="6581775" cy="3200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681772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Multi-tiered Architectures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>
                <a:ea typeface="新細明體" panose="02020500000000000000" pitchFamily="18" charset="-120"/>
              </a:rPr>
              <a:t>Alternative client-server organizations (a) </a:t>
            </a: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–</a:t>
            </a:r>
            <a:r>
              <a:rPr lang="en-US" altLang="zh-TW" sz="2400">
                <a:ea typeface="新細明體" panose="02020500000000000000" pitchFamily="18" charset="-120"/>
              </a:rPr>
              <a:t> (e)</a:t>
            </a:r>
          </a:p>
        </p:txBody>
      </p:sp>
      <p:sp>
        <p:nvSpPr>
          <p:cNvPr id="36868" name="Text Box 4"/>
          <p:cNvSpPr txBox="1">
            <a:spLocks noChangeArrowheads="1"/>
          </p:cNvSpPr>
          <p:nvPr/>
        </p:nvSpPr>
        <p:spPr bwMode="auto">
          <a:xfrm>
            <a:off x="4800600" y="2819400"/>
            <a:ext cx="13716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zh-TW">
                <a:ea typeface="新細明體" panose="02020500000000000000" pitchFamily="18" charset="-120"/>
              </a:rPr>
              <a:t>1-29</a:t>
            </a:r>
          </a:p>
        </p:txBody>
      </p:sp>
      <p:pic>
        <p:nvPicPr>
          <p:cNvPr id="36869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09" t="42145" r="18600" b="36707"/>
          <a:stretch>
            <a:fillRect/>
          </a:stretch>
        </p:blipFill>
        <p:spPr bwMode="auto">
          <a:xfrm>
            <a:off x="1411111" y="2208742"/>
            <a:ext cx="9144000" cy="44799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21211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Peer-to-Peer vs. Hybrid</a:t>
            </a:r>
            <a:endParaRPr lang="zh-TW" altLang="en-US" dirty="0"/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732" y="1817883"/>
            <a:ext cx="4289780" cy="4253932"/>
          </a:xfrm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7316" y="2398447"/>
            <a:ext cx="4783944" cy="3092804"/>
          </a:xfrm>
          <a:prstGeom prst="rect">
            <a:avLst/>
          </a:prstGeom>
        </p:spPr>
      </p:pic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18126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Parallel vs. Distributed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Parallel computing</a:t>
            </a:r>
          </a:p>
          <a:p>
            <a:pPr lvl="1"/>
            <a:r>
              <a:rPr lang="en-US" altLang="zh-TW" dirty="0"/>
              <a:t>Tightly coupled</a:t>
            </a:r>
          </a:p>
          <a:p>
            <a:pPr lvl="1"/>
            <a:r>
              <a:rPr lang="en-US" altLang="zh-TW" dirty="0"/>
              <a:t>Shared memory</a:t>
            </a:r>
          </a:p>
          <a:p>
            <a:r>
              <a:rPr lang="en-US" altLang="zh-TW" dirty="0"/>
              <a:t>Distributed computing</a:t>
            </a:r>
          </a:p>
          <a:p>
            <a:pPr lvl="1"/>
            <a:r>
              <a:rPr lang="en-US" altLang="zh-TW" dirty="0"/>
              <a:t>Loosely coupled</a:t>
            </a:r>
          </a:p>
          <a:p>
            <a:pPr lvl="1"/>
            <a:r>
              <a:rPr lang="en-US" altLang="zh-TW" dirty="0"/>
              <a:t>Message passing</a:t>
            </a:r>
          </a:p>
          <a:p>
            <a:pPr lvl="1"/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962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Distributed Computing Systems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Cluster computing</a:t>
            </a:r>
          </a:p>
          <a:p>
            <a:pPr lvl="1"/>
            <a:r>
              <a:rPr lang="en-US" altLang="zh-TW" dirty="0"/>
              <a:t>Homogeneous</a:t>
            </a:r>
          </a:p>
          <a:p>
            <a:pPr lvl="1"/>
            <a:r>
              <a:rPr lang="en-US" altLang="zh-TW" dirty="0"/>
              <a:t>Connected through a LAN</a:t>
            </a:r>
          </a:p>
          <a:p>
            <a:r>
              <a:rPr lang="en-US" altLang="zh-TW" dirty="0"/>
              <a:t>Grid computing</a:t>
            </a:r>
          </a:p>
          <a:p>
            <a:pPr lvl="1"/>
            <a:r>
              <a:rPr lang="en-US" altLang="zh-TW" dirty="0"/>
              <a:t>Heterogeneous</a:t>
            </a:r>
          </a:p>
          <a:p>
            <a:pPr lvl="1"/>
            <a:r>
              <a:rPr lang="en-US" altLang="zh-TW" dirty="0"/>
              <a:t>Dispersed across WAN </a:t>
            </a:r>
          </a:p>
          <a:p>
            <a:r>
              <a:rPr lang="en-US" altLang="zh-TW" dirty="0"/>
              <a:t>Cloud computing</a:t>
            </a:r>
          </a:p>
          <a:p>
            <a:pPr lvl="1"/>
            <a:r>
              <a:rPr lang="en-US" altLang="zh-TW" dirty="0"/>
              <a:t>IaaS, PaaS, SaaS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955605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Cloud Enabling Technology: Virtualization</a:t>
            </a:r>
            <a:endParaRPr lang="zh-TW" altLang="en-US" dirty="0"/>
          </a:p>
        </p:txBody>
      </p:sp>
      <p:grpSp>
        <p:nvGrpSpPr>
          <p:cNvPr id="32" name="群組 31"/>
          <p:cNvGrpSpPr/>
          <p:nvPr/>
        </p:nvGrpSpPr>
        <p:grpSpPr>
          <a:xfrm>
            <a:off x="6152885" y="1241259"/>
            <a:ext cx="4554589" cy="5307874"/>
            <a:chOff x="3413753" y="1210491"/>
            <a:chExt cx="4554589" cy="5307874"/>
          </a:xfrm>
        </p:grpSpPr>
        <p:sp>
          <p:nvSpPr>
            <p:cNvPr id="7" name="圓角矩形 6"/>
            <p:cNvSpPr/>
            <p:nvPr/>
          </p:nvSpPr>
          <p:spPr>
            <a:xfrm>
              <a:off x="3413759" y="5812971"/>
              <a:ext cx="4554583" cy="7053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Computer Hardware</a:t>
              </a:r>
              <a:endParaRPr lang="zh-TW" altLang="en-US" dirty="0"/>
            </a:p>
          </p:txBody>
        </p:sp>
        <p:sp>
          <p:nvSpPr>
            <p:cNvPr id="8" name="圓角矩形 7"/>
            <p:cNvSpPr/>
            <p:nvPr/>
          </p:nvSpPr>
          <p:spPr>
            <a:xfrm>
              <a:off x="3413757" y="3211557"/>
              <a:ext cx="2116185" cy="705394"/>
            </a:xfrm>
            <a:prstGeom prst="round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OS1</a:t>
              </a:r>
              <a:endParaRPr lang="zh-TW" altLang="en-US" dirty="0"/>
            </a:p>
          </p:txBody>
        </p:sp>
        <p:sp>
          <p:nvSpPr>
            <p:cNvPr id="9" name="圓角矩形 8"/>
            <p:cNvSpPr/>
            <p:nvPr/>
          </p:nvSpPr>
          <p:spPr>
            <a:xfrm>
              <a:off x="3413758" y="2387372"/>
              <a:ext cx="1027612" cy="661851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App1</a:t>
              </a:r>
              <a:endParaRPr lang="zh-TW" altLang="en-US" dirty="0"/>
            </a:p>
          </p:txBody>
        </p:sp>
        <p:sp>
          <p:nvSpPr>
            <p:cNvPr id="10" name="圓角矩形 9"/>
            <p:cNvSpPr/>
            <p:nvPr/>
          </p:nvSpPr>
          <p:spPr>
            <a:xfrm>
              <a:off x="4663437" y="2387371"/>
              <a:ext cx="866505" cy="661851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App2</a:t>
              </a:r>
              <a:endParaRPr lang="zh-TW" altLang="en-US" dirty="0"/>
            </a:p>
          </p:txBody>
        </p:sp>
        <p:sp>
          <p:nvSpPr>
            <p:cNvPr id="11" name="圓角矩形 10"/>
            <p:cNvSpPr/>
            <p:nvPr/>
          </p:nvSpPr>
          <p:spPr>
            <a:xfrm>
              <a:off x="6827520" y="2387371"/>
              <a:ext cx="1140822" cy="661851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App4</a:t>
              </a:r>
              <a:endParaRPr lang="zh-TW" altLang="en-US" dirty="0"/>
            </a:p>
          </p:txBody>
        </p:sp>
        <p:sp>
          <p:nvSpPr>
            <p:cNvPr id="12" name="圓角矩形 11"/>
            <p:cNvSpPr/>
            <p:nvPr/>
          </p:nvSpPr>
          <p:spPr>
            <a:xfrm>
              <a:off x="5691049" y="2387371"/>
              <a:ext cx="866505" cy="661851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App3</a:t>
              </a:r>
              <a:endParaRPr lang="zh-TW" altLang="en-US" dirty="0"/>
            </a:p>
          </p:txBody>
        </p:sp>
        <p:sp>
          <p:nvSpPr>
            <p:cNvPr id="13" name="橢圓 12"/>
            <p:cNvSpPr/>
            <p:nvPr/>
          </p:nvSpPr>
          <p:spPr>
            <a:xfrm>
              <a:off x="3470363" y="1355363"/>
              <a:ext cx="914401" cy="786946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User</a:t>
              </a:r>
              <a:endParaRPr lang="zh-TW" altLang="en-US" dirty="0"/>
            </a:p>
          </p:txBody>
        </p:sp>
        <p:sp>
          <p:nvSpPr>
            <p:cNvPr id="14" name="橢圓 13"/>
            <p:cNvSpPr/>
            <p:nvPr/>
          </p:nvSpPr>
          <p:spPr>
            <a:xfrm>
              <a:off x="6938552" y="1355363"/>
              <a:ext cx="914401" cy="786946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User</a:t>
              </a:r>
              <a:endParaRPr lang="zh-TW" altLang="en-US" dirty="0"/>
            </a:p>
          </p:txBody>
        </p:sp>
        <p:sp>
          <p:nvSpPr>
            <p:cNvPr id="15" name="橢圓 14"/>
            <p:cNvSpPr/>
            <p:nvPr/>
          </p:nvSpPr>
          <p:spPr>
            <a:xfrm>
              <a:off x="5667100" y="1355363"/>
              <a:ext cx="914401" cy="786946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User</a:t>
              </a:r>
              <a:endParaRPr lang="zh-TW" altLang="en-US" dirty="0"/>
            </a:p>
          </p:txBody>
        </p:sp>
        <p:sp>
          <p:nvSpPr>
            <p:cNvPr id="16" name="橢圓 15"/>
            <p:cNvSpPr/>
            <p:nvPr/>
          </p:nvSpPr>
          <p:spPr>
            <a:xfrm>
              <a:off x="4639488" y="1355363"/>
              <a:ext cx="914401" cy="786946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User</a:t>
              </a:r>
              <a:endParaRPr lang="zh-TW" altLang="en-US" dirty="0"/>
            </a:p>
          </p:txBody>
        </p:sp>
        <p:sp>
          <p:nvSpPr>
            <p:cNvPr id="21" name="圓角矩形 20"/>
            <p:cNvSpPr/>
            <p:nvPr/>
          </p:nvSpPr>
          <p:spPr>
            <a:xfrm>
              <a:off x="3413753" y="4957011"/>
              <a:ext cx="4554583" cy="705394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Virtual Machine Manager</a:t>
              </a:r>
              <a:endParaRPr lang="zh-TW" altLang="en-US" dirty="0"/>
            </a:p>
          </p:txBody>
        </p:sp>
        <p:sp>
          <p:nvSpPr>
            <p:cNvPr id="22" name="圓角矩形 21"/>
            <p:cNvSpPr/>
            <p:nvPr/>
          </p:nvSpPr>
          <p:spPr>
            <a:xfrm>
              <a:off x="5691049" y="3205976"/>
              <a:ext cx="866506" cy="705394"/>
            </a:xfrm>
            <a:prstGeom prst="round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OS2</a:t>
              </a:r>
              <a:endParaRPr lang="zh-TW" altLang="en-US" dirty="0"/>
            </a:p>
          </p:txBody>
        </p:sp>
        <p:sp>
          <p:nvSpPr>
            <p:cNvPr id="23" name="圓角矩形 22"/>
            <p:cNvSpPr/>
            <p:nvPr/>
          </p:nvSpPr>
          <p:spPr>
            <a:xfrm>
              <a:off x="6718662" y="3205976"/>
              <a:ext cx="1249678" cy="705394"/>
            </a:xfrm>
            <a:prstGeom prst="round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OS3</a:t>
              </a:r>
              <a:endParaRPr lang="zh-TW" altLang="en-US" dirty="0"/>
            </a:p>
          </p:txBody>
        </p:sp>
        <p:sp>
          <p:nvSpPr>
            <p:cNvPr id="25" name="圓角矩形 24"/>
            <p:cNvSpPr/>
            <p:nvPr/>
          </p:nvSpPr>
          <p:spPr>
            <a:xfrm>
              <a:off x="3413757" y="4112889"/>
              <a:ext cx="2116185" cy="705394"/>
            </a:xfrm>
            <a:prstGeom prst="roundRect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VM1</a:t>
              </a:r>
              <a:endParaRPr lang="zh-TW" altLang="en-US" dirty="0"/>
            </a:p>
          </p:txBody>
        </p:sp>
        <p:sp>
          <p:nvSpPr>
            <p:cNvPr id="26" name="圓角矩形 25"/>
            <p:cNvSpPr/>
            <p:nvPr/>
          </p:nvSpPr>
          <p:spPr>
            <a:xfrm>
              <a:off x="5691047" y="4112889"/>
              <a:ext cx="866506" cy="705394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VM2</a:t>
              </a:r>
              <a:endParaRPr lang="zh-TW" altLang="en-US" dirty="0"/>
            </a:p>
          </p:txBody>
        </p:sp>
        <p:sp>
          <p:nvSpPr>
            <p:cNvPr id="27" name="圓角矩形 26"/>
            <p:cNvSpPr/>
            <p:nvPr/>
          </p:nvSpPr>
          <p:spPr>
            <a:xfrm>
              <a:off x="6718658" y="4106970"/>
              <a:ext cx="1249678" cy="705394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VM3</a:t>
              </a:r>
              <a:endParaRPr lang="zh-TW" altLang="en-US" dirty="0"/>
            </a:p>
          </p:txBody>
        </p:sp>
        <p:cxnSp>
          <p:nvCxnSpPr>
            <p:cNvPr id="29" name="直線接點 28"/>
            <p:cNvCxnSpPr/>
            <p:nvPr/>
          </p:nvCxnSpPr>
          <p:spPr>
            <a:xfrm>
              <a:off x="5614849" y="1210491"/>
              <a:ext cx="0" cy="367501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接點 29"/>
            <p:cNvCxnSpPr/>
            <p:nvPr/>
          </p:nvCxnSpPr>
          <p:spPr>
            <a:xfrm>
              <a:off x="6646815" y="1210491"/>
              <a:ext cx="0" cy="367501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群組 27"/>
          <p:cNvGrpSpPr/>
          <p:nvPr/>
        </p:nvGrpSpPr>
        <p:grpSpPr>
          <a:xfrm>
            <a:off x="826223" y="1841254"/>
            <a:ext cx="4554584" cy="4200706"/>
            <a:chOff x="6914605" y="1790791"/>
            <a:chExt cx="4554584" cy="4200706"/>
          </a:xfrm>
        </p:grpSpPr>
        <p:sp>
          <p:nvSpPr>
            <p:cNvPr id="31" name="圓角矩形 30"/>
            <p:cNvSpPr/>
            <p:nvPr/>
          </p:nvSpPr>
          <p:spPr>
            <a:xfrm>
              <a:off x="6914606" y="5286103"/>
              <a:ext cx="4554583" cy="7053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Computer Hardware</a:t>
              </a:r>
              <a:endParaRPr lang="zh-TW" altLang="en-US" dirty="0"/>
            </a:p>
          </p:txBody>
        </p:sp>
        <p:sp>
          <p:nvSpPr>
            <p:cNvPr id="33" name="圓角矩形 32"/>
            <p:cNvSpPr/>
            <p:nvPr/>
          </p:nvSpPr>
          <p:spPr>
            <a:xfrm>
              <a:off x="6914605" y="4332515"/>
              <a:ext cx="4554583" cy="705394"/>
            </a:xfrm>
            <a:prstGeom prst="round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Operating System</a:t>
              </a:r>
              <a:endParaRPr lang="zh-TW" altLang="en-US" dirty="0"/>
            </a:p>
          </p:txBody>
        </p:sp>
        <p:sp>
          <p:nvSpPr>
            <p:cNvPr id="34" name="圓角矩形 33"/>
            <p:cNvSpPr/>
            <p:nvPr/>
          </p:nvSpPr>
          <p:spPr>
            <a:xfrm>
              <a:off x="6914605" y="3396343"/>
              <a:ext cx="1027612" cy="661851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Browser</a:t>
              </a:r>
              <a:endParaRPr lang="zh-TW" altLang="en-US" dirty="0"/>
            </a:p>
          </p:txBody>
        </p:sp>
        <p:sp>
          <p:nvSpPr>
            <p:cNvPr id="35" name="圓角矩形 34"/>
            <p:cNvSpPr/>
            <p:nvPr/>
          </p:nvSpPr>
          <p:spPr>
            <a:xfrm>
              <a:off x="8164284" y="3396342"/>
              <a:ext cx="866505" cy="661851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Editor</a:t>
              </a:r>
              <a:endParaRPr lang="zh-TW" altLang="en-US" dirty="0"/>
            </a:p>
          </p:txBody>
        </p:sp>
        <p:sp>
          <p:nvSpPr>
            <p:cNvPr id="36" name="圓角矩形 35"/>
            <p:cNvSpPr/>
            <p:nvPr/>
          </p:nvSpPr>
          <p:spPr>
            <a:xfrm>
              <a:off x="10328367" y="3396342"/>
              <a:ext cx="1140822" cy="661851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Database</a:t>
              </a:r>
              <a:endParaRPr lang="zh-TW" altLang="en-US" dirty="0"/>
            </a:p>
          </p:txBody>
        </p:sp>
        <p:sp>
          <p:nvSpPr>
            <p:cNvPr id="37" name="圓角矩形 36"/>
            <p:cNvSpPr/>
            <p:nvPr/>
          </p:nvSpPr>
          <p:spPr>
            <a:xfrm>
              <a:off x="9191896" y="3396342"/>
              <a:ext cx="866505" cy="661851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Player</a:t>
              </a:r>
              <a:endParaRPr lang="zh-TW" altLang="en-US" dirty="0"/>
            </a:p>
          </p:txBody>
        </p:sp>
        <p:sp>
          <p:nvSpPr>
            <p:cNvPr id="38" name="橢圓 37"/>
            <p:cNvSpPr/>
            <p:nvPr/>
          </p:nvSpPr>
          <p:spPr>
            <a:xfrm>
              <a:off x="6971210" y="1790791"/>
              <a:ext cx="914401" cy="786946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User</a:t>
              </a:r>
              <a:endParaRPr lang="zh-TW" altLang="en-US" dirty="0"/>
            </a:p>
          </p:txBody>
        </p:sp>
        <p:sp>
          <p:nvSpPr>
            <p:cNvPr id="39" name="橢圓 38"/>
            <p:cNvSpPr/>
            <p:nvPr/>
          </p:nvSpPr>
          <p:spPr>
            <a:xfrm>
              <a:off x="10439399" y="1790791"/>
              <a:ext cx="914401" cy="786946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User</a:t>
              </a:r>
              <a:endParaRPr lang="zh-TW" altLang="en-US" dirty="0"/>
            </a:p>
          </p:txBody>
        </p:sp>
        <p:sp>
          <p:nvSpPr>
            <p:cNvPr id="40" name="橢圓 39"/>
            <p:cNvSpPr/>
            <p:nvPr/>
          </p:nvSpPr>
          <p:spPr>
            <a:xfrm>
              <a:off x="9167947" y="1790791"/>
              <a:ext cx="914401" cy="786946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User</a:t>
              </a:r>
              <a:endParaRPr lang="zh-TW" altLang="en-US" dirty="0"/>
            </a:p>
          </p:txBody>
        </p:sp>
        <p:sp>
          <p:nvSpPr>
            <p:cNvPr id="41" name="橢圓 40"/>
            <p:cNvSpPr/>
            <p:nvPr/>
          </p:nvSpPr>
          <p:spPr>
            <a:xfrm>
              <a:off x="8140335" y="1790791"/>
              <a:ext cx="914401" cy="786946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User</a:t>
              </a:r>
              <a:endParaRPr lang="zh-TW" altLang="en-US" dirty="0"/>
            </a:p>
          </p:txBody>
        </p:sp>
        <p:cxnSp>
          <p:nvCxnSpPr>
            <p:cNvPr id="42" name="直線單箭頭接點 41"/>
            <p:cNvCxnSpPr>
              <a:stCxn id="38" idx="4"/>
              <a:endCxn id="34" idx="0"/>
            </p:cNvCxnSpPr>
            <p:nvPr/>
          </p:nvCxnSpPr>
          <p:spPr>
            <a:xfrm>
              <a:off x="7428411" y="2577737"/>
              <a:ext cx="0" cy="81860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單箭頭接點 42"/>
            <p:cNvCxnSpPr/>
            <p:nvPr/>
          </p:nvCxnSpPr>
          <p:spPr>
            <a:xfrm>
              <a:off x="8597535" y="2577736"/>
              <a:ext cx="0" cy="81860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單箭頭接點 43"/>
            <p:cNvCxnSpPr/>
            <p:nvPr/>
          </p:nvCxnSpPr>
          <p:spPr>
            <a:xfrm>
              <a:off x="9625147" y="2577736"/>
              <a:ext cx="0" cy="81860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單箭頭接點 44"/>
            <p:cNvCxnSpPr/>
            <p:nvPr/>
          </p:nvCxnSpPr>
          <p:spPr>
            <a:xfrm>
              <a:off x="10918370" y="2577736"/>
              <a:ext cx="0" cy="81860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18053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Popular Distributed Platforms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Hadoop</a:t>
            </a:r>
          </a:p>
          <a:p>
            <a:r>
              <a:rPr lang="en-US" altLang="zh-TW" dirty="0"/>
              <a:t>Spark</a:t>
            </a:r>
          </a:p>
          <a:p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12974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Apache Hadoop Project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For reliable, scalable, distributed computing</a:t>
            </a:r>
          </a:p>
          <a:p>
            <a:pPr lvl="1"/>
            <a:r>
              <a:rPr lang="en-US" altLang="zh-TW" dirty="0"/>
              <a:t>Hadoop has been demonstrated on GNU/Linux clusters with 2,000 nodes</a:t>
            </a:r>
          </a:p>
          <a:p>
            <a:pPr lvl="1"/>
            <a:r>
              <a:rPr lang="en-US" altLang="zh-TW" dirty="0"/>
              <a:t>Windows is also supported</a:t>
            </a:r>
          </a:p>
          <a:p>
            <a:r>
              <a:rPr lang="en-US" altLang="zh-TW" dirty="0">
                <a:hlinkClick r:id="rId2"/>
              </a:rPr>
              <a:t>http://Hadoop.apache.org/</a:t>
            </a:r>
            <a:endParaRPr lang="en-US" altLang="zh-TW" dirty="0"/>
          </a:p>
          <a:p>
            <a:pPr lvl="1"/>
            <a:r>
              <a:rPr lang="en-US" altLang="zh-TW" dirty="0"/>
              <a:t>Current version: </a:t>
            </a:r>
            <a:r>
              <a:rPr lang="en-US" altLang="zh-TW" dirty="0">
                <a:solidFill>
                  <a:srgbClr val="0000FF"/>
                </a:solidFill>
              </a:rPr>
              <a:t>3.4.2 (Aug. 29, 2025)</a:t>
            </a:r>
            <a:endParaRPr lang="en-US" altLang="zh-TW" dirty="0"/>
          </a:p>
          <a:p>
            <a:pPr lvl="1"/>
            <a:r>
              <a:rPr lang="en-US" altLang="zh-TW" dirty="0"/>
              <a:t>Required software</a:t>
            </a:r>
          </a:p>
          <a:p>
            <a:pPr lvl="2"/>
            <a:r>
              <a:rPr lang="en-US" altLang="zh-TW" dirty="0"/>
              <a:t>Java</a:t>
            </a:r>
          </a:p>
          <a:p>
            <a:pPr lvl="2"/>
            <a:r>
              <a:rPr lang="en-US" altLang="zh-TW" dirty="0" err="1"/>
              <a:t>Ssh</a:t>
            </a:r>
            <a:endParaRPr lang="en-US" altLang="zh-TW" dirty="0"/>
          </a:p>
          <a:p>
            <a:pPr lvl="2"/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597313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Hadoop Architecture</a:t>
            </a:r>
            <a:endParaRPr lang="zh-TW" altLang="en-US"/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內容版面配置區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590800" y="1481931"/>
            <a:ext cx="7010400" cy="5038725"/>
          </a:xfrm>
          <a:prstGeom prst="rect">
            <a:avLst/>
          </a:prstGeom>
        </p:spPr>
      </p:pic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756853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MapReduce</a:t>
            </a:r>
          </a:p>
          <a:p>
            <a:pPr lvl="1"/>
            <a:r>
              <a:rPr lang="en-US" altLang="zh-TW" dirty="0"/>
              <a:t>Software framework for easily writing applications which process vast amounts of data in-parallel on large clusters of commodity hardware in a reliable, fault-tolerant manner</a:t>
            </a:r>
          </a:p>
          <a:p>
            <a:r>
              <a:rPr lang="en-US" altLang="zh-TW" dirty="0"/>
              <a:t>HDFS: Hadoop Distributed File System</a:t>
            </a:r>
          </a:p>
          <a:p>
            <a:pPr lvl="1"/>
            <a:r>
              <a:rPr lang="en-US" altLang="zh-TW" dirty="0"/>
              <a:t>A distributed file system designed to run on commodity hardware</a:t>
            </a:r>
          </a:p>
          <a:p>
            <a:pPr lvl="1"/>
            <a:r>
              <a:rPr lang="en-US" altLang="zh-TW" dirty="0"/>
              <a:t>Fault-tolerant</a:t>
            </a:r>
          </a:p>
          <a:p>
            <a:pPr lvl="1"/>
            <a:r>
              <a:rPr lang="en-US" altLang="zh-TW" dirty="0"/>
              <a:t>Low-cost</a:t>
            </a:r>
          </a:p>
          <a:p>
            <a:pPr lvl="1"/>
            <a:r>
              <a:rPr lang="en-US" altLang="zh-TW" dirty="0"/>
              <a:t>High throughput</a:t>
            </a:r>
          </a:p>
          <a:p>
            <a:pPr lvl="1"/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765867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Assumptions and Goals of HDFS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Hardware failure</a:t>
            </a:r>
          </a:p>
          <a:p>
            <a:pPr lvl="1"/>
            <a:r>
              <a:rPr lang="en-US" altLang="zh-TW" dirty="0"/>
              <a:t>Detection of faults and quick, automatic recovery from them is a core architectural goal</a:t>
            </a:r>
          </a:p>
          <a:p>
            <a:r>
              <a:rPr lang="en-US" altLang="zh-TW" dirty="0"/>
              <a:t>Streaming data access</a:t>
            </a:r>
          </a:p>
          <a:p>
            <a:pPr lvl="1"/>
            <a:r>
              <a:rPr lang="en-US" altLang="zh-TW" dirty="0"/>
              <a:t>Batch processing, high throughput</a:t>
            </a:r>
          </a:p>
          <a:p>
            <a:r>
              <a:rPr lang="en-US" altLang="zh-TW" dirty="0">
                <a:solidFill>
                  <a:srgbClr val="0000FF"/>
                </a:solidFill>
              </a:rPr>
              <a:t>Large</a:t>
            </a:r>
            <a:r>
              <a:rPr lang="en-US" altLang="zh-TW" dirty="0"/>
              <a:t> data sets</a:t>
            </a:r>
          </a:p>
          <a:p>
            <a:r>
              <a:rPr lang="en-US" altLang="zh-TW" dirty="0"/>
              <a:t>Simple coherency model</a:t>
            </a:r>
          </a:p>
          <a:p>
            <a:pPr lvl="1"/>
            <a:r>
              <a:rPr lang="en-US" altLang="zh-TW" dirty="0">
                <a:solidFill>
                  <a:srgbClr val="0000FF"/>
                </a:solidFill>
              </a:rPr>
              <a:t>Write-once-read-many </a:t>
            </a:r>
            <a:r>
              <a:rPr lang="en-US" altLang="zh-TW" dirty="0"/>
              <a:t>access model</a:t>
            </a:r>
          </a:p>
          <a:p>
            <a:r>
              <a:rPr lang="en-US" altLang="zh-TW" dirty="0"/>
              <a:t>Moving computation is cheaper than moving data</a:t>
            </a:r>
          </a:p>
          <a:p>
            <a:r>
              <a:rPr lang="en-US" altLang="zh-TW" dirty="0"/>
              <a:t>Portability across heterogeneous hardware and software platforms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601025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HDFS Architecture – Master/Slave</a:t>
            </a:r>
            <a:endParaRPr lang="zh-TW" altLang="en-US" dirty="0"/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6100" y="1825625"/>
            <a:ext cx="6299799" cy="4351338"/>
          </a:xfrm>
        </p:spPr>
      </p:pic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62900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NameNode</a:t>
            </a:r>
            <a:r>
              <a:rPr lang="en-US" altLang="zh-TW" dirty="0"/>
              <a:t> and </a:t>
            </a:r>
            <a:r>
              <a:rPr lang="en-US" altLang="zh-TW" dirty="0" err="1"/>
              <a:t>DataNodes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Master/slave architecture</a:t>
            </a:r>
          </a:p>
          <a:p>
            <a:pPr lvl="1"/>
            <a:r>
              <a:rPr lang="en-US" altLang="zh-TW" dirty="0"/>
              <a:t>A single </a:t>
            </a:r>
            <a:r>
              <a:rPr lang="en-US" altLang="zh-TW" dirty="0" err="1"/>
              <a:t>NameNode</a:t>
            </a:r>
            <a:r>
              <a:rPr lang="en-US" altLang="zh-TW" dirty="0"/>
              <a:t>: master server that manages the file system namespace and regulates access to files by clients</a:t>
            </a:r>
          </a:p>
          <a:p>
            <a:pPr lvl="1"/>
            <a:r>
              <a:rPr lang="en-US" altLang="zh-TW" dirty="0"/>
              <a:t>A number of </a:t>
            </a:r>
            <a:r>
              <a:rPr lang="en-US" altLang="zh-TW" dirty="0" err="1"/>
              <a:t>DataNodes</a:t>
            </a:r>
            <a:r>
              <a:rPr lang="en-US" altLang="zh-TW" dirty="0"/>
              <a:t>: manage storage attached to the nodes that they run on</a:t>
            </a:r>
          </a:p>
          <a:p>
            <a:r>
              <a:rPr lang="en-US" altLang="zh-TW" dirty="0" err="1"/>
              <a:t>NameNode</a:t>
            </a:r>
            <a:r>
              <a:rPr lang="en-US" altLang="zh-TW" dirty="0"/>
              <a:t>: file system namespace operations: opening, closing, renaming files and directories, determining the mapping of blocks to </a:t>
            </a:r>
            <a:r>
              <a:rPr lang="en-US" altLang="zh-TW" dirty="0" err="1"/>
              <a:t>DataNodes</a:t>
            </a:r>
            <a:endParaRPr lang="en-US" altLang="zh-TW" dirty="0"/>
          </a:p>
          <a:p>
            <a:r>
              <a:rPr lang="en-US" altLang="zh-TW" dirty="0" err="1"/>
              <a:t>DataNodes</a:t>
            </a:r>
            <a:r>
              <a:rPr lang="en-US" altLang="zh-TW" dirty="0"/>
              <a:t>: serving read and write requests from clients, block creation, deletion, replication</a:t>
            </a:r>
          </a:p>
          <a:p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392039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Data Replication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Each file as a sequence of blocks, which are replicated for fault tolerance</a:t>
            </a:r>
          </a:p>
          <a:p>
            <a:pPr lvl="1"/>
            <a:r>
              <a:rPr lang="en-US" altLang="zh-TW" dirty="0"/>
              <a:t>Block size, replication factor: configurable</a:t>
            </a:r>
          </a:p>
          <a:p>
            <a:r>
              <a:rPr lang="en-US" altLang="zh-TW" dirty="0"/>
              <a:t>All blocks except the last are the same size</a:t>
            </a:r>
          </a:p>
          <a:p>
            <a:r>
              <a:rPr lang="en-US" altLang="zh-TW" dirty="0"/>
              <a:t>Files in HDFS are write-once (except for appends and truncates) and have strictly one writer at any time</a:t>
            </a:r>
          </a:p>
          <a:p>
            <a:r>
              <a:rPr lang="en-US" altLang="zh-TW" dirty="0" err="1"/>
              <a:t>NameNode</a:t>
            </a:r>
            <a:r>
              <a:rPr lang="en-US" altLang="zh-TW" dirty="0"/>
              <a:t> makes all decisions regarding replication of blocks</a:t>
            </a:r>
          </a:p>
          <a:p>
            <a:pPr lvl="1"/>
            <a:r>
              <a:rPr lang="en-US" altLang="zh-TW" dirty="0"/>
              <a:t>It periodically receives a Heartbeat and a </a:t>
            </a:r>
            <a:r>
              <a:rPr lang="en-US" altLang="zh-TW" dirty="0" err="1"/>
              <a:t>Blockreport</a:t>
            </a:r>
            <a:r>
              <a:rPr lang="en-US" altLang="zh-TW" dirty="0"/>
              <a:t> from each of the </a:t>
            </a:r>
            <a:r>
              <a:rPr lang="en-US" altLang="zh-TW" dirty="0" err="1"/>
              <a:t>DataNodes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01644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8361" y="1825625"/>
            <a:ext cx="7095277" cy="4351338"/>
          </a:xfrm>
        </p:spPr>
      </p:pic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56346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Architecture of Google File Systems</a:t>
            </a:r>
            <a:endParaRPr lang="zh-TW" altLang="en-US" dirty="0"/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34999" y="2247210"/>
            <a:ext cx="9522001" cy="3508167"/>
          </a:xfrm>
          <a:prstGeom prst="rect">
            <a:avLst/>
          </a:prstGeom>
        </p:spPr>
      </p:pic>
      <p:sp>
        <p:nvSpPr>
          <p:cNvPr id="6" name="文字方塊 5"/>
          <p:cNvSpPr txBox="1"/>
          <p:nvPr/>
        </p:nvSpPr>
        <p:spPr>
          <a:xfrm>
            <a:off x="1086598" y="5755377"/>
            <a:ext cx="100188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1"/>
            <a:r>
              <a:rPr lang="en-US" altLang="zh-TW" dirty="0"/>
              <a:t>[Source: Sanjay </a:t>
            </a:r>
            <a:r>
              <a:rPr lang="en-US" altLang="zh-TW" dirty="0" err="1"/>
              <a:t>Ghemawat</a:t>
            </a:r>
            <a:r>
              <a:rPr lang="en-US" altLang="zh-TW" dirty="0"/>
              <a:t>, Howard </a:t>
            </a:r>
            <a:r>
              <a:rPr lang="en-US" altLang="zh-TW" dirty="0" err="1"/>
              <a:t>Gobioff</a:t>
            </a:r>
            <a:r>
              <a:rPr lang="en-US" altLang="zh-TW" dirty="0"/>
              <a:t>, Shun-</a:t>
            </a:r>
            <a:r>
              <a:rPr lang="en-US" altLang="zh-TW" dirty="0" err="1"/>
              <a:t>Tak</a:t>
            </a:r>
            <a:r>
              <a:rPr lang="en-US" altLang="zh-TW" dirty="0"/>
              <a:t> Leung, The Google File System, Proceedings of the 19th ACM Symposium on Operating Systems Principles (SOSP), pp. 20-43, 2003.]</a:t>
            </a:r>
            <a:endParaRPr lang="zh-TW" altLang="en-US" dirty="0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88706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MapReduce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Map tasks</a:t>
            </a:r>
          </a:p>
          <a:p>
            <a:r>
              <a:rPr lang="en-US" altLang="zh-TW" dirty="0"/>
              <a:t>Reduce tasks</a:t>
            </a:r>
          </a:p>
          <a:p>
            <a:r>
              <a:rPr lang="en-US" altLang="zh-TW" dirty="0"/>
              <a:t>A single master </a:t>
            </a:r>
            <a:r>
              <a:rPr lang="en-US" altLang="zh-TW" dirty="0" err="1"/>
              <a:t>ResourceManager</a:t>
            </a:r>
            <a:endParaRPr lang="en-US" altLang="zh-TW" dirty="0"/>
          </a:p>
          <a:p>
            <a:r>
              <a:rPr lang="en-US" altLang="zh-TW" dirty="0"/>
              <a:t>One worker </a:t>
            </a:r>
            <a:r>
              <a:rPr lang="en-US" altLang="zh-TW" dirty="0" err="1"/>
              <a:t>NodeManager</a:t>
            </a:r>
            <a:r>
              <a:rPr lang="en-US" altLang="zh-TW" dirty="0"/>
              <a:t> per cluster node</a:t>
            </a:r>
          </a:p>
          <a:p>
            <a:r>
              <a:rPr lang="en-US" altLang="zh-TW" dirty="0" err="1"/>
              <a:t>MRAppMaster</a:t>
            </a:r>
            <a:r>
              <a:rPr lang="en-US" altLang="zh-TW" dirty="0"/>
              <a:t> per application</a:t>
            </a:r>
          </a:p>
          <a:p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64244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New Functions after Hadoop 2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HDFS Federation</a:t>
            </a:r>
          </a:p>
          <a:p>
            <a:r>
              <a:rPr lang="en-US" altLang="zh-TW" dirty="0"/>
              <a:t>YARN (Yet Another Resource Negotiator)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44440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HDFS Federation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Two major components in HDFS</a:t>
            </a:r>
          </a:p>
          <a:p>
            <a:pPr lvl="1"/>
            <a:r>
              <a:rPr lang="en-US" altLang="zh-TW" dirty="0"/>
              <a:t>Namespaces</a:t>
            </a:r>
          </a:p>
          <a:p>
            <a:pPr lvl="1"/>
            <a:r>
              <a:rPr lang="en-US" altLang="zh-TW" dirty="0"/>
              <a:t>Blocks storage service</a:t>
            </a:r>
          </a:p>
          <a:p>
            <a:r>
              <a:rPr lang="en-US" altLang="zh-TW" dirty="0"/>
              <a:t>Hadoop 1</a:t>
            </a:r>
          </a:p>
          <a:p>
            <a:pPr lvl="1"/>
            <a:r>
              <a:rPr lang="en-US" altLang="zh-TW" dirty="0"/>
              <a:t>A single </a:t>
            </a:r>
            <a:r>
              <a:rPr lang="en-US" altLang="zh-TW" dirty="0" err="1"/>
              <a:t>namenode</a:t>
            </a:r>
            <a:r>
              <a:rPr lang="en-US" altLang="zh-TW" dirty="0"/>
              <a:t> manages the entire namespace</a:t>
            </a:r>
          </a:p>
          <a:p>
            <a:r>
              <a:rPr lang="en-US" altLang="zh-TW" dirty="0"/>
              <a:t>HDFS federation</a:t>
            </a:r>
          </a:p>
          <a:p>
            <a:pPr lvl="1"/>
            <a:r>
              <a:rPr lang="en-US" altLang="zh-TW" dirty="0"/>
              <a:t>Multiple </a:t>
            </a:r>
            <a:r>
              <a:rPr lang="en-US" altLang="zh-TW" dirty="0" err="1"/>
              <a:t>namenode</a:t>
            </a:r>
            <a:r>
              <a:rPr lang="en-US" altLang="zh-TW"/>
              <a:t> servers </a:t>
            </a:r>
            <a:r>
              <a:rPr lang="en-US" altLang="zh-TW" dirty="0"/>
              <a:t>manage namespaces</a:t>
            </a:r>
          </a:p>
          <a:p>
            <a:pPr lvl="1"/>
            <a:r>
              <a:rPr lang="en-US" altLang="zh-TW" dirty="0"/>
              <a:t>Horizontal scaling, performance improvement, multiple namespaces</a:t>
            </a:r>
            <a:endParaRPr lang="zh-TW" altLang="en-US" dirty="0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AB925A9F-D454-44F5-B432-58E8CBF3C8C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7487" y="2682081"/>
            <a:ext cx="4391025" cy="2638425"/>
          </a:xfrm>
        </p:spPr>
      </p:pic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24160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Apache Hadoop YARN: starting from Hadoop 2</a:t>
            </a:r>
            <a:endParaRPr lang="zh-TW" altLang="en-US" dirty="0"/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022" y="1690689"/>
            <a:ext cx="7465956" cy="4621210"/>
          </a:xfrm>
        </p:spPr>
      </p:pic>
      <p:pic>
        <p:nvPicPr>
          <p:cNvPr id="5" name="內容版面配置區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022" y="1688043"/>
            <a:ext cx="7465956" cy="4621210"/>
          </a:xfrm>
          <a:prstGeom prst="rect">
            <a:avLst/>
          </a:prstGeom>
        </p:spPr>
      </p:pic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68406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91BF8A-0C7E-48AA-87A7-9D1D22228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What is YARN?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3AB0A41-08B0-4D85-A831-4D68454CD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b="0" i="0" dirty="0">
                <a:solidFill>
                  <a:srgbClr val="000000"/>
                </a:solidFill>
                <a:effectLst/>
              </a:rPr>
              <a:t>A distributed job submission/execution engine allowing remote callers to submit arbitrary work into the cluster</a:t>
            </a:r>
          </a:p>
          <a:p>
            <a:r>
              <a:rPr lang="en-US" altLang="zh-TW" b="0" i="0" dirty="0">
                <a:solidFill>
                  <a:srgbClr val="000000"/>
                </a:solidFill>
                <a:effectLst/>
              </a:rPr>
              <a:t>To split up the functionalities of resource management and job scheduling/monitoring into separate daemons</a:t>
            </a:r>
          </a:p>
          <a:p>
            <a:pPr lvl="1"/>
            <a:r>
              <a:rPr lang="en-US" altLang="zh-TW" dirty="0" err="1">
                <a:solidFill>
                  <a:srgbClr val="000000"/>
                </a:solidFill>
              </a:rPr>
              <a:t>ResourceManager</a:t>
            </a:r>
            <a:r>
              <a:rPr lang="en-US" altLang="zh-TW" dirty="0">
                <a:solidFill>
                  <a:srgbClr val="000000"/>
                </a:solidFill>
              </a:rPr>
              <a:t> (RM): global</a:t>
            </a:r>
          </a:p>
          <a:p>
            <a:pPr lvl="1"/>
            <a:r>
              <a:rPr lang="en-US" altLang="zh-TW" dirty="0" err="1">
                <a:solidFill>
                  <a:srgbClr val="000000"/>
                </a:solidFill>
              </a:rPr>
              <a:t>ApplicationMaster</a:t>
            </a:r>
            <a:r>
              <a:rPr lang="en-US" altLang="zh-TW" dirty="0">
                <a:solidFill>
                  <a:srgbClr val="000000"/>
                </a:solidFill>
              </a:rPr>
              <a:t> (AM): per-application</a:t>
            </a:r>
          </a:p>
          <a:p>
            <a:r>
              <a:rPr lang="en-US" altLang="zh-TW" dirty="0"/>
              <a:t>Data computation framework</a:t>
            </a:r>
          </a:p>
          <a:p>
            <a:pPr lvl="1"/>
            <a:r>
              <a:rPr lang="en-US" altLang="zh-TW" dirty="0" err="1"/>
              <a:t>ResourceManager</a:t>
            </a:r>
            <a:r>
              <a:rPr lang="en-US" altLang="zh-TW" dirty="0"/>
              <a:t>: resource arbitrator among all applications</a:t>
            </a:r>
          </a:p>
          <a:p>
            <a:pPr lvl="1"/>
            <a:r>
              <a:rPr lang="en-US" altLang="zh-TW" dirty="0" err="1"/>
              <a:t>NodeManager</a:t>
            </a:r>
            <a:r>
              <a:rPr lang="en-US" altLang="zh-TW" dirty="0"/>
              <a:t>: per-machine framework agent who is responsible for containers, monitoring their resource usage (</a:t>
            </a:r>
            <a:r>
              <a:rPr lang="en-US" altLang="zh-TW" dirty="0" err="1"/>
              <a:t>cpu</a:t>
            </a:r>
            <a:r>
              <a:rPr lang="en-US" altLang="zh-TW" dirty="0"/>
              <a:t>, memory, disk, network) and reporting the same to the </a:t>
            </a:r>
            <a:r>
              <a:rPr lang="en-US" altLang="zh-TW" dirty="0" err="1"/>
              <a:t>ResourceManager</a:t>
            </a:r>
            <a:r>
              <a:rPr lang="en-US" altLang="zh-TW" dirty="0"/>
              <a:t>/Scheduler</a:t>
            </a:r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80DC2E9-E53E-403E-9189-4113118D5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F9038D3-DD9A-4BA8-8707-537868381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D9C9419-5272-40EE-82AB-5BAF39AFA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21515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What is YARN?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The operating system of Hadoop</a:t>
            </a:r>
          </a:p>
          <a:p>
            <a:pPr lvl="1"/>
            <a:r>
              <a:rPr lang="en-US" altLang="zh-TW" dirty="0"/>
              <a:t>Managing and monitoring workloads</a:t>
            </a:r>
          </a:p>
          <a:p>
            <a:pPr lvl="1"/>
            <a:r>
              <a:rPr lang="en-US" altLang="zh-TW" dirty="0"/>
              <a:t>Maintaining a multi-tenant environment</a:t>
            </a:r>
          </a:p>
          <a:p>
            <a:pPr lvl="1"/>
            <a:r>
              <a:rPr lang="en-US" altLang="zh-TW" dirty="0"/>
              <a:t>Implementing security controls</a:t>
            </a:r>
          </a:p>
          <a:p>
            <a:pPr lvl="1"/>
            <a:r>
              <a:rPr lang="en-US" altLang="zh-TW" dirty="0"/>
              <a:t>Managing high-availability features of Hadoop</a:t>
            </a:r>
          </a:p>
          <a:p>
            <a:r>
              <a:rPr lang="en-US" altLang="zh-TW" dirty="0"/>
              <a:t>No longer limited to the I/O intensive, high-latency MapReduce model</a:t>
            </a:r>
          </a:p>
          <a:p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722822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Issues of MapReduce on HDFS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zh-TW" dirty="0"/>
              <a:t>Hard to manage</a:t>
            </a:r>
          </a:p>
          <a:p>
            <a:pPr>
              <a:defRPr/>
            </a:pPr>
            <a:r>
              <a:rPr lang="en-US" altLang="zh-TW" dirty="0" err="1"/>
              <a:t>MapReduce</a:t>
            </a:r>
            <a:r>
              <a:rPr lang="en-US" altLang="zh-TW" dirty="0"/>
              <a:t> API was verbose and required a lot of setup code, with brittle fault tolerance</a:t>
            </a:r>
          </a:p>
          <a:p>
            <a:pPr>
              <a:defRPr/>
            </a:pPr>
            <a:r>
              <a:rPr lang="en-US" altLang="zh-TW" dirty="0"/>
              <a:t>Intermediate result is written to the local disk for the subsequent stage of operation</a:t>
            </a:r>
          </a:p>
          <a:p>
            <a:pPr lvl="1">
              <a:defRPr/>
            </a:pPr>
            <a:r>
              <a:rPr lang="en-US" altLang="zh-TW" dirty="0"/>
              <a:t>Disk I/O is very time-consuming</a:t>
            </a:r>
          </a:p>
          <a:p>
            <a:pPr>
              <a:defRPr/>
            </a:pPr>
            <a:r>
              <a:rPr lang="en-US" altLang="zh-TW" dirty="0"/>
              <a:t>It falls short for workloads such as machine learning, streaming, or interactive SQL-like queries </a:t>
            </a:r>
          </a:p>
          <a:p>
            <a:pPr marL="0" indent="0">
              <a:buNone/>
              <a:defRPr/>
            </a:pPr>
            <a:r>
              <a:rPr lang="en-US" altLang="zh-TW" dirty="0">
                <a:sym typeface="Wingdings" panose="05000000000000000000" pitchFamily="2" charset="2"/>
              </a:rPr>
              <a:t> </a:t>
            </a:r>
            <a:r>
              <a:rPr lang="en-US" altLang="zh-TW" dirty="0"/>
              <a:t>Is there a way to make Hadoop and </a:t>
            </a:r>
            <a:r>
              <a:rPr lang="en-US" altLang="zh-TW" dirty="0" err="1"/>
              <a:t>MapReduce</a:t>
            </a:r>
            <a:r>
              <a:rPr lang="en-US" altLang="zh-TW" dirty="0"/>
              <a:t> simpler and faster?</a:t>
            </a:r>
            <a:endParaRPr lang="zh-TW" altLang="en-US" dirty="0"/>
          </a:p>
        </p:txBody>
      </p:sp>
      <p:sp>
        <p:nvSpPr>
          <p:cNvPr id="69636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r>
              <a:rPr kumimoji="0" lang="en-US" altLang="zh-TW"/>
              <a:t>Educational Data Mining and Applications, Fall 2025</a:t>
            </a:r>
          </a:p>
        </p:txBody>
      </p:sp>
      <p:sp>
        <p:nvSpPr>
          <p:cNvPr id="69637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r>
              <a:rPr kumimoji="0" lang="en-US" altLang="zh-TW"/>
              <a:t>NTUT CSIE</a:t>
            </a:r>
          </a:p>
        </p:txBody>
      </p:sp>
      <p:sp>
        <p:nvSpPr>
          <p:cNvPr id="69638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fld id="{5A5262F9-A520-4977-94B9-A4D6A011DEC4}" type="slidenum">
              <a:rPr kumimoji="0" lang="en-US" altLang="zh-TW" smtClean="0"/>
              <a:pPr/>
              <a:t>30</a:t>
            </a:fld>
            <a:endParaRPr kumimoji="0" lang="en-US" altLang="zh-TW"/>
          </a:p>
        </p:txBody>
      </p:sp>
    </p:spTree>
    <p:extLst>
      <p:ext uri="{BB962C8B-B14F-4D97-AF65-F5344CB8AC3E}">
        <p14:creationId xmlns:p14="http://schemas.microsoft.com/office/powerpoint/2010/main" val="17100423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Spark</a:t>
            </a:r>
            <a:endParaRPr lang="zh-TW" altLang="en-US"/>
          </a:p>
        </p:txBody>
      </p:sp>
      <p:sp>
        <p:nvSpPr>
          <p:cNvPr id="70659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/>
              <a:t>Research project at UC Berkeley</a:t>
            </a:r>
          </a:p>
          <a:p>
            <a:pPr lvl="1"/>
            <a:r>
              <a:rPr lang="en-US" altLang="zh-TW"/>
              <a:t>Matei Zaharia, Mosharaf Chowdhury, Michael J. Franklin, Scott Shenker, Ion Stoica, Spark: Cluster Computing with Working Sets, HotCloud 2010, June 2010.</a:t>
            </a:r>
          </a:p>
          <a:p>
            <a:pPr lvl="1"/>
            <a:endParaRPr lang="zh-TW" altLang="en-US"/>
          </a:p>
        </p:txBody>
      </p:sp>
      <p:sp>
        <p:nvSpPr>
          <p:cNvPr id="70660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r>
              <a:rPr kumimoji="0" lang="en-US" altLang="zh-TW"/>
              <a:t>Educational Data Mining and Applications, Fall 2025</a:t>
            </a:r>
          </a:p>
        </p:txBody>
      </p:sp>
      <p:sp>
        <p:nvSpPr>
          <p:cNvPr id="70661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r>
              <a:rPr kumimoji="0" lang="en-US" altLang="zh-TW"/>
              <a:t>NTUT CSIE</a:t>
            </a:r>
          </a:p>
        </p:txBody>
      </p:sp>
      <p:sp>
        <p:nvSpPr>
          <p:cNvPr id="70662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fld id="{B901D784-0E93-48F0-90E7-433E65673CA2}" type="slidenum">
              <a:rPr kumimoji="0" lang="en-US" altLang="zh-TW" smtClean="0"/>
              <a:pPr/>
              <a:t>31</a:t>
            </a:fld>
            <a:endParaRPr kumimoji="0" lang="en-US" altLang="zh-TW"/>
          </a:p>
        </p:txBody>
      </p:sp>
      <p:pic>
        <p:nvPicPr>
          <p:cNvPr id="70663" name="圖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0214" y="4038601"/>
            <a:ext cx="3711575" cy="2087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959031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Apache Spark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zh-TW" dirty="0">
                <a:hlinkClick r:id="rId2"/>
              </a:rPr>
              <a:t>http://spark.apache.org/</a:t>
            </a:r>
            <a:endParaRPr lang="en-US" altLang="zh-TW" dirty="0"/>
          </a:p>
          <a:p>
            <a:pPr lvl="1"/>
            <a:r>
              <a:rPr lang="en-US" altLang="zh-TW" dirty="0"/>
              <a:t>Current version: </a:t>
            </a:r>
            <a:r>
              <a:rPr lang="en-US" altLang="zh-TW" dirty="0">
                <a:solidFill>
                  <a:srgbClr val="0000FF"/>
                </a:solidFill>
              </a:rPr>
              <a:t>4.0.1 (Sep. 6, 2025)</a:t>
            </a:r>
          </a:p>
          <a:p>
            <a:r>
              <a:rPr lang="en-US" altLang="zh-TW" dirty="0"/>
              <a:t>For large-scale data processing</a:t>
            </a:r>
          </a:p>
          <a:p>
            <a:pPr lvl="1"/>
            <a:r>
              <a:rPr lang="en-US" altLang="zh-TW" dirty="0"/>
              <a:t>Spark runs on both Windows and UNIX-like systems (e.g. Linux, Mac OS)</a:t>
            </a:r>
            <a:endParaRPr lang="zh-TW" altLang="en-US" dirty="0"/>
          </a:p>
          <a:p>
            <a:pPr lvl="1"/>
            <a:r>
              <a:rPr lang="en-US" altLang="zh-TW" dirty="0"/>
              <a:t>It provides high-level APIs in Java, Scala, Python and R, and an optimized engine that supports general execution graphs</a:t>
            </a:r>
          </a:p>
          <a:p>
            <a:pPr lvl="2"/>
            <a:r>
              <a:rPr lang="en-US" altLang="zh-TW" dirty="0"/>
              <a:t>Spark runs on Java 17/21, Scala 2.13, Python 3.9+ and R 3.5+</a:t>
            </a:r>
          </a:p>
          <a:p>
            <a:pPr lvl="1"/>
            <a:r>
              <a:rPr lang="en-US" altLang="zh-TW" dirty="0"/>
              <a:t>It also supports a rich set of higher-level tools </a:t>
            </a:r>
          </a:p>
          <a:p>
            <a:pPr lvl="2"/>
            <a:r>
              <a:rPr lang="en-US" altLang="zh-TW" dirty="0"/>
              <a:t>Spark SQL and </a:t>
            </a:r>
            <a:r>
              <a:rPr lang="en-US" altLang="zh-TW" dirty="0" err="1"/>
              <a:t>DataFrames</a:t>
            </a:r>
            <a:r>
              <a:rPr lang="en-US" altLang="zh-TW" dirty="0"/>
              <a:t> for structured data processing</a:t>
            </a:r>
          </a:p>
          <a:p>
            <a:pPr lvl="2"/>
            <a:r>
              <a:rPr lang="en-US" altLang="zh-TW" dirty="0" err="1"/>
              <a:t>MLlib</a:t>
            </a:r>
            <a:r>
              <a:rPr lang="en-US" altLang="zh-TW" dirty="0"/>
              <a:t> for machine learning</a:t>
            </a:r>
          </a:p>
          <a:p>
            <a:pPr lvl="2"/>
            <a:r>
              <a:rPr lang="en-US" altLang="zh-TW" dirty="0" err="1"/>
              <a:t>GraphX</a:t>
            </a:r>
            <a:r>
              <a:rPr lang="en-US" altLang="zh-TW" dirty="0"/>
              <a:t> for graph processing</a:t>
            </a:r>
          </a:p>
          <a:p>
            <a:pPr lvl="2"/>
            <a:r>
              <a:rPr lang="en-US" altLang="zh-TW" dirty="0"/>
              <a:t>Spark Streaming</a:t>
            </a:r>
          </a:p>
          <a:p>
            <a:pPr lvl="2"/>
            <a:r>
              <a:rPr lang="en-US" altLang="zh-TW" dirty="0" err="1"/>
              <a:t>SparkR</a:t>
            </a:r>
            <a:r>
              <a:rPr lang="en-US" altLang="zh-TW" dirty="0"/>
              <a:t>: Spark in R</a:t>
            </a:r>
          </a:p>
          <a:p>
            <a:pPr lvl="2"/>
            <a:r>
              <a:rPr lang="en-US" altLang="zh-TW" dirty="0" err="1"/>
              <a:t>PySpark</a:t>
            </a:r>
            <a:r>
              <a:rPr lang="en-US" altLang="zh-TW" dirty="0"/>
              <a:t>: Spark in Python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901113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Components in Spark Platform</a:t>
            </a:r>
            <a:endParaRPr lang="zh-TW" altLang="en-US" dirty="0"/>
          </a:p>
        </p:txBody>
      </p:sp>
      <p:pic>
        <p:nvPicPr>
          <p:cNvPr id="7" name="內容版面配置區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6475" y="2001044"/>
            <a:ext cx="7639050" cy="4000500"/>
          </a:xfrm>
        </p:spPr>
      </p:pic>
      <p:sp>
        <p:nvSpPr>
          <p:cNvPr id="8" name="日期版面配置區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9" name="頁尾版面配置區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10" name="投影片編號版面配置區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86350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Spark Architecture</a:t>
            </a:r>
            <a:endParaRPr lang="zh-TW" altLang="en-US" dirty="0"/>
          </a:p>
        </p:txBody>
      </p:sp>
      <p:pic>
        <p:nvPicPr>
          <p:cNvPr id="6" name="內容版面配置區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7481" y="1952978"/>
            <a:ext cx="8537038" cy="4096632"/>
          </a:xfrm>
        </p:spPr>
      </p:pic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241421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Components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Spark applications</a:t>
            </a:r>
          </a:p>
          <a:p>
            <a:pPr lvl="1"/>
            <a:r>
              <a:rPr lang="en-US" altLang="zh-TW" dirty="0"/>
              <a:t>Independent sets of processes on a cluster, coordinated by the </a:t>
            </a:r>
            <a:r>
              <a:rPr lang="en-US" altLang="zh-TW" dirty="0" err="1"/>
              <a:t>SparkContext</a:t>
            </a:r>
            <a:r>
              <a:rPr lang="en-US" altLang="zh-TW" dirty="0"/>
              <a:t> object in main (Driver) program</a:t>
            </a:r>
          </a:p>
          <a:p>
            <a:r>
              <a:rPr lang="en-US" altLang="zh-TW" dirty="0"/>
              <a:t>Cluster managers</a:t>
            </a:r>
          </a:p>
          <a:p>
            <a:pPr lvl="1"/>
            <a:r>
              <a:rPr lang="en-US" altLang="zh-TW" dirty="0"/>
              <a:t>Allocate resources across applications</a:t>
            </a:r>
          </a:p>
          <a:p>
            <a:r>
              <a:rPr lang="en-US" altLang="zh-TW" dirty="0"/>
              <a:t>Executors</a:t>
            </a:r>
          </a:p>
          <a:p>
            <a:pPr lvl="1"/>
            <a:r>
              <a:rPr lang="en-US" altLang="zh-TW" dirty="0"/>
              <a:t>Processes that run computations and store data</a:t>
            </a:r>
          </a:p>
          <a:p>
            <a:pPr lvl="1"/>
            <a:r>
              <a:rPr lang="en-US" altLang="zh-TW" dirty="0"/>
              <a:t>Spark sends your application code (JAR or python files) to executors, and </a:t>
            </a:r>
            <a:r>
              <a:rPr lang="en-US" altLang="zh-TW" dirty="0" err="1"/>
              <a:t>SparkContext</a:t>
            </a:r>
            <a:r>
              <a:rPr lang="en-US" altLang="zh-TW" dirty="0"/>
              <a:t> sends tasks to executors to run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03178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Note about the architecture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Each application has its own executor processes</a:t>
            </a:r>
          </a:p>
          <a:p>
            <a:pPr lvl="1"/>
            <a:r>
              <a:rPr lang="en-US" altLang="zh-TW" dirty="0"/>
              <a:t>Benefit: isolating applications from each other</a:t>
            </a:r>
          </a:p>
          <a:p>
            <a:pPr lvl="1"/>
            <a:r>
              <a:rPr lang="en-US" altLang="zh-TW" dirty="0"/>
              <a:t>Cons: data cannot be shared across different applications without writing to external storage</a:t>
            </a:r>
          </a:p>
          <a:p>
            <a:r>
              <a:rPr lang="en-US" altLang="zh-TW" dirty="0"/>
              <a:t>Spark is agnostic to the underlying cluster manager</a:t>
            </a:r>
          </a:p>
          <a:p>
            <a:r>
              <a:rPr lang="en-US" altLang="zh-TW" dirty="0"/>
              <a:t>Driver program must listen for and accept incoming connections from its executors throughout its lifetime</a:t>
            </a:r>
          </a:p>
          <a:p>
            <a:pPr lvl="1"/>
            <a:r>
              <a:rPr lang="en-US" altLang="zh-TW" dirty="0"/>
              <a:t>Driver must be network addressable from the workers</a:t>
            </a:r>
          </a:p>
          <a:p>
            <a:r>
              <a:rPr lang="en-US" altLang="zh-TW" dirty="0"/>
              <a:t>Driver program should be run close to the worker nodes, since it schedules tasks on the cluster</a:t>
            </a:r>
          </a:p>
          <a:p>
            <a:pPr lvl="1"/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65487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Cluster Manager Types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>
                <a:solidFill>
                  <a:srgbClr val="0000FF"/>
                </a:solidFill>
              </a:rPr>
              <a:t>Standalone</a:t>
            </a:r>
            <a:r>
              <a:rPr lang="en-US" altLang="zh-TW" dirty="0"/>
              <a:t>: a simple cluster manager included in Spark</a:t>
            </a:r>
          </a:p>
          <a:p>
            <a:pPr lvl="1"/>
            <a:r>
              <a:rPr lang="en-US" altLang="zh-TW" dirty="0"/>
              <a:t>Faster job startup, but it doesn’t support communication with an HDFS secured with Kerberos authentication protocol</a:t>
            </a:r>
          </a:p>
          <a:p>
            <a:r>
              <a:rPr lang="en-US" altLang="zh-TW" dirty="0">
                <a:solidFill>
                  <a:srgbClr val="0000FF"/>
                </a:solidFill>
              </a:rPr>
              <a:t>Hadoop YARN</a:t>
            </a:r>
            <a:r>
              <a:rPr lang="en-US" altLang="zh-TW" dirty="0"/>
              <a:t>: resource manager in Hadoop 2</a:t>
            </a:r>
          </a:p>
          <a:p>
            <a:pPr lvl="1"/>
            <a:r>
              <a:rPr lang="en-US" altLang="zh-TW" dirty="0"/>
              <a:t>YARN lets you run different types of Java applications, not just Spark</a:t>
            </a:r>
          </a:p>
          <a:p>
            <a:pPr lvl="1"/>
            <a:r>
              <a:rPr lang="en-US" altLang="zh-TW" dirty="0"/>
              <a:t>It also provides methods for isolating and prioritizing applications among users and organizations</a:t>
            </a:r>
          </a:p>
          <a:p>
            <a:r>
              <a:rPr lang="en-US" altLang="zh-TW" dirty="0">
                <a:solidFill>
                  <a:srgbClr val="0000FF"/>
                </a:solidFill>
              </a:rPr>
              <a:t>Kubernetes</a:t>
            </a:r>
            <a:r>
              <a:rPr lang="en-US" altLang="zh-TW" dirty="0"/>
              <a:t>: open-source system for automating deployment, scaling, and management of containerized applications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304636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Spark Standalone Cluster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Two deploy modes for Spark Standalone cluster</a:t>
            </a:r>
          </a:p>
          <a:p>
            <a:pPr lvl="1"/>
            <a:r>
              <a:rPr lang="en-US" altLang="zh-TW" dirty="0">
                <a:solidFill>
                  <a:srgbClr val="0000FF"/>
                </a:solidFill>
              </a:rPr>
              <a:t>Client</a:t>
            </a:r>
            <a:r>
              <a:rPr lang="en-US" altLang="zh-TW" dirty="0"/>
              <a:t> mode: driver is launched in the same process as the client that submits the application</a:t>
            </a:r>
          </a:p>
          <a:p>
            <a:pPr lvl="1"/>
            <a:r>
              <a:rPr lang="en-US" altLang="zh-TW" dirty="0">
                <a:solidFill>
                  <a:srgbClr val="0000FF"/>
                </a:solidFill>
              </a:rPr>
              <a:t>Cluster</a:t>
            </a:r>
            <a:r>
              <a:rPr lang="en-US" altLang="zh-TW" dirty="0"/>
              <a:t> mode: driver is launched from one of the Worker processes in the cluster, and the client exits as soon as it fulfills its submission of application</a:t>
            </a:r>
          </a:p>
          <a:p>
            <a:pPr lvl="1"/>
            <a:endParaRPr lang="en-US" altLang="zh-TW" dirty="0"/>
          </a:p>
          <a:p>
            <a:pPr lvl="1"/>
            <a:endParaRPr lang="zh-TW" altLang="en-US"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0754" y="3832656"/>
            <a:ext cx="3996268" cy="3025344"/>
          </a:xfrm>
          <a:prstGeom prst="rect">
            <a:avLst/>
          </a:prstGeom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5371" y="3785532"/>
            <a:ext cx="2802590" cy="3119592"/>
          </a:xfrm>
          <a:prstGeom prst="rect">
            <a:avLst/>
          </a:prstGeom>
        </p:spPr>
      </p:pic>
      <p:sp>
        <p:nvSpPr>
          <p:cNvPr id="6" name="日期版面配置區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8" name="投影片編號版面配置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51418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Spark on YARN cluster mode</a:t>
            </a:r>
            <a:endParaRPr lang="zh-TW" altLang="en-US" dirty="0"/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8136" y="1825625"/>
            <a:ext cx="5795727" cy="4351338"/>
          </a:xfrm>
        </p:spPr>
      </p:pic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054322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Spark on YARN client mode</a:t>
            </a:r>
            <a:endParaRPr lang="zh-TW" altLang="en-US" dirty="0"/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8136" y="1825625"/>
            <a:ext cx="5795727" cy="4351338"/>
          </a:xfrm>
        </p:spPr>
      </p:pic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794392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Spark on Kubernetes</a:t>
            </a:r>
            <a:endParaRPr lang="zh-TW" altLang="en-US" dirty="0"/>
          </a:p>
        </p:txBody>
      </p:sp>
      <p:pic>
        <p:nvPicPr>
          <p:cNvPr id="7" name="內容版面配置區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7310" y="1825625"/>
            <a:ext cx="6417380" cy="4351338"/>
          </a:xfrm>
        </p:spPr>
      </p:pic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1313164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489892-66AD-4939-9EA1-7DD3DF0F0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Spark and Hadoop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6B14CF7-AFA8-4776-8B2B-C98C584D66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You can run Spark alongside your existing Hadoop cluster</a:t>
            </a:r>
          </a:p>
          <a:p>
            <a:pPr lvl="1"/>
            <a:r>
              <a:rPr lang="en-US" altLang="zh-TW" dirty="0"/>
              <a:t>Just launching it as a separate service on the same machines </a:t>
            </a:r>
          </a:p>
          <a:p>
            <a:pPr lvl="1"/>
            <a:r>
              <a:rPr lang="en-US" altLang="zh-TW" dirty="0"/>
              <a:t>To access Hadoop data from Spark, just use an hdfs:// URL (typically hdfs://&lt;namenode&gt;:9000/path, but you can find the right URL on your Hadoop </a:t>
            </a:r>
            <a:r>
              <a:rPr lang="en-US" altLang="zh-TW" dirty="0" err="1"/>
              <a:t>Namenode’s</a:t>
            </a:r>
            <a:r>
              <a:rPr lang="en-US" altLang="zh-TW" dirty="0"/>
              <a:t> web UI)</a:t>
            </a:r>
          </a:p>
          <a:p>
            <a:r>
              <a:rPr lang="en-US" altLang="zh-TW" dirty="0"/>
              <a:t>Alternatively, you can set up a separate cluster for Spark</a:t>
            </a:r>
          </a:p>
          <a:p>
            <a:pPr lvl="1"/>
            <a:r>
              <a:rPr lang="en-US" altLang="zh-TW" dirty="0"/>
              <a:t>still have it access HDFS over the network</a:t>
            </a:r>
          </a:p>
          <a:p>
            <a:pPr lvl="1"/>
            <a:r>
              <a:rPr lang="en-US" altLang="zh-TW" dirty="0"/>
              <a:t>this will be slower than disk-local access, but may not be a concern if you are still running in the same local area network</a:t>
            </a:r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9D85C14-3156-49A3-8619-7F3C8D369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083CC76-8879-41E3-AB69-CF45C6BC3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47889BE-E81F-4DE5-8389-D7DE5D519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9578155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內容版面配置區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712370" y="1825625"/>
            <a:ext cx="8767259" cy="4351338"/>
          </a:xfrm>
          <a:prstGeom prst="rect">
            <a:avLst/>
          </a:prstGeom>
        </p:spPr>
      </p:pic>
      <p:sp>
        <p:nvSpPr>
          <p:cNvPr id="58370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Spark and Hadoop</a:t>
            </a:r>
            <a:endParaRPr lang="zh-TW" altLang="en-US"/>
          </a:p>
        </p:txBody>
      </p:sp>
      <p:sp>
        <p:nvSpPr>
          <p:cNvPr id="6" name="圓角矩形 5"/>
          <p:cNvSpPr/>
          <p:nvPr/>
        </p:nvSpPr>
        <p:spPr>
          <a:xfrm>
            <a:off x="3681454" y="4104198"/>
            <a:ext cx="6629400" cy="45720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8" name="投影片編號版面配置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41320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RDD (Core but Old API)</a:t>
            </a:r>
            <a:endParaRPr lang="zh-TW" altLang="en-US" dirty="0"/>
          </a:p>
        </p:txBody>
      </p:sp>
      <p:pic>
        <p:nvPicPr>
          <p:cNvPr id="78851" name="內容版面配置區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61"/>
          <a:stretch>
            <a:fillRect/>
          </a:stretch>
        </p:blipFill>
        <p:spPr>
          <a:xfrm>
            <a:off x="2346325" y="1381126"/>
            <a:ext cx="7499350" cy="4530725"/>
          </a:xfrm>
        </p:spPr>
      </p:pic>
      <p:sp>
        <p:nvSpPr>
          <p:cNvPr id="78852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Educational Data Mining and Applications, Fall 2025</a:t>
            </a:r>
          </a:p>
        </p:txBody>
      </p:sp>
      <p:sp>
        <p:nvSpPr>
          <p:cNvPr id="78853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78854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CAB69E6F-06D2-4377-A2F5-5740F758098C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44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6240463" y="5746750"/>
            <a:ext cx="33095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[source: </a:t>
            </a:r>
            <a:r>
              <a:rPr lang="en-US" altLang="zh-TW" dirty="0" err="1">
                <a:solidFill>
                  <a:schemeClr val="bg1">
                    <a:lumMod val="75000"/>
                  </a:schemeClr>
                </a:solidFill>
              </a:rPr>
              <a:t>Zaharia</a:t>
            </a:r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 et.al, NSDI 2012]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260342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0680EF4-0F39-485E-97D1-95B544D8F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History of Spark APIs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AF04A82-2B58-4C58-8277-27DB52C61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RDDs: 2011</a:t>
            </a:r>
          </a:p>
          <a:p>
            <a:pPr lvl="1"/>
            <a:r>
              <a:rPr lang="en-US" altLang="zh-TW" dirty="0"/>
              <a:t>Low-level API</a:t>
            </a:r>
          </a:p>
          <a:p>
            <a:pPr lvl="1"/>
            <a:r>
              <a:rPr lang="en-US" altLang="zh-TW" dirty="0"/>
              <a:t>Available in Python, Scala, Java, R</a:t>
            </a:r>
          </a:p>
          <a:p>
            <a:r>
              <a:rPr lang="en-US" altLang="zh-TW" dirty="0" err="1"/>
              <a:t>DataFrames</a:t>
            </a:r>
            <a:r>
              <a:rPr lang="en-US" altLang="zh-TW" dirty="0"/>
              <a:t>: 2013</a:t>
            </a:r>
          </a:p>
          <a:p>
            <a:pPr lvl="1"/>
            <a:r>
              <a:rPr lang="en-US" altLang="zh-TW" dirty="0"/>
              <a:t>High-level API</a:t>
            </a:r>
          </a:p>
          <a:p>
            <a:pPr lvl="1"/>
            <a:r>
              <a:rPr lang="en-US" altLang="zh-TW" dirty="0"/>
              <a:t>Schema-based: named columns</a:t>
            </a:r>
          </a:p>
          <a:p>
            <a:pPr lvl="1"/>
            <a:r>
              <a:rPr lang="en-US" altLang="zh-TW" dirty="0"/>
              <a:t>Optimizations </a:t>
            </a:r>
          </a:p>
          <a:p>
            <a:pPr lvl="1"/>
            <a:r>
              <a:rPr lang="en-US" altLang="zh-TW" dirty="0"/>
              <a:t>Available in Python, Scala, Java, R</a:t>
            </a:r>
          </a:p>
          <a:p>
            <a:r>
              <a:rPr lang="en-US" altLang="zh-TW" dirty="0" err="1"/>
              <a:t>DataSets</a:t>
            </a:r>
            <a:r>
              <a:rPr lang="en-US" altLang="zh-TW" dirty="0"/>
              <a:t>: 2015</a:t>
            </a:r>
          </a:p>
          <a:p>
            <a:pPr lvl="1"/>
            <a:r>
              <a:rPr lang="en-US" altLang="zh-TW" dirty="0"/>
              <a:t>Strong typing</a:t>
            </a:r>
          </a:p>
          <a:p>
            <a:pPr lvl="1"/>
            <a:r>
              <a:rPr lang="en-US" altLang="zh-TW" dirty="0"/>
              <a:t>Optimized execution engine</a:t>
            </a:r>
          </a:p>
          <a:p>
            <a:pPr lvl="1"/>
            <a:r>
              <a:rPr lang="en-US" altLang="zh-TW" dirty="0"/>
              <a:t>Available in Scala, Java</a:t>
            </a:r>
          </a:p>
          <a:p>
            <a:pPr lvl="1"/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C8B9990-C42D-442B-9EFA-AF0F7F72F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583CB94-FFD3-4766-A515-CE64507B1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4E89F42-2D28-4395-B658-06A090D63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014114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References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altLang="zh-TW" dirty="0" err="1"/>
              <a:t>MapReduce</a:t>
            </a:r>
            <a:r>
              <a:rPr lang="en-US" altLang="zh-TW" dirty="0"/>
              <a:t>:</a:t>
            </a:r>
          </a:p>
          <a:p>
            <a:pPr lvl="1"/>
            <a:r>
              <a:rPr lang="en-US" altLang="zh-TW" dirty="0"/>
              <a:t>Jeffrey Dean and Sanjay </a:t>
            </a:r>
            <a:r>
              <a:rPr lang="en-US" altLang="zh-TW" dirty="0" err="1"/>
              <a:t>Ghemawat</a:t>
            </a:r>
            <a:r>
              <a:rPr lang="en-US" altLang="zh-TW" dirty="0"/>
              <a:t>, </a:t>
            </a:r>
            <a:r>
              <a:rPr lang="en-US" altLang="zh-TW" dirty="0" err="1"/>
              <a:t>MapReduce</a:t>
            </a:r>
            <a:r>
              <a:rPr lang="en-US" altLang="zh-TW" dirty="0"/>
              <a:t>: </a:t>
            </a:r>
            <a:r>
              <a:rPr lang="en-US" altLang="zh-TW" dirty="0" err="1"/>
              <a:t>Simplied</a:t>
            </a:r>
            <a:r>
              <a:rPr lang="en-US" altLang="zh-TW" dirty="0"/>
              <a:t> Data Processing on Large Clusters, Proceedings of OSDI 2004.</a:t>
            </a:r>
          </a:p>
          <a:p>
            <a:r>
              <a:rPr lang="en-US" altLang="zh-TW" dirty="0"/>
              <a:t>Google File System:</a:t>
            </a:r>
          </a:p>
          <a:p>
            <a:pPr lvl="1"/>
            <a:r>
              <a:rPr lang="en-US" altLang="zh-TW" dirty="0"/>
              <a:t>Sanjay </a:t>
            </a:r>
            <a:r>
              <a:rPr lang="en-US" altLang="zh-TW" dirty="0" err="1"/>
              <a:t>Ghemawat</a:t>
            </a:r>
            <a:r>
              <a:rPr lang="en-US" altLang="zh-TW" dirty="0"/>
              <a:t>, Howard </a:t>
            </a:r>
            <a:r>
              <a:rPr lang="en-US" altLang="zh-TW" dirty="0" err="1"/>
              <a:t>Gobioff</a:t>
            </a:r>
            <a:r>
              <a:rPr lang="en-US" altLang="zh-TW" dirty="0"/>
              <a:t>, and Shun-</a:t>
            </a:r>
            <a:r>
              <a:rPr lang="en-US" altLang="zh-TW" dirty="0" err="1"/>
              <a:t>Tak</a:t>
            </a:r>
            <a:r>
              <a:rPr lang="en-US" altLang="zh-TW" dirty="0"/>
              <a:t> Leung, “The Google File System,” Proceedings of SOSP</a:t>
            </a:r>
            <a:r>
              <a:rPr lang="zh-TW" altLang="en-US" dirty="0"/>
              <a:t> </a:t>
            </a:r>
            <a:r>
              <a:rPr lang="en-US" altLang="zh-TW" dirty="0"/>
              <a:t>2003.</a:t>
            </a:r>
          </a:p>
          <a:p>
            <a:r>
              <a:rPr lang="en-US" altLang="zh-TW" dirty="0"/>
              <a:t>Spark:</a:t>
            </a:r>
          </a:p>
          <a:p>
            <a:pPr lvl="1"/>
            <a:r>
              <a:rPr lang="en-US" altLang="zh-TW" dirty="0" err="1"/>
              <a:t>Matei</a:t>
            </a:r>
            <a:r>
              <a:rPr lang="en-US" altLang="zh-TW" dirty="0"/>
              <a:t> </a:t>
            </a:r>
            <a:r>
              <a:rPr lang="en-US" altLang="zh-TW" dirty="0" err="1"/>
              <a:t>Zaharia</a:t>
            </a:r>
            <a:r>
              <a:rPr lang="en-US" altLang="zh-TW" dirty="0"/>
              <a:t>, </a:t>
            </a:r>
            <a:r>
              <a:rPr lang="en-US" altLang="zh-TW" dirty="0" err="1"/>
              <a:t>Mosharaf</a:t>
            </a:r>
            <a:r>
              <a:rPr lang="en-US" altLang="zh-TW" dirty="0"/>
              <a:t> Chowdhury, Michael J Franklin, Scott </a:t>
            </a:r>
            <a:r>
              <a:rPr lang="en-US" altLang="zh-TW" dirty="0" err="1"/>
              <a:t>Shenker</a:t>
            </a:r>
            <a:r>
              <a:rPr lang="en-US" altLang="zh-TW" dirty="0"/>
              <a:t>, Ion </a:t>
            </a:r>
            <a:r>
              <a:rPr lang="en-US" altLang="zh-TW" dirty="0" err="1"/>
              <a:t>Stoica</a:t>
            </a:r>
            <a:r>
              <a:rPr lang="en-US" altLang="zh-TW" dirty="0"/>
              <a:t>, Spark: Cluster computing with working sets, Proceedings of the 2nd USENIX conference on Hot topics in cloud computing (</a:t>
            </a:r>
            <a:r>
              <a:rPr lang="en-US" altLang="zh-TW" dirty="0" err="1"/>
              <a:t>HotCloud</a:t>
            </a:r>
            <a:r>
              <a:rPr lang="en-US" altLang="zh-TW" dirty="0"/>
              <a:t> 2010).</a:t>
            </a:r>
          </a:p>
          <a:p>
            <a:r>
              <a:rPr lang="en-US" altLang="zh-TW" dirty="0"/>
              <a:t>RDDs:</a:t>
            </a:r>
          </a:p>
          <a:p>
            <a:pPr lvl="1"/>
            <a:r>
              <a:rPr lang="en-US" altLang="zh-TW" dirty="0" err="1"/>
              <a:t>Matei</a:t>
            </a:r>
            <a:r>
              <a:rPr lang="en-US" altLang="zh-TW" dirty="0"/>
              <a:t> </a:t>
            </a:r>
            <a:r>
              <a:rPr lang="en-US" altLang="zh-TW" dirty="0" err="1"/>
              <a:t>Zaharia</a:t>
            </a:r>
            <a:r>
              <a:rPr lang="en-US" altLang="zh-TW" dirty="0"/>
              <a:t>, </a:t>
            </a:r>
            <a:r>
              <a:rPr lang="en-US" altLang="zh-TW" dirty="0" err="1"/>
              <a:t>Mosharaf</a:t>
            </a:r>
            <a:r>
              <a:rPr lang="en-US" altLang="zh-TW" dirty="0"/>
              <a:t> Chowdhury, </a:t>
            </a:r>
            <a:r>
              <a:rPr lang="en-US" altLang="zh-TW" dirty="0" err="1"/>
              <a:t>Tathagata</a:t>
            </a:r>
            <a:r>
              <a:rPr lang="en-US" altLang="zh-TW" dirty="0"/>
              <a:t> Das, </a:t>
            </a:r>
            <a:r>
              <a:rPr lang="en-US" altLang="zh-TW" dirty="0" err="1"/>
              <a:t>Ankur</a:t>
            </a:r>
            <a:r>
              <a:rPr lang="en-US" altLang="zh-TW" dirty="0"/>
              <a:t> Dave, Justin Ma, Murphy McCauley, Michael J. Franklin, Scott </a:t>
            </a:r>
            <a:r>
              <a:rPr lang="en-US" altLang="zh-TW" dirty="0" err="1"/>
              <a:t>Shenker</a:t>
            </a:r>
            <a:r>
              <a:rPr lang="en-US" altLang="zh-TW" dirty="0"/>
              <a:t>, Ion </a:t>
            </a:r>
            <a:r>
              <a:rPr lang="en-US" altLang="zh-TW" dirty="0" err="1"/>
              <a:t>Stoica</a:t>
            </a:r>
            <a:r>
              <a:rPr lang="en-US" altLang="zh-TW" dirty="0"/>
              <a:t>, Resilient distributed datasets: a fault-tolerant abstraction for in-memory cluster computing, Proceedings of the 9th USENIX conference on Networked Systems Design and Implementation (NSDI 2012) (Best Paper Award)</a:t>
            </a:r>
          </a:p>
          <a:p>
            <a:pPr lvl="1"/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467550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Thanks for Your Attention!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Educational Data Mining and Applications, Fall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155C1-9C8C-48AF-B944-B052C67A712F}" type="slidenum">
              <a:rPr lang="zh-TW" altLang="en-US" smtClean="0"/>
              <a:t>47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85539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1136</TotalTime>
  <Words>2180</Words>
  <Application>Microsoft Office PowerPoint</Application>
  <PresentationFormat>寬螢幕</PresentationFormat>
  <Paragraphs>400</Paragraphs>
  <Slides>47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47</vt:i4>
      </vt:variant>
    </vt:vector>
  </HeadingPairs>
  <TitlesOfParts>
    <vt:vector size="52" baseType="lpstr">
      <vt:lpstr>Arial</vt:lpstr>
      <vt:lpstr>Calibri</vt:lpstr>
      <vt:lpstr>Calibri Light</vt:lpstr>
      <vt:lpstr>Times New Roman</vt:lpstr>
      <vt:lpstr>Office 佈景主題</vt:lpstr>
      <vt:lpstr>Introduction to Distributed Platforms</vt:lpstr>
      <vt:lpstr>Outline</vt:lpstr>
      <vt:lpstr>Motivation</vt:lpstr>
      <vt:lpstr>Distributed Computing</vt:lpstr>
      <vt:lpstr>Distributed Systems as Middleware</vt:lpstr>
      <vt:lpstr>PowerPoint 簡報</vt:lpstr>
      <vt:lpstr>PowerPoint 簡報</vt:lpstr>
      <vt:lpstr>Clients and Servers</vt:lpstr>
      <vt:lpstr>Multi-tiered Architectures</vt:lpstr>
      <vt:lpstr>Peer-to-Peer vs. Hybrid</vt:lpstr>
      <vt:lpstr>Parallel vs. Distributed</vt:lpstr>
      <vt:lpstr>Distributed Computing Systems</vt:lpstr>
      <vt:lpstr>Cloud Enabling Technology: Virtualization</vt:lpstr>
      <vt:lpstr>Popular Distributed Platforms</vt:lpstr>
      <vt:lpstr>Apache Hadoop Project</vt:lpstr>
      <vt:lpstr>Hadoop Architecture</vt:lpstr>
      <vt:lpstr>PowerPoint 簡報</vt:lpstr>
      <vt:lpstr>Assumptions and Goals of HDFS</vt:lpstr>
      <vt:lpstr>HDFS Architecture – Master/Slave</vt:lpstr>
      <vt:lpstr>NameNode and DataNodes</vt:lpstr>
      <vt:lpstr>Data Replication</vt:lpstr>
      <vt:lpstr>PowerPoint 簡報</vt:lpstr>
      <vt:lpstr>Architecture of Google File Systems</vt:lpstr>
      <vt:lpstr>MapReduce</vt:lpstr>
      <vt:lpstr>New Functions after Hadoop 2</vt:lpstr>
      <vt:lpstr>HDFS Federation</vt:lpstr>
      <vt:lpstr>Apache Hadoop YARN: starting from Hadoop 2</vt:lpstr>
      <vt:lpstr>What is YARN?</vt:lpstr>
      <vt:lpstr>What is YARN?</vt:lpstr>
      <vt:lpstr>Issues of MapReduce on HDFS</vt:lpstr>
      <vt:lpstr>Spark</vt:lpstr>
      <vt:lpstr>Apache Spark</vt:lpstr>
      <vt:lpstr>Components in Spark Platform</vt:lpstr>
      <vt:lpstr>Spark Architecture</vt:lpstr>
      <vt:lpstr>Components</vt:lpstr>
      <vt:lpstr>Note about the architecture</vt:lpstr>
      <vt:lpstr>Cluster Manager Types</vt:lpstr>
      <vt:lpstr>Spark Standalone Cluster</vt:lpstr>
      <vt:lpstr>Spark on YARN cluster mode</vt:lpstr>
      <vt:lpstr>Spark on YARN client mode</vt:lpstr>
      <vt:lpstr>Spark on Kubernetes</vt:lpstr>
      <vt:lpstr>Spark and Hadoop</vt:lpstr>
      <vt:lpstr>Spark and Hadoop</vt:lpstr>
      <vt:lpstr>RDD (Core but Old API)</vt:lpstr>
      <vt:lpstr>History of Spark APIs</vt:lpstr>
      <vt:lpstr>References</vt:lpstr>
      <vt:lpstr>Thanks for Your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Distributed Platforms</dc:title>
  <dc:creator>jhwang</dc:creator>
  <cp:lastModifiedBy>Chris Wang</cp:lastModifiedBy>
  <cp:revision>58</cp:revision>
  <dcterms:created xsi:type="dcterms:W3CDTF">2017-04-24T07:34:05Z</dcterms:created>
  <dcterms:modified xsi:type="dcterms:W3CDTF">2025-12-09T03:03:34Z</dcterms:modified>
</cp:coreProperties>
</file>