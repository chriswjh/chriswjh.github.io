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9" r:id="rId4"/>
    <p:sldId id="270" r:id="rId5"/>
    <p:sldId id="265" r:id="rId6"/>
    <p:sldId id="266" r:id="rId7"/>
    <p:sldId id="263" r:id="rId8"/>
    <p:sldId id="262" r:id="rId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F1E0E4-0167-4032-AC6F-196421B3EC55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076267-6BC8-49D0-9C6B-EE396BFEBED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7200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53D06D-798D-41B2-8E09-945CDEC492DF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3188-31C8-4289-BF43-961C2C4CF52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69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53D06D-798D-41B2-8E09-945CDEC492DF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3188-31C8-4289-BF43-961C2C4CF52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8925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53D06D-798D-41B2-8E09-945CDEC492DF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3188-31C8-4289-BF43-961C2C4CF52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27972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53D06D-798D-41B2-8E09-945CDEC492DF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3188-31C8-4289-BF43-961C2C4CF52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104273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53D06D-798D-41B2-8E09-945CDEC492DF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3188-31C8-4289-BF43-961C2C4CF52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0065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53D06D-798D-41B2-8E09-945CDEC492DF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3188-31C8-4289-BF43-961C2C4CF52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0329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53D06D-798D-41B2-8E09-945CDEC492DF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3188-31C8-4289-BF43-961C2C4CF52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7527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53D06D-798D-41B2-8E09-945CDEC492DF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3188-31C8-4289-BF43-961C2C4CF52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4193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53D06D-798D-41B2-8E09-945CDEC492DF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3188-31C8-4289-BF43-961C2C4CF52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14233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53D06D-798D-41B2-8E09-945CDEC492DF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3188-31C8-4289-BF43-961C2C4CF52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9094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53D06D-798D-41B2-8E09-945CDEC492DF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3188-31C8-4289-BF43-961C2C4CF52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64438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53D06D-798D-41B2-8E09-945CDEC492DF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3D3188-31C8-4289-BF43-961C2C4CF52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058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Educational Data Mining and </a:t>
            </a:r>
            <a:r>
              <a:rPr lang="en-US" altLang="zh-TW"/>
              <a:t>Applciations: </a:t>
            </a:r>
            <a:r>
              <a:rPr lang="en-US" altLang="zh-TW" dirty="0"/>
              <a:t>HW#3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By J. H. Wang</a:t>
            </a:r>
          </a:p>
          <a:p>
            <a:r>
              <a:rPr lang="en-US" altLang="zh-TW" dirty="0"/>
              <a:t>Nov. 11, 2025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11868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Homework #3: Classification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Chap.6:</a:t>
            </a:r>
          </a:p>
          <a:p>
            <a:pPr lvl="1"/>
            <a:r>
              <a:rPr lang="en-US" altLang="zh-TW" dirty="0"/>
              <a:t>6.6</a:t>
            </a:r>
          </a:p>
          <a:p>
            <a:pPr lvl="1"/>
            <a:r>
              <a:rPr lang="en-US" altLang="zh-TW" dirty="0"/>
              <a:t>6.8</a:t>
            </a:r>
          </a:p>
          <a:p>
            <a:pPr lvl="1"/>
            <a:r>
              <a:rPr lang="en-US" altLang="zh-TW" dirty="0"/>
              <a:t>6.9</a:t>
            </a:r>
          </a:p>
          <a:p>
            <a:pPr lvl="1"/>
            <a:r>
              <a:rPr lang="en-US" altLang="zh-TW" dirty="0"/>
              <a:t>6.15</a:t>
            </a:r>
          </a:p>
          <a:p>
            <a:pPr lvl="1"/>
            <a:r>
              <a:rPr lang="en-US" altLang="zh-TW" dirty="0"/>
              <a:t>6.17</a:t>
            </a:r>
          </a:p>
          <a:p>
            <a:r>
              <a:rPr lang="en-US" altLang="zh-TW" dirty="0"/>
              <a:t>Due: 2 weeks (</a:t>
            </a:r>
            <a:r>
              <a:rPr lang="en-US" altLang="zh-TW" dirty="0">
                <a:solidFill>
                  <a:srgbClr val="FF0000"/>
                </a:solidFill>
              </a:rPr>
              <a:t>Nov. </a:t>
            </a:r>
            <a:r>
              <a:rPr lang="en-US" altLang="zh-TW">
                <a:solidFill>
                  <a:srgbClr val="FF0000"/>
                </a:solidFill>
              </a:rPr>
              <a:t>25 </a:t>
            </a:r>
            <a:r>
              <a:rPr lang="en-US" altLang="zh-TW" dirty="0">
                <a:solidFill>
                  <a:srgbClr val="FF0000"/>
                </a:solidFill>
              </a:rPr>
              <a:t>2025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6096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Exercises for Chap.6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6.6 Why is </a:t>
            </a:r>
            <a:r>
              <a:rPr lang="en-US" altLang="zh-TW" i="1" dirty="0"/>
              <a:t>naïve Bayesian classification </a:t>
            </a:r>
            <a:r>
              <a:rPr lang="en-US" altLang="zh-TW" dirty="0"/>
              <a:t>called “naïve”? Briefly outline the major ideas of naïve Bayesian classification.</a:t>
            </a:r>
          </a:p>
          <a:p>
            <a:endParaRPr lang="en-US" altLang="zh-TW" b="0" i="1" dirty="0">
              <a:latin typeface="Cambria Math" panose="02040503050406030204" pitchFamily="18" charset="0"/>
            </a:endParaRPr>
          </a:p>
          <a:p>
            <a:r>
              <a:rPr lang="en-US" altLang="zh-TW" dirty="0"/>
              <a:t>6.8: Compare the advantages and disadvantages of </a:t>
            </a:r>
            <a:r>
              <a:rPr lang="en-US" altLang="zh-TW" i="1" dirty="0"/>
              <a:t>eager classification </a:t>
            </a:r>
            <a:r>
              <a:rPr lang="en-US" altLang="zh-TW" dirty="0"/>
              <a:t>(e.g., decision tree, Bayesian, neural network) versus </a:t>
            </a:r>
            <a:r>
              <a:rPr lang="en-US" altLang="zh-TW" i="1" dirty="0"/>
              <a:t>lazy classification </a:t>
            </a:r>
            <a:r>
              <a:rPr lang="en-US" altLang="zh-TW" dirty="0"/>
              <a:t>(e.g., </a:t>
            </a:r>
            <a:r>
              <a:rPr lang="en-US" altLang="zh-TW" i="1" dirty="0"/>
              <a:t>k</a:t>
            </a:r>
            <a:r>
              <a:rPr lang="en-US" altLang="zh-TW" dirty="0"/>
              <a:t>-nearest neighbor).</a:t>
            </a:r>
          </a:p>
          <a:p>
            <a:endParaRPr lang="en-US" altLang="zh-TW" dirty="0"/>
          </a:p>
          <a:p>
            <a:r>
              <a:rPr lang="en-US" altLang="zh-TW" dirty="0"/>
              <a:t>6.9: Write an algorithm for </a:t>
            </a:r>
            <a:r>
              <a:rPr lang="en-US" altLang="zh-TW" i="1" dirty="0"/>
              <a:t>k-nearest-neighbor classification </a:t>
            </a:r>
            <a:r>
              <a:rPr lang="en-US" altLang="zh-TW" dirty="0"/>
              <a:t>given k, the nearest number of neighbors, and n, the number of attributes describing each tuple.</a:t>
            </a:r>
          </a:p>
          <a:p>
            <a:endParaRPr lang="en-US" altLang="zh-TW" b="0" i="1" dirty="0"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1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E30F913-A718-481C-81E7-DCB88D815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5AEA29-57A0-4389-9F3D-1030DE23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6.15: Show that accuracy is a function of sensitivity and specificity, that is, prove Eq. (6.25).</a:t>
            </a:r>
          </a:p>
          <a:p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89BBD18-CE86-4C29-A9A2-050061025D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738062"/>
            <a:ext cx="10621734" cy="970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379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TW" dirty="0"/>
              <a:t>6.17: The data tuples of Fig. 6.28 are sorted by decreasing probability value, as returned by a classifier. </a:t>
            </a:r>
          </a:p>
          <a:p>
            <a:r>
              <a:rPr lang="en-US" altLang="zh-TW" dirty="0"/>
              <a:t>For each tuple, compute the values for the number of true positives (TP), false positives (FP), true negatives (TN), and false negatives (FN). </a:t>
            </a:r>
          </a:p>
          <a:p>
            <a:r>
              <a:rPr lang="en-US" altLang="zh-TW" dirty="0"/>
              <a:t>Compute the true positive rate (TPR), and false positive rate (FPR). </a:t>
            </a:r>
          </a:p>
          <a:p>
            <a:r>
              <a:rPr lang="en-US" altLang="zh-TW" dirty="0"/>
              <a:t>Plot the ROC curve for the data.  </a:t>
            </a:r>
            <a:br>
              <a:rPr lang="en-US" altLang="zh-TW" dirty="0"/>
            </a:br>
            <a:endParaRPr lang="en-US" altLang="zh-TW" dirty="0"/>
          </a:p>
          <a:p>
            <a:pPr marL="0" indent="0">
              <a:buNone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[Hint: To plot the ROC curve, you should calculate the above values in different configurations by setting different thresholds t for classifying the probability values</a:t>
            </a:r>
            <a:r>
              <a:rPr lang="zh-TW" alt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p into positive (when p&gt;=t) or negative classes (when p&lt;t). (for example, t=0, 0.1, 0.2, …, 0.9)]</a:t>
            </a:r>
          </a:p>
          <a:p>
            <a:pPr marL="457200" lvl="1" indent="0">
              <a:buNone/>
            </a:pPr>
            <a:br>
              <a:rPr lang="en-US" altLang="zh-TW" dirty="0"/>
            </a:br>
            <a:r>
              <a:rPr lang="en-US" altLang="zh-TW" dirty="0"/>
              <a:t>[… to be continued]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593174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Figure 6.28 </a:t>
            </a:r>
            <a:r>
              <a:rPr lang="en-US" altLang="zh-TW" dirty="0"/>
              <a:t>Tuples sorted by decreasing score, where the score is the value returned by a</a:t>
            </a:r>
            <a:br>
              <a:rPr lang="en-US" altLang="zh-TW" dirty="0"/>
            </a:br>
            <a:r>
              <a:rPr lang="en-US" altLang="zh-TW" dirty="0"/>
              <a:t>probabilistic classifier</a:t>
            </a:r>
            <a:endParaRPr lang="zh-TW" altLang="en-US" dirty="0"/>
          </a:p>
        </p:txBody>
      </p:sp>
      <p:graphicFrame>
        <p:nvGraphicFramePr>
          <p:cNvPr id="4" name="內容版面配置區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9586444"/>
              </p:ext>
            </p:extLst>
          </p:nvPr>
        </p:nvGraphicFramePr>
        <p:xfrm>
          <a:off x="2404153" y="1825625"/>
          <a:ext cx="6462445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92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71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6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Tuple #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Class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Probability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0.95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N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0.85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0.78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0.66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N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0.60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6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0.55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N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0.53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N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0.52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9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N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0.51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0.40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3032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Homework Submission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For hand-written exercises, please hand in your homework in class (paper version)</a:t>
            </a:r>
          </a:p>
          <a:p>
            <a:pPr lvl="1"/>
            <a:r>
              <a:rPr lang="en-US" altLang="zh-TW" dirty="0"/>
              <a:t>Remember to write your student ID</a:t>
            </a:r>
          </a:p>
          <a:p>
            <a:pPr lvl="1"/>
            <a:endParaRPr lang="en-US" altLang="zh-TW" dirty="0"/>
          </a:p>
          <a:p>
            <a:r>
              <a:rPr lang="en-US" altLang="zh-TW" dirty="0"/>
              <a:t>For programming projects, please submit a compressed file to </a:t>
            </a:r>
            <a:r>
              <a:rPr lang="en-US" altLang="zh-TW" dirty="0" err="1"/>
              <a:t>iSchool</a:t>
            </a:r>
            <a:r>
              <a:rPr lang="en-US" altLang="zh-TW" dirty="0"/>
              <a:t>+</a:t>
            </a:r>
          </a:p>
          <a:p>
            <a:pPr lvl="1"/>
            <a:r>
              <a:rPr lang="en-US" altLang="zh-TW" dirty="0"/>
              <a:t>It should contain your </a:t>
            </a:r>
            <a:r>
              <a:rPr lang="en-US" altLang="zh-TW" dirty="0">
                <a:solidFill>
                  <a:srgbClr val="FF0000"/>
                </a:solidFill>
              </a:rPr>
              <a:t>source codes</a:t>
            </a:r>
            <a:r>
              <a:rPr lang="en-US" altLang="zh-TW" dirty="0"/>
              <a:t>, </a:t>
            </a:r>
            <a:r>
              <a:rPr lang="en-US" altLang="zh-TW" dirty="0">
                <a:solidFill>
                  <a:srgbClr val="FF0000"/>
                </a:solidFill>
              </a:rPr>
              <a:t>sample input and generated output</a:t>
            </a:r>
            <a:r>
              <a:rPr lang="en-US" altLang="zh-TW" dirty="0"/>
              <a:t>, and </a:t>
            </a:r>
            <a:r>
              <a:rPr lang="en-US" altLang="zh-TW" dirty="0">
                <a:solidFill>
                  <a:srgbClr val="FF0000"/>
                </a:solidFill>
              </a:rPr>
              <a:t>documentation</a:t>
            </a:r>
            <a:r>
              <a:rPr lang="en-US" altLang="zh-TW" dirty="0"/>
              <a:t> on how to compile, install, or configure the environment</a:t>
            </a:r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116935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Thanks for Your Attention!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89134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816</TotalTime>
  <Words>418</Words>
  <Application>Microsoft Office PowerPoint</Application>
  <PresentationFormat>寬螢幕</PresentationFormat>
  <Paragraphs>65</Paragraphs>
  <Slides>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Cambria Math</vt:lpstr>
      <vt:lpstr>Office 佈景主題</vt:lpstr>
      <vt:lpstr>Educational Data Mining and Applciations: HW#3</vt:lpstr>
      <vt:lpstr>Homework #3: Classification</vt:lpstr>
      <vt:lpstr>Exercises for Chap.6</vt:lpstr>
      <vt:lpstr>PowerPoint 簡報</vt:lpstr>
      <vt:lpstr>PowerPoint 簡報</vt:lpstr>
      <vt:lpstr>Figure 6.28 Tuples sorted by decreasing score, where the score is the value returned by a probabilistic classifier</vt:lpstr>
      <vt:lpstr>Homework Submission</vt:lpstr>
      <vt:lpstr>Thanks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HW#1</dc:title>
  <dc:creator>jhwang</dc:creator>
  <cp:lastModifiedBy>Chris Wang</cp:lastModifiedBy>
  <cp:revision>46</cp:revision>
  <dcterms:created xsi:type="dcterms:W3CDTF">2017-03-16T10:08:31Z</dcterms:created>
  <dcterms:modified xsi:type="dcterms:W3CDTF">2025-11-07T08:25:29Z</dcterms:modified>
</cp:coreProperties>
</file>